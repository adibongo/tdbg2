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BUSINESS SCHOOL  ·  TURNING DATA INTO BUSINESS GROWTH  ·  SELF-STUDY</a:t>
            </a:r>
            <a:endParaRPr lang="en-US" sz="125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6459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4028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Review: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&amp; Inference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1148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Review — Foundations &amp; Inference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7240" y="48463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" y="4972050"/>
            <a:ext cx="251460" cy="2514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491947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Chapters 6–12 (Sessions 2.1–3.1)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A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Business Analytics: A Practical Textbook for Data-Driven Decision Making  ·  Prof. Bongo Adi</a:t>
            </a:r>
            <a:endParaRPr lang="en-US" sz="1050" dirty="0"/>
          </a:p>
        </p:txBody>
      </p:sp>
      <p:pic>
        <p:nvPicPr>
          <p:cNvPr id="13" name="Image 1" descr="/home/claude/da1/assets/logos/da1_hex_m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15544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Paper 1 — Module 1 Practice Paper (75 Minutes)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deck in the revision session before the test, or for self-study.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874520"/>
            <a:ext cx="688848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40080" y="1874520"/>
            <a:ext cx="68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365504" y="1874520"/>
            <a:ext cx="3590544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365504" y="1874520"/>
            <a:ext cx="3590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992624" y="1874520"/>
            <a:ext cx="4315968" cy="384048"/>
          </a:xfrm>
          <a:prstGeom prst="rect">
            <a:avLst/>
          </a:prstGeom>
          <a:solidFill>
            <a:srgbClr val="D99A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992624" y="18745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345168" y="1874520"/>
            <a:ext cx="2139696" cy="384048"/>
          </a:xfrm>
          <a:prstGeom prst="rect">
            <a:avLst/>
          </a:prstGeom>
          <a:solidFill>
            <a:srgbClr val="0B5E8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9345168" y="187452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604772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792" y="2948940"/>
            <a:ext cx="320040" cy="3200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Briefing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822960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Format, rules, what's allowed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410712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4375404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294894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547872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</a:t>
            </a:r>
            <a:endParaRPr lang="en-US" sz="1450" dirty="0"/>
          </a:p>
        </p:txBody>
      </p:sp>
      <p:sp>
        <p:nvSpPr>
          <p:cNvPr id="25" name="Text 20"/>
          <p:cNvSpPr txBox="1"/>
          <p:nvPr/>
        </p:nvSpPr>
        <p:spPr>
          <a:xfrm>
            <a:off x="3593592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conceptual questions (30%)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181344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2"/>
          <p:cNvSpPr/>
          <p:nvPr/>
        </p:nvSpPr>
        <p:spPr>
          <a:xfrm>
            <a:off x="7146036" y="278892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56" y="2948940"/>
            <a:ext cx="320040" cy="3200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18504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</a:t>
            </a:r>
            <a:endParaRPr lang="en-US" sz="1450" dirty="0"/>
          </a:p>
        </p:txBody>
      </p:sp>
      <p:sp>
        <p:nvSpPr>
          <p:cNvPr id="30" name="Text 24"/>
          <p:cNvSpPr txBox="1"/>
          <p:nvPr/>
        </p:nvSpPr>
        <p:spPr>
          <a:xfrm>
            <a:off x="6364224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statistical output (40%)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951976" y="2560320"/>
            <a:ext cx="2569464" cy="3383280"/>
          </a:xfrm>
          <a:prstGeom prst="roundRect">
            <a:avLst>
              <a:gd name="adj" fmla="val 2847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" name="Shape 26"/>
          <p:cNvSpPr/>
          <p:nvPr/>
        </p:nvSpPr>
        <p:spPr>
          <a:xfrm>
            <a:off x="9916668" y="2788920"/>
            <a:ext cx="640080" cy="64008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6688" y="2948940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9089136" y="3611880"/>
            <a:ext cx="2295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</a:t>
            </a:r>
            <a:endParaRPr lang="en-US" sz="1450" dirty="0"/>
          </a:p>
        </p:txBody>
      </p:sp>
      <p:sp>
        <p:nvSpPr>
          <p:cNvPr id="35" name="Text 28"/>
          <p:cNvSpPr txBox="1"/>
          <p:nvPr/>
        </p:nvSpPr>
        <p:spPr>
          <a:xfrm>
            <a:off x="9134856" y="4206240"/>
            <a:ext cx="22037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design / decision task (30%)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Module 1 Practice Paper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16736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Ungraded — a self-check. Covers Sessions 2.1–3.1 (Chapters 6–12).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pic>
        <p:nvPicPr>
          <p:cNvPr id="7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160362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9077" y="2286000"/>
            <a:ext cx="310896" cy="310896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296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resource for B and C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6868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slides, the textbook and your own scripts are allowed for Sections B and C. Section A is closed-book.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1757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438111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567" y="2286000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60045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Laptop allowed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364617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R or Python ready. You may rerun course scripts, but Section B output is provided.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19506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4"/>
          <p:cNvSpPr/>
          <p:nvPr/>
        </p:nvSpPr>
        <p:spPr>
          <a:xfrm>
            <a:off x="7158609" y="2130552"/>
            <a:ext cx="621792" cy="621792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057" y="2286000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37794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assistants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642366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permitted during the test. You must be able to explain every answer yourself.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972550" y="1874520"/>
            <a:ext cx="2548890" cy="3566160"/>
          </a:xfrm>
          <a:prstGeom prst="roundRect">
            <a:avLst>
              <a:gd name="adj" fmla="val 287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" name="Shape 18"/>
          <p:cNvSpPr/>
          <p:nvPr/>
        </p:nvSpPr>
        <p:spPr>
          <a:xfrm>
            <a:off x="9936099" y="2130552"/>
            <a:ext cx="621792" cy="621792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547" y="2286000"/>
            <a:ext cx="310896" cy="310896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155430" y="2880360"/>
            <a:ext cx="218313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Show your reasoning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9201150" y="3474720"/>
            <a:ext cx="209169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go to the reasoning and the business interpretation, not just the final number.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1 on a Page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sessions, the ideas that matter most.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Session Taught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206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exam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 · Analytics mindset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chain; four analytics questions; data types &amp; scales; data quality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summary is valid for this column? What type of analytics is this?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· Statistical foundations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 rules, Bayes; mean vs median; SD, IQR; CLT; SE; confidence intervals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 a CI; spot the base-rate trap; choose mean or 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 · EDA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 → quality → clean → explore; outliers vs errors; missing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wrong with this file? How would you treat it?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· Visualisation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chooser; declutter; honest axes; data stories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 this chart; pick the right chart for this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 · Hypothesis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H₀/H₁; p-value meaning; Type I/II; t, proportion, chi-square; unit of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this test output and state the business conclusion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 · A/B testing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Randomisation; primary &amp; guardrail metrics; sample size; SRM; peeking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a test; read an experiment and recommend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SHEET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Few Formulas You Need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47472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words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x̄ = Σx ÷ 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up, divide by how many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deviation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 = √[Σ(x − x̄)² ÷ (n − 1)]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distance from the mean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= s ÷ √n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the average would wobble between samples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 confidence interval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x̄ ± 1.96 × 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honest range for the true average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(x − mean) ÷ SD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SDs from typical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Conditional probability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P(A | B) = P(A and B) ÷ P(B)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Chance of A among cases where B happened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value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E(X) = Σ x · P(x)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Long-run average outcome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size (rule of thumb)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≈ 16 p(1 − p) ÷ MDE²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 per group for 80% power, α = 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MARKS ARE LOST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Errors in Past Module 1 Practice Papers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B55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TRAP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HABIT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057400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49424"/>
            <a:ext cx="310896" cy="31089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5740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 = 0.04 means there is a 4% chance the null is true.”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63640" y="2057400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49424"/>
            <a:ext cx="310896" cy="31089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903720" y="20574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chance of data this extreme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H₀ were true.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2862072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054096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2862072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the mean for income or basket data without comment.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263640" y="2862072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3054096"/>
            <a:ext cx="310896" cy="31089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03720" y="28620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report the median (and IQR) too.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40080" y="3666744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58768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366674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“Not significant, so there is no difference.”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263640" y="3666744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858768"/>
            <a:ext cx="310896" cy="310896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03720" y="36667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to reject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H₀; report the CI — it may include useful effects.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40080" y="4471416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663440"/>
            <a:ext cx="310896" cy="310896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1280160" y="447141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Concluding causation from an observational comparison.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263640" y="4471416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663440"/>
            <a:ext cx="310896" cy="310896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6903720" y="44714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randomised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comparisons support causal claims.</a:t>
            </a:r>
            <a:endParaRPr lang="en-US" sz="1300" dirty="0"/>
          </a:p>
        </p:txBody>
      </p:sp>
      <p:sp>
        <p:nvSpPr>
          <p:cNvPr id="33" name="Shape 22"/>
          <p:cNvSpPr/>
          <p:nvPr/>
        </p:nvSpPr>
        <p:spPr>
          <a:xfrm>
            <a:off x="640080" y="5276088"/>
            <a:ext cx="5440680" cy="694944"/>
          </a:xfrm>
          <a:prstGeom prst="roundRect">
            <a:avLst>
              <a:gd name="adj" fmla="val 7895"/>
            </a:avLst>
          </a:prstGeom>
          <a:solidFill>
            <a:srgbClr val="FBF1EC"/>
          </a:solidFill>
          <a:ln w="9525">
            <a:solidFill>
              <a:srgbClr val="F0D9CC"/>
            </a:solidFill>
            <a:prstDash val="solid"/>
          </a:ln>
        </p:spPr>
        <p:txBody>
          <a:bodyPr/>
          <a:p/>
        </p:txBody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" y="5468112"/>
            <a:ext cx="310896" cy="310896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1280160" y="527608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 number with no business meaning.</a:t>
            </a:r>
            <a:endParaRPr lang="en-US" sz="1300" dirty="0"/>
          </a:p>
        </p:txBody>
      </p:sp>
      <p:sp>
        <p:nvSpPr>
          <p:cNvPr id="36" name="Shape 24"/>
          <p:cNvSpPr/>
          <p:nvPr/>
        </p:nvSpPr>
        <p:spPr>
          <a:xfrm>
            <a:off x="6263640" y="5276088"/>
            <a:ext cx="5257800" cy="694944"/>
          </a:xfrm>
          <a:prstGeom prst="roundRect">
            <a:avLst>
              <a:gd name="adj" fmla="val 7895"/>
            </a:avLst>
          </a:prstGeom>
          <a:solidFill>
            <a:srgbClr val="EEF6F1"/>
          </a:solidFill>
          <a:ln w="9525">
            <a:solidFill>
              <a:srgbClr val="D2E7DA"/>
            </a:solidFill>
            <a:prstDash val="solid"/>
          </a:ln>
        </p:spPr>
        <p:txBody>
          <a:bodyPr/>
          <a:p/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5468112"/>
            <a:ext cx="310896" cy="310896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6903720" y="52760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end with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decision-maker.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— Concepts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sample questions. Answers in the speaker notes.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1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column records customer satisfaction as Very poor / Poor / Neutral / Good / Very good. Which summary is most appropriate?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 score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and the percentage in each category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deviation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coefficient of variation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2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fraud model flags 2% of transactions. Fraud occurs in 0.5% of transactions. The model catches 90% of fraud. Roughly what share of flagged transactions are fraud?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90%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50%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22%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2%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Doubling the sample size (all else equal) changes the width of a 95% confidence interval for a mean by about…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it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it by about 29% (÷ √2)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it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4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 A/B test, the split was 6,300 vs 5,700 users although a 50/50 split was planned. What should you do first?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as normal — larger groups are fine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the smaller group up to 6,300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as a sample-ratio mismatch and investigate the assignment before trusting any result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600 users from the larger group at random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A · Q5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A · Question 5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783080"/>
            <a:ext cx="640080" cy="64008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1943100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08760" y="169164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bank pools 400,000 customers' transactions to test a new branch design that was installed in 6 of 12 branches. The p-value is 0.00001. The main concern is…</a:t>
            </a:r>
            <a:endParaRPr lang="en-US" sz="1900" dirty="0"/>
          </a:p>
        </p:txBody>
      </p:sp>
      <p:sp>
        <p:nvSpPr>
          <p:cNvPr id="11" name="Shape 6"/>
          <p:cNvSpPr/>
          <p:nvPr/>
        </p:nvSpPr>
        <p:spPr>
          <a:xfrm>
            <a:off x="1508760" y="3017520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2" name="Shape 7"/>
          <p:cNvSpPr/>
          <p:nvPr/>
        </p:nvSpPr>
        <p:spPr>
          <a:xfrm>
            <a:off x="1691640" y="3122676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 txBox="1"/>
          <p:nvPr/>
        </p:nvSpPr>
        <p:spPr>
          <a:xfrm>
            <a:off x="1691640" y="31226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2286000" y="3017520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sample is too small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1508760" y="3721608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1691640" y="3826764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 txBox="1"/>
          <p:nvPr/>
        </p:nvSpPr>
        <p:spPr>
          <a:xfrm>
            <a:off x="1691640" y="38267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2286000" y="3721608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Pseudo-replication: branches, not customers, were assigned — only 12 independent units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1508760" y="4425696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1691640" y="4530852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1" name="Text 16"/>
          <p:cNvSpPr txBox="1"/>
          <p:nvPr/>
        </p:nvSpPr>
        <p:spPr>
          <a:xfrm>
            <a:off x="1691640" y="4530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286000" y="4425696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p-value is too small to be believable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1508760" y="5129784"/>
            <a:ext cx="9966960" cy="594360"/>
          </a:xfrm>
          <a:prstGeom prst="roundRect">
            <a:avLst>
              <a:gd name="adj" fmla="val 9231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</p:spPr>
        <p:txBody>
          <a:bodyPr/>
          <a:p/>
        </p:txBody>
      </p:sp>
      <p:sp>
        <p:nvSpPr>
          <p:cNvPr id="24" name="Shape 19"/>
          <p:cNvSpPr/>
          <p:nvPr/>
        </p:nvSpPr>
        <p:spPr>
          <a:xfrm>
            <a:off x="1691640" y="5234940"/>
            <a:ext cx="384048" cy="384048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sp>
        <p:nvSpPr>
          <p:cNvPr id="25" name="Text 20"/>
          <p:cNvSpPr txBox="1"/>
          <p:nvPr/>
        </p:nvSpPr>
        <p:spPr>
          <a:xfrm>
            <a:off x="1691640" y="5234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2286000" y="5129784"/>
            <a:ext cx="9052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should have been surveyed instead</a:t>
            </a:r>
            <a:endParaRPr lang="en-US" sz="1450" dirty="0"/>
          </a:p>
        </p:txBody>
      </p:sp>
      <p:sp>
        <p:nvSpPr>
          <p:cNvPr id="27" name="Text 22"/>
          <p:cNvSpPr txBox="1"/>
          <p:nvPr/>
        </p:nvSpPr>
        <p:spPr>
          <a:xfrm>
            <a:off x="1508760" y="589788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with your neighbour for 60 seconds — answer and reasoning in the speaker notes.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B — Interpret the Output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hr_attrition_salary.csv — 300 employees of a Lagos services firm.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Q1 (8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 Monthly Salary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7/figures/python/s07_f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071" y="1600200"/>
            <a:ext cx="6755777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PP1-F01  ·  replicate: tdbg_pp1_practice_paper.R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Describe the shape of the distribution. [2]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Mean ₦319,763; median ₦281,500. Which would you report as the 'typical' salary, and why? [3]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The 95% CI for the mean is ₦304,729 to ₦334,798. Interpret it for the HR director. [3]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Q2 (12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Leavers Have Lower Engagement?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t.test(engagement_score ~ attrited, data = 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Welch Two Sample t-test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data:  engagement_score by attrited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8.7796, df = 65.626, p-value = 1.122e-12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alternative hypothesis: true difference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means between group 0 and group 1 is 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 to 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percent confidence interval: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1.711766 2.719607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estimates: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in group 0 mean in group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6.615686        4.400000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State H₀ and H₁ [2]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words, for this HR question.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Effect size and CI [4]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the difference, and how precisely is it known?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Conclusion [3]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conclude at α = 5%? Use the p-value correctly.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Causation? [3]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HR claim low engagement </a:t>
            </a:r>
            <a:r>
              <a:rPr lang="en-US" sz="12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</a:t>
            </a: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attrition? Explain.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Q2 (CONTINUED)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Comparison as a Picture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pic>
        <p:nvPicPr>
          <p:cNvPr id="8" name="Image 1" descr="/home/claude/da1/sessions/s07/figures/python/s07_f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35" y="1600200"/>
            <a:ext cx="7064051" cy="429768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59436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PP1-F02  ·  replicate: tdbg_pp1_practice_paper.R / .py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8092440" y="16002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Text 6"/>
          <p:cNvSpPr txBox="1"/>
          <p:nvPr/>
        </p:nvSpPr>
        <p:spPr>
          <a:xfrm>
            <a:off x="8366760" y="18288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ASKED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2240280"/>
            <a:ext cx="29718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(e) Which chart type is this, and what does the box show? [2]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(f) Suggest one improvement to make this chart clearer for the board. [2]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B · Q3 (10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Attrition Related to Department?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6035040" cy="4480560"/>
          </a:xfrm>
          <a:prstGeom prst="roundRect">
            <a:avLst>
              <a:gd name="adj" fmla="val 1224"/>
            </a:avLst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 txBox="1"/>
          <p:nvPr/>
        </p:nvSpPr>
        <p:spPr>
          <a:xfrm>
            <a:off x="8686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OUTPUT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148840"/>
            <a:ext cx="56235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table(h$department, h$attrited)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0  1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 Support 66 11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Engineering      53 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Finance          23 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Operations       38 12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            75  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chisq.test(tab)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Pearson's Chi-squared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X-squared = 7.2374, df = 4,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 = 0.1239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Warning message: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Chi-squared approximation may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 incorrect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949440" y="169164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8"/>
          <p:cNvSpPr/>
          <p:nvPr/>
        </p:nvSpPr>
        <p:spPr>
          <a:xfrm>
            <a:off x="7132320" y="185623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 txBox="1"/>
          <p:nvPr/>
        </p:nvSpPr>
        <p:spPr>
          <a:xfrm>
            <a:off x="713232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635240" y="181051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Rates [3]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7178040" y="228600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attrition rate in Operations and Finance.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949440" y="281178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7132320" y="297637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 txBox="1"/>
          <p:nvPr/>
        </p:nvSpPr>
        <p:spPr>
          <a:xfrm>
            <a:off x="7132320" y="2976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7635240" y="29306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Conclusion [3]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7178040" y="340614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evidence attrition differs by department at α = 5%?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6949440" y="393192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" name="Shape 18"/>
          <p:cNvSpPr/>
          <p:nvPr/>
        </p:nvSpPr>
        <p:spPr>
          <a:xfrm>
            <a:off x="7132320" y="409651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713232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7635240" y="40507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The warning [2]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7178040" y="452628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R warn us? (Hint: expected counts.)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949440" y="5052060"/>
            <a:ext cx="4572000" cy="1010412"/>
          </a:xfrm>
          <a:prstGeom prst="roundRect">
            <a:avLst>
              <a:gd name="adj" fmla="val 7240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3"/>
          <p:cNvSpPr/>
          <p:nvPr/>
        </p:nvSpPr>
        <p:spPr>
          <a:xfrm>
            <a:off x="7132320" y="5216652"/>
            <a:ext cx="365760" cy="36576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sp>
        <p:nvSpPr>
          <p:cNvPr id="28" name="Text 24"/>
          <p:cNvSpPr txBox="1"/>
          <p:nvPr/>
        </p:nvSpPr>
        <p:spPr>
          <a:xfrm>
            <a:off x="7132320" y="52166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5"/>
          <p:cNvSpPr txBox="1"/>
          <p:nvPr/>
        </p:nvSpPr>
        <p:spPr>
          <a:xfrm>
            <a:off x="7635240" y="517093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Advice [2]</a:t>
            </a:r>
            <a:endParaRPr lang="en-US" sz="1350" dirty="0"/>
          </a:p>
        </p:txBody>
      </p:sp>
      <p:sp>
        <p:nvSpPr>
          <p:cNvPr id="30" name="Text 26"/>
          <p:cNvSpPr txBox="1"/>
          <p:nvPr/>
        </p:nvSpPr>
        <p:spPr>
          <a:xfrm>
            <a:off x="7178040" y="5646420"/>
            <a:ext cx="41605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tell the HR director about Operations?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rgbClr val="AAB9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91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C — Applied Task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251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experiment and make a recommendation.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 (30 MARKS)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Nigerian Bank's SMS Reminder Experiment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9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6304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retail bank's microloans have a 14% late-payment rate. The collections team proposes a friendly SMS reminder three days before each repayment date.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217920" y="169164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6446520" y="189280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007108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40880" y="189280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decision question</a:t>
            </a:r>
            <a:endParaRPr lang="en-US" sz="1550" dirty="0"/>
          </a:p>
        </p:txBody>
      </p:sp>
      <p:sp>
        <p:nvSpPr>
          <p:cNvPr id="17" name="Text 11"/>
          <p:cNvSpPr txBox="1"/>
          <p:nvPr/>
        </p:nvSpPr>
        <p:spPr>
          <a:xfrm>
            <a:off x="6492240" y="24688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A/B test to evaluate the SMS (unit, primary metric, guardrails, sample size for a 2-point reduction, duration) and state </a:t>
            </a: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result would justify a rollout</a:t>
            </a: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4008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3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46304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we have</a:t>
            </a:r>
            <a:endParaRPr lang="en-US" sz="1550" dirty="0"/>
          </a:p>
        </p:txBody>
      </p:sp>
      <p:sp>
        <p:nvSpPr>
          <p:cNvPr id="22" name="Text 15"/>
          <p:cNvSpPr txBox="1"/>
          <p:nvPr/>
        </p:nvSpPr>
        <p:spPr>
          <a:xfrm>
            <a:off x="91440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9,000 repayments fall due each month. Each late payment costs the bank about ₦4,000 in collection effort. Each SMS costs ₦4.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217920" y="4023360"/>
            <a:ext cx="53035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Shape 17"/>
          <p:cNvSpPr/>
          <p:nvPr/>
        </p:nvSpPr>
        <p:spPr>
          <a:xfrm>
            <a:off x="644652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33882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040880" y="422452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answer looks like</a:t>
            </a:r>
            <a:endParaRPr lang="en-US" sz="1550" dirty="0"/>
          </a:p>
        </p:txBody>
      </p:sp>
      <p:sp>
        <p:nvSpPr>
          <p:cNvPr id="27" name="Text 19"/>
          <p:cNvSpPr txBox="1"/>
          <p:nvPr/>
        </p:nvSpPr>
        <p:spPr>
          <a:xfrm>
            <a:off x="6492240" y="48006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table, a sample-size calculation with working, two threats to validity, and a decision rule tied to cost and benefit.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DAY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76656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Test-Day Habits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64190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PAPER 1  ·  MODULE 1 REVIEW: FOUNDATIONS &amp; INFERENCE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pic>
        <p:nvPicPr>
          <p:cNvPr id="6" name="Image 0" descr="/home/claude/da1/assets/logos/da1_hex_25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31168" y="6336792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86868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200710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your time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1.5 minutes per mark. Don't over-invest in Section A.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34340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" name="Shape 9"/>
          <p:cNvSpPr/>
          <p:nvPr/>
        </p:nvSpPr>
        <p:spPr>
          <a:xfrm>
            <a:off x="457200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300" y="2007108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6636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key line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output, locate the estimate, the CI and the p-value first.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046720" y="16916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" name="Shape 13"/>
          <p:cNvSpPr/>
          <p:nvPr/>
        </p:nvSpPr>
        <p:spPr>
          <a:xfrm>
            <a:off x="8275320" y="189280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620" y="20071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869680" y="1874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the size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275320" y="246888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state the effect in business units, with its interval.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4008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17"/>
          <p:cNvSpPr/>
          <p:nvPr/>
        </p:nvSpPr>
        <p:spPr>
          <a:xfrm>
            <a:off x="868680" y="4224528"/>
            <a:ext cx="457200" cy="457200"/>
          </a:xfrm>
          <a:prstGeom prst="ellipse">
            <a:avLst/>
          </a:prstGeom>
          <a:solidFill>
            <a:srgbClr val="0B5E82"/>
          </a:solidFill>
          <a:ln w="12700">
            <a:solidFill>
              <a:srgbClr val="0B5E82"/>
            </a:solidFill>
            <a:prstDash val="solid"/>
          </a:ln>
        </p:spPr>
        <p:txBody>
          <a:bodyPr/>
          <a:p/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433882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unit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86868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was assigned and what one row represents.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4343400" y="402336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3F6F9"/>
          </a:solidFill>
          <a:ln w="9525">
            <a:solidFill>
              <a:srgbClr val="E1E7E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" name="Shape 21"/>
          <p:cNvSpPr/>
          <p:nvPr/>
        </p:nvSpPr>
        <p:spPr>
          <a:xfrm>
            <a:off x="4572000" y="4224528"/>
            <a:ext cx="457200" cy="457200"/>
          </a:xfrm>
          <a:prstGeom prst="ellipse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  <p:txBody>
          <a:bodyPr/>
          <a:p/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4338828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166360" y="42062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with 'so what'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0" y="48006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 a manager could act on, with any caveat.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852160" cy="5852160"/>
          </a:xfrm>
          <a:prstGeom prst="ellipse">
            <a:avLst/>
          </a:prstGeom>
          <a:solidFill>
            <a:srgbClr val="2C2C4E"/>
          </a:solidFill>
          <a:ln w="12700">
            <a:solidFill>
              <a:srgbClr val="2C2C4E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2011680" y="4206240"/>
            <a:ext cx="4754880" cy="4754880"/>
          </a:xfrm>
          <a:prstGeom prst="ellipse">
            <a:avLst/>
          </a:prstGeom>
          <a:solidFill>
            <a:srgbClr val="17305C"/>
          </a:solidFill>
          <a:ln w="12700">
            <a:solidFill>
              <a:srgbClr val="17305C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Ready If You Can…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691640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chart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any column or question.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40864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40864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and a p-value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plain English — correctly.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90088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2990088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data, base-rate traps and the wrong unit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639312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639312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</a:t>
            </a: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t-test, proportion and chi-square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output and state the business conclusion.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88536"/>
            <a:ext cx="731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288536"/>
            <a:ext cx="73152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A/B test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unit, metrics, sample size, threats, decision rule.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8092440" cy="1051560"/>
          </a:xfrm>
          <a:prstGeom prst="roundRect">
            <a:avLst>
              <a:gd name="adj" fmla="val 6957"/>
            </a:avLst>
          </a:prstGeom>
          <a:solidFill>
            <a:srgbClr val="17305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51560" y="51206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session:</a:t>
            </a:r>
            <a:r>
              <a:rPr lang="en-US" sz="130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the test: read Chapters 13–14 (Correlation and Linear Regression) to start Module 2.</a:t>
            </a:r>
            <a:endParaRPr lang="en-US" sz="1300" dirty="0"/>
          </a:p>
        </p:txBody>
      </p:sp>
      <p:pic>
        <p:nvPicPr>
          <p:cNvPr id="18" name="Image 0" descr="/home/claude/da1/assets/logos/da1_hex_m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103120"/>
            <a:ext cx="2286000" cy="228600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9052560" y="45720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 ›  Practice Paper 2: Module 2 Review: Prediction &amp; Segmentation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Lagos Business School, Pan-Atlantic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DA-1 Session 7: Module 1 Test — Foundations &amp; Inference</dc:title>
  <dc:subject>PptxGenJS Presentation</dc:subject>
  <dc:creator>Prof. Bongo Adi — Lagos Business School</dc:creator>
  <cp:lastModifiedBy>Prof. Bongo Adi — Lagos Business School</cp:lastModifiedBy>
  <cp:revision>1</cp:revision>
  <dcterms:created xsi:type="dcterms:W3CDTF">2026-10-01T21:51:19Z</dcterms:created>
  <dcterms:modified xsi:type="dcterms:W3CDTF">2026-10-01T21:51:19Z</dcterms:modified>
</cp:coreProperties>
</file>