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4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Act 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Learning: Clustering &amp; Dimensionality Reduction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24–27 — Unsupervised Learning · K-Means · Hierarchical &amp; Density-Based · PCA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4.1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&amp; local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model overall, and explain each individual prediction.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prediction into additive pushes from the average — the same numbers serve both views.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grades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become useful as grades + reasons + a calling plan, proven with a test.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to predict — just structure to discover.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1–2 Bridge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supervised to unsupervised learning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&amp; PCA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k-means, choosing k, hierarchical, PCA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Bank Segments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3,400 retail customers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clusters to customer strategy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Clustering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k-means, hierarchical and density-based methods find groups without labels.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&amp; Choose k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data, run k-means, and choose the number of clusters with the elbow and silhouette.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PCA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many drivers in a few components — and turn clusters into named, actionable segments.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vs Unsupervised Learning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(Sessions 3.2–4.1)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an answer column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default, conversion — known for past cases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to predict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accuracy on test data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logistic, trees, ensembles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(today)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column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descriptions of customers, products or stores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finds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groups, patterns, dimensions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stability, not 'accuracy'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PCA, association rules (Session 4.5)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Segmenting a Bank's Retail Customers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retail bank treats its 3,400-customer sample as one market. Marketing sends the same offers to students, salary earners, traders and the wealthy.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natural customer groups — and what should the bank offer each one?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bank_customers_segmentation.csv — average balance, monthly transactions, digital share of transactions, age, products held, tenure.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profiled segments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size, value and one strategic action each.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See the Groups?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55" y="1600200"/>
            <a:ext cx="7075011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S4.2-F01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customer; no labels.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clumps are visible — high-balance customers, heavy transactors, a dense low-activity mass.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have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drivers, not two: groups may only appear across all of them.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finds them systematically.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k-Means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number of groups. Drop k centre points at random. Then repeat two steps until nothing changes: (1) assign every customer to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centre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(2) move each centre to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its customers.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 = 5, the centres settle on: older wealthy customers, heavy business transactors, young digital users, salaried customers, and low-activity savers.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minimise: Σ distance² to own centre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fast, simple and scales to millions of customers. But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 k, it prefers round, similar-sized groups, and results depend on the starting centres — so run it several times (nstart / n_init) and check stability.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Before Any Clustering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all about distance — so the units matter.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 naira (up to ₦2.3m) would swamp age (18–80). Rescale each driver to mean 0, SD 1.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Tame skew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money values so a few millionaires don't become a cluster of their own.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drivers wisely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drivers that matter for the decision — behaviour, value, needs — not every column you have.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CLUSTERS?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Elbow and the Silhouette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8209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466889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S4.2-F02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(left): within-cluster spread always falls as k rises; look for where gains flatten.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(right): how much closer customers are to their own cluster than to the next one. Higher is better.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point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 also depends on business use: can marketing run 5 strategies? 12?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Segments Emerge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67" y="1600200"/>
            <a:ext cx="6751787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S4.2-F03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on two summary axes (PCA — explained shortly).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well-separated groups, sizes from 345 to 1,099 customers.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come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profiling — the algorithm only gives numbers.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numbers can differ between runs and between R and Python.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 OF CLUSTERS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the Segments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3107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476991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S4.2-F04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₦746k balances, 47 years, 4 products.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64 transactions a month, ₦356k balances.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youth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95% digital, 24 years, low balances.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earners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middle on most things, 75% digital.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savers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 activity, low digital, 1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VS VALUE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Differ Hugely in 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09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7428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S4.2-F05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balances.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savers: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balances.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youth: small balances today — future salary earners tomorrow.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should weigh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potential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SEGMENTS TO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Action per Segment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56032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they 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Affluent (10%)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Older, wealthy, multi-product, long tenure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and deepen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manager; investment and FX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owners (10%)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transactions, healthy balances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banking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POS, payroll and working-capital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earners (26%)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Mid-income, mostly digital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Salary-linked credit card or savings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youth (21%)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Young, 95% digital, low balances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with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App-only savings goals; first-job salary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Mass-market savers (32%)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activity, branch-reliant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cheaply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USSD onboarding; agent banking; nudges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cluster customers on balance (₦) and age without standardising. Most likely result?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driven almost entirely by balance, because its numbers are millions of times larger than age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driven mainly by age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drivers contribute equally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automatically rescales the drivers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CLUSTERING FAMILIES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and Density-Based Clustering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closest customers, step by step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(dendrogram) of merges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tree at any height to get k groups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fix k in advance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beyond a few thousand rows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Density-based (DBSCAN)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dense regions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clusters of any shape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isolated points as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useful for anomalies and fraud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choose k; choose a neighbourhood size instead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when densities vary a lot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Dendrogram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6749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32091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S4.2-F08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customers (8 per segment), merged from the bottom up.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how different the groups being merged are.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at the dashed line gives 5 groups — closely matching the k-means segments.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small samples and for seeing structure at every level.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drivers, few dimensions.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business drivers move together. PCA finds new summary axes —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capture as much of the variation as possible. The first component is the single best summary; the second is the best summary of what is left; and so on.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customer drivers → two components keep about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information. We can then plot every customer on one chart.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PCA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high-dimensional data,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correlated drivers (e.g. 40 survey questions → 5 themes), and to remove collinearity before modelling. The price: components are mixtures, so they need careful naming.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COMPONENTS?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Explained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S4.2-F06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captures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variation; PC2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enough for a reliable 2-D picture.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 capture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keep components until the extra gain is small (scree 'elbow').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COMPONENTS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 Components Mean?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3/figures/python/s13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741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387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S4.2-F07  ·  replicate: tdbg_4_2_figures.R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show how much each driver contributes to a component.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older, longer-tenured customers vs young, digital, transaction-heavy ones.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more products, higher balances and more activity — overall relationship depth.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can flip between software; read which drivers move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cluster numbers as meaningful ("cluster 3 is best").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name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clusters; numbers are arbitrary.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purely from the elbow plot.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statistics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usability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stability.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on every column available.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drivers tied to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(needs, behaviour, value).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segments once and using them for years.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customers move between segments.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scale.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log skewed money values.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Segment the Bank's Customers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data/bank_customers_segmentation.csv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sessions/4-2/R/tdbg_4_2_lab.R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sessions/4-2/python/tdbg_4_2_lab.py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balance and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six drivers.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elbow and silhouette for k = 2–8; choose k.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k-means;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cluster with medians and sizes; give each a name.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plot customers on PC1–PC2 coloured by segment; read the loadings.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hierarchical clustering; then check the hidden true labels.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segment table: name, size, share of balances, profile, one action.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 ·  SEGMENTATION YOU CAN ACT 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structure in data with no outcome column.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cases together.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by assigning to the nearest of k centres.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Centroid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point of a cluster.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a driver to mean 0, standard deviation 1.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plot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 spread vs k; look for the bend.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each case fits its cluster vs the next.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Dendrogram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showing how hierarchical clusters merge.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summary axes capturing the most variation.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driver's weight in a principal component.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finds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there is no answer to predict.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data; k-means then assigns, moves and repeats.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with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elbow, silhouette and business sense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become segments only after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and naming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compresses many drivers into a few interpretable axes.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Prepare for the Module 2 Practice Paper (Practice Paper 2): rerun the labs from Sessions 3.2–4.2 and attempt the practice paper in the Practice Paper 2 deck.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4.3: Forecasting with Intervals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13: Unsupervised Learning: Clustering &amp; Dimensionality Reduction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