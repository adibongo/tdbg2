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DAY 2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2.3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Odd Here?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 9 — Exploratory Data Analysis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2.2 in Three Ideas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08026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02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64592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first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977640" y="170992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4251960" y="170992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decides the summary: </a:t>
            </a: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IQR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skewed data, mean + SD for symmetric.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5890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rates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977640" y="321868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4251960" y="321868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events plus imperfect tests produce mostly false alarms — think in natural frequencies.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40080" y="509778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5257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08760" y="46634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ranges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977640" y="4727448"/>
            <a:ext cx="7543800" cy="1380744"/>
          </a:xfrm>
          <a:prstGeom prst="roundRect">
            <a:avLst>
              <a:gd name="adj" fmla="val 397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 txBox="1"/>
          <p:nvPr/>
        </p:nvSpPr>
        <p:spPr>
          <a:xfrm>
            <a:off x="4251960" y="4727448"/>
            <a:ext cx="70866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± 1.96 × standard error: an honest confidence interval, not a single number.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2.3 at a Glance — 75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disciplined first look that comes before any model.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1414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90928" y="1874520"/>
            <a:ext cx="359054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2090928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18048" y="1874520"/>
            <a:ext cx="5041392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718048" y="1874520"/>
            <a:ext cx="504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96016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Hook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model failures start with bad data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EDA Workflow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check quality, clean, explore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Loan Book EDA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the problems in a messy microfinance file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to carry into modelling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2.3 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1564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372" y="22905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a Dataset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systematic first look: size, types, missing values, duplicates and ranges.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35864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63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693420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932" y="22905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3296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Treat Problems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63296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outliers from errors, and decide — and document — how to treat each issue.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077200" y="1920240"/>
            <a:ext cx="3444240" cy="3931920"/>
          </a:xfrm>
          <a:prstGeom prst="roundRect">
            <a:avLst>
              <a:gd name="adj" fmla="val 2124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835152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D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10652760" y="2148840"/>
            <a:ext cx="566928" cy="56692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229057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51520" y="2971800"/>
            <a:ext cx="289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Hypotheses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351520" y="3749040"/>
            <a:ext cx="289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distributions and relationships to generate testable business hypotheses.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In, Confident Garbage Out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5453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1691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model said our riskiest borrowers were 140 years old.” — every analytics team, at some point.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71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do not question their inputs. EDA is where a human does: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1762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errors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impossible values, typos and inconsistent labels — before they become 'insights'.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35864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94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5300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the gaps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35864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rarely random. Who is missing changes what the data can say.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94320" y="37033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20" y="381762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488680" y="3730752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story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7894320" y="4343400"/>
            <a:ext cx="321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and relationships suggest the hypotheses worth testing.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Microfinance Loan Book Before Modelling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Nigerian microfinance bank with six branches (Ikeja, Oshodi, Ajah, Ibadan, Abeokuta, Onitsha) wants a default-risk model for small business loans.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loan file fit to model? What problems does it have — and what early patterns hint at who defaults?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microfinance_loans_raw.csv —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1,515 rows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13 columns: branch, sector, age, gender, income, loan amount, term, rate, prior loans, lending model, date, defaulted.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log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(every fix and why), a cleaned file,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hypotheses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modelling sessions (10–11).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EDA Workflow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always in this order.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EDA Workflow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 ahead to charts: profile and quality-check first.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93876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46" y="2366010"/>
            <a:ext cx="434340" cy="4343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542032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Profile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Rows, columns, types, a first look at values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470148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318" y="2366010"/>
            <a:ext cx="434340" cy="4343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718304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17" name="Text 11"/>
          <p:cNvSpPr txBox="1"/>
          <p:nvPr/>
        </p:nvSpPr>
        <p:spPr>
          <a:xfrm>
            <a:off x="2907792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Quality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953512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Missing, duplicate, inconsistent and impossible values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646420" y="2148840"/>
            <a:ext cx="868680" cy="8686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590" y="2366010"/>
            <a:ext cx="434340" cy="4343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894576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2" name="Text 15"/>
          <p:cNvSpPr txBox="1"/>
          <p:nvPr/>
        </p:nvSpPr>
        <p:spPr>
          <a:xfrm>
            <a:off x="508406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Clean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129784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flag or drop — and log every decision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822692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9862" y="2366010"/>
            <a:ext cx="434340" cy="4343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70848" y="2240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400" dirty="0"/>
          </a:p>
        </p:txBody>
      </p:sp>
      <p:sp>
        <p:nvSpPr>
          <p:cNvPr id="27" name="Text 19"/>
          <p:cNvSpPr txBox="1"/>
          <p:nvPr/>
        </p:nvSpPr>
        <p:spPr>
          <a:xfrm>
            <a:off x="7260336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Univariate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7306056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centre and spread of each variable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9998964" y="2148840"/>
            <a:ext cx="868680" cy="8686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6134" y="2366010"/>
            <a:ext cx="434340" cy="43434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436608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Relationships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9482328" y="3657600"/>
            <a:ext cx="1901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move together and with the outcome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640080" y="53492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4" name="Text 25"/>
          <p:cNvSpPr txBox="1"/>
          <p:nvPr/>
        </p:nvSpPr>
        <p:spPr>
          <a:xfrm>
            <a:off x="868680" y="5349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ends with </a:t>
            </a:r>
            <a:r>
              <a:rPr lang="en-US" sz="1300" b="1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conclusions: “younger borrowers default more” is a lead to test, not a finding to act 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PROFILE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Five Minutes With Any File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8288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240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&lt;- readr::read_csv("data/microfinance_loans_raw.csv")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dim(raw)            # 1515 rows, 13 columns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dplyr::glimpse(raw) # types: &lt;chr&gt;, &lt;dbl&gt;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summary(raw)        # min / quartiles / max / NAs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colSums(is.na(raw))          # missing per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sum(duplicated(raw))         # exact duplicate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dplyr::count(raw, branch)    # category labels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349240" cy="3749040"/>
          </a:xfrm>
          <a:prstGeom prst="roundRect">
            <a:avLst>
              <a:gd name="adj" fmla="val 1463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55080" y="18288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35508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2402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pd.read_csv("data/microfinance_loans_raw.csv")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raw.shape           # (1515, 13)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raw.info()          # types: object, float64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raw.describe(include="all")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raw.isna().sum()             # missing per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raw.duplicated().sum()       # exact duplicate 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raw["branch"].value_counts() # category labels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commands answer: how big, what types, what is missing, what repeats, what labels exist.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PROFILE FOUND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Problems in 1,515 Rows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would quietly distort a model if left alone.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965960"/>
            <a:ext cx="1956816" cy="4069080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22960" y="22860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44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3832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incomes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931920"/>
            <a:ext cx="14081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 of rows have no income — a key risk driver.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871216" y="1965960"/>
            <a:ext cx="1956816" cy="4069080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3054096" y="22860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3054096" y="33832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145536" y="3931920"/>
            <a:ext cx="14081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loan entered twice inflates counts.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102352" y="1965960"/>
            <a:ext cx="1956816" cy="4069080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5285232" y="22860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5285232" y="33832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labels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376672" y="3931920"/>
            <a:ext cx="14081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'ikeja ' vs 'Ikeja' splits branches in two.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333488" y="1965960"/>
            <a:ext cx="1956816" cy="4069080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Text 18"/>
          <p:cNvSpPr txBox="1"/>
          <p:nvPr/>
        </p:nvSpPr>
        <p:spPr>
          <a:xfrm>
            <a:off x="7516368" y="22860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23" name="Text 19"/>
          <p:cNvSpPr txBox="1"/>
          <p:nvPr/>
        </p:nvSpPr>
        <p:spPr>
          <a:xfrm>
            <a:off x="7516368" y="33832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ages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607808" y="3931920"/>
            <a:ext cx="14081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aged 140.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9564624" y="1965960"/>
            <a:ext cx="1956816" cy="4069080"/>
          </a:xfrm>
          <a:prstGeom prst="roundRect">
            <a:avLst>
              <a:gd name="adj" fmla="val 373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9747504" y="2286000"/>
            <a:ext cx="1591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5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7" name="Text 23"/>
          <p:cNvSpPr txBox="1"/>
          <p:nvPr/>
        </p:nvSpPr>
        <p:spPr>
          <a:xfrm>
            <a:off x="9747504" y="3383280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Extra-zero loans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9838944" y="3931920"/>
            <a:ext cx="140817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worth 12–30× monthly income.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Find, Judge, Fix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uniqueness, consistency and validity.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 — and Why?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99178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637705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S2.3-F01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missing for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loans; age for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branch that skipped the field? Applicants who refused?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missingness is linked to risk, dropping rows biases the model.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 drop, fill (median), or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'unknown' and keep.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MISSING VALUES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Drop, Fill or Flag? A Decision Guide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743200"/>
                <a:gridCol w="3200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is reasonable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Loan-book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the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few missing and no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Lose data; bias if missingness is linked to the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missing ages (2.6%) — probably fine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(impute)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can be estimated from similar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Understates uncertainty; hides the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income with the median for the same sector and 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&amp; keep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fact it is missing may itself be informative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more complex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income_missing = 1 and let the model learn from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choose, write it in the cleaning log — and test whether results change if you choose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or Error? Not the Same Thing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223760" cy="391173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55765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S2.3-F03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68-year-old borrower is an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unusual but possible. Keep.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140-year-old borrower is an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impossible. Set to missing.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could this value exist in the real world?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investigate — don't delete because it is inconvenient.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IN CONTEXT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the Extra Zero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58" y="1600200"/>
            <a:ext cx="6827605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S2.3-F02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log scale the bulk of loans sits between ₦100k and ₦500k.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loan of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₦9.45m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someone earning ₦320k a month: 30× income.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loans are about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monthly income.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used: loan &gt; 10× income → likely entry error. Six loans flagged.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Branch, Two Spellings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13" y="1600200"/>
            <a:ext cx="6536294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S2.3-F04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'Ikeja' and 'ikeja ' (trailing space) are treated as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branches.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group-by, count and chart is quietly wrong.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trim spaces and standardise capitals.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Prevent: drop-down lists at data entry, not free text.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GO WRONG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Habits That Backfire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makes data look tidier — and less true.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5440680" cy="850392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00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240280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every value beyond 1.5 × IQR because a textbook calls them outliers.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2240280"/>
            <a:ext cx="5257800" cy="850392"/>
          </a:xfrm>
          <a:prstGeom prst="roundRect">
            <a:avLst>
              <a:gd name="adj" fmla="val 6452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51002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03720" y="2240280"/>
            <a:ext cx="4480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values; investigate unusual ones.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200400"/>
            <a:ext cx="5440680" cy="850392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7014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00400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missing incomes with the overall mean and moving on.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263640" y="3200400"/>
            <a:ext cx="5257800" cy="850392"/>
          </a:xfrm>
          <a:prstGeom prst="roundRect">
            <a:avLst>
              <a:gd name="adj" fmla="val 6452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470148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03720" y="3200400"/>
            <a:ext cx="4480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missing; consider a flag; fill within similar groups.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0080" y="4160520"/>
            <a:ext cx="5440680" cy="850392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30268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80160" y="4160520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by hand in Excel, with no record of what changed.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6263640" y="4160520"/>
            <a:ext cx="5257800" cy="850392"/>
          </a:xfrm>
          <a:prstGeom prst="roundRect">
            <a:avLst>
              <a:gd name="adj" fmla="val 6452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430268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903720" y="4160520"/>
            <a:ext cx="4480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every step is visible, repeatable and reviewable.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40080" y="5120640"/>
            <a:ext cx="5440680" cy="850392"/>
          </a:xfrm>
          <a:prstGeom prst="roundRect">
            <a:avLst>
              <a:gd name="adj" fmla="val 6452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390388"/>
            <a:ext cx="310896" cy="310896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280160" y="5120640"/>
            <a:ext cx="4663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analysis file but not the source system.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263640" y="5120640"/>
            <a:ext cx="5257800" cy="850392"/>
          </a:xfrm>
          <a:prstGeom prst="roundRect">
            <a:avLst>
              <a:gd name="adj" fmla="val 6452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5390388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6903720" y="5120640"/>
            <a:ext cx="4480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root causes upstream so the error stops at data entry.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CLEANING LOG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Decision, Written Down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lab does to microfinance_loans_raw.csv.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1,515 → 1,500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labels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+ title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6 branches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Ages over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missing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&gt; 10×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as entry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→ 1,494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Keep; flag in Session 3.4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85800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858000" y="231343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685800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360920" y="2286000"/>
            <a:ext cx="4160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first: the problems above were all found with six commands.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858000" y="302209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 txBox="1"/>
          <p:nvPr/>
        </p:nvSpPr>
        <p:spPr>
          <a:xfrm>
            <a:off x="6858000" y="30220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360920" y="2994660"/>
            <a:ext cx="4160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a line of code — rerunnable on next month's file.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858000" y="373075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 txBox="1"/>
          <p:nvPr/>
        </p:nvSpPr>
        <p:spPr>
          <a:xfrm>
            <a:off x="6858000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360920" y="3703320"/>
            <a:ext cx="4160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raw file untouched; write a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cleaned file.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858000" y="4439412"/>
            <a:ext cx="347472" cy="34747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6858000" y="44394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360920" y="4411980"/>
            <a:ext cx="41605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log with the business owner of the data.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0" y="525780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7086600" y="5257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1,494 clean loans, 10.4% default rate — ready to explore.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Patterns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variable at a time, to relationships with the outcome.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TWO NUMBERS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Plots: How Two Variables Move Together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64" y="1600200"/>
            <a:ext cx="6999193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S2.3-F05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loan. Bigger incomes get bigger loans — a strong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relationship.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scales spread out skewed money values so the pattern is visible.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(orange) appear across all incomes: income alone won't predict default.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question: what about loan size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income?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GROUP COMPARISON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Age Band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25" y="1600200"/>
            <a:ext cx="6967270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S2.3-F06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18–25s default at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1.6× the portfolio average.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falls steadily with age to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56+.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56+ group has only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loans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too few to trust.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age (or what it stands for — experience, savings) predicts default.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MANY AT ONCE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Correlation Heat Map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99" y="1600200"/>
            <a:ext cx="4897722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S2.3-F07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runs from −1 to +1 (Session 3.2 explains it fully).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loan amount move together strongly (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Repayment-to-income links to default (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more than income does.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column predicts default well — which is why we need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combine them.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· SMALL GROUPS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Loans and Default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3/figures/python/s03_f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25" y="1600200"/>
            <a:ext cx="6967270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S2.3-F08  ·  replicate: tdbg_2_3_figures.R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SEE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borrowers: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default. Third-time: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story: repeat borrowers have proven themselves.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4+ group bounces back up — but only 80 loans.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small groups produce noisy rates. Don't chase every wiggle.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What Would You Say?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EDA you find that 18–25-year-olds default at 17% versus 10% overall. What should you do next?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lending to under-26s immediately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it as a hypothesis and test it in a model that controls for income, loan size and sector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— age is not a business variable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young borrowers so the portfolio looks healthier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SPEED UP EDA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Profiling — Useful, Not Sufficient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software do the counting; keep the judging for yourself.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206654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92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skimr::skim()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one-page summary;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DataExplorer::create_report()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full HTML profile.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4340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5769864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262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ydata-profiling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full HTML report in one line.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046720" y="187452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473184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22960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275320" y="34747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 EDA plan or code — then read every number yourself. AI cannot know your business rules.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Clean and Explore the Loan Book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144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NEED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700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data/microfinance_loans_raw.csv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script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216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sessions/2-3/R/tdbg_2_3_lab.R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262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417320" y="4773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D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sessions/2-3/python/tdbg_2_3_lab.py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14400" y="5623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35 minutes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663440" y="173736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 txBox="1"/>
          <p:nvPr/>
        </p:nvSpPr>
        <p:spPr>
          <a:xfrm>
            <a:off x="46634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16916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file: dimensions, types, summary statistics.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246888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3" name="Text 17"/>
          <p:cNvSpPr txBox="1"/>
          <p:nvPr/>
        </p:nvSpPr>
        <p:spPr>
          <a:xfrm>
            <a:off x="4663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12080" y="24231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missing values (and where), duplicates, branch labels, ranges of age and loan size.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 txBox="1"/>
          <p:nvPr/>
        </p:nvSpPr>
        <p:spPr>
          <a:xfrm>
            <a:off x="46634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212080" y="31546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code, following the cleaning log — keep the raw file untouched.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4663440" y="393192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9" name="Text 23"/>
          <p:cNvSpPr txBox="1"/>
          <p:nvPr/>
        </p:nvSpPr>
        <p:spPr>
          <a:xfrm>
            <a:off x="4663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212080" y="38862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default rate by sector, age band and prior loans; correlations among numeric columns.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 txBox="1"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2120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worst branch after cleaning; your missing-income policy; three hypotheses for Session 3.4.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4663440" y="5394960"/>
            <a:ext cx="6858000" cy="731520"/>
          </a:xfrm>
          <a:prstGeom prst="roundRect">
            <a:avLst>
              <a:gd name="adj" fmla="val 7500"/>
            </a:avLst>
          </a:prstGeom>
          <a:solidFill>
            <a:srgbClr val="F3F6F9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35" name="Text 29"/>
          <p:cNvSpPr txBox="1"/>
          <p:nvPr/>
        </p:nvSpPr>
        <p:spPr>
          <a:xfrm>
            <a:off x="489204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</a:t>
            </a: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one-slide cleaning log and three testable hypotheses.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OWN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Vocabulary in Plain English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2.3  ·  WHAT IS ODD HERE?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Analysis: the systematic first look before modelling.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size, types, ranges and missingness of a file.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2296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cell (NA / NaN). Ask why it is missing.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a missing value with an estimate.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008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2296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 entered more than once.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172200" y="1728216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6355080" y="1728216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1728216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unusual but possible value — investigate it.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2615184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355080" y="2615184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15184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impossible value — correct it or set to missing.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72200" y="3502152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6355080" y="3502152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scale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001000" y="3502152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axis where each step multiplies by 10; tames skew.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72200" y="4389120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6355080" y="4389120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001000" y="4389120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of a straight-line relationship, −1 to +1.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172200" y="5276088"/>
            <a:ext cx="5349240" cy="795528"/>
          </a:xfrm>
          <a:prstGeom prst="roundRect">
            <a:avLst>
              <a:gd name="adj" fmla="val 57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6355080" y="5276088"/>
            <a:ext cx="16002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log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5276088"/>
            <a:ext cx="3383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record of every change made to the data.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2.3 in 5 Ideas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comes before every model: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→ quality → clean → explore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rarely random — ask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missing before dropping or filling.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unusual but real;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impossible. Treat them differently.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 code and keep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every decision is visible and repeatable.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ends with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test, not conclusions to act 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Finish the lab and post your cleaning log. Read Chapter 10 (Data Visualisation for Business) and bring one chart from your own company's reports that you think could be better.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Session 2.4: Charts That Survive a Board Room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3: Exploratory Data Analysis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2026-10-01T21:51:18Z</dcterms:created>
  <dcterms:modified xsi:type="dcterms:W3CDTF">2026-10-01T21:51:18Z</dcterms:modified>
</cp:coreProperties>
</file>