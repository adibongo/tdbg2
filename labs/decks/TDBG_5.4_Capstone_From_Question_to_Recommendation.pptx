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5" name="Text 2"/>
          <p:cNvSpPr txBox="1"/>
          <p:nvPr/>
        </p:nvSpPr>
        <p:spPr>
          <a:xfrm>
            <a:off x="822960" y="1005840"/>
            <a:ext cx="10515600" cy="320040"/>
          </a:xfrm>
          <a:prstGeom prst="rect">
            <a:avLst/>
          </a:prstGeom>
          <a:noFill/>
          <a:ln/>
        </p:spPr>
        <p:txBody>
          <a:bodyPr wrap="square" lIns="0" tIns="0" rIns="0" bIns="0" rtlCol="0" anchor="t"/>
          <a:lstStyle/>
          <a:p>
            <a:pPr indent="0" marL="0">
              <a:buNone/>
            </a:pPr>
            <a:r>
              <a:rPr lang="en-US" sz="1250" b="1" spc="400" kern="0" dirty="0">
                <a:solidFill>
                  <a:srgbClr val="D99A2B"/>
                </a:solidFill>
                <a:latin typeface="Calibri" pitchFamily="34" charset="0"/>
                <a:ea typeface="Calibri" pitchFamily="34" charset="-122"/>
                <a:cs typeface="Calibri" pitchFamily="34" charset="-120"/>
              </a:rPr>
              <a:t>LAGOS BUSINESS SCHOOL  ·  TURNING DATA INTO BUSINESS GROWTH  ·  DAY 5</a:t>
            </a:r>
            <a:endParaRPr lang="en-US" sz="1250" dirty="0"/>
          </a:p>
        </p:txBody>
      </p:sp>
      <p:sp>
        <p:nvSpPr>
          <p:cNvPr id="6" name="Text 3"/>
          <p:cNvSpPr txBox="1"/>
          <p:nvPr/>
        </p:nvSpPr>
        <p:spPr>
          <a:xfrm>
            <a:off x="822960" y="1645920"/>
            <a:ext cx="5486400" cy="502920"/>
          </a:xfrm>
          <a:prstGeom prst="rect">
            <a:avLst/>
          </a:prstGeom>
          <a:noFill/>
          <a:ln/>
        </p:spPr>
        <p:txBody>
          <a:bodyPr wrap="square" lIns="0" tIns="0" rIns="0" bIns="0" rtlCol="0" anchor="t"/>
          <a:lstStyle/>
          <a:p>
            <a:pPr indent="0" marL="0">
              <a:buNone/>
            </a:pPr>
            <a:r>
              <a:rPr lang="en-US" sz="2800" b="1" dirty="0">
                <a:solidFill>
                  <a:srgbClr val="AAB9CC"/>
                </a:solidFill>
                <a:latin typeface="Cambria" pitchFamily="34" charset="0"/>
                <a:ea typeface="Cambria" pitchFamily="34" charset="-122"/>
                <a:cs typeface="Cambria" pitchFamily="34" charset="-120"/>
              </a:rPr>
              <a:t>SESSION 5.4</a:t>
            </a:r>
            <a:endParaRPr lang="en-US" sz="2800" dirty="0"/>
          </a:p>
        </p:txBody>
      </p:sp>
      <p:sp>
        <p:nvSpPr>
          <p:cNvPr id="7" name="Text 4"/>
          <p:cNvSpPr txBox="1"/>
          <p:nvPr/>
        </p:nvSpPr>
        <p:spPr>
          <a:xfrm>
            <a:off x="822960" y="2240280"/>
            <a:ext cx="7863840" cy="173736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Cambria" pitchFamily="34" charset="0"/>
                <a:ea typeface="Cambria" pitchFamily="34" charset="-122"/>
                <a:cs typeface="Cambria" pitchFamily="34" charset="-120"/>
              </a:rPr>
              <a:t>Capstone: From Question</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to Recommendation</a:t>
            </a:r>
            <a:endParaRPr lang="en-US" sz="4000" dirty="0"/>
          </a:p>
        </p:txBody>
      </p:sp>
      <p:sp>
        <p:nvSpPr>
          <p:cNvPr id="8" name="Text 5"/>
          <p:cNvSpPr txBox="1"/>
          <p:nvPr/>
        </p:nvSpPr>
        <p:spPr>
          <a:xfrm>
            <a:off x="822960" y="4114800"/>
            <a:ext cx="7680960" cy="41148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Capstone Presentations &amp; Building Your Analytics Practice</a:t>
            </a:r>
            <a:endParaRPr lang="en-US" sz="1600" dirty="0"/>
          </a:p>
        </p:txBody>
      </p:sp>
      <p:sp>
        <p:nvSpPr>
          <p:cNvPr id="9" name="Shape 6"/>
          <p:cNvSpPr/>
          <p:nvPr/>
        </p:nvSpPr>
        <p:spPr>
          <a:xfrm>
            <a:off x="777240" y="4846320"/>
            <a:ext cx="502920" cy="502920"/>
          </a:xfrm>
          <a:prstGeom prst="ellipse">
            <a:avLst/>
          </a:prstGeom>
          <a:solidFill>
            <a:srgbClr val="1C7293"/>
          </a:solidFill>
          <a:ln w="12700">
            <a:solidFill>
              <a:srgbClr val="1C7293"/>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902970" y="4972050"/>
            <a:ext cx="251460" cy="251460"/>
          </a:xfrm>
          <a:prstGeom prst="rect">
            <a:avLst/>
          </a:prstGeom>
        </p:spPr>
      </p:pic>
      <p:sp>
        <p:nvSpPr>
          <p:cNvPr id="11" name="Text 7"/>
          <p:cNvSpPr txBox="1"/>
          <p:nvPr/>
        </p:nvSpPr>
        <p:spPr>
          <a:xfrm>
            <a:off x="1463040" y="4919472"/>
            <a:ext cx="6949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Source: All chapters — Chapter 64: Building Your Analytics Practice</a:t>
            </a:r>
            <a:endParaRPr lang="en-US" sz="1250" dirty="0"/>
          </a:p>
        </p:txBody>
      </p:sp>
      <p:sp>
        <p:nvSpPr>
          <p:cNvPr id="12" name="Text 8"/>
          <p:cNvSpPr txBox="1"/>
          <p:nvPr/>
        </p:nvSpPr>
        <p:spPr>
          <a:xfrm>
            <a:off x="822960" y="6035040"/>
            <a:ext cx="8229600" cy="274320"/>
          </a:xfrm>
          <a:prstGeom prst="rect">
            <a:avLst/>
          </a:prstGeom>
          <a:noFill/>
          <a:ln/>
        </p:spPr>
        <p:txBody>
          <a:bodyPr wrap="square" lIns="0" tIns="0" rIns="0" bIns="0" rtlCol="0" anchor="t"/>
          <a:lstStyle/>
          <a:p>
            <a:pPr indent="0" marL="0">
              <a:buNone/>
            </a:pPr>
            <a:r>
              <a:rPr lang="en-US" sz="1050" dirty="0">
                <a:solidFill>
                  <a:srgbClr val="AAB9CC"/>
                </a:solidFill>
                <a:latin typeface="Calibri" pitchFamily="34" charset="0"/>
                <a:ea typeface="Calibri" pitchFamily="34" charset="-122"/>
                <a:cs typeface="Calibri" pitchFamily="34" charset="-120"/>
              </a:rPr>
              <a:t>AI-Powered Business Analytics: A Practical Textbook for Data-Driven Decision Making  ·  Prof. Bongo Adi</a:t>
            </a:r>
            <a:endParaRPr lang="en-US" sz="1050" dirty="0"/>
          </a:p>
        </p:txBody>
      </p:sp>
      <p:pic>
        <p:nvPicPr>
          <p:cNvPr id="13" name="Image 1" descr="/home/claude/da1/assets/logos/da1_hex.png">    </p:cNvPr>
          <p:cNvPicPr>
            <a:picLocks noChangeAspect="1"/>
          </p:cNvPicPr>
          <p:nvPr/>
        </p:nvPicPr>
        <p:blipFill>
          <a:blip r:embed="rId2"/>
          <a:stretch>
            <a:fillRect/>
          </a:stretch>
        </p:blipFill>
        <p:spPr>
          <a:xfrm>
            <a:off x="8915400" y="1554480"/>
            <a:ext cx="2743200" cy="2743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WHERE WE ARE</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Programme Roadmap — Days 2 to 5</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Three modules across four days, a self-study practice paper for each, and the capstone defence on Friday.</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2148840"/>
            <a:ext cx="2606040" cy="3840480"/>
          </a:xfrm>
          <a:prstGeom prst="roundRect">
            <a:avLst>
              <a:gd name="adj" fmla="val 2807"/>
            </a:avLst>
          </a:prstGeom>
          <a:solidFill>
            <a:srgbClr val="F3F6F9"/>
          </a:solidFill>
          <a:ln w="9525">
            <a:solidFill>
              <a:srgbClr val="E1E7EE"/>
            </a:solidFill>
            <a:prstDash val="solid"/>
          </a:ln>
        </p:spPr>
        <p:txBody>
          <a:bodyPr/>
          <a:p/>
        </p:txBody>
      </p:sp>
      <p:sp>
        <p:nvSpPr>
          <p:cNvPr id="10" name="Text 6"/>
          <p:cNvSpPr txBox="1"/>
          <p:nvPr/>
        </p:nvSpPr>
        <p:spPr>
          <a:xfrm>
            <a:off x="868680" y="2468880"/>
            <a:ext cx="2194560" cy="411480"/>
          </a:xfrm>
          <a:prstGeom prst="rect">
            <a:avLst/>
          </a:prstGeom>
          <a:noFill/>
          <a:ln/>
        </p:spPr>
        <p:txBody>
          <a:bodyPr wrap="square" lIns="0" tIns="0" rIns="0" bIns="0" rtlCol="0" anchor="t"/>
          <a:lstStyle/>
          <a:p>
            <a:pPr indent="0" marL="0">
              <a:buNone/>
            </a:pPr>
            <a:r>
              <a:rPr lang="en-US" sz="1900" b="1" dirty="0">
                <a:solidFill>
                  <a:srgbClr val="141B4D"/>
                </a:solidFill>
                <a:latin typeface="Cambria" pitchFamily="34" charset="0"/>
                <a:ea typeface="Cambria" pitchFamily="34" charset="-122"/>
                <a:cs typeface="Cambria" pitchFamily="34" charset="-120"/>
              </a:rPr>
              <a:t>Module 1</a:t>
            </a:r>
            <a:endParaRPr lang="en-US" sz="1900" dirty="0"/>
          </a:p>
        </p:txBody>
      </p:sp>
      <p:sp>
        <p:nvSpPr>
          <p:cNvPr id="11" name="Text 7"/>
          <p:cNvSpPr txBox="1"/>
          <p:nvPr/>
        </p:nvSpPr>
        <p:spPr>
          <a:xfrm>
            <a:off x="868680" y="2880360"/>
            <a:ext cx="2194560" cy="274320"/>
          </a:xfrm>
          <a:prstGeom prst="rect">
            <a:avLst/>
          </a:prstGeom>
          <a:noFill/>
          <a:ln/>
        </p:spPr>
        <p:txBody>
          <a:bodyPr wrap="square" lIns="0" tIns="0" rIns="0" bIns="0" rtlCol="0" anchor="t"/>
          <a:lstStyle/>
          <a:p>
            <a:pPr indent="0" marL="0">
              <a:buNone/>
            </a:pPr>
            <a:r>
              <a:rPr lang="en-US" sz="1250" b="1" dirty="0">
                <a:solidFill>
                  <a:srgbClr val="D99A2B"/>
                </a:solidFill>
                <a:latin typeface="Calibri" pitchFamily="34" charset="0"/>
                <a:ea typeface="Calibri" pitchFamily="34" charset="-122"/>
                <a:cs typeface="Calibri" pitchFamily="34" charset="-120"/>
              </a:rPr>
              <a:t>Sessions 2.1–3.1</a:t>
            </a:r>
            <a:endParaRPr lang="en-US" sz="1250" dirty="0"/>
          </a:p>
        </p:txBody>
      </p:sp>
      <p:sp>
        <p:nvSpPr>
          <p:cNvPr id="12" name="Text 8"/>
          <p:cNvSpPr txBox="1"/>
          <p:nvPr/>
        </p:nvSpPr>
        <p:spPr>
          <a:xfrm>
            <a:off x="868680" y="3154680"/>
            <a:ext cx="2194560" cy="27432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Practice paper — self-study</a:t>
            </a:r>
            <a:endParaRPr lang="en-US" sz="1150" dirty="0"/>
          </a:p>
        </p:txBody>
      </p:sp>
      <p:sp>
        <p:nvSpPr>
          <p:cNvPr id="13" name="Text 9"/>
          <p:cNvSpPr txBox="1"/>
          <p:nvPr/>
        </p:nvSpPr>
        <p:spPr>
          <a:xfrm>
            <a:off x="868680" y="3657600"/>
            <a:ext cx="2194560" cy="2194560"/>
          </a:xfrm>
          <a:prstGeom prst="rect">
            <a:avLst/>
          </a:prstGeom>
          <a:noFill/>
          <a:ln/>
        </p:spPr>
        <p:txBody>
          <a:bodyPr wrap="square" lIns="0" tIns="0" rIns="0" bIns="0" rtlCol="0" anchor="t"/>
          <a:lstStyle/>
          <a:p>
            <a:pPr indent="0" marL="0">
              <a:buNone/>
            </a:pPr>
            <a:r>
              <a:rPr lang="en-US" sz="1200" dirty="0">
                <a:solidFill>
                  <a:srgbClr val="1A2233"/>
                </a:solidFill>
                <a:latin typeface="Calibri" pitchFamily="34" charset="0"/>
                <a:ea typeface="Calibri" pitchFamily="34" charset="-122"/>
                <a:cs typeface="Calibri" pitchFamily="34" charset="-120"/>
              </a:rPr>
              <a:t>Foundations &amp; Inference: data literacy, statistics, EDA, visualisation, hypothesis &amp; A/B testing</a:t>
            </a:r>
            <a:endParaRPr lang="en-US" sz="1200" dirty="0"/>
          </a:p>
        </p:txBody>
      </p:sp>
      <p:sp>
        <p:nvSpPr>
          <p:cNvPr id="14" name="Shape 10"/>
          <p:cNvSpPr/>
          <p:nvPr/>
        </p:nvSpPr>
        <p:spPr>
          <a:xfrm>
            <a:off x="3429000" y="2148840"/>
            <a:ext cx="2606040" cy="3840480"/>
          </a:xfrm>
          <a:prstGeom prst="roundRect">
            <a:avLst>
              <a:gd name="adj" fmla="val 2807"/>
            </a:avLst>
          </a:prstGeom>
          <a:solidFill>
            <a:srgbClr val="F3F6F9"/>
          </a:solidFill>
          <a:ln w="9525">
            <a:solidFill>
              <a:srgbClr val="E1E7EE"/>
            </a:solidFill>
            <a:prstDash val="solid"/>
          </a:ln>
        </p:spPr>
        <p:txBody>
          <a:bodyPr/>
          <a:p/>
        </p:txBody>
      </p:sp>
      <p:sp>
        <p:nvSpPr>
          <p:cNvPr id="15" name="Text 11"/>
          <p:cNvSpPr txBox="1"/>
          <p:nvPr/>
        </p:nvSpPr>
        <p:spPr>
          <a:xfrm>
            <a:off x="3657600" y="2468880"/>
            <a:ext cx="2194560" cy="411480"/>
          </a:xfrm>
          <a:prstGeom prst="rect">
            <a:avLst/>
          </a:prstGeom>
          <a:noFill/>
          <a:ln/>
        </p:spPr>
        <p:txBody>
          <a:bodyPr wrap="square" lIns="0" tIns="0" rIns="0" bIns="0" rtlCol="0" anchor="t"/>
          <a:lstStyle/>
          <a:p>
            <a:pPr indent="0" marL="0">
              <a:buNone/>
            </a:pPr>
            <a:r>
              <a:rPr lang="en-US" sz="1900" b="1" dirty="0">
                <a:solidFill>
                  <a:srgbClr val="141B4D"/>
                </a:solidFill>
                <a:latin typeface="Cambria" pitchFamily="34" charset="0"/>
                <a:ea typeface="Cambria" pitchFamily="34" charset="-122"/>
                <a:cs typeface="Cambria" pitchFamily="34" charset="-120"/>
              </a:rPr>
              <a:t>Module 2</a:t>
            </a:r>
            <a:endParaRPr lang="en-US" sz="1900" dirty="0"/>
          </a:p>
        </p:txBody>
      </p:sp>
      <p:sp>
        <p:nvSpPr>
          <p:cNvPr id="16" name="Text 12"/>
          <p:cNvSpPr txBox="1"/>
          <p:nvPr/>
        </p:nvSpPr>
        <p:spPr>
          <a:xfrm>
            <a:off x="3657600" y="2880360"/>
            <a:ext cx="2194560" cy="274320"/>
          </a:xfrm>
          <a:prstGeom prst="rect">
            <a:avLst/>
          </a:prstGeom>
          <a:noFill/>
          <a:ln/>
        </p:spPr>
        <p:txBody>
          <a:bodyPr wrap="square" lIns="0" tIns="0" rIns="0" bIns="0" rtlCol="0" anchor="t"/>
          <a:lstStyle/>
          <a:p>
            <a:pPr indent="0" marL="0">
              <a:buNone/>
            </a:pPr>
            <a:r>
              <a:rPr lang="en-US" sz="1250" b="1" dirty="0">
                <a:solidFill>
                  <a:srgbClr val="D99A2B"/>
                </a:solidFill>
                <a:latin typeface="Calibri" pitchFamily="34" charset="0"/>
                <a:ea typeface="Calibri" pitchFamily="34" charset="-122"/>
                <a:cs typeface="Calibri" pitchFamily="34" charset="-120"/>
              </a:rPr>
              <a:t>Sessions 3.2–4.2</a:t>
            </a:r>
            <a:endParaRPr lang="en-US" sz="1250" dirty="0"/>
          </a:p>
        </p:txBody>
      </p:sp>
      <p:sp>
        <p:nvSpPr>
          <p:cNvPr id="17" name="Text 13"/>
          <p:cNvSpPr txBox="1"/>
          <p:nvPr/>
        </p:nvSpPr>
        <p:spPr>
          <a:xfrm>
            <a:off x="3657600" y="3154680"/>
            <a:ext cx="2194560" cy="27432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Practice paper — self-study</a:t>
            </a:r>
            <a:endParaRPr lang="en-US" sz="1150" dirty="0"/>
          </a:p>
        </p:txBody>
      </p:sp>
      <p:sp>
        <p:nvSpPr>
          <p:cNvPr id="18" name="Text 14"/>
          <p:cNvSpPr txBox="1"/>
          <p:nvPr/>
        </p:nvSpPr>
        <p:spPr>
          <a:xfrm>
            <a:off x="3657600" y="3657600"/>
            <a:ext cx="2194560" cy="2194560"/>
          </a:xfrm>
          <a:prstGeom prst="rect">
            <a:avLst/>
          </a:prstGeom>
          <a:noFill/>
          <a:ln/>
        </p:spPr>
        <p:txBody>
          <a:bodyPr wrap="square" lIns="0" tIns="0" rIns="0" bIns="0" rtlCol="0" anchor="t"/>
          <a:lstStyle/>
          <a:p>
            <a:pPr indent="0" marL="0">
              <a:buNone/>
            </a:pPr>
            <a:r>
              <a:rPr lang="en-US" sz="1200" dirty="0">
                <a:solidFill>
                  <a:srgbClr val="1A2233"/>
                </a:solidFill>
                <a:latin typeface="Calibri" pitchFamily="34" charset="0"/>
                <a:ea typeface="Calibri" pitchFamily="34" charset="-122"/>
                <a:cs typeface="Calibri" pitchFamily="34" charset="-120"/>
              </a:rPr>
              <a:t>Predictive &amp; Unsupervised: regression, classification, ensembles, explainability, clustering &amp; PCA</a:t>
            </a:r>
            <a:endParaRPr lang="en-US" sz="1200" dirty="0"/>
          </a:p>
        </p:txBody>
      </p:sp>
      <p:sp>
        <p:nvSpPr>
          <p:cNvPr id="19" name="Shape 15"/>
          <p:cNvSpPr/>
          <p:nvPr/>
        </p:nvSpPr>
        <p:spPr>
          <a:xfrm>
            <a:off x="6217920" y="2148840"/>
            <a:ext cx="2606040" cy="3840480"/>
          </a:xfrm>
          <a:prstGeom prst="roundRect">
            <a:avLst>
              <a:gd name="adj" fmla="val 2807"/>
            </a:avLst>
          </a:prstGeom>
          <a:solidFill>
            <a:srgbClr val="F3F6F9"/>
          </a:solidFill>
          <a:ln w="9525">
            <a:solidFill>
              <a:srgbClr val="E1E7EE"/>
            </a:solidFill>
            <a:prstDash val="solid"/>
          </a:ln>
        </p:spPr>
        <p:txBody>
          <a:bodyPr/>
          <a:p/>
        </p:txBody>
      </p:sp>
      <p:sp>
        <p:nvSpPr>
          <p:cNvPr id="20" name="Text 16"/>
          <p:cNvSpPr txBox="1"/>
          <p:nvPr/>
        </p:nvSpPr>
        <p:spPr>
          <a:xfrm>
            <a:off x="6446520" y="2468880"/>
            <a:ext cx="2194560" cy="411480"/>
          </a:xfrm>
          <a:prstGeom prst="rect">
            <a:avLst/>
          </a:prstGeom>
          <a:noFill/>
          <a:ln/>
        </p:spPr>
        <p:txBody>
          <a:bodyPr wrap="square" lIns="0" tIns="0" rIns="0" bIns="0" rtlCol="0" anchor="t"/>
          <a:lstStyle/>
          <a:p>
            <a:pPr indent="0" marL="0">
              <a:buNone/>
            </a:pPr>
            <a:r>
              <a:rPr lang="en-US" sz="1900" b="1" dirty="0">
                <a:solidFill>
                  <a:srgbClr val="141B4D"/>
                </a:solidFill>
                <a:latin typeface="Cambria" pitchFamily="34" charset="0"/>
                <a:ea typeface="Cambria" pitchFamily="34" charset="-122"/>
                <a:cs typeface="Cambria" pitchFamily="34" charset="-120"/>
              </a:rPr>
              <a:t>Module 3</a:t>
            </a:r>
            <a:endParaRPr lang="en-US" sz="1900" dirty="0"/>
          </a:p>
        </p:txBody>
      </p:sp>
      <p:sp>
        <p:nvSpPr>
          <p:cNvPr id="21" name="Text 17"/>
          <p:cNvSpPr txBox="1"/>
          <p:nvPr/>
        </p:nvSpPr>
        <p:spPr>
          <a:xfrm>
            <a:off x="6446520" y="2880360"/>
            <a:ext cx="2194560" cy="274320"/>
          </a:xfrm>
          <a:prstGeom prst="rect">
            <a:avLst/>
          </a:prstGeom>
          <a:noFill/>
          <a:ln/>
        </p:spPr>
        <p:txBody>
          <a:bodyPr wrap="square" lIns="0" tIns="0" rIns="0" bIns="0" rtlCol="0" anchor="t"/>
          <a:lstStyle/>
          <a:p>
            <a:pPr indent="0" marL="0">
              <a:buNone/>
            </a:pPr>
            <a:r>
              <a:rPr lang="en-US" sz="1250" b="1" dirty="0">
                <a:solidFill>
                  <a:srgbClr val="D99A2B"/>
                </a:solidFill>
                <a:latin typeface="Calibri" pitchFamily="34" charset="0"/>
                <a:ea typeface="Calibri" pitchFamily="34" charset="-122"/>
                <a:cs typeface="Calibri" pitchFamily="34" charset="-120"/>
              </a:rPr>
              <a:t>Sessions 4.3–5.3</a:t>
            </a:r>
            <a:endParaRPr lang="en-US" sz="1250" dirty="0"/>
          </a:p>
        </p:txBody>
      </p:sp>
      <p:sp>
        <p:nvSpPr>
          <p:cNvPr id="22" name="Text 18"/>
          <p:cNvSpPr txBox="1"/>
          <p:nvPr/>
        </p:nvSpPr>
        <p:spPr>
          <a:xfrm>
            <a:off x="6446520" y="3154680"/>
            <a:ext cx="2194560" cy="27432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Practice paper — self-study</a:t>
            </a:r>
            <a:endParaRPr lang="en-US" sz="1150" dirty="0"/>
          </a:p>
        </p:txBody>
      </p:sp>
      <p:sp>
        <p:nvSpPr>
          <p:cNvPr id="23" name="Text 19"/>
          <p:cNvSpPr txBox="1"/>
          <p:nvPr/>
        </p:nvSpPr>
        <p:spPr>
          <a:xfrm>
            <a:off x="6446520" y="3657600"/>
            <a:ext cx="2194560" cy="2194560"/>
          </a:xfrm>
          <a:prstGeom prst="rect">
            <a:avLst/>
          </a:prstGeom>
          <a:noFill/>
          <a:ln/>
        </p:spPr>
        <p:txBody>
          <a:bodyPr wrap="square" lIns="0" tIns="0" rIns="0" bIns="0" rtlCol="0" anchor="t"/>
          <a:lstStyle/>
          <a:p>
            <a:pPr indent="0" marL="0">
              <a:buNone/>
            </a:pPr>
            <a:r>
              <a:rPr lang="en-US" sz="1200" dirty="0">
                <a:solidFill>
                  <a:srgbClr val="1A2233"/>
                </a:solidFill>
                <a:latin typeface="Calibri" pitchFamily="34" charset="0"/>
                <a:ea typeface="Calibri" pitchFamily="34" charset="-122"/>
                <a:cs typeface="Calibri" pitchFamily="34" charset="-120"/>
              </a:rPr>
              <a:t>Advanced &amp; Applied: time series, text, recommendation, neural nets &amp; GenAI, customer, risk, operations &amp; people</a:t>
            </a:r>
            <a:endParaRPr lang="en-US" sz="1200" dirty="0"/>
          </a:p>
        </p:txBody>
      </p:sp>
      <p:sp>
        <p:nvSpPr>
          <p:cNvPr id="24" name="Shape 20"/>
          <p:cNvSpPr/>
          <p:nvPr/>
        </p:nvSpPr>
        <p:spPr>
          <a:xfrm>
            <a:off x="9006840" y="2148840"/>
            <a:ext cx="2606040" cy="3840480"/>
          </a:xfrm>
          <a:prstGeom prst="roundRect">
            <a:avLst>
              <a:gd name="adj" fmla="val 2807"/>
            </a:avLst>
          </a:prstGeom>
          <a:solidFill>
            <a:srgbClr val="0B5E82"/>
          </a:solidFill>
          <a:ln w="9525">
            <a:solidFill>
              <a:srgbClr val="0B5E82"/>
            </a:solidFill>
            <a:prstDash val="solid"/>
          </a:ln>
        </p:spPr>
        <p:txBody>
          <a:bodyPr/>
          <a:p/>
        </p:txBody>
      </p:sp>
      <p:sp>
        <p:nvSpPr>
          <p:cNvPr id="25" name="Shape 21"/>
          <p:cNvSpPr/>
          <p:nvPr/>
        </p:nvSpPr>
        <p:spPr>
          <a:xfrm>
            <a:off x="9509760" y="1984248"/>
            <a:ext cx="1600200" cy="329184"/>
          </a:xfrm>
          <a:prstGeom prst="roundRect">
            <a:avLst>
              <a:gd name="adj" fmla="val 50000"/>
            </a:avLst>
          </a:prstGeom>
          <a:solidFill>
            <a:srgbClr val="D99A2B"/>
          </a:solidFill>
          <a:ln w="12700">
            <a:solidFill>
              <a:srgbClr val="D99A2B"/>
            </a:solidFill>
            <a:prstDash val="solid"/>
          </a:ln>
        </p:spPr>
        <p:txBody>
          <a:bodyPr/>
          <a:p/>
        </p:txBody>
      </p:sp>
      <p:sp>
        <p:nvSpPr>
          <p:cNvPr id="26" name="Text 22"/>
          <p:cNvSpPr txBox="1"/>
          <p:nvPr/>
        </p:nvSpPr>
        <p:spPr>
          <a:xfrm>
            <a:off x="9509760" y="1984248"/>
            <a:ext cx="1600200" cy="329184"/>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YOU ARE HERE</a:t>
            </a:r>
            <a:endParaRPr lang="en-US" sz="1000" dirty="0"/>
          </a:p>
        </p:txBody>
      </p:sp>
      <p:sp>
        <p:nvSpPr>
          <p:cNvPr id="27" name="Text 23"/>
          <p:cNvSpPr txBox="1"/>
          <p:nvPr/>
        </p:nvSpPr>
        <p:spPr>
          <a:xfrm>
            <a:off x="9235440" y="2468880"/>
            <a:ext cx="2194560" cy="41148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Finale</a:t>
            </a:r>
            <a:endParaRPr lang="en-US" sz="1900" dirty="0"/>
          </a:p>
        </p:txBody>
      </p:sp>
      <p:sp>
        <p:nvSpPr>
          <p:cNvPr id="28" name="Text 24"/>
          <p:cNvSpPr txBox="1"/>
          <p:nvPr/>
        </p:nvSpPr>
        <p:spPr>
          <a:xfrm>
            <a:off x="9235440" y="2880360"/>
            <a:ext cx="2194560" cy="274320"/>
          </a:xfrm>
          <a:prstGeom prst="rect">
            <a:avLst/>
          </a:prstGeom>
          <a:noFill/>
          <a:ln/>
        </p:spPr>
        <p:txBody>
          <a:bodyPr wrap="square" lIns="0" tIns="0" rIns="0" bIns="0" rtlCol="0" anchor="t"/>
          <a:lstStyle/>
          <a:p>
            <a:pPr indent="0" marL="0">
              <a:buNone/>
            </a:pPr>
            <a:r>
              <a:rPr lang="en-US" sz="1250" b="1" dirty="0">
                <a:solidFill>
                  <a:srgbClr val="FFE3A8"/>
                </a:solidFill>
                <a:latin typeface="Calibri" pitchFamily="34" charset="0"/>
                <a:ea typeface="Calibri" pitchFamily="34" charset="-122"/>
                <a:cs typeface="Calibri" pitchFamily="34" charset="-120"/>
              </a:rPr>
              <a:t>Session 5.4</a:t>
            </a:r>
            <a:endParaRPr lang="en-US" sz="1250" dirty="0"/>
          </a:p>
        </p:txBody>
      </p:sp>
      <p:sp>
        <p:nvSpPr>
          <p:cNvPr id="29" name="Text 25"/>
          <p:cNvSpPr txBox="1"/>
          <p:nvPr/>
        </p:nvSpPr>
        <p:spPr>
          <a:xfrm>
            <a:off x="9235440" y="3154680"/>
            <a:ext cx="2194560" cy="274320"/>
          </a:xfrm>
          <a:prstGeom prst="rect">
            <a:avLst/>
          </a:prstGeom>
          <a:noFill/>
          <a:ln/>
        </p:spPr>
        <p:txBody>
          <a:bodyPr wrap="square" lIns="0" tIns="0" rIns="0" bIns="0" rtlCol="0" anchor="t"/>
          <a:lstStyle/>
          <a:p>
            <a:pPr indent="0" marL="0">
              <a:buNone/>
            </a:pPr>
            <a:r>
              <a:rPr lang="en-US" sz="1150" dirty="0">
                <a:solidFill>
                  <a:srgbClr val="C7D3E3"/>
                </a:solidFill>
                <a:latin typeface="Calibri" pitchFamily="34" charset="0"/>
                <a:ea typeface="Calibri" pitchFamily="34" charset="-122"/>
                <a:cs typeface="Calibri" pitchFamily="34" charset="-120"/>
              </a:rPr>
              <a:t>Capstone</a:t>
            </a:r>
            <a:endParaRPr lang="en-US" sz="1150" dirty="0"/>
          </a:p>
        </p:txBody>
      </p:sp>
      <p:sp>
        <p:nvSpPr>
          <p:cNvPr id="30" name="Text 26"/>
          <p:cNvSpPr txBox="1"/>
          <p:nvPr/>
        </p:nvSpPr>
        <p:spPr>
          <a:xfrm>
            <a:off x="9235440" y="3657600"/>
            <a:ext cx="2194560" cy="21945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Team capstone defence before an external panel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TODAY'S PLAN</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Session 5.4 at a Glance — 75 Minutes</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From question to recommendation: show what you can do.</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5"/>
          <p:cNvSpPr/>
          <p:nvPr/>
        </p:nvSpPr>
        <p:spPr>
          <a:xfrm>
            <a:off x="640080" y="1874520"/>
            <a:ext cx="1414272" cy="384048"/>
          </a:xfrm>
          <a:prstGeom prst="rect">
            <a:avLst/>
          </a:prstGeom>
          <a:solidFill>
            <a:srgbClr val="0B5E82"/>
          </a:solidFill>
          <a:ln w="12700">
            <a:solidFill>
              <a:srgbClr val="FFFFFF"/>
            </a:solidFill>
            <a:prstDash val="solid"/>
          </a:ln>
        </p:spPr>
        <p:txBody>
          <a:bodyPr/>
          <a:p/>
        </p:txBody>
      </p:sp>
      <p:sp>
        <p:nvSpPr>
          <p:cNvPr id="9" name="Text 6"/>
          <p:cNvSpPr txBox="1"/>
          <p:nvPr/>
        </p:nvSpPr>
        <p:spPr>
          <a:xfrm>
            <a:off x="640080" y="1874520"/>
            <a:ext cx="141427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10" name="Shape 7"/>
          <p:cNvSpPr/>
          <p:nvPr/>
        </p:nvSpPr>
        <p:spPr>
          <a:xfrm>
            <a:off x="2090928" y="1874520"/>
            <a:ext cx="6492240" cy="384048"/>
          </a:xfrm>
          <a:prstGeom prst="rect">
            <a:avLst/>
          </a:prstGeom>
          <a:solidFill>
            <a:srgbClr val="1C7293"/>
          </a:solidFill>
          <a:ln w="12700">
            <a:solidFill>
              <a:srgbClr val="FFFFFF"/>
            </a:solidFill>
            <a:prstDash val="solid"/>
          </a:ln>
        </p:spPr>
        <p:txBody>
          <a:bodyPr/>
          <a:p/>
        </p:txBody>
      </p:sp>
      <p:sp>
        <p:nvSpPr>
          <p:cNvPr id="11" name="Text 8"/>
          <p:cNvSpPr txBox="1"/>
          <p:nvPr/>
        </p:nvSpPr>
        <p:spPr>
          <a:xfrm>
            <a:off x="2090928" y="1874520"/>
            <a:ext cx="64922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45'</a:t>
            </a:r>
            <a:endParaRPr lang="en-US" sz="1200" dirty="0"/>
          </a:p>
        </p:txBody>
      </p:sp>
      <p:sp>
        <p:nvSpPr>
          <p:cNvPr id="12" name="Shape 9"/>
          <p:cNvSpPr/>
          <p:nvPr/>
        </p:nvSpPr>
        <p:spPr>
          <a:xfrm>
            <a:off x="8619744" y="1874520"/>
            <a:ext cx="2139696" cy="384048"/>
          </a:xfrm>
          <a:prstGeom prst="rect">
            <a:avLst/>
          </a:prstGeom>
          <a:solidFill>
            <a:srgbClr val="D99A2B"/>
          </a:solidFill>
          <a:ln w="12700">
            <a:solidFill>
              <a:srgbClr val="FFFFFF"/>
            </a:solidFill>
            <a:prstDash val="solid"/>
          </a:ln>
        </p:spPr>
        <p:txBody>
          <a:bodyPr/>
          <a:p/>
        </p:txBody>
      </p:sp>
      <p:sp>
        <p:nvSpPr>
          <p:cNvPr id="13" name="Text 10"/>
          <p:cNvSpPr txBox="1"/>
          <p:nvPr/>
        </p:nvSpPr>
        <p:spPr>
          <a:xfrm>
            <a:off x="8619744" y="1874520"/>
            <a:ext cx="21396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
        <p:nvSpPr>
          <p:cNvPr id="14" name="Shape 11"/>
          <p:cNvSpPr/>
          <p:nvPr/>
        </p:nvSpPr>
        <p:spPr>
          <a:xfrm>
            <a:off x="10796016" y="1874520"/>
            <a:ext cx="688848" cy="384048"/>
          </a:xfrm>
          <a:prstGeom prst="rect">
            <a:avLst/>
          </a:prstGeom>
          <a:solidFill>
            <a:srgbClr val="0B5E82"/>
          </a:solidFill>
          <a:ln w="12700">
            <a:solidFill>
              <a:srgbClr val="FFFFFF"/>
            </a:solidFill>
            <a:prstDash val="solid"/>
          </a:ln>
        </p:spPr>
        <p:txBody>
          <a:bodyPr/>
          <a:p/>
        </p:txBody>
      </p:sp>
      <p:sp>
        <p:nvSpPr>
          <p:cNvPr id="15" name="Text 12"/>
          <p:cNvSpPr txBox="1"/>
          <p:nvPr/>
        </p:nvSpPr>
        <p:spPr>
          <a:xfrm>
            <a:off x="10796016" y="1874520"/>
            <a:ext cx="6888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6" name="Shape 13"/>
          <p:cNvSpPr/>
          <p:nvPr/>
        </p:nvSpPr>
        <p:spPr>
          <a:xfrm>
            <a:off x="640080" y="2560320"/>
            <a:ext cx="2569464" cy="3383280"/>
          </a:xfrm>
          <a:prstGeom prst="roundRect">
            <a:avLst>
              <a:gd name="adj" fmla="val 2847"/>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7" name="Shape 14"/>
          <p:cNvSpPr/>
          <p:nvPr/>
        </p:nvSpPr>
        <p:spPr>
          <a:xfrm>
            <a:off x="1604772" y="2788920"/>
            <a:ext cx="640080" cy="640080"/>
          </a:xfrm>
          <a:prstGeom prst="ellipse">
            <a:avLst/>
          </a:prstGeom>
          <a:solidFill>
            <a:srgbClr val="0B5E82"/>
          </a:solidFill>
          <a:ln w="12700">
            <a:solidFill>
              <a:srgbClr val="0B5E82"/>
            </a:solidFill>
            <a:prstDash val="solid"/>
          </a:ln>
        </p:spPr>
        <p:txBody>
          <a:bodyPr/>
          <a:p/>
        </p:txBody>
      </p:sp>
      <p:pic>
        <p:nvPicPr>
          <p:cNvPr id="18" name="Image 1" descr="preencoded.png">    </p:cNvPr>
          <p:cNvPicPr>
            <a:picLocks noChangeAspect="1"/>
          </p:cNvPicPr>
          <p:nvPr/>
        </p:nvPicPr>
        <p:blipFill>
          <a:blip r:embed="rId2"/>
          <a:stretch>
            <a:fillRect/>
          </a:stretch>
        </p:blipFill>
        <p:spPr>
          <a:xfrm>
            <a:off x="1764792" y="2948940"/>
            <a:ext cx="320040" cy="320040"/>
          </a:xfrm>
          <a:prstGeom prst="rect">
            <a:avLst/>
          </a:prstGeom>
        </p:spPr>
      </p:pic>
      <p:sp>
        <p:nvSpPr>
          <p:cNvPr id="19" name="Text 15"/>
          <p:cNvSpPr txBox="1"/>
          <p:nvPr/>
        </p:nvSpPr>
        <p:spPr>
          <a:xfrm>
            <a:off x="777240" y="3611880"/>
            <a:ext cx="2295144"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Course Wrap-Up</a:t>
            </a:r>
            <a:endParaRPr lang="en-US" sz="1450" dirty="0"/>
          </a:p>
        </p:txBody>
      </p:sp>
      <p:sp>
        <p:nvSpPr>
          <p:cNvPr id="20" name="Text 16"/>
          <p:cNvSpPr txBox="1"/>
          <p:nvPr/>
        </p:nvSpPr>
        <p:spPr>
          <a:xfrm>
            <a:off x="822960" y="4206240"/>
            <a:ext cx="2203704"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The whole journey on one page</a:t>
            </a:r>
            <a:endParaRPr lang="en-US" sz="1200" dirty="0"/>
          </a:p>
        </p:txBody>
      </p:sp>
      <p:sp>
        <p:nvSpPr>
          <p:cNvPr id="21" name="Shape 17"/>
          <p:cNvSpPr/>
          <p:nvPr/>
        </p:nvSpPr>
        <p:spPr>
          <a:xfrm>
            <a:off x="3410712" y="2560320"/>
            <a:ext cx="2569464" cy="3383280"/>
          </a:xfrm>
          <a:prstGeom prst="roundRect">
            <a:avLst>
              <a:gd name="adj" fmla="val 2847"/>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2" name="Shape 18"/>
          <p:cNvSpPr/>
          <p:nvPr/>
        </p:nvSpPr>
        <p:spPr>
          <a:xfrm>
            <a:off x="4375404" y="2788920"/>
            <a:ext cx="640080" cy="640080"/>
          </a:xfrm>
          <a:prstGeom prst="ellipse">
            <a:avLst/>
          </a:prstGeom>
          <a:solidFill>
            <a:srgbClr val="0B5E82"/>
          </a:solidFill>
          <a:ln w="12700">
            <a:solidFill>
              <a:srgbClr val="0B5E82"/>
            </a:solidFill>
            <a:prstDash val="solid"/>
          </a:ln>
        </p:spPr>
        <p:txBody>
          <a:bodyPr/>
          <a:p/>
        </p:txBody>
      </p:sp>
      <p:pic>
        <p:nvPicPr>
          <p:cNvPr id="23" name="Image 2" descr="preencoded.png">    </p:cNvPr>
          <p:cNvPicPr>
            <a:picLocks noChangeAspect="1"/>
          </p:cNvPicPr>
          <p:nvPr/>
        </p:nvPicPr>
        <p:blipFill>
          <a:blip r:embed="rId3"/>
          <a:stretch>
            <a:fillRect/>
          </a:stretch>
        </p:blipFill>
        <p:spPr>
          <a:xfrm>
            <a:off x="4535424" y="2948940"/>
            <a:ext cx="320040" cy="320040"/>
          </a:xfrm>
          <a:prstGeom prst="rect">
            <a:avLst/>
          </a:prstGeom>
        </p:spPr>
      </p:pic>
      <p:sp>
        <p:nvSpPr>
          <p:cNvPr id="24" name="Text 19"/>
          <p:cNvSpPr txBox="1"/>
          <p:nvPr/>
        </p:nvSpPr>
        <p:spPr>
          <a:xfrm>
            <a:off x="3547872" y="3611880"/>
            <a:ext cx="2295144"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Capstone Presentations</a:t>
            </a:r>
            <a:endParaRPr lang="en-US" sz="1450" dirty="0"/>
          </a:p>
        </p:txBody>
      </p:sp>
      <p:sp>
        <p:nvSpPr>
          <p:cNvPr id="25" name="Text 20"/>
          <p:cNvSpPr txBox="1"/>
          <p:nvPr/>
        </p:nvSpPr>
        <p:spPr>
          <a:xfrm>
            <a:off x="3593592" y="4206240"/>
            <a:ext cx="2203704"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Teams present; peers and faculty question</a:t>
            </a:r>
            <a:endParaRPr lang="en-US" sz="1200" dirty="0"/>
          </a:p>
        </p:txBody>
      </p:sp>
      <p:sp>
        <p:nvSpPr>
          <p:cNvPr id="26" name="Shape 21"/>
          <p:cNvSpPr/>
          <p:nvPr/>
        </p:nvSpPr>
        <p:spPr>
          <a:xfrm>
            <a:off x="6181344" y="2560320"/>
            <a:ext cx="2569464" cy="3383280"/>
          </a:xfrm>
          <a:prstGeom prst="roundRect">
            <a:avLst>
              <a:gd name="adj" fmla="val 2847"/>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7" name="Shape 22"/>
          <p:cNvSpPr/>
          <p:nvPr/>
        </p:nvSpPr>
        <p:spPr>
          <a:xfrm>
            <a:off x="7146036" y="2788920"/>
            <a:ext cx="640080" cy="640080"/>
          </a:xfrm>
          <a:prstGeom prst="ellipse">
            <a:avLst/>
          </a:prstGeom>
          <a:solidFill>
            <a:srgbClr val="D99A2B"/>
          </a:solidFill>
          <a:ln w="12700">
            <a:solidFill>
              <a:srgbClr val="D99A2B"/>
            </a:solidFill>
            <a:prstDash val="solid"/>
          </a:ln>
        </p:spPr>
        <p:txBody>
          <a:bodyPr/>
          <a:p/>
        </p:txBody>
      </p:sp>
      <p:pic>
        <p:nvPicPr>
          <p:cNvPr id="28" name="Image 3" descr="preencoded.png">    </p:cNvPr>
          <p:cNvPicPr>
            <a:picLocks noChangeAspect="1"/>
          </p:cNvPicPr>
          <p:nvPr/>
        </p:nvPicPr>
        <p:blipFill>
          <a:blip r:embed="rId4"/>
          <a:stretch>
            <a:fillRect/>
          </a:stretch>
        </p:blipFill>
        <p:spPr>
          <a:xfrm>
            <a:off x="7306056" y="2948940"/>
            <a:ext cx="320040" cy="320040"/>
          </a:xfrm>
          <a:prstGeom prst="rect">
            <a:avLst/>
          </a:prstGeom>
        </p:spPr>
      </p:pic>
      <p:sp>
        <p:nvSpPr>
          <p:cNvPr id="29" name="Text 23"/>
          <p:cNvSpPr txBox="1"/>
          <p:nvPr/>
        </p:nvSpPr>
        <p:spPr>
          <a:xfrm>
            <a:off x="6318504" y="3611880"/>
            <a:ext cx="2295144"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Final Exam Briefing</a:t>
            </a:r>
            <a:endParaRPr lang="en-US" sz="1450" dirty="0"/>
          </a:p>
        </p:txBody>
      </p:sp>
      <p:sp>
        <p:nvSpPr>
          <p:cNvPr id="30" name="Text 24"/>
          <p:cNvSpPr txBox="1"/>
          <p:nvPr/>
        </p:nvSpPr>
        <p:spPr>
          <a:xfrm>
            <a:off x="6364224" y="4206240"/>
            <a:ext cx="2203704"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Blueprint, sample question, tips</a:t>
            </a:r>
            <a:endParaRPr lang="en-US" sz="1200" dirty="0"/>
          </a:p>
        </p:txBody>
      </p:sp>
      <p:sp>
        <p:nvSpPr>
          <p:cNvPr id="31" name="Shape 25"/>
          <p:cNvSpPr/>
          <p:nvPr/>
        </p:nvSpPr>
        <p:spPr>
          <a:xfrm>
            <a:off x="8951976" y="2560320"/>
            <a:ext cx="2569464" cy="3383280"/>
          </a:xfrm>
          <a:prstGeom prst="roundRect">
            <a:avLst>
              <a:gd name="adj" fmla="val 2847"/>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32" name="Shape 26"/>
          <p:cNvSpPr/>
          <p:nvPr/>
        </p:nvSpPr>
        <p:spPr>
          <a:xfrm>
            <a:off x="9916668" y="2788920"/>
            <a:ext cx="640080" cy="640080"/>
          </a:xfrm>
          <a:prstGeom prst="ellipse">
            <a:avLst/>
          </a:prstGeom>
          <a:solidFill>
            <a:srgbClr val="0B5E82"/>
          </a:solidFill>
          <a:ln w="12700">
            <a:solidFill>
              <a:srgbClr val="0B5E82"/>
            </a:solidFill>
            <a:prstDash val="solid"/>
          </a:ln>
        </p:spPr>
        <p:txBody>
          <a:bodyPr/>
          <a:p/>
        </p:txBody>
      </p:sp>
      <p:pic>
        <p:nvPicPr>
          <p:cNvPr id="33" name="Image 4" descr="preencoded.png">    </p:cNvPr>
          <p:cNvPicPr>
            <a:picLocks noChangeAspect="1"/>
          </p:cNvPicPr>
          <p:nvPr/>
        </p:nvPicPr>
        <p:blipFill>
          <a:blip r:embed="rId5"/>
          <a:stretch>
            <a:fillRect/>
          </a:stretch>
        </p:blipFill>
        <p:spPr>
          <a:xfrm>
            <a:off x="10076688" y="2948940"/>
            <a:ext cx="320040" cy="320040"/>
          </a:xfrm>
          <a:prstGeom prst="rect">
            <a:avLst/>
          </a:prstGeom>
        </p:spPr>
      </p:pic>
      <p:sp>
        <p:nvSpPr>
          <p:cNvPr id="34" name="Text 27"/>
          <p:cNvSpPr txBox="1"/>
          <p:nvPr/>
        </p:nvSpPr>
        <p:spPr>
          <a:xfrm>
            <a:off x="9089136" y="3611880"/>
            <a:ext cx="2295144"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Close</a:t>
            </a:r>
            <a:endParaRPr lang="en-US" sz="1450" dirty="0"/>
          </a:p>
        </p:txBody>
      </p:sp>
      <p:sp>
        <p:nvSpPr>
          <p:cNvPr id="35" name="Text 28"/>
          <p:cNvSpPr txBox="1"/>
          <p:nvPr/>
        </p:nvSpPr>
        <p:spPr>
          <a:xfrm>
            <a:off x="9134856" y="4206240"/>
            <a:ext cx="2203704"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Building your analytics practice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BY THE END OF TODAY</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Session 5.4 Learning Objectives</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You will be able to:</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4</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5"/>
          <p:cNvSpPr/>
          <p:nvPr/>
        </p:nvSpPr>
        <p:spPr>
          <a:xfrm>
            <a:off x="640080" y="1920240"/>
            <a:ext cx="3444240" cy="3931920"/>
          </a:xfrm>
          <a:prstGeom prst="roundRect">
            <a:avLst>
              <a:gd name="adj" fmla="val 2124"/>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9" name="Text 6"/>
          <p:cNvSpPr txBox="1"/>
          <p:nvPr/>
        </p:nvSpPr>
        <p:spPr>
          <a:xfrm>
            <a:off x="914400" y="2148840"/>
            <a:ext cx="1097280" cy="548640"/>
          </a:xfrm>
          <a:prstGeom prst="rect">
            <a:avLst/>
          </a:prstGeom>
          <a:noFill/>
          <a:ln/>
        </p:spPr>
        <p:txBody>
          <a:bodyPr wrap="square" lIns="0" tIns="0" rIns="0" bIns="0" rtlCol="0" anchor="t"/>
          <a:lstStyle/>
          <a:p>
            <a:pPr indent="0" marL="0">
              <a:buNone/>
            </a:pPr>
            <a:r>
              <a:rPr lang="en-US" sz="3000" b="1" dirty="0">
                <a:solidFill>
                  <a:srgbClr val="C7D3E3"/>
                </a:solidFill>
                <a:latin typeface="Cambria" pitchFamily="34" charset="0"/>
                <a:ea typeface="Cambria" pitchFamily="34" charset="-122"/>
                <a:cs typeface="Cambria" pitchFamily="34" charset="-120"/>
              </a:rPr>
              <a:t>01</a:t>
            </a:r>
            <a:endParaRPr lang="en-US" sz="3000" dirty="0"/>
          </a:p>
        </p:txBody>
      </p:sp>
      <p:sp>
        <p:nvSpPr>
          <p:cNvPr id="10" name="Shape 7"/>
          <p:cNvSpPr/>
          <p:nvPr/>
        </p:nvSpPr>
        <p:spPr>
          <a:xfrm>
            <a:off x="3215640" y="2148840"/>
            <a:ext cx="566928" cy="566928"/>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3357372" y="2290572"/>
            <a:ext cx="283464" cy="283464"/>
          </a:xfrm>
          <a:prstGeom prst="rect">
            <a:avLst/>
          </a:prstGeom>
        </p:spPr>
      </p:pic>
      <p:sp>
        <p:nvSpPr>
          <p:cNvPr id="12" name="Text 8"/>
          <p:cNvSpPr txBox="1"/>
          <p:nvPr/>
        </p:nvSpPr>
        <p:spPr>
          <a:xfrm>
            <a:off x="914400" y="2971800"/>
            <a:ext cx="2895600" cy="685800"/>
          </a:xfrm>
          <a:prstGeom prst="rect">
            <a:avLst/>
          </a:prstGeom>
          <a:noFill/>
          <a:ln/>
        </p:spPr>
        <p:txBody>
          <a:bodyPr wrap="square" lIns="0" tIns="0" rIns="0" bIns="0" rtlCol="0" anchor="ctr"/>
          <a:lstStyle/>
          <a:p>
            <a:pPr indent="0" marL="0">
              <a:buNone/>
            </a:pPr>
            <a:r>
              <a:rPr lang="en-US" sz="1700" b="1" dirty="0">
                <a:solidFill>
                  <a:srgbClr val="141B4D"/>
                </a:solidFill>
                <a:latin typeface="Cambria" pitchFamily="34" charset="0"/>
                <a:ea typeface="Cambria" pitchFamily="34" charset="-122"/>
                <a:cs typeface="Cambria" pitchFamily="34" charset="-120"/>
              </a:rPr>
              <a:t>Connect the Toolkit</a:t>
            </a:r>
            <a:endParaRPr lang="en-US" sz="1700" dirty="0"/>
          </a:p>
        </p:txBody>
      </p:sp>
      <p:sp>
        <p:nvSpPr>
          <p:cNvPr id="13" name="Text 9"/>
          <p:cNvSpPr txBox="1"/>
          <p:nvPr/>
        </p:nvSpPr>
        <p:spPr>
          <a:xfrm>
            <a:off x="914400" y="3749040"/>
            <a:ext cx="2895600" cy="192024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See how every method in the course fits one question-to-decision process.</a:t>
            </a:r>
            <a:endParaRPr lang="en-US" sz="1350" dirty="0"/>
          </a:p>
        </p:txBody>
      </p:sp>
      <p:sp>
        <p:nvSpPr>
          <p:cNvPr id="14" name="Shape 10"/>
          <p:cNvSpPr/>
          <p:nvPr/>
        </p:nvSpPr>
        <p:spPr>
          <a:xfrm>
            <a:off x="4358640" y="1920240"/>
            <a:ext cx="3444240" cy="3931920"/>
          </a:xfrm>
          <a:prstGeom prst="roundRect">
            <a:avLst>
              <a:gd name="adj" fmla="val 2124"/>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5" name="Text 11"/>
          <p:cNvSpPr txBox="1"/>
          <p:nvPr/>
        </p:nvSpPr>
        <p:spPr>
          <a:xfrm>
            <a:off x="4632960" y="2148840"/>
            <a:ext cx="1097280" cy="548640"/>
          </a:xfrm>
          <a:prstGeom prst="rect">
            <a:avLst/>
          </a:prstGeom>
          <a:noFill/>
          <a:ln/>
        </p:spPr>
        <p:txBody>
          <a:bodyPr wrap="square" lIns="0" tIns="0" rIns="0" bIns="0" rtlCol="0" anchor="t"/>
          <a:lstStyle/>
          <a:p>
            <a:pPr indent="0" marL="0">
              <a:buNone/>
            </a:pPr>
            <a:r>
              <a:rPr lang="en-US" sz="3000" b="1" dirty="0">
                <a:solidFill>
                  <a:srgbClr val="C7D3E3"/>
                </a:solidFill>
                <a:latin typeface="Cambria" pitchFamily="34" charset="0"/>
                <a:ea typeface="Cambria" pitchFamily="34" charset="-122"/>
                <a:cs typeface="Cambria" pitchFamily="34" charset="-120"/>
              </a:rPr>
              <a:t>02</a:t>
            </a:r>
            <a:endParaRPr lang="en-US" sz="3000" dirty="0"/>
          </a:p>
        </p:txBody>
      </p:sp>
      <p:sp>
        <p:nvSpPr>
          <p:cNvPr id="16" name="Shape 12"/>
          <p:cNvSpPr/>
          <p:nvPr/>
        </p:nvSpPr>
        <p:spPr>
          <a:xfrm>
            <a:off x="6934200" y="2148840"/>
            <a:ext cx="566928" cy="566928"/>
          </a:xfrm>
          <a:prstGeom prst="ellipse">
            <a:avLst/>
          </a:prstGeom>
          <a:solidFill>
            <a:srgbClr val="0B5E82"/>
          </a:solidFill>
          <a:ln w="12700">
            <a:solidFill>
              <a:srgbClr val="0B5E82"/>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7075932" y="2290572"/>
            <a:ext cx="283464" cy="283464"/>
          </a:xfrm>
          <a:prstGeom prst="rect">
            <a:avLst/>
          </a:prstGeom>
        </p:spPr>
      </p:pic>
      <p:sp>
        <p:nvSpPr>
          <p:cNvPr id="18" name="Text 13"/>
          <p:cNvSpPr txBox="1"/>
          <p:nvPr/>
        </p:nvSpPr>
        <p:spPr>
          <a:xfrm>
            <a:off x="4632960" y="2971800"/>
            <a:ext cx="2895600" cy="685800"/>
          </a:xfrm>
          <a:prstGeom prst="rect">
            <a:avLst/>
          </a:prstGeom>
          <a:noFill/>
          <a:ln/>
        </p:spPr>
        <p:txBody>
          <a:bodyPr wrap="square" lIns="0" tIns="0" rIns="0" bIns="0" rtlCol="0" anchor="ctr"/>
          <a:lstStyle/>
          <a:p>
            <a:pPr indent="0" marL="0">
              <a:buNone/>
            </a:pPr>
            <a:r>
              <a:rPr lang="en-US" sz="1700" b="1" dirty="0">
                <a:solidFill>
                  <a:srgbClr val="141B4D"/>
                </a:solidFill>
                <a:latin typeface="Cambria" pitchFamily="34" charset="0"/>
                <a:ea typeface="Cambria" pitchFamily="34" charset="-122"/>
                <a:cs typeface="Cambria" pitchFamily="34" charset="-120"/>
              </a:rPr>
              <a:t>Present a Recommendation</a:t>
            </a:r>
            <a:endParaRPr lang="en-US" sz="1700" dirty="0"/>
          </a:p>
        </p:txBody>
      </p:sp>
      <p:sp>
        <p:nvSpPr>
          <p:cNvPr id="19" name="Text 14"/>
          <p:cNvSpPr txBox="1"/>
          <p:nvPr/>
        </p:nvSpPr>
        <p:spPr>
          <a:xfrm>
            <a:off x="4632960" y="3749040"/>
            <a:ext cx="2895600" cy="192024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Defend a data-driven recommendation, its value in naira and its risks.</a:t>
            </a:r>
            <a:endParaRPr lang="en-US" sz="1350" dirty="0"/>
          </a:p>
        </p:txBody>
      </p:sp>
      <p:sp>
        <p:nvSpPr>
          <p:cNvPr id="20" name="Shape 15"/>
          <p:cNvSpPr/>
          <p:nvPr/>
        </p:nvSpPr>
        <p:spPr>
          <a:xfrm>
            <a:off x="8077200" y="1920240"/>
            <a:ext cx="3444240" cy="3931920"/>
          </a:xfrm>
          <a:prstGeom prst="roundRect">
            <a:avLst>
              <a:gd name="adj" fmla="val 2124"/>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1" name="Text 16"/>
          <p:cNvSpPr txBox="1"/>
          <p:nvPr/>
        </p:nvSpPr>
        <p:spPr>
          <a:xfrm>
            <a:off x="8351520" y="2148840"/>
            <a:ext cx="1097280" cy="548640"/>
          </a:xfrm>
          <a:prstGeom prst="rect">
            <a:avLst/>
          </a:prstGeom>
          <a:noFill/>
          <a:ln/>
        </p:spPr>
        <p:txBody>
          <a:bodyPr wrap="square" lIns="0" tIns="0" rIns="0" bIns="0" rtlCol="0" anchor="t"/>
          <a:lstStyle/>
          <a:p>
            <a:pPr indent="0" marL="0">
              <a:buNone/>
            </a:pPr>
            <a:r>
              <a:rPr lang="en-US" sz="3000" b="1" dirty="0">
                <a:solidFill>
                  <a:srgbClr val="C7D3E3"/>
                </a:solidFill>
                <a:latin typeface="Cambria" pitchFamily="34" charset="0"/>
                <a:ea typeface="Cambria" pitchFamily="34" charset="-122"/>
                <a:cs typeface="Cambria" pitchFamily="34" charset="-120"/>
              </a:rPr>
              <a:t>03</a:t>
            </a:r>
            <a:endParaRPr lang="en-US" sz="3000" dirty="0"/>
          </a:p>
        </p:txBody>
      </p:sp>
      <p:sp>
        <p:nvSpPr>
          <p:cNvPr id="22" name="Shape 17"/>
          <p:cNvSpPr/>
          <p:nvPr/>
        </p:nvSpPr>
        <p:spPr>
          <a:xfrm>
            <a:off x="10652760" y="2148840"/>
            <a:ext cx="566928" cy="566928"/>
          </a:xfrm>
          <a:prstGeom prst="ellipse">
            <a:avLst/>
          </a:prstGeom>
          <a:solidFill>
            <a:srgbClr val="0B5E82"/>
          </a:solidFill>
          <a:ln w="12700">
            <a:solidFill>
              <a:srgbClr val="0B5E82"/>
            </a:solidFill>
            <a:prstDash val="solid"/>
          </a:ln>
        </p:spPr>
        <p:txBody>
          <a:bodyPr/>
          <a:p/>
        </p:txBody>
      </p:sp>
      <p:pic>
        <p:nvPicPr>
          <p:cNvPr id="23" name="Image 3" descr="preencoded.png">    </p:cNvPr>
          <p:cNvPicPr>
            <a:picLocks noChangeAspect="1"/>
          </p:cNvPicPr>
          <p:nvPr/>
        </p:nvPicPr>
        <p:blipFill>
          <a:blip r:embed="rId4"/>
          <a:stretch>
            <a:fillRect/>
          </a:stretch>
        </p:blipFill>
        <p:spPr>
          <a:xfrm>
            <a:off x="10794492" y="2290572"/>
            <a:ext cx="283464" cy="283464"/>
          </a:xfrm>
          <a:prstGeom prst="rect">
            <a:avLst/>
          </a:prstGeom>
        </p:spPr>
      </p:pic>
      <p:sp>
        <p:nvSpPr>
          <p:cNvPr id="24" name="Text 18"/>
          <p:cNvSpPr txBox="1"/>
          <p:nvPr/>
        </p:nvSpPr>
        <p:spPr>
          <a:xfrm>
            <a:off x="8351520" y="2971800"/>
            <a:ext cx="2895600" cy="685800"/>
          </a:xfrm>
          <a:prstGeom prst="rect">
            <a:avLst/>
          </a:prstGeom>
          <a:noFill/>
          <a:ln/>
        </p:spPr>
        <p:txBody>
          <a:bodyPr wrap="square" lIns="0" tIns="0" rIns="0" bIns="0" rtlCol="0" anchor="ctr"/>
          <a:lstStyle/>
          <a:p>
            <a:pPr indent="0" marL="0">
              <a:buNone/>
            </a:pPr>
            <a:r>
              <a:rPr lang="en-US" sz="1700" b="1" dirty="0">
                <a:solidFill>
                  <a:srgbClr val="141B4D"/>
                </a:solidFill>
                <a:latin typeface="Cambria" pitchFamily="34" charset="0"/>
                <a:ea typeface="Cambria" pitchFamily="34" charset="-122"/>
                <a:cs typeface="Cambria" pitchFamily="34" charset="-120"/>
              </a:rPr>
              <a:t>Prepare for the Final</a:t>
            </a:r>
            <a:endParaRPr lang="en-US" sz="1700" dirty="0"/>
          </a:p>
        </p:txBody>
      </p:sp>
      <p:sp>
        <p:nvSpPr>
          <p:cNvPr id="25" name="Text 19"/>
          <p:cNvSpPr txBox="1"/>
          <p:nvPr/>
        </p:nvSpPr>
        <p:spPr>
          <a:xfrm>
            <a:off x="8351520" y="3749040"/>
            <a:ext cx="2895600" cy="192024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Know the exam blueprint and how integrative questions are marked.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1828800"/>
            <a:ext cx="5486400" cy="320040"/>
          </a:xfrm>
          <a:prstGeom prst="rect">
            <a:avLst/>
          </a:prstGeom>
          <a:noFill/>
          <a:ln/>
        </p:spPr>
        <p:txBody>
          <a:bodyPr wrap="square" lIns="0" tIns="0" rIns="0" bIns="0" rtlCol="0" anchor="t"/>
          <a:lstStyle/>
          <a:p>
            <a:pPr indent="0" marL="0">
              <a:buNone/>
            </a:pPr>
            <a:r>
              <a:rPr lang="en-US" sz="1300" b="1" spc="400" kern="0" dirty="0">
                <a:solidFill>
                  <a:srgbClr val="D99A2B"/>
                </a:solidFill>
                <a:latin typeface="Calibri" pitchFamily="34" charset="0"/>
                <a:ea typeface="Calibri" pitchFamily="34" charset="-122"/>
                <a:cs typeface="Calibri" pitchFamily="34" charset="-120"/>
              </a:rPr>
              <a:t>PART</a:t>
            </a:r>
            <a:endParaRPr lang="en-US" sz="1300" dirty="0"/>
          </a:p>
        </p:txBody>
      </p:sp>
      <p:sp>
        <p:nvSpPr>
          <p:cNvPr id="5" name="Text 3"/>
          <p:cNvSpPr txBox="1"/>
          <p:nvPr/>
        </p:nvSpPr>
        <p:spPr>
          <a:xfrm>
            <a:off x="822960" y="2148840"/>
            <a:ext cx="2743200" cy="1097280"/>
          </a:xfrm>
          <a:prstGeom prst="rect">
            <a:avLst/>
          </a:prstGeom>
          <a:noFill/>
          <a:ln/>
        </p:spPr>
        <p:txBody>
          <a:bodyPr wrap="square" lIns="0" tIns="0" rIns="0" bIns="0" rtlCol="0" anchor="t"/>
          <a:lstStyle/>
          <a:p>
            <a:pPr indent="0" marL="0">
              <a:buNone/>
            </a:pPr>
            <a:r>
              <a:rPr lang="en-US" sz="7200" b="1" dirty="0">
                <a:solidFill>
                  <a:srgbClr val="AAB9CC"/>
                </a:solidFill>
                <a:latin typeface="Cambria" pitchFamily="34" charset="0"/>
                <a:ea typeface="Cambria" pitchFamily="34" charset="-122"/>
                <a:cs typeface="Cambria" pitchFamily="34" charset="-120"/>
              </a:rPr>
              <a:t>01</a:t>
            </a:r>
            <a:endParaRPr lang="en-US" sz="7200" dirty="0"/>
          </a:p>
        </p:txBody>
      </p:sp>
      <p:sp>
        <p:nvSpPr>
          <p:cNvPr id="6" name="Text 4"/>
          <p:cNvSpPr txBox="1"/>
          <p:nvPr/>
        </p:nvSpPr>
        <p:spPr>
          <a:xfrm>
            <a:off x="822960" y="3291840"/>
            <a:ext cx="86868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Journey</a:t>
            </a:r>
            <a:endParaRPr lang="en-US" sz="3600" dirty="0"/>
          </a:p>
        </p:txBody>
      </p:sp>
      <p:sp>
        <p:nvSpPr>
          <p:cNvPr id="7" name="Text 5"/>
          <p:cNvSpPr txBox="1"/>
          <p:nvPr/>
        </p:nvSpPr>
        <p:spPr>
          <a:xfrm>
            <a:off x="822960" y="4251960"/>
            <a:ext cx="8229600" cy="73152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Twenty-two sessions, one way of thinking.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THREE MODULES</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What You Can Now Do</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6</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2743200"/>
                <a:gridCol w="1828800"/>
                <a:gridCol w="6309360"/>
              </a:tblGrid>
              <a:tr h="7315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Sessions</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You can now…</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r>
              <a:tr h="73152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1 · Foundations</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2.1–3.1 + Practice Paper 1</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Frame a business problem; summarise, clean and visualise data; test hypotheses; run and read an A/B test</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73152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2 · Predictive &amp; unsupervised</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3.2–4.2 + Practice Paper 2</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Build and judge regression, classification, trees and ensembles; explain models with SHAP; segment with clustering and PCA</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3 · Advanced &amp; applied</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4.3–5.3 + Practice Paper 3</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Forecast; analyse text; find basket rules; judge neural nets and GenAI; value customers; detect fraud; control quality; audit fairness</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73152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Capstone &amp; final</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Take a real problem from question to recommendation, and defend it</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ONE PROCESS</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Every Analysis Follows the Same Seven Steps</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7</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982980" y="2148840"/>
            <a:ext cx="868680" cy="868680"/>
          </a:xfrm>
          <a:prstGeom prst="ellipse">
            <a:avLst/>
          </a:prstGeom>
          <a:solidFill>
            <a:srgbClr val="0B5E82"/>
          </a:solidFill>
          <a:ln w="12700">
            <a:solidFill>
              <a:srgbClr val="0B5E82"/>
            </a:solidFill>
            <a:prstDash val="solid"/>
          </a:ln>
        </p:spPr>
        <p:txBody>
          <a:bodyPr/>
          <a:p/>
        </p:txBody>
      </p:sp>
      <p:pic>
        <p:nvPicPr>
          <p:cNvPr id="8" name="Image 1" descr="preencoded.png">    </p:cNvPr>
          <p:cNvPicPr>
            <a:picLocks noChangeAspect="1"/>
          </p:cNvPicPr>
          <p:nvPr/>
        </p:nvPicPr>
        <p:blipFill>
          <a:blip r:embed="rId2"/>
          <a:stretch>
            <a:fillRect/>
          </a:stretch>
        </p:blipFill>
        <p:spPr>
          <a:xfrm>
            <a:off x="1200150" y="2366010"/>
            <a:ext cx="434340" cy="434340"/>
          </a:xfrm>
          <a:prstGeom prst="rect">
            <a:avLst/>
          </a:prstGeom>
        </p:spPr>
      </p:pic>
      <p:sp>
        <p:nvSpPr>
          <p:cNvPr id="9" name="Text 5"/>
          <p:cNvSpPr txBox="1"/>
          <p:nvPr/>
        </p:nvSpPr>
        <p:spPr>
          <a:xfrm>
            <a:off x="1920240" y="2240280"/>
            <a:ext cx="548640" cy="640080"/>
          </a:xfrm>
          <a:prstGeom prst="rect">
            <a:avLst/>
          </a:prstGeom>
          <a:noFill/>
          <a:ln/>
        </p:spPr>
        <p:txBody>
          <a:bodyPr wrap="square" lIns="0" tIns="0" rIns="0" bIns="0" rtlCol="0" anchor="ctr"/>
          <a:lstStyle/>
          <a:p>
            <a:pPr algn="ctr" indent="0" marL="0">
              <a:buNone/>
            </a:pPr>
            <a:r>
              <a:rPr lang="en-US" sz="3400" dirty="0">
                <a:solidFill>
                  <a:srgbClr val="AAB9CC"/>
                </a:solidFill>
                <a:latin typeface="Calibri" pitchFamily="34" charset="0"/>
                <a:ea typeface="Calibri" pitchFamily="34" charset="-122"/>
                <a:cs typeface="Calibri" pitchFamily="34" charset="-120"/>
              </a:rPr>
              <a:t>›</a:t>
            </a:r>
            <a:endParaRPr lang="en-US" sz="3400" dirty="0"/>
          </a:p>
        </p:txBody>
      </p:sp>
      <p:sp>
        <p:nvSpPr>
          <p:cNvPr id="10" name="Text 6"/>
          <p:cNvSpPr txBox="1"/>
          <p:nvPr/>
        </p:nvSpPr>
        <p:spPr>
          <a:xfrm>
            <a:off x="731520" y="3154680"/>
            <a:ext cx="1371600"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Question</a:t>
            </a:r>
            <a:endParaRPr lang="en-US" sz="1600" dirty="0"/>
          </a:p>
        </p:txBody>
      </p:sp>
      <p:sp>
        <p:nvSpPr>
          <p:cNvPr id="11" name="Text 7"/>
          <p:cNvSpPr txBox="1"/>
          <p:nvPr/>
        </p:nvSpPr>
        <p:spPr>
          <a:xfrm>
            <a:off x="777240" y="3657600"/>
            <a:ext cx="1280160"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What decision? What does success look like in naira?</a:t>
            </a:r>
            <a:endParaRPr lang="en-US" sz="1250" dirty="0"/>
          </a:p>
        </p:txBody>
      </p:sp>
      <p:sp>
        <p:nvSpPr>
          <p:cNvPr id="12" name="Shape 8"/>
          <p:cNvSpPr/>
          <p:nvPr/>
        </p:nvSpPr>
        <p:spPr>
          <a:xfrm>
            <a:off x="2537460" y="2148840"/>
            <a:ext cx="868680" cy="868680"/>
          </a:xfrm>
          <a:prstGeom prst="ellipse">
            <a:avLst/>
          </a:prstGeom>
          <a:solidFill>
            <a:srgbClr val="0B5E82"/>
          </a:solidFill>
          <a:ln w="12700">
            <a:solidFill>
              <a:srgbClr val="0B5E82"/>
            </a:solidFill>
            <a:prstDash val="solid"/>
          </a:ln>
        </p:spPr>
        <p:txBody>
          <a:bodyPr/>
          <a:p/>
        </p:txBody>
      </p:sp>
      <p:pic>
        <p:nvPicPr>
          <p:cNvPr id="13" name="Image 2" descr="preencoded.png">    </p:cNvPr>
          <p:cNvPicPr>
            <a:picLocks noChangeAspect="1"/>
          </p:cNvPicPr>
          <p:nvPr/>
        </p:nvPicPr>
        <p:blipFill>
          <a:blip r:embed="rId3"/>
          <a:stretch>
            <a:fillRect/>
          </a:stretch>
        </p:blipFill>
        <p:spPr>
          <a:xfrm>
            <a:off x="2754630" y="2366010"/>
            <a:ext cx="434340" cy="434340"/>
          </a:xfrm>
          <a:prstGeom prst="rect">
            <a:avLst/>
          </a:prstGeom>
        </p:spPr>
      </p:pic>
      <p:sp>
        <p:nvSpPr>
          <p:cNvPr id="14" name="Text 9"/>
          <p:cNvSpPr txBox="1"/>
          <p:nvPr/>
        </p:nvSpPr>
        <p:spPr>
          <a:xfrm>
            <a:off x="3474720" y="2240280"/>
            <a:ext cx="548640" cy="640080"/>
          </a:xfrm>
          <a:prstGeom prst="rect">
            <a:avLst/>
          </a:prstGeom>
          <a:noFill/>
          <a:ln/>
        </p:spPr>
        <p:txBody>
          <a:bodyPr wrap="square" lIns="0" tIns="0" rIns="0" bIns="0" rtlCol="0" anchor="ctr"/>
          <a:lstStyle/>
          <a:p>
            <a:pPr algn="ctr" indent="0" marL="0">
              <a:buNone/>
            </a:pPr>
            <a:r>
              <a:rPr lang="en-US" sz="3400" dirty="0">
                <a:solidFill>
                  <a:srgbClr val="AAB9CC"/>
                </a:solidFill>
                <a:latin typeface="Calibri" pitchFamily="34" charset="0"/>
                <a:ea typeface="Calibri" pitchFamily="34" charset="-122"/>
                <a:cs typeface="Calibri" pitchFamily="34" charset="-120"/>
              </a:rPr>
              <a:t>›</a:t>
            </a:r>
            <a:endParaRPr lang="en-US" sz="3400" dirty="0"/>
          </a:p>
        </p:txBody>
      </p:sp>
      <p:sp>
        <p:nvSpPr>
          <p:cNvPr id="15" name="Text 10"/>
          <p:cNvSpPr txBox="1"/>
          <p:nvPr/>
        </p:nvSpPr>
        <p:spPr>
          <a:xfrm>
            <a:off x="2286000" y="3154680"/>
            <a:ext cx="1371600"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Data</a:t>
            </a:r>
            <a:endParaRPr lang="en-US" sz="1600" dirty="0"/>
          </a:p>
        </p:txBody>
      </p:sp>
      <p:sp>
        <p:nvSpPr>
          <p:cNvPr id="16" name="Text 11"/>
          <p:cNvSpPr txBox="1"/>
          <p:nvPr/>
        </p:nvSpPr>
        <p:spPr>
          <a:xfrm>
            <a:off x="2331720" y="3657600"/>
            <a:ext cx="1280160"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Load, check, clean; write down every change</a:t>
            </a:r>
            <a:endParaRPr lang="en-US" sz="1250" dirty="0"/>
          </a:p>
        </p:txBody>
      </p:sp>
      <p:sp>
        <p:nvSpPr>
          <p:cNvPr id="17" name="Shape 12"/>
          <p:cNvSpPr/>
          <p:nvPr/>
        </p:nvSpPr>
        <p:spPr>
          <a:xfrm>
            <a:off x="4091940" y="2148840"/>
            <a:ext cx="868680" cy="868680"/>
          </a:xfrm>
          <a:prstGeom prst="ellipse">
            <a:avLst/>
          </a:prstGeom>
          <a:solidFill>
            <a:srgbClr val="0B5E82"/>
          </a:solidFill>
          <a:ln w="12700">
            <a:solidFill>
              <a:srgbClr val="0B5E82"/>
            </a:solidFill>
            <a:prstDash val="solid"/>
          </a:ln>
        </p:spPr>
        <p:txBody>
          <a:bodyPr/>
          <a:p/>
        </p:txBody>
      </p:sp>
      <p:pic>
        <p:nvPicPr>
          <p:cNvPr id="18" name="Image 3" descr="preencoded.png">    </p:cNvPr>
          <p:cNvPicPr>
            <a:picLocks noChangeAspect="1"/>
          </p:cNvPicPr>
          <p:nvPr/>
        </p:nvPicPr>
        <p:blipFill>
          <a:blip r:embed="rId4"/>
          <a:stretch>
            <a:fillRect/>
          </a:stretch>
        </p:blipFill>
        <p:spPr>
          <a:xfrm>
            <a:off x="4309110" y="2366010"/>
            <a:ext cx="434340" cy="434340"/>
          </a:xfrm>
          <a:prstGeom prst="rect">
            <a:avLst/>
          </a:prstGeom>
        </p:spPr>
      </p:pic>
      <p:sp>
        <p:nvSpPr>
          <p:cNvPr id="19" name="Text 13"/>
          <p:cNvSpPr txBox="1"/>
          <p:nvPr/>
        </p:nvSpPr>
        <p:spPr>
          <a:xfrm>
            <a:off x="5029200" y="2240280"/>
            <a:ext cx="548640" cy="640080"/>
          </a:xfrm>
          <a:prstGeom prst="rect">
            <a:avLst/>
          </a:prstGeom>
          <a:noFill/>
          <a:ln/>
        </p:spPr>
        <p:txBody>
          <a:bodyPr wrap="square" lIns="0" tIns="0" rIns="0" bIns="0" rtlCol="0" anchor="ctr"/>
          <a:lstStyle/>
          <a:p>
            <a:pPr algn="ctr" indent="0" marL="0">
              <a:buNone/>
            </a:pPr>
            <a:r>
              <a:rPr lang="en-US" sz="3400" dirty="0">
                <a:solidFill>
                  <a:srgbClr val="AAB9CC"/>
                </a:solidFill>
                <a:latin typeface="Calibri" pitchFamily="34" charset="0"/>
                <a:ea typeface="Calibri" pitchFamily="34" charset="-122"/>
                <a:cs typeface="Calibri" pitchFamily="34" charset="-120"/>
              </a:rPr>
              <a:t>›</a:t>
            </a:r>
            <a:endParaRPr lang="en-US" sz="3400" dirty="0"/>
          </a:p>
        </p:txBody>
      </p:sp>
      <p:sp>
        <p:nvSpPr>
          <p:cNvPr id="20" name="Text 14"/>
          <p:cNvSpPr txBox="1"/>
          <p:nvPr/>
        </p:nvSpPr>
        <p:spPr>
          <a:xfrm>
            <a:off x="3840480" y="3154680"/>
            <a:ext cx="1371600"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Explore</a:t>
            </a:r>
            <a:endParaRPr lang="en-US" sz="1600" dirty="0"/>
          </a:p>
        </p:txBody>
      </p:sp>
      <p:sp>
        <p:nvSpPr>
          <p:cNvPr id="21" name="Text 15"/>
          <p:cNvSpPr txBox="1"/>
          <p:nvPr/>
        </p:nvSpPr>
        <p:spPr>
          <a:xfrm>
            <a:off x="3886200" y="3657600"/>
            <a:ext cx="1280160"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Summaries and charts before any model</a:t>
            </a:r>
            <a:endParaRPr lang="en-US" sz="1250" dirty="0"/>
          </a:p>
        </p:txBody>
      </p:sp>
      <p:sp>
        <p:nvSpPr>
          <p:cNvPr id="22" name="Shape 16"/>
          <p:cNvSpPr/>
          <p:nvPr/>
        </p:nvSpPr>
        <p:spPr>
          <a:xfrm>
            <a:off x="5646420" y="2148840"/>
            <a:ext cx="868680" cy="868680"/>
          </a:xfrm>
          <a:prstGeom prst="ellipse">
            <a:avLst/>
          </a:prstGeom>
          <a:solidFill>
            <a:srgbClr val="D99A2B"/>
          </a:solidFill>
          <a:ln w="12700">
            <a:solidFill>
              <a:srgbClr val="D99A2B"/>
            </a:solidFill>
            <a:prstDash val="solid"/>
          </a:ln>
        </p:spPr>
        <p:txBody>
          <a:bodyPr/>
          <a:p/>
        </p:txBody>
      </p:sp>
      <p:pic>
        <p:nvPicPr>
          <p:cNvPr id="23" name="Image 4" descr="preencoded.png">    </p:cNvPr>
          <p:cNvPicPr>
            <a:picLocks noChangeAspect="1"/>
          </p:cNvPicPr>
          <p:nvPr/>
        </p:nvPicPr>
        <p:blipFill>
          <a:blip r:embed="rId5"/>
          <a:stretch>
            <a:fillRect/>
          </a:stretch>
        </p:blipFill>
        <p:spPr>
          <a:xfrm>
            <a:off x="5863590" y="2366010"/>
            <a:ext cx="434340" cy="434340"/>
          </a:xfrm>
          <a:prstGeom prst="rect">
            <a:avLst/>
          </a:prstGeom>
        </p:spPr>
      </p:pic>
      <p:sp>
        <p:nvSpPr>
          <p:cNvPr id="24" name="Text 17"/>
          <p:cNvSpPr txBox="1"/>
          <p:nvPr/>
        </p:nvSpPr>
        <p:spPr>
          <a:xfrm>
            <a:off x="6583680" y="2240280"/>
            <a:ext cx="548640" cy="640080"/>
          </a:xfrm>
          <a:prstGeom prst="rect">
            <a:avLst/>
          </a:prstGeom>
          <a:noFill/>
          <a:ln/>
        </p:spPr>
        <p:txBody>
          <a:bodyPr wrap="square" lIns="0" tIns="0" rIns="0" bIns="0" rtlCol="0" anchor="ctr"/>
          <a:lstStyle/>
          <a:p>
            <a:pPr algn="ctr" indent="0" marL="0">
              <a:buNone/>
            </a:pPr>
            <a:r>
              <a:rPr lang="en-US" sz="3400" dirty="0">
                <a:solidFill>
                  <a:srgbClr val="AAB9CC"/>
                </a:solidFill>
                <a:latin typeface="Calibri" pitchFamily="34" charset="0"/>
                <a:ea typeface="Calibri" pitchFamily="34" charset="-122"/>
                <a:cs typeface="Calibri" pitchFamily="34" charset="-120"/>
              </a:rPr>
              <a:t>›</a:t>
            </a:r>
            <a:endParaRPr lang="en-US" sz="3400" dirty="0"/>
          </a:p>
        </p:txBody>
      </p:sp>
      <p:sp>
        <p:nvSpPr>
          <p:cNvPr id="25" name="Text 18"/>
          <p:cNvSpPr txBox="1"/>
          <p:nvPr/>
        </p:nvSpPr>
        <p:spPr>
          <a:xfrm>
            <a:off x="5394960" y="3154680"/>
            <a:ext cx="1371600"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Model</a:t>
            </a:r>
            <a:endParaRPr lang="en-US" sz="1600" dirty="0"/>
          </a:p>
        </p:txBody>
      </p:sp>
      <p:sp>
        <p:nvSpPr>
          <p:cNvPr id="26" name="Text 19"/>
          <p:cNvSpPr txBox="1"/>
          <p:nvPr/>
        </p:nvSpPr>
        <p:spPr>
          <a:xfrm>
            <a:off x="5440680" y="3657600"/>
            <a:ext cx="1280160"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Simple benchmark first; judge on held-out data</a:t>
            </a:r>
            <a:endParaRPr lang="en-US" sz="1250" dirty="0"/>
          </a:p>
        </p:txBody>
      </p:sp>
      <p:sp>
        <p:nvSpPr>
          <p:cNvPr id="27" name="Shape 20"/>
          <p:cNvSpPr/>
          <p:nvPr/>
        </p:nvSpPr>
        <p:spPr>
          <a:xfrm>
            <a:off x="7200900" y="2148840"/>
            <a:ext cx="868680" cy="868680"/>
          </a:xfrm>
          <a:prstGeom prst="ellipse">
            <a:avLst/>
          </a:prstGeom>
          <a:solidFill>
            <a:srgbClr val="0B5E82"/>
          </a:solidFill>
          <a:ln w="12700">
            <a:solidFill>
              <a:srgbClr val="0B5E82"/>
            </a:solidFill>
            <a:prstDash val="solid"/>
          </a:ln>
        </p:spPr>
        <p:txBody>
          <a:bodyPr/>
          <a:p/>
        </p:txBody>
      </p:sp>
      <p:pic>
        <p:nvPicPr>
          <p:cNvPr id="28" name="Image 5" descr="preencoded.png">    </p:cNvPr>
          <p:cNvPicPr>
            <a:picLocks noChangeAspect="1"/>
          </p:cNvPicPr>
          <p:nvPr/>
        </p:nvPicPr>
        <p:blipFill>
          <a:blip r:embed="rId6"/>
          <a:stretch>
            <a:fillRect/>
          </a:stretch>
        </p:blipFill>
        <p:spPr>
          <a:xfrm>
            <a:off x="7418070" y="2366010"/>
            <a:ext cx="434340" cy="434340"/>
          </a:xfrm>
          <a:prstGeom prst="rect">
            <a:avLst/>
          </a:prstGeom>
        </p:spPr>
      </p:pic>
      <p:sp>
        <p:nvSpPr>
          <p:cNvPr id="29" name="Text 21"/>
          <p:cNvSpPr txBox="1"/>
          <p:nvPr/>
        </p:nvSpPr>
        <p:spPr>
          <a:xfrm>
            <a:off x="8138160" y="2240280"/>
            <a:ext cx="548640" cy="640080"/>
          </a:xfrm>
          <a:prstGeom prst="rect">
            <a:avLst/>
          </a:prstGeom>
          <a:noFill/>
          <a:ln/>
        </p:spPr>
        <p:txBody>
          <a:bodyPr wrap="square" lIns="0" tIns="0" rIns="0" bIns="0" rtlCol="0" anchor="ctr"/>
          <a:lstStyle/>
          <a:p>
            <a:pPr algn="ctr" indent="0" marL="0">
              <a:buNone/>
            </a:pPr>
            <a:r>
              <a:rPr lang="en-US" sz="3400" dirty="0">
                <a:solidFill>
                  <a:srgbClr val="AAB9CC"/>
                </a:solidFill>
                <a:latin typeface="Calibri" pitchFamily="34" charset="0"/>
                <a:ea typeface="Calibri" pitchFamily="34" charset="-122"/>
                <a:cs typeface="Calibri" pitchFamily="34" charset="-120"/>
              </a:rPr>
              <a:t>›</a:t>
            </a:r>
            <a:endParaRPr lang="en-US" sz="3400" dirty="0"/>
          </a:p>
        </p:txBody>
      </p:sp>
      <p:sp>
        <p:nvSpPr>
          <p:cNvPr id="30" name="Text 22"/>
          <p:cNvSpPr txBox="1"/>
          <p:nvPr/>
        </p:nvSpPr>
        <p:spPr>
          <a:xfrm>
            <a:off x="6949440" y="3154680"/>
            <a:ext cx="1371600"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Value</a:t>
            </a:r>
            <a:endParaRPr lang="en-US" sz="1600" dirty="0"/>
          </a:p>
        </p:txBody>
      </p:sp>
      <p:sp>
        <p:nvSpPr>
          <p:cNvPr id="31" name="Text 23"/>
          <p:cNvSpPr txBox="1"/>
          <p:nvPr/>
        </p:nvSpPr>
        <p:spPr>
          <a:xfrm>
            <a:off x="6995160" y="3657600"/>
            <a:ext cx="1280160"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Turn predictions into a decision rule and naira</a:t>
            </a:r>
            <a:endParaRPr lang="en-US" sz="1250" dirty="0"/>
          </a:p>
        </p:txBody>
      </p:sp>
      <p:sp>
        <p:nvSpPr>
          <p:cNvPr id="32" name="Shape 24"/>
          <p:cNvSpPr/>
          <p:nvPr/>
        </p:nvSpPr>
        <p:spPr>
          <a:xfrm>
            <a:off x="8755380" y="2148840"/>
            <a:ext cx="868680" cy="868680"/>
          </a:xfrm>
          <a:prstGeom prst="ellipse">
            <a:avLst/>
          </a:prstGeom>
          <a:solidFill>
            <a:srgbClr val="0B5E82"/>
          </a:solidFill>
          <a:ln w="12700">
            <a:solidFill>
              <a:srgbClr val="0B5E82"/>
            </a:solidFill>
            <a:prstDash val="solid"/>
          </a:ln>
        </p:spPr>
        <p:txBody>
          <a:bodyPr/>
          <a:p/>
        </p:txBody>
      </p:sp>
      <p:pic>
        <p:nvPicPr>
          <p:cNvPr id="33" name="Image 6" descr="preencoded.png">    </p:cNvPr>
          <p:cNvPicPr>
            <a:picLocks noChangeAspect="1"/>
          </p:cNvPicPr>
          <p:nvPr/>
        </p:nvPicPr>
        <p:blipFill>
          <a:blip r:embed="rId7"/>
          <a:stretch>
            <a:fillRect/>
          </a:stretch>
        </p:blipFill>
        <p:spPr>
          <a:xfrm>
            <a:off x="8972550" y="2366010"/>
            <a:ext cx="434340" cy="434340"/>
          </a:xfrm>
          <a:prstGeom prst="rect">
            <a:avLst/>
          </a:prstGeom>
        </p:spPr>
      </p:pic>
      <p:sp>
        <p:nvSpPr>
          <p:cNvPr id="34" name="Text 25"/>
          <p:cNvSpPr txBox="1"/>
          <p:nvPr/>
        </p:nvSpPr>
        <p:spPr>
          <a:xfrm>
            <a:off x="9692640" y="2240280"/>
            <a:ext cx="548640" cy="640080"/>
          </a:xfrm>
          <a:prstGeom prst="rect">
            <a:avLst/>
          </a:prstGeom>
          <a:noFill/>
          <a:ln/>
        </p:spPr>
        <p:txBody>
          <a:bodyPr wrap="square" lIns="0" tIns="0" rIns="0" bIns="0" rtlCol="0" anchor="ctr"/>
          <a:lstStyle/>
          <a:p>
            <a:pPr algn="ctr" indent="0" marL="0">
              <a:buNone/>
            </a:pPr>
            <a:r>
              <a:rPr lang="en-US" sz="3400" dirty="0">
                <a:solidFill>
                  <a:srgbClr val="AAB9CC"/>
                </a:solidFill>
                <a:latin typeface="Calibri" pitchFamily="34" charset="0"/>
                <a:ea typeface="Calibri" pitchFamily="34" charset="-122"/>
                <a:cs typeface="Calibri" pitchFamily="34" charset="-120"/>
              </a:rPr>
              <a:t>›</a:t>
            </a:r>
            <a:endParaRPr lang="en-US" sz="3400" dirty="0"/>
          </a:p>
        </p:txBody>
      </p:sp>
      <p:sp>
        <p:nvSpPr>
          <p:cNvPr id="35" name="Text 26"/>
          <p:cNvSpPr txBox="1"/>
          <p:nvPr/>
        </p:nvSpPr>
        <p:spPr>
          <a:xfrm>
            <a:off x="8503920" y="3154680"/>
            <a:ext cx="1371600"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Check</a:t>
            </a:r>
            <a:endParaRPr lang="en-US" sz="1600" dirty="0"/>
          </a:p>
        </p:txBody>
      </p:sp>
      <p:sp>
        <p:nvSpPr>
          <p:cNvPr id="36" name="Text 27"/>
          <p:cNvSpPr txBox="1"/>
          <p:nvPr/>
        </p:nvSpPr>
        <p:spPr>
          <a:xfrm>
            <a:off x="8549640" y="3657600"/>
            <a:ext cx="1280160"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Fairness, sensitivity, what could go wrong</a:t>
            </a:r>
            <a:endParaRPr lang="en-US" sz="1250" dirty="0"/>
          </a:p>
        </p:txBody>
      </p:sp>
      <p:sp>
        <p:nvSpPr>
          <p:cNvPr id="37" name="Shape 28"/>
          <p:cNvSpPr/>
          <p:nvPr/>
        </p:nvSpPr>
        <p:spPr>
          <a:xfrm>
            <a:off x="10309860" y="2148840"/>
            <a:ext cx="868680" cy="868680"/>
          </a:xfrm>
          <a:prstGeom prst="ellipse">
            <a:avLst/>
          </a:prstGeom>
          <a:solidFill>
            <a:srgbClr val="0B5E82"/>
          </a:solidFill>
          <a:ln w="12700">
            <a:solidFill>
              <a:srgbClr val="0B5E82"/>
            </a:solidFill>
            <a:prstDash val="solid"/>
          </a:ln>
        </p:spPr>
        <p:txBody>
          <a:bodyPr/>
          <a:p/>
        </p:txBody>
      </p:sp>
      <p:pic>
        <p:nvPicPr>
          <p:cNvPr id="38" name="Image 7" descr="preencoded.png">    </p:cNvPr>
          <p:cNvPicPr>
            <a:picLocks noChangeAspect="1"/>
          </p:cNvPicPr>
          <p:nvPr/>
        </p:nvPicPr>
        <p:blipFill>
          <a:blip r:embed="rId8"/>
          <a:stretch>
            <a:fillRect/>
          </a:stretch>
        </p:blipFill>
        <p:spPr>
          <a:xfrm>
            <a:off x="10527030" y="2366010"/>
            <a:ext cx="434340" cy="434340"/>
          </a:xfrm>
          <a:prstGeom prst="rect">
            <a:avLst/>
          </a:prstGeom>
        </p:spPr>
      </p:pic>
      <p:sp>
        <p:nvSpPr>
          <p:cNvPr id="39" name="Text 29"/>
          <p:cNvSpPr txBox="1"/>
          <p:nvPr/>
        </p:nvSpPr>
        <p:spPr>
          <a:xfrm>
            <a:off x="10058400" y="3154680"/>
            <a:ext cx="1371600"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Communicate</a:t>
            </a:r>
            <a:endParaRPr lang="en-US" sz="1600" dirty="0"/>
          </a:p>
        </p:txBody>
      </p:sp>
      <p:sp>
        <p:nvSpPr>
          <p:cNvPr id="40" name="Text 30"/>
          <p:cNvSpPr txBox="1"/>
          <p:nvPr/>
        </p:nvSpPr>
        <p:spPr>
          <a:xfrm>
            <a:off x="10104120" y="3657600"/>
            <a:ext cx="1280160"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One chart, one recommendation, one risk</a:t>
            </a:r>
            <a:endParaRPr lang="en-US" sz="1250" dirty="0"/>
          </a:p>
        </p:txBody>
      </p:sp>
      <p:sp>
        <p:nvSpPr>
          <p:cNvPr id="41" name="Shape 31"/>
          <p:cNvSpPr/>
          <p:nvPr/>
        </p:nvSpPr>
        <p:spPr>
          <a:xfrm>
            <a:off x="640080" y="5349240"/>
            <a:ext cx="10881360" cy="685800"/>
          </a:xfrm>
          <a:prstGeom prst="roundRect">
            <a:avLst>
              <a:gd name="adj" fmla="val 8000"/>
            </a:avLst>
          </a:prstGeom>
          <a:solidFill>
            <a:srgbClr val="F3F6F9"/>
          </a:solidFill>
          <a:ln w="9525">
            <a:solidFill>
              <a:srgbClr val="E1E7EE"/>
            </a:solidFill>
            <a:prstDash val="solid"/>
          </a:ln>
        </p:spPr>
        <p:txBody>
          <a:bodyPr/>
          <a:p/>
        </p:txBody>
      </p:sp>
      <p:sp>
        <p:nvSpPr>
          <p:cNvPr id="42" name="Text 32"/>
          <p:cNvSpPr txBox="1"/>
          <p:nvPr/>
        </p:nvSpPr>
        <p:spPr>
          <a:xfrm>
            <a:off x="868680" y="5349240"/>
            <a:ext cx="10424160" cy="685800"/>
          </a:xfrm>
          <a:prstGeom prst="rect">
            <a:avLst/>
          </a:prstGeom>
          <a:noFill/>
          <a:ln/>
        </p:spPr>
        <p:txBody>
          <a:bodyPr wrap="square" lIns="0" tIns="0" rIns="0" bIns="0" rtlCol="0" anchor="ctr"/>
          <a:lstStyle/>
          <a:p>
            <a:pPr indent="0" marL="0">
              <a:buNone/>
            </a:pPr>
            <a:r>
              <a:rPr lang="en-US" sz="1300" i="1" dirty="0">
                <a:solidFill>
                  <a:srgbClr val="141B4D"/>
                </a:solidFill>
                <a:latin typeface="Calibri" pitchFamily="34" charset="0"/>
                <a:ea typeface="Calibri" pitchFamily="34" charset="-122"/>
                <a:cs typeface="Calibri" pitchFamily="34" charset="-120"/>
              </a:rPr>
              <a:t>This is the structure of the capstone starter script, and the structure markers look for in your presentation.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1828800"/>
            <a:ext cx="5486400" cy="320040"/>
          </a:xfrm>
          <a:prstGeom prst="rect">
            <a:avLst/>
          </a:prstGeom>
          <a:noFill/>
          <a:ln/>
        </p:spPr>
        <p:txBody>
          <a:bodyPr wrap="square" lIns="0" tIns="0" rIns="0" bIns="0" rtlCol="0" anchor="t"/>
          <a:lstStyle/>
          <a:p>
            <a:pPr indent="0" marL="0">
              <a:buNone/>
            </a:pPr>
            <a:r>
              <a:rPr lang="en-US" sz="1300" b="1" spc="400" kern="0" dirty="0">
                <a:solidFill>
                  <a:srgbClr val="D99A2B"/>
                </a:solidFill>
                <a:latin typeface="Calibri" pitchFamily="34" charset="0"/>
                <a:ea typeface="Calibri" pitchFamily="34" charset="-122"/>
                <a:cs typeface="Calibri" pitchFamily="34" charset="-120"/>
              </a:rPr>
              <a:t>PART</a:t>
            </a:r>
            <a:endParaRPr lang="en-US" sz="1300" dirty="0"/>
          </a:p>
        </p:txBody>
      </p:sp>
      <p:sp>
        <p:nvSpPr>
          <p:cNvPr id="5" name="Text 3"/>
          <p:cNvSpPr txBox="1"/>
          <p:nvPr/>
        </p:nvSpPr>
        <p:spPr>
          <a:xfrm>
            <a:off x="822960" y="2148840"/>
            <a:ext cx="2743200" cy="1097280"/>
          </a:xfrm>
          <a:prstGeom prst="rect">
            <a:avLst/>
          </a:prstGeom>
          <a:noFill/>
          <a:ln/>
        </p:spPr>
        <p:txBody>
          <a:bodyPr wrap="square" lIns="0" tIns="0" rIns="0" bIns="0" rtlCol="0" anchor="t"/>
          <a:lstStyle/>
          <a:p>
            <a:pPr indent="0" marL="0">
              <a:buNone/>
            </a:pPr>
            <a:r>
              <a:rPr lang="en-US" sz="7200" b="1" dirty="0">
                <a:solidFill>
                  <a:srgbClr val="AAB9CC"/>
                </a:solidFill>
                <a:latin typeface="Cambria" pitchFamily="34" charset="0"/>
                <a:ea typeface="Cambria" pitchFamily="34" charset="-122"/>
                <a:cs typeface="Cambria" pitchFamily="34" charset="-120"/>
              </a:rPr>
              <a:t>02</a:t>
            </a:r>
            <a:endParaRPr lang="en-US" sz="7200" dirty="0"/>
          </a:p>
        </p:txBody>
      </p:sp>
      <p:sp>
        <p:nvSpPr>
          <p:cNvPr id="6" name="Text 4"/>
          <p:cNvSpPr txBox="1"/>
          <p:nvPr/>
        </p:nvSpPr>
        <p:spPr>
          <a:xfrm>
            <a:off x="822960" y="3291840"/>
            <a:ext cx="86868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Capstone</a:t>
            </a:r>
            <a:endParaRPr lang="en-US" sz="3600" dirty="0"/>
          </a:p>
        </p:txBody>
      </p:sp>
      <p:sp>
        <p:nvSpPr>
          <p:cNvPr id="7" name="Text 5"/>
          <p:cNvSpPr txBox="1"/>
          <p:nvPr/>
        </p:nvSpPr>
        <p:spPr>
          <a:xfrm>
            <a:off x="822960" y="4251960"/>
            <a:ext cx="8229600" cy="73152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Question to recommendation, as a team.</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BRIEF</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Capstone Project: What's Required</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Teams of 4–5.</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9</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5"/>
          <p:cNvSpPr/>
          <p:nvPr/>
        </p:nvSpPr>
        <p:spPr>
          <a:xfrm>
            <a:off x="640080" y="1874520"/>
            <a:ext cx="532638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9" name="Shape 6"/>
          <p:cNvSpPr/>
          <p:nvPr/>
        </p:nvSpPr>
        <p:spPr>
          <a:xfrm>
            <a:off x="868680" y="2075688"/>
            <a:ext cx="457200" cy="457200"/>
          </a:xfrm>
          <a:prstGeom prst="ellipse">
            <a:avLst/>
          </a:prstGeom>
          <a:solidFill>
            <a:srgbClr val="0B5E82"/>
          </a:solidFill>
          <a:ln w="12700">
            <a:solidFill>
              <a:srgbClr val="0B5E82"/>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982980" y="2189988"/>
            <a:ext cx="228600" cy="228600"/>
          </a:xfrm>
          <a:prstGeom prst="rect">
            <a:avLst/>
          </a:prstGeom>
        </p:spPr>
      </p:pic>
      <p:sp>
        <p:nvSpPr>
          <p:cNvPr id="11" name="Text 7"/>
          <p:cNvSpPr txBox="1"/>
          <p:nvPr/>
        </p:nvSpPr>
        <p:spPr>
          <a:xfrm>
            <a:off x="1463040" y="205740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A real decision</a:t>
            </a:r>
            <a:endParaRPr lang="en-US" sz="1500" dirty="0"/>
          </a:p>
        </p:txBody>
      </p:sp>
      <p:sp>
        <p:nvSpPr>
          <p:cNvPr id="12" name="Text 8"/>
          <p:cNvSpPr txBox="1"/>
          <p:nvPr/>
        </p:nvSpPr>
        <p:spPr>
          <a:xfrm>
            <a:off x="868680" y="2651760"/>
            <a:ext cx="486918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From a team member's organisation or a public Nigerian/African dataset: pricing, churn, credit, demand, staffing, marketing, operations.</a:t>
            </a:r>
            <a:endParaRPr lang="en-US" sz="1250" dirty="0"/>
          </a:p>
        </p:txBody>
      </p:sp>
      <p:sp>
        <p:nvSpPr>
          <p:cNvPr id="13" name="Shape 9"/>
          <p:cNvSpPr/>
          <p:nvPr/>
        </p:nvSpPr>
        <p:spPr>
          <a:xfrm>
            <a:off x="6195060" y="1874520"/>
            <a:ext cx="532638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4" name="Shape 10"/>
          <p:cNvSpPr/>
          <p:nvPr/>
        </p:nvSpPr>
        <p:spPr>
          <a:xfrm>
            <a:off x="6423660" y="2075688"/>
            <a:ext cx="457200" cy="457200"/>
          </a:xfrm>
          <a:prstGeom prst="ellipse">
            <a:avLst/>
          </a:prstGeom>
          <a:solidFill>
            <a:srgbClr val="0B5E82"/>
          </a:solidFill>
          <a:ln w="12700">
            <a:solidFill>
              <a:srgbClr val="0B5E82"/>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6537960" y="2189988"/>
            <a:ext cx="228600" cy="228600"/>
          </a:xfrm>
          <a:prstGeom prst="rect">
            <a:avLst/>
          </a:prstGeom>
        </p:spPr>
      </p:pic>
      <p:sp>
        <p:nvSpPr>
          <p:cNvPr id="16" name="Text 11"/>
          <p:cNvSpPr txBox="1"/>
          <p:nvPr/>
        </p:nvSpPr>
        <p:spPr>
          <a:xfrm>
            <a:off x="7018020" y="205740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Real or realistic data</a:t>
            </a:r>
            <a:endParaRPr lang="en-US" sz="1500" dirty="0"/>
          </a:p>
        </p:txBody>
      </p:sp>
      <p:sp>
        <p:nvSpPr>
          <p:cNvPr id="17" name="Text 12"/>
          <p:cNvSpPr txBox="1"/>
          <p:nvPr/>
        </p:nvSpPr>
        <p:spPr>
          <a:xfrm>
            <a:off x="6423660" y="2651760"/>
            <a:ext cx="486918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At least 1,000 rows. Anonymise personal data; get permission for company data (NDPA).</a:t>
            </a:r>
            <a:endParaRPr lang="en-US" sz="1250" dirty="0"/>
          </a:p>
        </p:txBody>
      </p:sp>
      <p:sp>
        <p:nvSpPr>
          <p:cNvPr id="18" name="Shape 13"/>
          <p:cNvSpPr/>
          <p:nvPr/>
        </p:nvSpPr>
        <p:spPr>
          <a:xfrm>
            <a:off x="640080" y="4114800"/>
            <a:ext cx="532638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9" name="Shape 14"/>
          <p:cNvSpPr/>
          <p:nvPr/>
        </p:nvSpPr>
        <p:spPr>
          <a:xfrm>
            <a:off x="868680" y="4315968"/>
            <a:ext cx="457200" cy="457200"/>
          </a:xfrm>
          <a:prstGeom prst="ellipse">
            <a:avLst/>
          </a:prstGeom>
          <a:solidFill>
            <a:srgbClr val="D99A2B"/>
          </a:solidFill>
          <a:ln w="12700">
            <a:solidFill>
              <a:srgbClr val="D99A2B"/>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982980" y="4430268"/>
            <a:ext cx="228600" cy="228600"/>
          </a:xfrm>
          <a:prstGeom prst="rect">
            <a:avLst/>
          </a:prstGeom>
        </p:spPr>
      </p:pic>
      <p:sp>
        <p:nvSpPr>
          <p:cNvPr id="21" name="Text 15"/>
          <p:cNvSpPr txBox="1"/>
          <p:nvPr/>
        </p:nvSpPr>
        <p:spPr>
          <a:xfrm>
            <a:off x="1463040" y="429768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Reproducible analysis</a:t>
            </a:r>
            <a:endParaRPr lang="en-US" sz="1500" dirty="0"/>
          </a:p>
        </p:txBody>
      </p:sp>
      <p:sp>
        <p:nvSpPr>
          <p:cNvPr id="22" name="Text 16"/>
          <p:cNvSpPr txBox="1"/>
          <p:nvPr/>
        </p:nvSpPr>
        <p:spPr>
          <a:xfrm>
            <a:off x="868680" y="4892040"/>
            <a:ext cx="486918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An R or Python script (or both) that runs from raw data to every chart in your deck.</a:t>
            </a:r>
            <a:endParaRPr lang="en-US" sz="1250" dirty="0"/>
          </a:p>
        </p:txBody>
      </p:sp>
      <p:sp>
        <p:nvSpPr>
          <p:cNvPr id="23" name="Shape 17"/>
          <p:cNvSpPr/>
          <p:nvPr/>
        </p:nvSpPr>
        <p:spPr>
          <a:xfrm>
            <a:off x="6195060" y="4114800"/>
            <a:ext cx="532638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4" name="Shape 18"/>
          <p:cNvSpPr/>
          <p:nvPr/>
        </p:nvSpPr>
        <p:spPr>
          <a:xfrm>
            <a:off x="6423660" y="4315968"/>
            <a:ext cx="457200" cy="457200"/>
          </a:xfrm>
          <a:prstGeom prst="ellipse">
            <a:avLst/>
          </a:prstGeom>
          <a:solidFill>
            <a:srgbClr val="0B5E82"/>
          </a:solidFill>
          <a:ln w="12700">
            <a:solidFill>
              <a:srgbClr val="0B5E82"/>
            </a:solidFill>
            <a:prstDash val="solid"/>
          </a:ln>
        </p:spPr>
        <p:txBody>
          <a:bodyPr/>
          <a:p/>
        </p:txBody>
      </p:sp>
      <p:pic>
        <p:nvPicPr>
          <p:cNvPr id="25" name="Image 4" descr="preencoded.png">    </p:cNvPr>
          <p:cNvPicPr>
            <a:picLocks noChangeAspect="1"/>
          </p:cNvPicPr>
          <p:nvPr/>
        </p:nvPicPr>
        <p:blipFill>
          <a:blip r:embed="rId5"/>
          <a:stretch>
            <a:fillRect/>
          </a:stretch>
        </p:blipFill>
        <p:spPr>
          <a:xfrm>
            <a:off x="6537960" y="4430268"/>
            <a:ext cx="228600" cy="228600"/>
          </a:xfrm>
          <a:prstGeom prst="rect">
            <a:avLst/>
          </a:prstGeom>
        </p:spPr>
      </p:pic>
      <p:sp>
        <p:nvSpPr>
          <p:cNvPr id="26" name="Text 19"/>
          <p:cNvSpPr txBox="1"/>
          <p:nvPr/>
        </p:nvSpPr>
        <p:spPr>
          <a:xfrm>
            <a:off x="7018020" y="429768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10-minute presentation</a:t>
            </a:r>
            <a:endParaRPr lang="en-US" sz="1500" dirty="0"/>
          </a:p>
        </p:txBody>
      </p:sp>
      <p:sp>
        <p:nvSpPr>
          <p:cNvPr id="27" name="Text 20"/>
          <p:cNvSpPr txBox="1"/>
          <p:nvPr/>
        </p:nvSpPr>
        <p:spPr>
          <a:xfrm>
            <a:off x="6423660" y="4892040"/>
            <a:ext cx="486918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Plus 5 minutes of questions. Submit the deck, script and a 2-page executive memo.</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MARKING</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Capstone Rubric</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10</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2926080"/>
                <a:gridCol w="1188720"/>
                <a:gridCol w="676656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excellent looks like</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r>
              <a:tr h="45720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Problem framing</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A specific decision, a success metric in naira, a clear 'so what'</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45720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Data &amp; preparation</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Sources explained; cleaning logged; limitations stated honestly</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Method choice &amp; execution</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A benchmark and a challenger; fair test on held-out data; right metrics</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45720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Business value</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Predictions turned into a decision rule with naira value and sensitivity</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Responsible use</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Fairness, privacy and risks checked; human oversight described</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45720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Communication</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One clear storyline; readable charts; confident, honest answers to questions</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10-MINUTE STORY</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How to Structure Your Presentation</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11</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640080" y="1728216"/>
            <a:ext cx="589788" cy="589788"/>
          </a:xfrm>
          <a:prstGeom prst="ellipse">
            <a:avLst/>
          </a:prstGeom>
          <a:solidFill>
            <a:srgbClr val="0B5E82"/>
          </a:solidFill>
          <a:ln w="12700">
            <a:solidFill>
              <a:srgbClr val="0B5E82"/>
            </a:solidFill>
            <a:prstDash val="solid"/>
          </a:ln>
        </p:spPr>
        <p:txBody>
          <a:bodyPr/>
          <a:p/>
        </p:txBody>
      </p:sp>
      <p:pic>
        <p:nvPicPr>
          <p:cNvPr id="8" name="Image 1" descr="preencoded.png">    </p:cNvPr>
          <p:cNvPicPr>
            <a:picLocks noChangeAspect="1"/>
          </p:cNvPicPr>
          <p:nvPr/>
        </p:nvPicPr>
        <p:blipFill>
          <a:blip r:embed="rId2"/>
          <a:stretch>
            <a:fillRect/>
          </a:stretch>
        </p:blipFill>
        <p:spPr>
          <a:xfrm>
            <a:off x="787527" y="1875663"/>
            <a:ext cx="294894" cy="294894"/>
          </a:xfrm>
          <a:prstGeom prst="rect">
            <a:avLst/>
          </a:prstGeom>
        </p:spPr>
      </p:pic>
      <p:sp>
        <p:nvSpPr>
          <p:cNvPr id="9" name="Text 5"/>
          <p:cNvSpPr txBox="1"/>
          <p:nvPr/>
        </p:nvSpPr>
        <p:spPr>
          <a:xfrm>
            <a:off x="1458468" y="1645920"/>
            <a:ext cx="2377440" cy="75438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1 min · The decision</a:t>
            </a:r>
            <a:endParaRPr lang="en-US" sz="1600" dirty="0"/>
          </a:p>
        </p:txBody>
      </p:sp>
      <p:sp>
        <p:nvSpPr>
          <p:cNvPr id="10" name="Shape 6"/>
          <p:cNvSpPr/>
          <p:nvPr/>
        </p:nvSpPr>
        <p:spPr>
          <a:xfrm>
            <a:off x="3927348" y="1709928"/>
            <a:ext cx="7594092" cy="626364"/>
          </a:xfrm>
          <a:prstGeom prst="roundRect">
            <a:avLst>
              <a:gd name="adj" fmla="val 8759"/>
            </a:avLst>
          </a:prstGeom>
          <a:solidFill>
            <a:srgbClr val="F3F6F9"/>
          </a:solidFill>
          <a:ln w="9525">
            <a:solidFill>
              <a:srgbClr val="E1E7EE"/>
            </a:solidFill>
            <a:prstDash val="solid"/>
          </a:ln>
        </p:spPr>
        <p:txBody>
          <a:bodyPr/>
          <a:p/>
        </p:txBody>
      </p:sp>
      <p:sp>
        <p:nvSpPr>
          <p:cNvPr id="11" name="Text 7"/>
          <p:cNvSpPr txBox="1"/>
          <p:nvPr/>
        </p:nvSpPr>
        <p:spPr>
          <a:xfrm>
            <a:off x="4201668" y="1709928"/>
            <a:ext cx="7136892" cy="62636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What decision, who makes it, and what it's worth to get it right.</a:t>
            </a:r>
            <a:endParaRPr lang="en-US" sz="1350" dirty="0"/>
          </a:p>
        </p:txBody>
      </p:sp>
      <p:sp>
        <p:nvSpPr>
          <p:cNvPr id="12" name="Shape 8"/>
          <p:cNvSpPr/>
          <p:nvPr/>
        </p:nvSpPr>
        <p:spPr>
          <a:xfrm>
            <a:off x="640080" y="2482596"/>
            <a:ext cx="589788" cy="589788"/>
          </a:xfrm>
          <a:prstGeom prst="ellipse">
            <a:avLst/>
          </a:prstGeom>
          <a:solidFill>
            <a:srgbClr val="0B5E82"/>
          </a:solidFill>
          <a:ln w="12700">
            <a:solidFill>
              <a:srgbClr val="0B5E82"/>
            </a:solidFill>
            <a:prstDash val="solid"/>
          </a:ln>
        </p:spPr>
        <p:txBody>
          <a:bodyPr/>
          <a:p/>
        </p:txBody>
      </p:sp>
      <p:pic>
        <p:nvPicPr>
          <p:cNvPr id="13" name="Image 2" descr="preencoded.png">    </p:cNvPr>
          <p:cNvPicPr>
            <a:picLocks noChangeAspect="1"/>
          </p:cNvPicPr>
          <p:nvPr/>
        </p:nvPicPr>
        <p:blipFill>
          <a:blip r:embed="rId3"/>
          <a:stretch>
            <a:fillRect/>
          </a:stretch>
        </p:blipFill>
        <p:spPr>
          <a:xfrm>
            <a:off x="787527" y="2630043"/>
            <a:ext cx="294894" cy="294894"/>
          </a:xfrm>
          <a:prstGeom prst="rect">
            <a:avLst/>
          </a:prstGeom>
        </p:spPr>
      </p:pic>
      <p:sp>
        <p:nvSpPr>
          <p:cNvPr id="14" name="Text 9"/>
          <p:cNvSpPr txBox="1"/>
          <p:nvPr/>
        </p:nvSpPr>
        <p:spPr>
          <a:xfrm>
            <a:off x="1458468" y="2400300"/>
            <a:ext cx="2377440" cy="75438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1 min · The data</a:t>
            </a:r>
            <a:endParaRPr lang="en-US" sz="1600" dirty="0"/>
          </a:p>
        </p:txBody>
      </p:sp>
      <p:sp>
        <p:nvSpPr>
          <p:cNvPr id="15" name="Shape 10"/>
          <p:cNvSpPr/>
          <p:nvPr/>
        </p:nvSpPr>
        <p:spPr>
          <a:xfrm>
            <a:off x="3927348" y="2464308"/>
            <a:ext cx="7594092" cy="626364"/>
          </a:xfrm>
          <a:prstGeom prst="roundRect">
            <a:avLst>
              <a:gd name="adj" fmla="val 8759"/>
            </a:avLst>
          </a:prstGeom>
          <a:solidFill>
            <a:srgbClr val="F3F6F9"/>
          </a:solidFill>
          <a:ln w="9525">
            <a:solidFill>
              <a:srgbClr val="E1E7EE"/>
            </a:solidFill>
            <a:prstDash val="solid"/>
          </a:ln>
        </p:spPr>
        <p:txBody>
          <a:bodyPr/>
          <a:p/>
        </p:txBody>
      </p:sp>
      <p:sp>
        <p:nvSpPr>
          <p:cNvPr id="16" name="Text 11"/>
          <p:cNvSpPr txBox="1"/>
          <p:nvPr/>
        </p:nvSpPr>
        <p:spPr>
          <a:xfrm>
            <a:off x="4201668" y="2464308"/>
            <a:ext cx="7136892" cy="62636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Where it came from, how much, what you had to fix, what's missing.</a:t>
            </a:r>
            <a:endParaRPr lang="en-US" sz="1350" dirty="0"/>
          </a:p>
        </p:txBody>
      </p:sp>
      <p:sp>
        <p:nvSpPr>
          <p:cNvPr id="17" name="Shape 12"/>
          <p:cNvSpPr/>
          <p:nvPr/>
        </p:nvSpPr>
        <p:spPr>
          <a:xfrm>
            <a:off x="640080" y="3236976"/>
            <a:ext cx="589788" cy="589788"/>
          </a:xfrm>
          <a:prstGeom prst="ellipse">
            <a:avLst/>
          </a:prstGeom>
          <a:solidFill>
            <a:srgbClr val="0B5E82"/>
          </a:solidFill>
          <a:ln w="12700">
            <a:solidFill>
              <a:srgbClr val="0B5E82"/>
            </a:solidFill>
            <a:prstDash val="solid"/>
          </a:ln>
        </p:spPr>
        <p:txBody>
          <a:bodyPr/>
          <a:p/>
        </p:txBody>
      </p:sp>
      <p:pic>
        <p:nvPicPr>
          <p:cNvPr id="18" name="Image 3" descr="preencoded.png">    </p:cNvPr>
          <p:cNvPicPr>
            <a:picLocks noChangeAspect="1"/>
          </p:cNvPicPr>
          <p:nvPr/>
        </p:nvPicPr>
        <p:blipFill>
          <a:blip r:embed="rId4"/>
          <a:stretch>
            <a:fillRect/>
          </a:stretch>
        </p:blipFill>
        <p:spPr>
          <a:xfrm>
            <a:off x="787527" y="3384423"/>
            <a:ext cx="294894" cy="294894"/>
          </a:xfrm>
          <a:prstGeom prst="rect">
            <a:avLst/>
          </a:prstGeom>
        </p:spPr>
      </p:pic>
      <p:sp>
        <p:nvSpPr>
          <p:cNvPr id="19" name="Text 13"/>
          <p:cNvSpPr txBox="1"/>
          <p:nvPr/>
        </p:nvSpPr>
        <p:spPr>
          <a:xfrm>
            <a:off x="1458468" y="3154680"/>
            <a:ext cx="2377440" cy="75438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2 min · What we found</a:t>
            </a:r>
            <a:endParaRPr lang="en-US" sz="1600" dirty="0"/>
          </a:p>
        </p:txBody>
      </p:sp>
      <p:sp>
        <p:nvSpPr>
          <p:cNvPr id="20" name="Shape 14"/>
          <p:cNvSpPr/>
          <p:nvPr/>
        </p:nvSpPr>
        <p:spPr>
          <a:xfrm>
            <a:off x="3927348" y="3218688"/>
            <a:ext cx="7594092" cy="626364"/>
          </a:xfrm>
          <a:prstGeom prst="roundRect">
            <a:avLst>
              <a:gd name="adj" fmla="val 8759"/>
            </a:avLst>
          </a:prstGeom>
          <a:solidFill>
            <a:srgbClr val="F3F6F9"/>
          </a:solidFill>
          <a:ln w="9525">
            <a:solidFill>
              <a:srgbClr val="E1E7EE"/>
            </a:solidFill>
            <a:prstDash val="solid"/>
          </a:ln>
        </p:spPr>
        <p:txBody>
          <a:bodyPr/>
          <a:p/>
        </p:txBody>
      </p:sp>
      <p:sp>
        <p:nvSpPr>
          <p:cNvPr id="21" name="Text 15"/>
          <p:cNvSpPr txBox="1"/>
          <p:nvPr/>
        </p:nvSpPr>
        <p:spPr>
          <a:xfrm>
            <a:off x="4201668" y="3218688"/>
            <a:ext cx="7136892" cy="62636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Two or three insights from exploration, each with one chart.</a:t>
            </a:r>
            <a:endParaRPr lang="en-US" sz="1350" dirty="0"/>
          </a:p>
        </p:txBody>
      </p:sp>
      <p:sp>
        <p:nvSpPr>
          <p:cNvPr id="22" name="Shape 16"/>
          <p:cNvSpPr/>
          <p:nvPr/>
        </p:nvSpPr>
        <p:spPr>
          <a:xfrm>
            <a:off x="640080" y="3991356"/>
            <a:ext cx="589788" cy="589788"/>
          </a:xfrm>
          <a:prstGeom prst="ellipse">
            <a:avLst/>
          </a:prstGeom>
          <a:solidFill>
            <a:srgbClr val="0B5E82"/>
          </a:solidFill>
          <a:ln w="12700">
            <a:solidFill>
              <a:srgbClr val="0B5E82"/>
            </a:solidFill>
            <a:prstDash val="solid"/>
          </a:ln>
        </p:spPr>
        <p:txBody>
          <a:bodyPr/>
          <a:p/>
        </p:txBody>
      </p:sp>
      <p:pic>
        <p:nvPicPr>
          <p:cNvPr id="23" name="Image 4" descr="preencoded.png">    </p:cNvPr>
          <p:cNvPicPr>
            <a:picLocks noChangeAspect="1"/>
          </p:cNvPicPr>
          <p:nvPr/>
        </p:nvPicPr>
        <p:blipFill>
          <a:blip r:embed="rId5"/>
          <a:stretch>
            <a:fillRect/>
          </a:stretch>
        </p:blipFill>
        <p:spPr>
          <a:xfrm>
            <a:off x="787527" y="4138803"/>
            <a:ext cx="294894" cy="294894"/>
          </a:xfrm>
          <a:prstGeom prst="rect">
            <a:avLst/>
          </a:prstGeom>
        </p:spPr>
      </p:pic>
      <p:sp>
        <p:nvSpPr>
          <p:cNvPr id="24" name="Text 17"/>
          <p:cNvSpPr txBox="1"/>
          <p:nvPr/>
        </p:nvSpPr>
        <p:spPr>
          <a:xfrm>
            <a:off x="1458468" y="3909060"/>
            <a:ext cx="2377440" cy="75438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2 min · The model</a:t>
            </a:r>
            <a:endParaRPr lang="en-US" sz="1600" dirty="0"/>
          </a:p>
        </p:txBody>
      </p:sp>
      <p:sp>
        <p:nvSpPr>
          <p:cNvPr id="25" name="Shape 18"/>
          <p:cNvSpPr/>
          <p:nvPr/>
        </p:nvSpPr>
        <p:spPr>
          <a:xfrm>
            <a:off x="3927348" y="3973068"/>
            <a:ext cx="7594092" cy="626364"/>
          </a:xfrm>
          <a:prstGeom prst="roundRect">
            <a:avLst>
              <a:gd name="adj" fmla="val 8759"/>
            </a:avLst>
          </a:prstGeom>
          <a:solidFill>
            <a:srgbClr val="F3F6F9"/>
          </a:solidFill>
          <a:ln w="9525">
            <a:solidFill>
              <a:srgbClr val="E1E7EE"/>
            </a:solidFill>
            <a:prstDash val="solid"/>
          </a:ln>
        </p:spPr>
        <p:txBody>
          <a:bodyPr/>
          <a:p/>
        </p:txBody>
      </p:sp>
      <p:sp>
        <p:nvSpPr>
          <p:cNvPr id="26" name="Text 19"/>
          <p:cNvSpPr txBox="1"/>
          <p:nvPr/>
        </p:nvSpPr>
        <p:spPr>
          <a:xfrm>
            <a:off x="4201668" y="3973068"/>
            <a:ext cx="7136892" cy="62636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Benchmark vs challenger on test data; why you chose the one you did.</a:t>
            </a:r>
            <a:endParaRPr lang="en-US" sz="1350" dirty="0"/>
          </a:p>
        </p:txBody>
      </p:sp>
      <p:sp>
        <p:nvSpPr>
          <p:cNvPr id="27" name="Shape 20"/>
          <p:cNvSpPr/>
          <p:nvPr/>
        </p:nvSpPr>
        <p:spPr>
          <a:xfrm>
            <a:off x="640080" y="4745736"/>
            <a:ext cx="589788" cy="589788"/>
          </a:xfrm>
          <a:prstGeom prst="ellipse">
            <a:avLst/>
          </a:prstGeom>
          <a:solidFill>
            <a:srgbClr val="0B5E82"/>
          </a:solidFill>
          <a:ln w="12700">
            <a:solidFill>
              <a:srgbClr val="0B5E82"/>
            </a:solidFill>
            <a:prstDash val="solid"/>
          </a:ln>
        </p:spPr>
        <p:txBody>
          <a:bodyPr/>
          <a:p/>
        </p:txBody>
      </p:sp>
      <p:pic>
        <p:nvPicPr>
          <p:cNvPr id="28" name="Image 5" descr="preencoded.png">    </p:cNvPr>
          <p:cNvPicPr>
            <a:picLocks noChangeAspect="1"/>
          </p:cNvPicPr>
          <p:nvPr/>
        </p:nvPicPr>
        <p:blipFill>
          <a:blip r:embed="rId6"/>
          <a:stretch>
            <a:fillRect/>
          </a:stretch>
        </p:blipFill>
        <p:spPr>
          <a:xfrm>
            <a:off x="787527" y="4893183"/>
            <a:ext cx="294894" cy="294894"/>
          </a:xfrm>
          <a:prstGeom prst="rect">
            <a:avLst/>
          </a:prstGeom>
        </p:spPr>
      </p:pic>
      <p:sp>
        <p:nvSpPr>
          <p:cNvPr id="29" name="Text 21"/>
          <p:cNvSpPr txBox="1"/>
          <p:nvPr/>
        </p:nvSpPr>
        <p:spPr>
          <a:xfrm>
            <a:off x="1458468" y="4663440"/>
            <a:ext cx="2377440" cy="75438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2 min · The value</a:t>
            </a:r>
            <a:endParaRPr lang="en-US" sz="1600" dirty="0"/>
          </a:p>
        </p:txBody>
      </p:sp>
      <p:sp>
        <p:nvSpPr>
          <p:cNvPr id="30" name="Shape 22"/>
          <p:cNvSpPr/>
          <p:nvPr/>
        </p:nvSpPr>
        <p:spPr>
          <a:xfrm>
            <a:off x="3927348" y="4727448"/>
            <a:ext cx="7594092" cy="626364"/>
          </a:xfrm>
          <a:prstGeom prst="roundRect">
            <a:avLst>
              <a:gd name="adj" fmla="val 8759"/>
            </a:avLst>
          </a:prstGeom>
          <a:solidFill>
            <a:srgbClr val="F3F6F9"/>
          </a:solidFill>
          <a:ln w="9525">
            <a:solidFill>
              <a:srgbClr val="E1E7EE"/>
            </a:solidFill>
            <a:prstDash val="solid"/>
          </a:ln>
        </p:spPr>
        <p:txBody>
          <a:bodyPr/>
          <a:p/>
        </p:txBody>
      </p:sp>
      <p:sp>
        <p:nvSpPr>
          <p:cNvPr id="31" name="Text 23"/>
          <p:cNvSpPr txBox="1"/>
          <p:nvPr/>
        </p:nvSpPr>
        <p:spPr>
          <a:xfrm>
            <a:off x="4201668" y="4727448"/>
            <a:ext cx="7136892" cy="62636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The decision rule and its naira value, with a sensitivity check.</a:t>
            </a:r>
            <a:endParaRPr lang="en-US" sz="1350" dirty="0"/>
          </a:p>
        </p:txBody>
      </p:sp>
      <p:sp>
        <p:nvSpPr>
          <p:cNvPr id="32" name="Shape 24"/>
          <p:cNvSpPr/>
          <p:nvPr/>
        </p:nvSpPr>
        <p:spPr>
          <a:xfrm>
            <a:off x="640080" y="5500116"/>
            <a:ext cx="589788" cy="589788"/>
          </a:xfrm>
          <a:prstGeom prst="ellipse">
            <a:avLst/>
          </a:prstGeom>
          <a:solidFill>
            <a:srgbClr val="0B5E82"/>
          </a:solidFill>
          <a:ln w="12700">
            <a:solidFill>
              <a:srgbClr val="0B5E82"/>
            </a:solidFill>
            <a:prstDash val="solid"/>
          </a:ln>
        </p:spPr>
        <p:txBody>
          <a:bodyPr/>
          <a:p/>
        </p:txBody>
      </p:sp>
      <p:pic>
        <p:nvPicPr>
          <p:cNvPr id="33" name="Image 6" descr="preencoded.png">    </p:cNvPr>
          <p:cNvPicPr>
            <a:picLocks noChangeAspect="1"/>
          </p:cNvPicPr>
          <p:nvPr/>
        </p:nvPicPr>
        <p:blipFill>
          <a:blip r:embed="rId7"/>
          <a:stretch>
            <a:fillRect/>
          </a:stretch>
        </p:blipFill>
        <p:spPr>
          <a:xfrm>
            <a:off x="787527" y="5647563"/>
            <a:ext cx="294894" cy="294894"/>
          </a:xfrm>
          <a:prstGeom prst="rect">
            <a:avLst/>
          </a:prstGeom>
        </p:spPr>
      </p:pic>
      <p:sp>
        <p:nvSpPr>
          <p:cNvPr id="34" name="Text 25"/>
          <p:cNvSpPr txBox="1"/>
          <p:nvPr/>
        </p:nvSpPr>
        <p:spPr>
          <a:xfrm>
            <a:off x="1458468" y="5417820"/>
            <a:ext cx="2377440" cy="75438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2 min · Recommendation &amp; risks</a:t>
            </a:r>
            <a:endParaRPr lang="en-US" sz="1600" dirty="0"/>
          </a:p>
        </p:txBody>
      </p:sp>
      <p:sp>
        <p:nvSpPr>
          <p:cNvPr id="35" name="Shape 26"/>
          <p:cNvSpPr/>
          <p:nvPr/>
        </p:nvSpPr>
        <p:spPr>
          <a:xfrm>
            <a:off x="3927348" y="5481828"/>
            <a:ext cx="7594092" cy="626364"/>
          </a:xfrm>
          <a:prstGeom prst="roundRect">
            <a:avLst>
              <a:gd name="adj" fmla="val 8759"/>
            </a:avLst>
          </a:prstGeom>
          <a:solidFill>
            <a:srgbClr val="F3F6F9"/>
          </a:solidFill>
          <a:ln w="9525">
            <a:solidFill>
              <a:srgbClr val="E1E7EE"/>
            </a:solidFill>
            <a:prstDash val="solid"/>
          </a:ln>
        </p:spPr>
        <p:txBody>
          <a:bodyPr/>
          <a:p/>
        </p:txBody>
      </p:sp>
      <p:sp>
        <p:nvSpPr>
          <p:cNvPr id="36" name="Text 27"/>
          <p:cNvSpPr txBox="1"/>
          <p:nvPr/>
        </p:nvSpPr>
        <p:spPr>
          <a:xfrm>
            <a:off x="4201668" y="5481828"/>
            <a:ext cx="7136892" cy="62636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What to do on Monday, what could go wrong, how you'd monitor it.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ONE CHART</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The Chart That Sells the Recommendation</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12</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8" name="Image 1" descr="/home/claude/da1/sessions/s22/figures/python/s22_f01.png">    </p:cNvPr>
          <p:cNvPicPr>
            <a:picLocks noChangeAspect="1"/>
          </p:cNvPicPr>
          <p:nvPr/>
        </p:nvPicPr>
        <p:blipFill>
          <a:blip r:embed="rId2"/>
          <a:stretch>
            <a:fillRect/>
          </a:stretch>
        </p:blipFill>
        <p:spPr>
          <a:xfrm>
            <a:off x="916821" y="1600200"/>
            <a:ext cx="6670277" cy="4297680"/>
          </a:xfrm>
          <a:prstGeom prst="rect">
            <a:avLst/>
          </a:prstGeom>
        </p:spPr>
      </p:pic>
      <p:sp>
        <p:nvSpPr>
          <p:cNvPr id="9" name="Text 4"/>
          <p:cNvSpPr txBox="1"/>
          <p:nvPr/>
        </p:nvSpPr>
        <p:spPr>
          <a:xfrm>
            <a:off x="640080" y="5943600"/>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S5.4-F01  ·  replicate: tdbg_5_4_capstone_starter.R / .py</a:t>
            </a:r>
            <a:endParaRPr lang="en-US" sz="900" dirty="0"/>
          </a:p>
        </p:txBody>
      </p:sp>
      <p:sp>
        <p:nvSpPr>
          <p:cNvPr id="10"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1"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2"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Worked example in the capstone starter: who should the retention team call?</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Rank subscribers by predicted churn; value each decile in naira.</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The first 4 deciles pay for themselves; the rest lose money.</a:t>
            </a:r>
            <a:endParaRPr lang="en-US" sz="1300" dirty="0"/>
          </a:p>
          <a:p>
            <a:pPr marL="177800" indent="-177800">
              <a:spcAft>
                <a:spcPts val="900"/>
              </a:spcAft>
              <a:buSzPct val="100000"/>
              <a:buChar char="•"/>
            </a:pPr>
            <a:r>
              <a:rPr lang="en-US" sz="1300" b="1" dirty="0">
                <a:solidFill>
                  <a:srgbClr val="1A2233"/>
                </a:solidFill>
                <a:latin typeface="Calibri" pitchFamily="34" charset="0"/>
                <a:ea typeface="Calibri" pitchFamily="34" charset="-122"/>
                <a:cs typeface="Calibri" pitchFamily="34" charset="-120"/>
              </a:rPr>
              <a:t>Recommendation</a:t>
            </a:r>
            <a:r>
              <a:rPr lang="en-US" sz="1300" dirty="0">
                <a:solidFill>
                  <a:srgbClr val="1A2233"/>
                </a:solidFill>
                <a:latin typeface="Calibri" pitchFamily="34" charset="0"/>
                <a:ea typeface="Calibri" pitchFamily="34" charset="-122"/>
                <a:cs typeface="Calibri" pitchFamily="34" charset="-120"/>
              </a:rPr>
              <a:t>: call the top 40% ≈ ₦366k net per 1,500 subscribers, and test it against a holdout.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HANDS-ON LAB</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Your Starting Point: The Capstone Starter Script</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13</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640080" y="1691640"/>
            <a:ext cx="3749040" cy="4434840"/>
          </a:xfrm>
          <a:prstGeom prst="roundRect">
            <a:avLst>
              <a:gd name="adj" fmla="val 1951"/>
            </a:avLst>
          </a:prstGeom>
          <a:solidFill>
            <a:srgbClr val="141B4D"/>
          </a:solidFill>
          <a:ln w="12700">
            <a:solidFill>
              <a:srgbClr val="141B4D"/>
            </a:solidFill>
            <a:prstDash val="solid"/>
          </a:ln>
        </p:spPr>
        <p:txBody>
          <a:bodyPr/>
          <a:p/>
        </p:txBody>
      </p:sp>
      <p:sp>
        <p:nvSpPr>
          <p:cNvPr id="8" name="Text 5"/>
          <p:cNvSpPr txBox="1"/>
          <p:nvPr/>
        </p:nvSpPr>
        <p:spPr>
          <a:xfrm>
            <a:off x="914400" y="1920240"/>
            <a:ext cx="3200400" cy="274320"/>
          </a:xfrm>
          <a:prstGeom prst="rect">
            <a:avLst/>
          </a:prstGeom>
          <a:noFill/>
          <a:ln/>
        </p:spPr>
        <p:txBody>
          <a:bodyPr wrap="square" lIns="0" tIns="0" rIns="0" bIns="0" rtlCol="0" anchor="t"/>
          <a:lstStyle/>
          <a:p>
            <a:pPr indent="0" marL="0">
              <a:buNone/>
            </a:pPr>
            <a:r>
              <a:rPr lang="en-US" sz="1100" b="1" spc="300" kern="0" dirty="0">
                <a:solidFill>
                  <a:srgbClr val="D99A2B"/>
                </a:solidFill>
                <a:latin typeface="Calibri" pitchFamily="34" charset="0"/>
                <a:ea typeface="Calibri" pitchFamily="34" charset="-122"/>
                <a:cs typeface="Calibri" pitchFamily="34" charset="-120"/>
              </a:rPr>
              <a:t>YOU WILL NEED</a:t>
            </a:r>
            <a:endParaRPr lang="en-US" sz="1100" dirty="0"/>
          </a:p>
        </p:txBody>
      </p:sp>
      <p:pic>
        <p:nvPicPr>
          <p:cNvPr id="9" name="Image 1" descr="preencoded.png">    </p:cNvPr>
          <p:cNvPicPr>
            <a:picLocks noChangeAspect="1"/>
          </p:cNvPicPr>
          <p:nvPr/>
        </p:nvPicPr>
        <p:blipFill>
          <a:blip r:embed="rId2"/>
          <a:stretch>
            <a:fillRect/>
          </a:stretch>
        </p:blipFill>
        <p:spPr>
          <a:xfrm>
            <a:off x="914400" y="2423160"/>
            <a:ext cx="365760" cy="365760"/>
          </a:xfrm>
          <a:prstGeom prst="rect">
            <a:avLst/>
          </a:prstGeom>
        </p:spPr>
      </p:pic>
      <p:sp>
        <p:nvSpPr>
          <p:cNvPr id="10" name="Text 6"/>
          <p:cNvSpPr txBox="1"/>
          <p:nvPr/>
        </p:nvSpPr>
        <p:spPr>
          <a:xfrm>
            <a:off x="1417320" y="2377440"/>
            <a:ext cx="274320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p:txBody>
      </p:sp>
      <p:sp>
        <p:nvSpPr>
          <p:cNvPr id="11" name="Text 7"/>
          <p:cNvSpPr txBox="1"/>
          <p:nvPr/>
        </p:nvSpPr>
        <p:spPr>
          <a:xfrm>
            <a:off x="1417320" y="2670048"/>
            <a:ext cx="2834640" cy="640080"/>
          </a:xfrm>
          <a:prstGeom prst="rect">
            <a:avLst/>
          </a:prstGeom>
          <a:noFill/>
          <a:ln/>
        </p:spPr>
        <p:txBody>
          <a:bodyPr wrap="square" lIns="0" tIns="0" rIns="0" bIns="0" rtlCol="0" anchor="t"/>
          <a:lstStyle/>
          <a:p>
            <a:pPr indent="0" marL="0">
              <a:buNone/>
            </a:pPr>
            <a:r>
              <a:rPr lang="en-US" sz="1050" dirty="0">
                <a:solidFill>
                  <a:srgbClr val="C7D3E3"/>
                </a:solidFill>
                <a:latin typeface="Courier New" pitchFamily="34" charset="0"/>
                <a:ea typeface="Courier New" pitchFamily="34" charset="-122"/>
                <a:cs typeface="Courier New" pitchFamily="34" charset="-120"/>
              </a:rPr>
              <a:t>data/telecom_churn.csv</a:t>
            </a:r>
            <a:endParaRPr lang="en-US" sz="1050" dirty="0"/>
          </a:p>
          <a:p>
            <a:pPr indent="0" marL="0">
              <a:buNone/>
            </a:pPr>
            <a:r>
              <a:rPr lang="en-US" sz="1050" dirty="0">
                <a:solidFill>
                  <a:srgbClr val="C7D3E3"/>
                </a:solidFill>
                <a:latin typeface="Courier New" pitchFamily="34" charset="0"/>
                <a:ea typeface="Courier New" pitchFamily="34" charset="-122"/>
                <a:cs typeface="Courier New" pitchFamily="34" charset="-120"/>
              </a:rPr>
              <a:t>(replace with your data)</a:t>
            </a:r>
            <a:endParaRPr lang="en-US" sz="1050" dirty="0"/>
          </a:p>
        </p:txBody>
      </p:sp>
      <p:pic>
        <p:nvPicPr>
          <p:cNvPr id="12" name="Image 2" descr="preencoded.png">    </p:cNvPr>
          <p:cNvPicPr>
            <a:picLocks noChangeAspect="1"/>
          </p:cNvPicPr>
          <p:nvPr/>
        </p:nvPicPr>
        <p:blipFill>
          <a:blip r:embed="rId3"/>
          <a:stretch>
            <a:fillRect/>
          </a:stretch>
        </p:blipFill>
        <p:spPr>
          <a:xfrm>
            <a:off x="914400" y="3474720"/>
            <a:ext cx="365760" cy="365760"/>
          </a:xfrm>
          <a:prstGeom prst="rect">
            <a:avLst/>
          </a:prstGeom>
        </p:spPr>
      </p:pic>
      <p:sp>
        <p:nvSpPr>
          <p:cNvPr id="13" name="Text 8"/>
          <p:cNvSpPr txBox="1"/>
          <p:nvPr/>
        </p:nvSpPr>
        <p:spPr>
          <a:xfrm>
            <a:off x="1417320" y="3429000"/>
            <a:ext cx="274320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 script</a:t>
            </a:r>
            <a:endParaRPr lang="en-US" sz="1200" dirty="0"/>
          </a:p>
        </p:txBody>
      </p:sp>
      <p:sp>
        <p:nvSpPr>
          <p:cNvPr id="14" name="Text 9"/>
          <p:cNvSpPr txBox="1"/>
          <p:nvPr/>
        </p:nvSpPr>
        <p:spPr>
          <a:xfrm>
            <a:off x="1417320" y="3721608"/>
            <a:ext cx="2834640" cy="640080"/>
          </a:xfrm>
          <a:prstGeom prst="rect">
            <a:avLst/>
          </a:prstGeom>
          <a:noFill/>
          <a:ln/>
        </p:spPr>
        <p:txBody>
          <a:bodyPr wrap="square" lIns="0" tIns="0" rIns="0" bIns="0" rtlCol="0" anchor="t"/>
          <a:lstStyle/>
          <a:p>
            <a:pPr indent="0" marL="0">
              <a:buNone/>
            </a:pPr>
            <a:r>
              <a:rPr lang="en-US" sz="1050" dirty="0">
                <a:solidFill>
                  <a:srgbClr val="C7D3E3"/>
                </a:solidFill>
                <a:latin typeface="Courier New" pitchFamily="34" charset="0"/>
                <a:ea typeface="Courier New" pitchFamily="34" charset="-122"/>
                <a:cs typeface="Courier New" pitchFamily="34" charset="-120"/>
              </a:rPr>
              <a:t>sessions/5-4/R/tdbg_5_4_capstone_starter.R</a:t>
            </a:r>
            <a:endParaRPr lang="en-US" sz="1050" dirty="0"/>
          </a:p>
        </p:txBody>
      </p:sp>
      <p:pic>
        <p:nvPicPr>
          <p:cNvPr id="15" name="Image 3" descr="preencoded.png">    </p:cNvPr>
          <p:cNvPicPr>
            <a:picLocks noChangeAspect="1"/>
          </p:cNvPicPr>
          <p:nvPr/>
        </p:nvPicPr>
        <p:blipFill>
          <a:blip r:embed="rId4"/>
          <a:stretch>
            <a:fillRect/>
          </a:stretch>
        </p:blipFill>
        <p:spPr>
          <a:xfrm>
            <a:off x="914400" y="4526280"/>
            <a:ext cx="365760" cy="365760"/>
          </a:xfrm>
          <a:prstGeom prst="rect">
            <a:avLst/>
          </a:prstGeom>
        </p:spPr>
      </p:pic>
      <p:sp>
        <p:nvSpPr>
          <p:cNvPr id="16" name="Text 10"/>
          <p:cNvSpPr txBox="1"/>
          <p:nvPr/>
        </p:nvSpPr>
        <p:spPr>
          <a:xfrm>
            <a:off x="1417320" y="4480560"/>
            <a:ext cx="274320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Python script</a:t>
            </a:r>
            <a:endParaRPr lang="en-US" sz="1200" dirty="0"/>
          </a:p>
        </p:txBody>
      </p:sp>
      <p:sp>
        <p:nvSpPr>
          <p:cNvPr id="17" name="Text 11"/>
          <p:cNvSpPr txBox="1"/>
          <p:nvPr/>
        </p:nvSpPr>
        <p:spPr>
          <a:xfrm>
            <a:off x="1417320" y="4773168"/>
            <a:ext cx="2834640" cy="640080"/>
          </a:xfrm>
          <a:prstGeom prst="rect">
            <a:avLst/>
          </a:prstGeom>
          <a:noFill/>
          <a:ln/>
        </p:spPr>
        <p:txBody>
          <a:bodyPr wrap="square" lIns="0" tIns="0" rIns="0" bIns="0" rtlCol="0" anchor="t"/>
          <a:lstStyle/>
          <a:p>
            <a:pPr indent="0" marL="0">
              <a:buNone/>
            </a:pPr>
            <a:r>
              <a:rPr lang="en-US" sz="1050" dirty="0">
                <a:solidFill>
                  <a:srgbClr val="C7D3E3"/>
                </a:solidFill>
                <a:latin typeface="Courier New" pitchFamily="34" charset="0"/>
                <a:ea typeface="Courier New" pitchFamily="34" charset="-122"/>
                <a:cs typeface="Courier New" pitchFamily="34" charset="-120"/>
              </a:rPr>
              <a:t>sessions/5-4/python/tdbg_5_4_capstone_starter.py</a:t>
            </a:r>
            <a:endParaRPr lang="en-US" sz="1050" dirty="0"/>
          </a:p>
        </p:txBody>
      </p:sp>
      <p:sp>
        <p:nvSpPr>
          <p:cNvPr id="18" name="Text 12"/>
          <p:cNvSpPr txBox="1"/>
          <p:nvPr/>
        </p:nvSpPr>
        <p:spPr>
          <a:xfrm>
            <a:off x="914400" y="5623560"/>
            <a:ext cx="3200400" cy="3200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  Use from week 1</a:t>
            </a:r>
            <a:endParaRPr lang="en-US" sz="1300" dirty="0"/>
          </a:p>
        </p:txBody>
      </p:sp>
      <p:sp>
        <p:nvSpPr>
          <p:cNvPr id="19" name="Shape 13"/>
          <p:cNvSpPr/>
          <p:nvPr/>
        </p:nvSpPr>
        <p:spPr>
          <a:xfrm>
            <a:off x="4663440" y="1737360"/>
            <a:ext cx="384048" cy="384048"/>
          </a:xfrm>
          <a:prstGeom prst="ellipse">
            <a:avLst/>
          </a:prstGeom>
          <a:solidFill>
            <a:srgbClr val="0B5E82"/>
          </a:solidFill>
          <a:ln w="12700">
            <a:solidFill>
              <a:srgbClr val="0B5E82"/>
            </a:solidFill>
            <a:prstDash val="solid"/>
          </a:ln>
        </p:spPr>
        <p:txBody>
          <a:bodyPr/>
          <a:p/>
        </p:txBody>
      </p:sp>
      <p:sp>
        <p:nvSpPr>
          <p:cNvPr id="20" name="Text 14"/>
          <p:cNvSpPr txBox="1"/>
          <p:nvPr/>
        </p:nvSpPr>
        <p:spPr>
          <a:xfrm>
            <a:off x="4663440"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Text 15"/>
          <p:cNvSpPr txBox="1"/>
          <p:nvPr/>
        </p:nvSpPr>
        <p:spPr>
          <a:xfrm>
            <a:off x="5212080" y="169164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State the decision, the action's cost and the value of success as named assumptions at the top.</a:t>
            </a:r>
            <a:endParaRPr lang="en-US" sz="1350" dirty="0"/>
          </a:p>
        </p:txBody>
      </p:sp>
      <p:sp>
        <p:nvSpPr>
          <p:cNvPr id="22" name="Shape 16"/>
          <p:cNvSpPr/>
          <p:nvPr/>
        </p:nvSpPr>
        <p:spPr>
          <a:xfrm>
            <a:off x="4663440" y="2468880"/>
            <a:ext cx="384048" cy="384048"/>
          </a:xfrm>
          <a:prstGeom prst="ellipse">
            <a:avLst/>
          </a:prstGeom>
          <a:solidFill>
            <a:srgbClr val="0B5E82"/>
          </a:solidFill>
          <a:ln w="12700">
            <a:solidFill>
              <a:srgbClr val="0B5E82"/>
            </a:solidFill>
            <a:prstDash val="solid"/>
          </a:ln>
        </p:spPr>
        <p:txBody>
          <a:bodyPr/>
          <a:p/>
        </p:txBody>
      </p:sp>
      <p:sp>
        <p:nvSpPr>
          <p:cNvPr id="23" name="Text 17"/>
          <p:cNvSpPr txBox="1"/>
          <p:nvPr/>
        </p:nvSpPr>
        <p:spPr>
          <a:xfrm>
            <a:off x="466344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Text 18"/>
          <p:cNvSpPr txBox="1"/>
          <p:nvPr/>
        </p:nvSpPr>
        <p:spPr>
          <a:xfrm>
            <a:off x="5212080" y="242316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Load, check and clean the data; print the base rate.</a:t>
            </a:r>
            <a:endParaRPr lang="en-US" sz="1350" dirty="0"/>
          </a:p>
        </p:txBody>
      </p:sp>
      <p:sp>
        <p:nvSpPr>
          <p:cNvPr id="25" name="Shape 19"/>
          <p:cNvSpPr/>
          <p:nvPr/>
        </p:nvSpPr>
        <p:spPr>
          <a:xfrm>
            <a:off x="4663440" y="3200400"/>
            <a:ext cx="384048" cy="384048"/>
          </a:xfrm>
          <a:prstGeom prst="ellipse">
            <a:avLst/>
          </a:prstGeom>
          <a:solidFill>
            <a:srgbClr val="0B5E82"/>
          </a:solidFill>
          <a:ln w="12700">
            <a:solidFill>
              <a:srgbClr val="0B5E82"/>
            </a:solidFill>
            <a:prstDash val="solid"/>
          </a:ln>
        </p:spPr>
        <p:txBody>
          <a:bodyPr/>
          <a:p/>
        </p:txBody>
      </p:sp>
      <p:sp>
        <p:nvSpPr>
          <p:cNvPr id="26" name="Text 20"/>
          <p:cNvSpPr txBox="1"/>
          <p:nvPr/>
        </p:nvSpPr>
        <p:spPr>
          <a:xfrm>
            <a:off x="466344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1"/>
          <p:cNvSpPr txBox="1"/>
          <p:nvPr/>
        </p:nvSpPr>
        <p:spPr>
          <a:xfrm>
            <a:off x="5212080" y="315468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Explore two or three drivers against the outcome.</a:t>
            </a:r>
            <a:endParaRPr lang="en-US" sz="1350" dirty="0"/>
          </a:p>
        </p:txBody>
      </p:sp>
      <p:sp>
        <p:nvSpPr>
          <p:cNvPr id="28" name="Shape 22"/>
          <p:cNvSpPr/>
          <p:nvPr/>
        </p:nvSpPr>
        <p:spPr>
          <a:xfrm>
            <a:off x="4663440" y="3931920"/>
            <a:ext cx="384048" cy="384048"/>
          </a:xfrm>
          <a:prstGeom prst="ellipse">
            <a:avLst/>
          </a:prstGeom>
          <a:solidFill>
            <a:srgbClr val="0B5E82"/>
          </a:solidFill>
          <a:ln w="12700">
            <a:solidFill>
              <a:srgbClr val="0B5E82"/>
            </a:solidFill>
            <a:prstDash val="solid"/>
          </a:ln>
        </p:spPr>
        <p:txBody>
          <a:bodyPr/>
          <a:p/>
        </p:txBody>
      </p:sp>
      <p:sp>
        <p:nvSpPr>
          <p:cNvPr id="29" name="Text 23"/>
          <p:cNvSpPr txBox="1"/>
          <p:nvPr/>
        </p:nvSpPr>
        <p:spPr>
          <a:xfrm>
            <a:off x="4663440" y="3931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4"/>
          <p:cNvSpPr txBox="1"/>
          <p:nvPr/>
        </p:nvSpPr>
        <p:spPr>
          <a:xfrm>
            <a:off x="5212080" y="388620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Fit a simple benchmark and one challenger; compare on held-out data.</a:t>
            </a:r>
            <a:endParaRPr lang="en-US" sz="1350" dirty="0"/>
          </a:p>
        </p:txBody>
      </p:sp>
      <p:sp>
        <p:nvSpPr>
          <p:cNvPr id="31" name="Shape 25"/>
          <p:cNvSpPr/>
          <p:nvPr/>
        </p:nvSpPr>
        <p:spPr>
          <a:xfrm>
            <a:off x="4663440" y="4663440"/>
            <a:ext cx="384048" cy="384048"/>
          </a:xfrm>
          <a:prstGeom prst="ellipse">
            <a:avLst/>
          </a:prstGeom>
          <a:solidFill>
            <a:srgbClr val="0B5E82"/>
          </a:solidFill>
          <a:ln w="12700">
            <a:solidFill>
              <a:srgbClr val="0B5E82"/>
            </a:solidFill>
            <a:prstDash val="solid"/>
          </a:ln>
        </p:spPr>
        <p:txBody>
          <a:bodyPr/>
          <a:p/>
        </p:txBody>
      </p:sp>
      <p:sp>
        <p:nvSpPr>
          <p:cNvPr id="32" name="Text 26"/>
          <p:cNvSpPr txBox="1"/>
          <p:nvPr/>
        </p:nvSpPr>
        <p:spPr>
          <a:xfrm>
            <a:off x="4663440" y="4663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27"/>
          <p:cNvSpPr txBox="1"/>
          <p:nvPr/>
        </p:nvSpPr>
        <p:spPr>
          <a:xfrm>
            <a:off x="5212080" y="461772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Value the decision by decile; check fairness and sensitivity; save the one chart.</a:t>
            </a:r>
            <a:endParaRPr lang="en-US" sz="1350" dirty="0"/>
          </a:p>
        </p:txBody>
      </p:sp>
      <p:sp>
        <p:nvSpPr>
          <p:cNvPr id="34" name="Shape 28"/>
          <p:cNvSpPr/>
          <p:nvPr/>
        </p:nvSpPr>
        <p:spPr>
          <a:xfrm>
            <a:off x="4663440" y="5394960"/>
            <a:ext cx="6858000" cy="731520"/>
          </a:xfrm>
          <a:prstGeom prst="roundRect">
            <a:avLst>
              <a:gd name="adj" fmla="val 7500"/>
            </a:avLst>
          </a:prstGeom>
          <a:solidFill>
            <a:srgbClr val="F3F6F9"/>
          </a:solidFill>
          <a:ln w="12700">
            <a:solidFill>
              <a:srgbClr val="D99A2B"/>
            </a:solidFill>
            <a:prstDash val="solid"/>
          </a:ln>
        </p:spPr>
        <p:txBody>
          <a:bodyPr/>
          <a:p/>
        </p:txBody>
      </p:sp>
      <p:sp>
        <p:nvSpPr>
          <p:cNvPr id="35" name="Text 29"/>
          <p:cNvSpPr txBox="1"/>
          <p:nvPr/>
        </p:nvSpPr>
        <p:spPr>
          <a:xfrm>
            <a:off x="4892040" y="5394960"/>
            <a:ext cx="6400800" cy="731520"/>
          </a:xfrm>
          <a:prstGeom prst="rect">
            <a:avLst/>
          </a:prstGeom>
          <a:noFill/>
          <a:ln/>
        </p:spPr>
        <p:txBody>
          <a:bodyPr wrap="square" lIns="0" tIns="0" rIns="0" bIns="0" rtlCol="0" anchor="ctr"/>
          <a:lstStyle/>
          <a:p>
            <a:pPr indent="0" marL="0">
              <a:buNone/>
            </a:pPr>
            <a:r>
              <a:rPr lang="en-US" sz="1300" b="1" dirty="0">
                <a:solidFill>
                  <a:srgbClr val="141B4D"/>
                </a:solidFill>
                <a:latin typeface="Calibri" pitchFamily="34" charset="0"/>
                <a:ea typeface="Calibri" pitchFamily="34" charset="-122"/>
                <a:cs typeface="Calibri" pitchFamily="34" charset="-120"/>
              </a:rPr>
              <a:t>Deliverable:</a:t>
            </a:r>
            <a:r>
              <a:rPr lang="en-US" sz="1300" dirty="0">
                <a:solidFill>
                  <a:srgbClr val="141B4D"/>
                </a:solidFill>
                <a:latin typeface="Calibri" pitchFamily="34" charset="0"/>
                <a:ea typeface="Calibri" pitchFamily="34" charset="-122"/>
                <a:cs typeface="Calibri" pitchFamily="34" charset="-120"/>
              </a:rPr>
              <a:t> your own version of this script, running end to end on your data, submitted with your deck and memo.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WHERE MANAGERS GO WRONG</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Capstone Mistakes We See Every Year</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14</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Text 4"/>
          <p:cNvSpPr txBox="1"/>
          <p:nvPr/>
        </p:nvSpPr>
        <p:spPr>
          <a:xfrm>
            <a:off x="1188720" y="1691640"/>
            <a:ext cx="4572000" cy="274320"/>
          </a:xfrm>
          <a:prstGeom prst="rect">
            <a:avLst/>
          </a:prstGeom>
          <a:noFill/>
          <a:ln/>
        </p:spPr>
        <p:txBody>
          <a:bodyPr wrap="square" lIns="0" tIns="0" rIns="0" bIns="0" rtlCol="0" anchor="t"/>
          <a:lstStyle/>
          <a:p>
            <a:pPr indent="0" marL="0">
              <a:buNone/>
            </a:pPr>
            <a:r>
              <a:rPr lang="en-US" sz="1150" b="1" spc="300" kern="0" dirty="0">
                <a:solidFill>
                  <a:srgbClr val="B5541A"/>
                </a:solidFill>
                <a:latin typeface="Calibri" pitchFamily="34" charset="0"/>
                <a:ea typeface="Calibri" pitchFamily="34" charset="-122"/>
                <a:cs typeface="Calibri" pitchFamily="34" charset="-120"/>
              </a:rPr>
              <a:t>THE TRAP</a:t>
            </a:r>
            <a:endParaRPr lang="en-US" sz="1150" dirty="0"/>
          </a:p>
        </p:txBody>
      </p:sp>
      <p:sp>
        <p:nvSpPr>
          <p:cNvPr id="8" name="Text 5"/>
          <p:cNvSpPr txBox="1"/>
          <p:nvPr/>
        </p:nvSpPr>
        <p:spPr>
          <a:xfrm>
            <a:off x="6400800" y="1691640"/>
            <a:ext cx="4572000" cy="274320"/>
          </a:xfrm>
          <a:prstGeom prst="rect">
            <a:avLst/>
          </a:prstGeom>
          <a:noFill/>
          <a:ln/>
        </p:spPr>
        <p:txBody>
          <a:bodyPr wrap="square" lIns="0" tIns="0" rIns="0" bIns="0" rtlCol="0" anchor="t"/>
          <a:lstStyle/>
          <a:p>
            <a:pPr indent="0" marL="0">
              <a:buNone/>
            </a:pPr>
            <a:r>
              <a:rPr lang="en-US" sz="1150" b="1" spc="300" kern="0" dirty="0">
                <a:solidFill>
                  <a:srgbClr val="2E7D5B"/>
                </a:solidFill>
                <a:latin typeface="Calibri" pitchFamily="34" charset="0"/>
                <a:ea typeface="Calibri" pitchFamily="34" charset="-122"/>
                <a:cs typeface="Calibri" pitchFamily="34" charset="-120"/>
              </a:rPr>
              <a:t>THE BETTER HABIT</a:t>
            </a:r>
            <a:endParaRPr lang="en-US" sz="1150" dirty="0"/>
          </a:p>
        </p:txBody>
      </p:sp>
      <p:sp>
        <p:nvSpPr>
          <p:cNvPr id="9" name="Shape 6"/>
          <p:cNvSpPr/>
          <p:nvPr/>
        </p:nvSpPr>
        <p:spPr>
          <a:xfrm>
            <a:off x="640080" y="2057400"/>
            <a:ext cx="5440680" cy="694944"/>
          </a:xfrm>
          <a:prstGeom prst="roundRect">
            <a:avLst>
              <a:gd name="adj" fmla="val 7895"/>
            </a:avLst>
          </a:prstGeom>
          <a:solidFill>
            <a:srgbClr val="FBF1EC"/>
          </a:solidFill>
          <a:ln w="9525">
            <a:solidFill>
              <a:srgbClr val="F0D9CC"/>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822960" y="2249424"/>
            <a:ext cx="310896" cy="310896"/>
          </a:xfrm>
          <a:prstGeom prst="rect">
            <a:avLst/>
          </a:prstGeom>
        </p:spPr>
      </p:pic>
      <p:sp>
        <p:nvSpPr>
          <p:cNvPr id="11" name="Text 7"/>
          <p:cNvSpPr txBox="1"/>
          <p:nvPr/>
        </p:nvSpPr>
        <p:spPr>
          <a:xfrm>
            <a:off x="1280160" y="2057400"/>
            <a:ext cx="4663440" cy="694944"/>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Starting with a technique ('let's use a neural net').</a:t>
            </a:r>
            <a:endParaRPr lang="en-US" sz="1300" dirty="0"/>
          </a:p>
        </p:txBody>
      </p:sp>
      <p:sp>
        <p:nvSpPr>
          <p:cNvPr id="12" name="Shape 8"/>
          <p:cNvSpPr/>
          <p:nvPr/>
        </p:nvSpPr>
        <p:spPr>
          <a:xfrm>
            <a:off x="6263640" y="2057400"/>
            <a:ext cx="5257800" cy="694944"/>
          </a:xfrm>
          <a:prstGeom prst="roundRect">
            <a:avLst>
              <a:gd name="adj" fmla="val 7895"/>
            </a:avLst>
          </a:prstGeom>
          <a:solidFill>
            <a:srgbClr val="EEF6F1"/>
          </a:solidFill>
          <a:ln w="9525">
            <a:solidFill>
              <a:srgbClr val="D2E7DA"/>
            </a:solidFill>
            <a:prstDash val="solid"/>
          </a:ln>
        </p:spPr>
        <p:txBody>
          <a:bodyPr/>
          <a:p/>
        </p:txBody>
      </p:sp>
      <p:pic>
        <p:nvPicPr>
          <p:cNvPr id="13" name="Image 2" descr="preencoded.png">    </p:cNvPr>
          <p:cNvPicPr>
            <a:picLocks noChangeAspect="1"/>
          </p:cNvPicPr>
          <p:nvPr/>
        </p:nvPicPr>
        <p:blipFill>
          <a:blip r:embed="rId3"/>
          <a:stretch>
            <a:fillRect/>
          </a:stretch>
        </p:blipFill>
        <p:spPr>
          <a:xfrm>
            <a:off x="6446520" y="2249424"/>
            <a:ext cx="310896" cy="310896"/>
          </a:xfrm>
          <a:prstGeom prst="rect">
            <a:avLst/>
          </a:prstGeom>
        </p:spPr>
      </p:pic>
      <p:sp>
        <p:nvSpPr>
          <p:cNvPr id="14" name="Text 9"/>
          <p:cNvSpPr txBox="1"/>
          <p:nvPr/>
        </p:nvSpPr>
        <p:spPr>
          <a:xfrm>
            <a:off x="6903720" y="2057400"/>
            <a:ext cx="4480560" cy="694944"/>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Start with a </a:t>
            </a:r>
            <a:r>
              <a:rPr lang="en-US" sz="1300" b="1" dirty="0">
                <a:solidFill>
                  <a:srgbClr val="1A2233"/>
                </a:solidFill>
                <a:latin typeface="Calibri" pitchFamily="34" charset="0"/>
                <a:ea typeface="Calibri" pitchFamily="34" charset="-122"/>
                <a:cs typeface="Calibri" pitchFamily="34" charset="-120"/>
              </a:rPr>
              <a:t>decision</a:t>
            </a:r>
            <a:r>
              <a:rPr lang="en-US" sz="1300" dirty="0">
                <a:solidFill>
                  <a:srgbClr val="1A2233"/>
                </a:solidFill>
                <a:latin typeface="Calibri" pitchFamily="34" charset="0"/>
                <a:ea typeface="Calibri" pitchFamily="34" charset="-122"/>
                <a:cs typeface="Calibri" pitchFamily="34" charset="-120"/>
              </a:rPr>
              <a:t>; choose the simplest method that answers it.</a:t>
            </a:r>
            <a:endParaRPr lang="en-US" sz="1300" dirty="0"/>
          </a:p>
        </p:txBody>
      </p:sp>
      <p:sp>
        <p:nvSpPr>
          <p:cNvPr id="15" name="Shape 10"/>
          <p:cNvSpPr/>
          <p:nvPr/>
        </p:nvSpPr>
        <p:spPr>
          <a:xfrm>
            <a:off x="640080" y="2862072"/>
            <a:ext cx="5440680" cy="694944"/>
          </a:xfrm>
          <a:prstGeom prst="roundRect">
            <a:avLst>
              <a:gd name="adj" fmla="val 7895"/>
            </a:avLst>
          </a:prstGeom>
          <a:solidFill>
            <a:srgbClr val="FBF1EC"/>
          </a:solidFill>
          <a:ln w="9525">
            <a:solidFill>
              <a:srgbClr val="F0D9CC"/>
            </a:solidFill>
            <a:prstDash val="solid"/>
          </a:ln>
        </p:spPr>
        <p:txBody>
          <a:bodyPr/>
          <a:p/>
        </p:txBody>
      </p:sp>
      <p:pic>
        <p:nvPicPr>
          <p:cNvPr id="16" name="Image 3" descr="preencoded.png">    </p:cNvPr>
          <p:cNvPicPr>
            <a:picLocks noChangeAspect="1"/>
          </p:cNvPicPr>
          <p:nvPr/>
        </p:nvPicPr>
        <p:blipFill>
          <a:blip r:embed="rId4"/>
          <a:stretch>
            <a:fillRect/>
          </a:stretch>
        </p:blipFill>
        <p:spPr>
          <a:xfrm>
            <a:off x="822960" y="3054096"/>
            <a:ext cx="310896" cy="310896"/>
          </a:xfrm>
          <a:prstGeom prst="rect">
            <a:avLst/>
          </a:prstGeom>
        </p:spPr>
      </p:pic>
      <p:sp>
        <p:nvSpPr>
          <p:cNvPr id="17" name="Text 11"/>
          <p:cNvSpPr txBox="1"/>
          <p:nvPr/>
        </p:nvSpPr>
        <p:spPr>
          <a:xfrm>
            <a:off x="1280160" y="2862072"/>
            <a:ext cx="4663440" cy="694944"/>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Twenty charts and no recommendation.</a:t>
            </a:r>
            <a:endParaRPr lang="en-US" sz="1300" dirty="0"/>
          </a:p>
        </p:txBody>
      </p:sp>
      <p:sp>
        <p:nvSpPr>
          <p:cNvPr id="18" name="Shape 12"/>
          <p:cNvSpPr/>
          <p:nvPr/>
        </p:nvSpPr>
        <p:spPr>
          <a:xfrm>
            <a:off x="6263640" y="2862072"/>
            <a:ext cx="5257800" cy="694944"/>
          </a:xfrm>
          <a:prstGeom prst="roundRect">
            <a:avLst>
              <a:gd name="adj" fmla="val 7895"/>
            </a:avLst>
          </a:prstGeom>
          <a:solidFill>
            <a:srgbClr val="EEF6F1"/>
          </a:solidFill>
          <a:ln w="9525">
            <a:solidFill>
              <a:srgbClr val="D2E7DA"/>
            </a:solidFill>
            <a:prstDash val="solid"/>
          </a:ln>
        </p:spPr>
        <p:txBody>
          <a:bodyPr/>
          <a:p/>
        </p:txBody>
      </p:sp>
      <p:pic>
        <p:nvPicPr>
          <p:cNvPr id="19" name="Image 4" descr="preencoded.png">    </p:cNvPr>
          <p:cNvPicPr>
            <a:picLocks noChangeAspect="1"/>
          </p:cNvPicPr>
          <p:nvPr/>
        </p:nvPicPr>
        <p:blipFill>
          <a:blip r:embed="rId5"/>
          <a:stretch>
            <a:fillRect/>
          </a:stretch>
        </p:blipFill>
        <p:spPr>
          <a:xfrm>
            <a:off x="6446520" y="3054096"/>
            <a:ext cx="310896" cy="310896"/>
          </a:xfrm>
          <a:prstGeom prst="rect">
            <a:avLst/>
          </a:prstGeom>
        </p:spPr>
      </p:pic>
      <p:sp>
        <p:nvSpPr>
          <p:cNvPr id="20" name="Text 13"/>
          <p:cNvSpPr txBox="1"/>
          <p:nvPr/>
        </p:nvSpPr>
        <p:spPr>
          <a:xfrm>
            <a:off x="6903720" y="2862072"/>
            <a:ext cx="4480560" cy="694944"/>
          </a:xfrm>
          <a:prstGeom prst="rect">
            <a:avLst/>
          </a:prstGeom>
          <a:noFill/>
          <a:ln/>
        </p:spPr>
        <p:txBody>
          <a:bodyPr wrap="square" lIns="0" tIns="0" rIns="0" bIns="0" rtlCol="0" anchor="ctr"/>
          <a:lstStyle/>
          <a:p>
            <a:pPr indent="0" marL="0">
              <a:buNone/>
            </a:pPr>
            <a:r>
              <a:rPr lang="en-US" sz="1300" b="1" dirty="0">
                <a:solidFill>
                  <a:srgbClr val="1A2233"/>
                </a:solidFill>
                <a:latin typeface="Calibri" pitchFamily="34" charset="0"/>
                <a:ea typeface="Calibri" pitchFamily="34" charset="-122"/>
                <a:cs typeface="Calibri" pitchFamily="34" charset="-120"/>
              </a:rPr>
              <a:t>One storyline</a:t>
            </a:r>
            <a:r>
              <a:rPr lang="en-US" sz="1300" dirty="0">
                <a:solidFill>
                  <a:srgbClr val="1A2233"/>
                </a:solidFill>
                <a:latin typeface="Calibri" pitchFamily="34" charset="0"/>
                <a:ea typeface="Calibri" pitchFamily="34" charset="-122"/>
                <a:cs typeface="Calibri" pitchFamily="34" charset="-120"/>
              </a:rPr>
              <a:t>: decision → insight → value → action.</a:t>
            </a:r>
            <a:endParaRPr lang="en-US" sz="1300" dirty="0"/>
          </a:p>
        </p:txBody>
      </p:sp>
      <p:sp>
        <p:nvSpPr>
          <p:cNvPr id="21" name="Shape 14"/>
          <p:cNvSpPr/>
          <p:nvPr/>
        </p:nvSpPr>
        <p:spPr>
          <a:xfrm>
            <a:off x="640080" y="3666744"/>
            <a:ext cx="5440680" cy="694944"/>
          </a:xfrm>
          <a:prstGeom prst="roundRect">
            <a:avLst>
              <a:gd name="adj" fmla="val 7895"/>
            </a:avLst>
          </a:prstGeom>
          <a:solidFill>
            <a:srgbClr val="FBF1EC"/>
          </a:solidFill>
          <a:ln w="9525">
            <a:solidFill>
              <a:srgbClr val="F0D9CC"/>
            </a:solidFill>
            <a:prstDash val="solid"/>
          </a:ln>
        </p:spPr>
        <p:txBody>
          <a:bodyPr/>
          <a:p/>
        </p:txBody>
      </p:sp>
      <p:pic>
        <p:nvPicPr>
          <p:cNvPr id="22" name="Image 5" descr="preencoded.png">    </p:cNvPr>
          <p:cNvPicPr>
            <a:picLocks noChangeAspect="1"/>
          </p:cNvPicPr>
          <p:nvPr/>
        </p:nvPicPr>
        <p:blipFill>
          <a:blip r:embed="rId6"/>
          <a:stretch>
            <a:fillRect/>
          </a:stretch>
        </p:blipFill>
        <p:spPr>
          <a:xfrm>
            <a:off x="822960" y="3858768"/>
            <a:ext cx="310896" cy="310896"/>
          </a:xfrm>
          <a:prstGeom prst="rect">
            <a:avLst/>
          </a:prstGeom>
        </p:spPr>
      </p:pic>
      <p:sp>
        <p:nvSpPr>
          <p:cNvPr id="23" name="Text 15"/>
          <p:cNvSpPr txBox="1"/>
          <p:nvPr/>
        </p:nvSpPr>
        <p:spPr>
          <a:xfrm>
            <a:off x="1280160" y="3666744"/>
            <a:ext cx="4663440" cy="694944"/>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Reporting accuracy on training data.</a:t>
            </a:r>
            <a:endParaRPr lang="en-US" sz="1300" dirty="0"/>
          </a:p>
        </p:txBody>
      </p:sp>
      <p:sp>
        <p:nvSpPr>
          <p:cNvPr id="24" name="Shape 16"/>
          <p:cNvSpPr/>
          <p:nvPr/>
        </p:nvSpPr>
        <p:spPr>
          <a:xfrm>
            <a:off x="6263640" y="3666744"/>
            <a:ext cx="5257800" cy="694944"/>
          </a:xfrm>
          <a:prstGeom prst="roundRect">
            <a:avLst>
              <a:gd name="adj" fmla="val 7895"/>
            </a:avLst>
          </a:prstGeom>
          <a:solidFill>
            <a:srgbClr val="EEF6F1"/>
          </a:solidFill>
          <a:ln w="9525">
            <a:solidFill>
              <a:srgbClr val="D2E7DA"/>
            </a:solidFill>
            <a:prstDash val="solid"/>
          </a:ln>
        </p:spPr>
        <p:txBody>
          <a:bodyPr/>
          <a:p/>
        </p:txBody>
      </p:sp>
      <p:pic>
        <p:nvPicPr>
          <p:cNvPr id="25" name="Image 6" descr="preencoded.png">    </p:cNvPr>
          <p:cNvPicPr>
            <a:picLocks noChangeAspect="1"/>
          </p:cNvPicPr>
          <p:nvPr/>
        </p:nvPicPr>
        <p:blipFill>
          <a:blip r:embed="rId7"/>
          <a:stretch>
            <a:fillRect/>
          </a:stretch>
        </p:blipFill>
        <p:spPr>
          <a:xfrm>
            <a:off x="6446520" y="3858768"/>
            <a:ext cx="310896" cy="310896"/>
          </a:xfrm>
          <a:prstGeom prst="rect">
            <a:avLst/>
          </a:prstGeom>
        </p:spPr>
      </p:pic>
      <p:sp>
        <p:nvSpPr>
          <p:cNvPr id="26" name="Text 17"/>
          <p:cNvSpPr txBox="1"/>
          <p:nvPr/>
        </p:nvSpPr>
        <p:spPr>
          <a:xfrm>
            <a:off x="6903720" y="3666744"/>
            <a:ext cx="4480560" cy="694944"/>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Benchmark vs challenger on </a:t>
            </a:r>
            <a:r>
              <a:rPr lang="en-US" sz="1300" b="1" dirty="0">
                <a:solidFill>
                  <a:srgbClr val="1A2233"/>
                </a:solidFill>
                <a:latin typeface="Calibri" pitchFamily="34" charset="0"/>
                <a:ea typeface="Calibri" pitchFamily="34" charset="-122"/>
                <a:cs typeface="Calibri" pitchFamily="34" charset="-120"/>
              </a:rPr>
              <a:t>held-out</a:t>
            </a:r>
            <a:r>
              <a:rPr lang="en-US" sz="1300" dirty="0">
                <a:solidFill>
                  <a:srgbClr val="1A2233"/>
                </a:solidFill>
                <a:latin typeface="Calibri" pitchFamily="34" charset="0"/>
                <a:ea typeface="Calibri" pitchFamily="34" charset="-122"/>
                <a:cs typeface="Calibri" pitchFamily="34" charset="-120"/>
              </a:rPr>
              <a:t> data.</a:t>
            </a:r>
            <a:endParaRPr lang="en-US" sz="1300" dirty="0"/>
          </a:p>
        </p:txBody>
      </p:sp>
      <p:sp>
        <p:nvSpPr>
          <p:cNvPr id="27" name="Shape 18"/>
          <p:cNvSpPr/>
          <p:nvPr/>
        </p:nvSpPr>
        <p:spPr>
          <a:xfrm>
            <a:off x="640080" y="4471416"/>
            <a:ext cx="5440680" cy="694944"/>
          </a:xfrm>
          <a:prstGeom prst="roundRect">
            <a:avLst>
              <a:gd name="adj" fmla="val 7895"/>
            </a:avLst>
          </a:prstGeom>
          <a:solidFill>
            <a:srgbClr val="FBF1EC"/>
          </a:solidFill>
          <a:ln w="9525">
            <a:solidFill>
              <a:srgbClr val="F0D9CC"/>
            </a:solidFill>
            <a:prstDash val="solid"/>
          </a:ln>
        </p:spPr>
        <p:txBody>
          <a:bodyPr/>
          <a:p/>
        </p:txBody>
      </p:sp>
      <p:pic>
        <p:nvPicPr>
          <p:cNvPr id="28" name="Image 7" descr="preencoded.png">    </p:cNvPr>
          <p:cNvPicPr>
            <a:picLocks noChangeAspect="1"/>
          </p:cNvPicPr>
          <p:nvPr/>
        </p:nvPicPr>
        <p:blipFill>
          <a:blip r:embed="rId8"/>
          <a:stretch>
            <a:fillRect/>
          </a:stretch>
        </p:blipFill>
        <p:spPr>
          <a:xfrm>
            <a:off x="822960" y="4663440"/>
            <a:ext cx="310896" cy="310896"/>
          </a:xfrm>
          <a:prstGeom prst="rect">
            <a:avLst/>
          </a:prstGeom>
        </p:spPr>
      </p:pic>
      <p:sp>
        <p:nvSpPr>
          <p:cNvPr id="29" name="Text 19"/>
          <p:cNvSpPr txBox="1"/>
          <p:nvPr/>
        </p:nvSpPr>
        <p:spPr>
          <a:xfrm>
            <a:off x="1280160" y="4471416"/>
            <a:ext cx="4663440" cy="694944"/>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No naira figure, or one with hidden assumptions.</a:t>
            </a:r>
            <a:endParaRPr lang="en-US" sz="1300" dirty="0"/>
          </a:p>
        </p:txBody>
      </p:sp>
      <p:sp>
        <p:nvSpPr>
          <p:cNvPr id="30" name="Shape 20"/>
          <p:cNvSpPr/>
          <p:nvPr/>
        </p:nvSpPr>
        <p:spPr>
          <a:xfrm>
            <a:off x="6263640" y="4471416"/>
            <a:ext cx="5257800" cy="694944"/>
          </a:xfrm>
          <a:prstGeom prst="roundRect">
            <a:avLst>
              <a:gd name="adj" fmla="val 7895"/>
            </a:avLst>
          </a:prstGeom>
          <a:solidFill>
            <a:srgbClr val="EEF6F1"/>
          </a:solidFill>
          <a:ln w="9525">
            <a:solidFill>
              <a:srgbClr val="D2E7DA"/>
            </a:solidFill>
            <a:prstDash val="solid"/>
          </a:ln>
        </p:spPr>
        <p:txBody>
          <a:bodyPr/>
          <a:p/>
        </p:txBody>
      </p:sp>
      <p:pic>
        <p:nvPicPr>
          <p:cNvPr id="31" name="Image 8" descr="preencoded.png">    </p:cNvPr>
          <p:cNvPicPr>
            <a:picLocks noChangeAspect="1"/>
          </p:cNvPicPr>
          <p:nvPr/>
        </p:nvPicPr>
        <p:blipFill>
          <a:blip r:embed="rId9"/>
          <a:stretch>
            <a:fillRect/>
          </a:stretch>
        </p:blipFill>
        <p:spPr>
          <a:xfrm>
            <a:off x="6446520" y="4663440"/>
            <a:ext cx="310896" cy="310896"/>
          </a:xfrm>
          <a:prstGeom prst="rect">
            <a:avLst/>
          </a:prstGeom>
        </p:spPr>
      </p:pic>
      <p:sp>
        <p:nvSpPr>
          <p:cNvPr id="32" name="Text 21"/>
          <p:cNvSpPr txBox="1"/>
          <p:nvPr/>
        </p:nvSpPr>
        <p:spPr>
          <a:xfrm>
            <a:off x="6903720" y="4471416"/>
            <a:ext cx="4480560" cy="694944"/>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State assumptions; show a </a:t>
            </a:r>
            <a:r>
              <a:rPr lang="en-US" sz="1300" b="1" dirty="0">
                <a:solidFill>
                  <a:srgbClr val="1A2233"/>
                </a:solidFill>
                <a:latin typeface="Calibri" pitchFamily="34" charset="0"/>
                <a:ea typeface="Calibri" pitchFamily="34" charset="-122"/>
                <a:cs typeface="Calibri" pitchFamily="34" charset="-120"/>
              </a:rPr>
              <a:t>sensitivity</a:t>
            </a:r>
            <a:r>
              <a:rPr lang="en-US" sz="1300" dirty="0">
                <a:solidFill>
                  <a:srgbClr val="1A2233"/>
                </a:solidFill>
                <a:latin typeface="Calibri" pitchFamily="34" charset="0"/>
                <a:ea typeface="Calibri" pitchFamily="34" charset="-122"/>
                <a:cs typeface="Calibri" pitchFamily="34" charset="-120"/>
              </a:rPr>
              <a:t> check.</a:t>
            </a:r>
            <a:endParaRPr lang="en-US" sz="1300" dirty="0"/>
          </a:p>
        </p:txBody>
      </p:sp>
      <p:sp>
        <p:nvSpPr>
          <p:cNvPr id="33" name="Shape 22"/>
          <p:cNvSpPr/>
          <p:nvPr/>
        </p:nvSpPr>
        <p:spPr>
          <a:xfrm>
            <a:off x="640080" y="5276088"/>
            <a:ext cx="5440680" cy="694944"/>
          </a:xfrm>
          <a:prstGeom prst="roundRect">
            <a:avLst>
              <a:gd name="adj" fmla="val 7895"/>
            </a:avLst>
          </a:prstGeom>
          <a:solidFill>
            <a:srgbClr val="FBF1EC"/>
          </a:solidFill>
          <a:ln w="9525">
            <a:solidFill>
              <a:srgbClr val="F0D9CC"/>
            </a:solidFill>
            <a:prstDash val="solid"/>
          </a:ln>
        </p:spPr>
        <p:txBody>
          <a:bodyPr/>
          <a:p/>
        </p:txBody>
      </p:sp>
      <p:pic>
        <p:nvPicPr>
          <p:cNvPr id="34" name="Image 9" descr="preencoded.png">    </p:cNvPr>
          <p:cNvPicPr>
            <a:picLocks noChangeAspect="1"/>
          </p:cNvPicPr>
          <p:nvPr/>
        </p:nvPicPr>
        <p:blipFill>
          <a:blip r:embed="rId10"/>
          <a:stretch>
            <a:fillRect/>
          </a:stretch>
        </p:blipFill>
        <p:spPr>
          <a:xfrm>
            <a:off x="822960" y="5468112"/>
            <a:ext cx="310896" cy="310896"/>
          </a:xfrm>
          <a:prstGeom prst="rect">
            <a:avLst/>
          </a:prstGeom>
        </p:spPr>
      </p:pic>
      <p:sp>
        <p:nvSpPr>
          <p:cNvPr id="35" name="Text 23"/>
          <p:cNvSpPr txBox="1"/>
          <p:nvPr/>
        </p:nvSpPr>
        <p:spPr>
          <a:xfrm>
            <a:off x="1280160" y="5276088"/>
            <a:ext cx="4663440" cy="694944"/>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Hiding the data's weaknesses.</a:t>
            </a:r>
            <a:endParaRPr lang="en-US" sz="1300" dirty="0"/>
          </a:p>
        </p:txBody>
      </p:sp>
      <p:sp>
        <p:nvSpPr>
          <p:cNvPr id="36" name="Shape 24"/>
          <p:cNvSpPr/>
          <p:nvPr/>
        </p:nvSpPr>
        <p:spPr>
          <a:xfrm>
            <a:off x="6263640" y="5276088"/>
            <a:ext cx="5257800" cy="694944"/>
          </a:xfrm>
          <a:prstGeom prst="roundRect">
            <a:avLst>
              <a:gd name="adj" fmla="val 7895"/>
            </a:avLst>
          </a:prstGeom>
          <a:solidFill>
            <a:srgbClr val="EEF6F1"/>
          </a:solidFill>
          <a:ln w="9525">
            <a:solidFill>
              <a:srgbClr val="D2E7DA"/>
            </a:solidFill>
            <a:prstDash val="solid"/>
          </a:ln>
        </p:spPr>
        <p:txBody>
          <a:bodyPr/>
          <a:p/>
        </p:txBody>
      </p:sp>
      <p:pic>
        <p:nvPicPr>
          <p:cNvPr id="37" name="Image 10" descr="preencoded.png">    </p:cNvPr>
          <p:cNvPicPr>
            <a:picLocks noChangeAspect="1"/>
          </p:cNvPicPr>
          <p:nvPr/>
        </p:nvPicPr>
        <p:blipFill>
          <a:blip r:embed="rId11"/>
          <a:stretch>
            <a:fillRect/>
          </a:stretch>
        </p:blipFill>
        <p:spPr>
          <a:xfrm>
            <a:off x="6446520" y="5468112"/>
            <a:ext cx="310896" cy="310896"/>
          </a:xfrm>
          <a:prstGeom prst="rect">
            <a:avLst/>
          </a:prstGeom>
        </p:spPr>
      </p:pic>
      <p:sp>
        <p:nvSpPr>
          <p:cNvPr id="38" name="Text 25"/>
          <p:cNvSpPr txBox="1"/>
          <p:nvPr/>
        </p:nvSpPr>
        <p:spPr>
          <a:xfrm>
            <a:off x="6903720" y="5276088"/>
            <a:ext cx="4480560" cy="694944"/>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Say what's missing and how it could change the answer.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1828800"/>
            <a:ext cx="5486400" cy="320040"/>
          </a:xfrm>
          <a:prstGeom prst="rect">
            <a:avLst/>
          </a:prstGeom>
          <a:noFill/>
          <a:ln/>
        </p:spPr>
        <p:txBody>
          <a:bodyPr wrap="square" lIns="0" tIns="0" rIns="0" bIns="0" rtlCol="0" anchor="t"/>
          <a:lstStyle/>
          <a:p>
            <a:pPr indent="0" marL="0">
              <a:buNone/>
            </a:pPr>
            <a:r>
              <a:rPr lang="en-US" sz="1300" b="1" spc="400" kern="0" dirty="0">
                <a:solidFill>
                  <a:srgbClr val="D99A2B"/>
                </a:solidFill>
                <a:latin typeface="Calibri" pitchFamily="34" charset="0"/>
                <a:ea typeface="Calibri" pitchFamily="34" charset="-122"/>
                <a:cs typeface="Calibri" pitchFamily="34" charset="-120"/>
              </a:rPr>
              <a:t>PART</a:t>
            </a:r>
            <a:endParaRPr lang="en-US" sz="1300" dirty="0"/>
          </a:p>
        </p:txBody>
      </p:sp>
      <p:sp>
        <p:nvSpPr>
          <p:cNvPr id="5" name="Text 3"/>
          <p:cNvSpPr txBox="1"/>
          <p:nvPr/>
        </p:nvSpPr>
        <p:spPr>
          <a:xfrm>
            <a:off x="822960" y="2148840"/>
            <a:ext cx="2743200" cy="1097280"/>
          </a:xfrm>
          <a:prstGeom prst="rect">
            <a:avLst/>
          </a:prstGeom>
          <a:noFill/>
          <a:ln/>
        </p:spPr>
        <p:txBody>
          <a:bodyPr wrap="square" lIns="0" tIns="0" rIns="0" bIns="0" rtlCol="0" anchor="t"/>
          <a:lstStyle/>
          <a:p>
            <a:pPr indent="0" marL="0">
              <a:buNone/>
            </a:pPr>
            <a:r>
              <a:rPr lang="en-US" sz="7200" b="1" dirty="0">
                <a:solidFill>
                  <a:srgbClr val="AAB9CC"/>
                </a:solidFill>
                <a:latin typeface="Cambria" pitchFamily="34" charset="0"/>
                <a:ea typeface="Cambria" pitchFamily="34" charset="-122"/>
                <a:cs typeface="Cambria" pitchFamily="34" charset="-120"/>
              </a:rPr>
              <a:t>03</a:t>
            </a:r>
            <a:endParaRPr lang="en-US" sz="7200" dirty="0"/>
          </a:p>
        </p:txBody>
      </p:sp>
      <p:sp>
        <p:nvSpPr>
          <p:cNvPr id="6" name="Text 4"/>
          <p:cNvSpPr txBox="1"/>
          <p:nvPr/>
        </p:nvSpPr>
        <p:spPr>
          <a:xfrm>
            <a:off x="822960" y="3291840"/>
            <a:ext cx="86868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Final Examination</a:t>
            </a:r>
            <a:endParaRPr lang="en-US" sz="3600" dirty="0"/>
          </a:p>
        </p:txBody>
      </p:sp>
      <p:sp>
        <p:nvSpPr>
          <p:cNvPr id="7" name="Text 5"/>
          <p:cNvSpPr txBox="1"/>
          <p:nvPr/>
        </p:nvSpPr>
        <p:spPr>
          <a:xfrm>
            <a:off x="822960" y="4251960"/>
            <a:ext cx="8229600" cy="73152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Comprehensive and integrative.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BLUEPRINT</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Final Exam: Structure and Coverage</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16</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2377440"/>
                <a:gridCol w="1280160"/>
                <a:gridCol w="3474720"/>
                <a:gridCol w="3749040"/>
              </a:tblGrid>
              <a:tr h="7315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Section</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Format</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Covers</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r>
              <a:tr h="73152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A · Concepts</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Short answers and multiple choice (closed book)</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All sessions</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73152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B · Read the output</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Interpret R/Python output and charts</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Testing, regression, classification, forecasting, segmentation</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141B4D"/>
                          </a:solidFill>
                          <a:latin typeface="Calibri" pitchFamily="34" charset="0"/>
                          <a:ea typeface="Calibri" pitchFamily="34" charset="-122"/>
                          <a:cs typeface="Calibri" pitchFamily="34" charset="-120"/>
                        </a:rPr>
                        <a:t>C · Integrative case</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A Nigerian business case: choose methods, interpret results, recommend, assess risks</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200" dirty="0">
                          <a:solidFill>
                            <a:srgbClr val="1A2233"/>
                          </a:solidFill>
                          <a:latin typeface="Calibri" pitchFamily="34" charset="0"/>
                          <a:ea typeface="Calibri" pitchFamily="34" charset="-122"/>
                          <a:cs typeface="Calibri" pitchFamily="34" charset="-120"/>
                        </a:rPr>
                        <a:t>Combines at least three modules' tools</a:t>
                      </a:r>
                      <a:endParaRPr lang="en-US" sz="12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bl>
          </a:graphicData>
        </a:graphic>
      </p:graphicFrame>
      <p:sp>
        <p:nvSpPr>
          <p:cNvPr id="8" name="Shape 4"/>
          <p:cNvSpPr/>
          <p:nvPr/>
        </p:nvSpPr>
        <p:spPr>
          <a:xfrm>
            <a:off x="640080" y="5623560"/>
            <a:ext cx="10881360" cy="548640"/>
          </a:xfrm>
          <a:prstGeom prst="roundRect">
            <a:avLst>
              <a:gd name="adj" fmla="val 10000"/>
            </a:avLst>
          </a:prstGeom>
          <a:solidFill>
            <a:srgbClr val="F3F6F9"/>
          </a:solidFill>
          <a:ln w="9525">
            <a:solidFill>
              <a:srgbClr val="E1E7EE"/>
            </a:solidFill>
            <a:prstDash val="solid"/>
          </a:ln>
        </p:spPr>
        <p:txBody>
          <a:bodyPr/>
          <a:p/>
        </p:txBody>
      </p:sp>
      <p:sp>
        <p:nvSpPr>
          <p:cNvPr id="9" name="Text 5"/>
          <p:cNvSpPr txBox="1"/>
          <p:nvPr/>
        </p:nvSpPr>
        <p:spPr>
          <a:xfrm>
            <a:off x="868680" y="5623560"/>
            <a:ext cx="10424160" cy="548640"/>
          </a:xfrm>
          <a:prstGeom prst="rect">
            <a:avLst/>
          </a:prstGeom>
          <a:noFill/>
          <a:ln/>
        </p:spPr>
        <p:txBody>
          <a:bodyPr wrap="square" lIns="0" tIns="0" rIns="0" bIns="0" rtlCol="0" anchor="ctr"/>
          <a:lstStyle/>
          <a:p>
            <a:pPr indent="0" marL="0">
              <a:buNone/>
            </a:pPr>
            <a:r>
              <a:rPr lang="en-US" sz="1300" i="1" dirty="0">
                <a:solidFill>
                  <a:srgbClr val="141B4D"/>
                </a:solidFill>
                <a:latin typeface="Calibri" pitchFamily="34" charset="0"/>
                <a:ea typeface="Calibri" pitchFamily="34" charset="-122"/>
                <a:cs typeface="Calibri" pitchFamily="34" charset="-120"/>
              </a:rPr>
              <a:t>25% of the final grade. 2 hours. Sections B and C are open-resource; no AI assistants. Marks reward judgement and business interpretation, not memorised formulas.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SAMPLE SECTION C QUESTION</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A Lagos Supermarket Chain Wants to Cut Stock-Outs</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17</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4"/>
          <p:cNvSpPr/>
          <p:nvPr/>
        </p:nvSpPr>
        <p:spPr>
          <a:xfrm>
            <a:off x="640080" y="169164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9" name="Shape 5"/>
          <p:cNvSpPr/>
          <p:nvPr/>
        </p:nvSpPr>
        <p:spPr>
          <a:xfrm>
            <a:off x="868680" y="1892808"/>
            <a:ext cx="457200" cy="457200"/>
          </a:xfrm>
          <a:prstGeom prst="ellipse">
            <a:avLst/>
          </a:prstGeom>
          <a:solidFill>
            <a:srgbClr val="0B5E82"/>
          </a:solidFill>
          <a:ln w="12700">
            <a:solidFill>
              <a:srgbClr val="0B5E82"/>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982980" y="2007108"/>
            <a:ext cx="228600" cy="228600"/>
          </a:xfrm>
          <a:prstGeom prst="rect">
            <a:avLst/>
          </a:prstGeom>
        </p:spPr>
      </p:pic>
      <p:sp>
        <p:nvSpPr>
          <p:cNvPr id="11" name="Text 6"/>
          <p:cNvSpPr txBox="1"/>
          <p:nvPr/>
        </p:nvSpPr>
        <p:spPr>
          <a:xfrm>
            <a:off x="1463040" y="189280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The situation</a:t>
            </a:r>
            <a:endParaRPr lang="en-US" sz="1550" dirty="0"/>
          </a:p>
        </p:txBody>
      </p:sp>
      <p:sp>
        <p:nvSpPr>
          <p:cNvPr id="12" name="Text 7"/>
          <p:cNvSpPr txBox="1"/>
          <p:nvPr/>
        </p:nvSpPr>
        <p:spPr>
          <a:xfrm>
            <a:off x="914400" y="2468880"/>
            <a:ext cx="4754880" cy="118872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A 25-store supermarket chain loses sales to empty shelves, especially in December. It has 6 years of weekly sales by store and product, loyalty-card baskets, and store temperature and staffing logs.</a:t>
            </a:r>
            <a:endParaRPr lang="en-US" sz="1300" dirty="0"/>
          </a:p>
        </p:txBody>
      </p:sp>
      <p:sp>
        <p:nvSpPr>
          <p:cNvPr id="13" name="Shape 8"/>
          <p:cNvSpPr/>
          <p:nvPr/>
        </p:nvSpPr>
        <p:spPr>
          <a:xfrm>
            <a:off x="6217920" y="169164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4" name="Shape 9"/>
          <p:cNvSpPr/>
          <p:nvPr/>
        </p:nvSpPr>
        <p:spPr>
          <a:xfrm>
            <a:off x="6446520" y="1892808"/>
            <a:ext cx="457200" cy="457200"/>
          </a:xfrm>
          <a:prstGeom prst="ellipse">
            <a:avLst/>
          </a:prstGeom>
          <a:solidFill>
            <a:srgbClr val="D99A2B"/>
          </a:solidFill>
          <a:ln w="12700">
            <a:solidFill>
              <a:srgbClr val="D99A2B"/>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6560820" y="2007108"/>
            <a:ext cx="228600" cy="228600"/>
          </a:xfrm>
          <a:prstGeom prst="rect">
            <a:avLst/>
          </a:prstGeom>
        </p:spPr>
      </p:pic>
      <p:sp>
        <p:nvSpPr>
          <p:cNvPr id="16" name="Text 10"/>
          <p:cNvSpPr txBox="1"/>
          <p:nvPr/>
        </p:nvSpPr>
        <p:spPr>
          <a:xfrm>
            <a:off x="7040880" y="189280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The decision question</a:t>
            </a:r>
            <a:endParaRPr lang="en-US" sz="1550" dirty="0"/>
          </a:p>
        </p:txBody>
      </p:sp>
      <p:sp>
        <p:nvSpPr>
          <p:cNvPr id="17" name="Text 11"/>
          <p:cNvSpPr txBox="1"/>
          <p:nvPr/>
        </p:nvSpPr>
        <p:spPr>
          <a:xfrm>
            <a:off x="6492240" y="2468880"/>
            <a:ext cx="4754880" cy="118872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(a) Which methods would you use to forecast demand and set stock levels? (b) How would you use basket data? (c) How would you know your plan worked? (d) Name two risks.</a:t>
            </a:r>
            <a:endParaRPr lang="en-US" sz="1300" dirty="0"/>
          </a:p>
        </p:txBody>
      </p:sp>
      <p:sp>
        <p:nvSpPr>
          <p:cNvPr id="18" name="Shape 12"/>
          <p:cNvSpPr/>
          <p:nvPr/>
        </p:nvSpPr>
        <p:spPr>
          <a:xfrm>
            <a:off x="640080" y="402336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9" name="Shape 13"/>
          <p:cNvSpPr/>
          <p:nvPr/>
        </p:nvSpPr>
        <p:spPr>
          <a:xfrm>
            <a:off x="868680" y="4224528"/>
            <a:ext cx="457200" cy="457200"/>
          </a:xfrm>
          <a:prstGeom prst="ellipse">
            <a:avLst/>
          </a:prstGeom>
          <a:solidFill>
            <a:srgbClr val="0B5E82"/>
          </a:solidFill>
          <a:ln w="12700">
            <a:solidFill>
              <a:srgbClr val="0B5E82"/>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982980" y="4338828"/>
            <a:ext cx="228600" cy="228600"/>
          </a:xfrm>
          <a:prstGeom prst="rect">
            <a:avLst/>
          </a:prstGeom>
        </p:spPr>
      </p:pic>
      <p:sp>
        <p:nvSpPr>
          <p:cNvPr id="21" name="Text 14"/>
          <p:cNvSpPr txBox="1"/>
          <p:nvPr/>
        </p:nvSpPr>
        <p:spPr>
          <a:xfrm>
            <a:off x="1463040" y="422452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The data we have</a:t>
            </a:r>
            <a:endParaRPr lang="en-US" sz="1550" dirty="0"/>
          </a:p>
        </p:txBody>
      </p:sp>
      <p:sp>
        <p:nvSpPr>
          <p:cNvPr id="22" name="Text 15"/>
          <p:cNvSpPr txBox="1"/>
          <p:nvPr/>
        </p:nvSpPr>
        <p:spPr>
          <a:xfrm>
            <a:off x="914400" y="4800600"/>
            <a:ext cx="4754880" cy="118872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Weekly sales (store × product), loyalty baskets, staffing and temperature logs.</a:t>
            </a:r>
            <a:endParaRPr lang="en-US" sz="1300" dirty="0"/>
          </a:p>
        </p:txBody>
      </p:sp>
      <p:sp>
        <p:nvSpPr>
          <p:cNvPr id="23" name="Shape 16"/>
          <p:cNvSpPr/>
          <p:nvPr/>
        </p:nvSpPr>
        <p:spPr>
          <a:xfrm>
            <a:off x="6217920" y="402336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4" name="Shape 17"/>
          <p:cNvSpPr/>
          <p:nvPr/>
        </p:nvSpPr>
        <p:spPr>
          <a:xfrm>
            <a:off x="6446520" y="4224528"/>
            <a:ext cx="457200" cy="457200"/>
          </a:xfrm>
          <a:prstGeom prst="ellipse">
            <a:avLst/>
          </a:prstGeom>
          <a:solidFill>
            <a:srgbClr val="0B5E82"/>
          </a:solidFill>
          <a:ln w="12700">
            <a:solidFill>
              <a:srgbClr val="0B5E82"/>
            </a:solidFill>
            <a:prstDash val="solid"/>
          </a:ln>
        </p:spPr>
        <p:txBody>
          <a:bodyPr/>
          <a:p/>
        </p:txBody>
      </p:sp>
      <p:pic>
        <p:nvPicPr>
          <p:cNvPr id="25" name="Image 4" descr="preencoded.png">    </p:cNvPr>
          <p:cNvPicPr>
            <a:picLocks noChangeAspect="1"/>
          </p:cNvPicPr>
          <p:nvPr/>
        </p:nvPicPr>
        <p:blipFill>
          <a:blip r:embed="rId5"/>
          <a:stretch>
            <a:fillRect/>
          </a:stretch>
        </p:blipFill>
        <p:spPr>
          <a:xfrm>
            <a:off x="6560820" y="4338828"/>
            <a:ext cx="228600" cy="228600"/>
          </a:xfrm>
          <a:prstGeom prst="rect">
            <a:avLst/>
          </a:prstGeom>
        </p:spPr>
      </p:pic>
      <p:sp>
        <p:nvSpPr>
          <p:cNvPr id="26" name="Text 18"/>
          <p:cNvSpPr txBox="1"/>
          <p:nvPr/>
        </p:nvSpPr>
        <p:spPr>
          <a:xfrm>
            <a:off x="7040880" y="422452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What a good answer looks like</a:t>
            </a:r>
            <a:endParaRPr lang="en-US" sz="1550" dirty="0"/>
          </a:p>
        </p:txBody>
      </p:sp>
      <p:sp>
        <p:nvSpPr>
          <p:cNvPr id="27" name="Text 19"/>
          <p:cNvSpPr txBox="1"/>
          <p:nvPr/>
        </p:nvSpPr>
        <p:spPr>
          <a:xfrm>
            <a:off x="6492240" y="4800600"/>
            <a:ext cx="4754880" cy="118872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A forecasting-plus-inventory plan, a cross-sell idea, an evaluation design, and the risks, all in business language.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SAMPLE SECTION A</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Sample Integrative Question</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18</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4"/>
          <p:cNvSpPr/>
          <p:nvPr/>
        </p:nvSpPr>
        <p:spPr>
          <a:xfrm>
            <a:off x="640080" y="1783080"/>
            <a:ext cx="640080" cy="640080"/>
          </a:xfrm>
          <a:prstGeom prst="ellipse">
            <a:avLst/>
          </a:prstGeom>
          <a:solidFill>
            <a:srgbClr val="D99A2B"/>
          </a:solidFill>
          <a:ln w="12700">
            <a:solidFill>
              <a:srgbClr val="D99A2B"/>
            </a:solidFill>
            <a:prstDash val="solid"/>
          </a:ln>
        </p:spPr>
        <p:txBody>
          <a:bodyPr/>
          <a:p/>
        </p:txBody>
      </p:sp>
      <p:pic>
        <p:nvPicPr>
          <p:cNvPr id="9" name="Image 1" descr="preencoded.png">    </p:cNvPr>
          <p:cNvPicPr>
            <a:picLocks noChangeAspect="1"/>
          </p:cNvPicPr>
          <p:nvPr/>
        </p:nvPicPr>
        <p:blipFill>
          <a:blip r:embed="rId2"/>
          <a:stretch>
            <a:fillRect/>
          </a:stretch>
        </p:blipFill>
        <p:spPr>
          <a:xfrm>
            <a:off x="800100" y="1943100"/>
            <a:ext cx="320040" cy="320040"/>
          </a:xfrm>
          <a:prstGeom prst="rect">
            <a:avLst/>
          </a:prstGeom>
        </p:spPr>
      </p:pic>
      <p:sp>
        <p:nvSpPr>
          <p:cNvPr id="10" name="Text 5"/>
          <p:cNvSpPr txBox="1"/>
          <p:nvPr/>
        </p:nvSpPr>
        <p:spPr>
          <a:xfrm>
            <a:off x="1508760" y="1691640"/>
            <a:ext cx="9966960" cy="1097280"/>
          </a:xfrm>
          <a:prstGeom prst="rect">
            <a:avLst/>
          </a:prstGeom>
          <a:noFill/>
          <a:ln/>
        </p:spPr>
        <p:txBody>
          <a:bodyPr wrap="square" lIns="0" tIns="0" rIns="0" bIns="0" rtlCol="0" anchor="ctr"/>
          <a:lstStyle/>
          <a:p>
            <a:pPr indent="0" marL="0">
              <a:buNone/>
            </a:pPr>
            <a:r>
              <a:rPr lang="en-US" sz="1900" dirty="0">
                <a:solidFill>
                  <a:srgbClr val="141B4D"/>
                </a:solidFill>
                <a:latin typeface="Cambria" pitchFamily="34" charset="0"/>
                <a:ea typeface="Cambria" pitchFamily="34" charset="-122"/>
                <a:cs typeface="Cambria" pitchFamily="34" charset="-120"/>
              </a:rPr>
              <a:t>A fintech's new credit model has a higher AUC than the old one, but approves 30% fewer applicants from northern states. What should happen before deployment?</a:t>
            </a:r>
            <a:endParaRPr lang="en-US" sz="1900" dirty="0"/>
          </a:p>
        </p:txBody>
      </p:sp>
      <p:sp>
        <p:nvSpPr>
          <p:cNvPr id="11" name="Shape 6"/>
          <p:cNvSpPr/>
          <p:nvPr/>
        </p:nvSpPr>
        <p:spPr>
          <a:xfrm>
            <a:off x="1508760" y="3017520"/>
            <a:ext cx="9966960" cy="594360"/>
          </a:xfrm>
          <a:prstGeom prst="roundRect">
            <a:avLst>
              <a:gd name="adj" fmla="val 9231"/>
            </a:avLst>
          </a:prstGeom>
          <a:solidFill>
            <a:srgbClr val="F3F6F9"/>
          </a:solidFill>
          <a:ln w="9525">
            <a:solidFill>
              <a:srgbClr val="E1E7EE"/>
            </a:solidFill>
            <a:prstDash val="solid"/>
          </a:ln>
        </p:spPr>
        <p:txBody>
          <a:bodyPr/>
          <a:p/>
        </p:txBody>
      </p:sp>
      <p:sp>
        <p:nvSpPr>
          <p:cNvPr id="12" name="Shape 7"/>
          <p:cNvSpPr/>
          <p:nvPr/>
        </p:nvSpPr>
        <p:spPr>
          <a:xfrm>
            <a:off x="1691640" y="3122676"/>
            <a:ext cx="384048" cy="384048"/>
          </a:xfrm>
          <a:prstGeom prst="ellipse">
            <a:avLst/>
          </a:prstGeom>
          <a:solidFill>
            <a:srgbClr val="0B5E82"/>
          </a:solidFill>
          <a:ln w="12700">
            <a:solidFill>
              <a:srgbClr val="0B5E82"/>
            </a:solidFill>
            <a:prstDash val="solid"/>
          </a:ln>
        </p:spPr>
        <p:txBody>
          <a:bodyPr/>
          <a:p/>
        </p:txBody>
      </p:sp>
      <p:sp>
        <p:nvSpPr>
          <p:cNvPr id="13" name="Text 8"/>
          <p:cNvSpPr txBox="1"/>
          <p:nvPr/>
        </p:nvSpPr>
        <p:spPr>
          <a:xfrm>
            <a:off x="1691640" y="31226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9"/>
          <p:cNvSpPr txBox="1"/>
          <p:nvPr/>
        </p:nvSpPr>
        <p:spPr>
          <a:xfrm>
            <a:off x="2286000" y="3017520"/>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Deploy: higher AUC means a better model</a:t>
            </a:r>
            <a:endParaRPr lang="en-US" sz="1450" dirty="0"/>
          </a:p>
        </p:txBody>
      </p:sp>
      <p:sp>
        <p:nvSpPr>
          <p:cNvPr id="15" name="Shape 10"/>
          <p:cNvSpPr/>
          <p:nvPr/>
        </p:nvSpPr>
        <p:spPr>
          <a:xfrm>
            <a:off x="1508760" y="3721608"/>
            <a:ext cx="9966960" cy="594360"/>
          </a:xfrm>
          <a:prstGeom prst="roundRect">
            <a:avLst>
              <a:gd name="adj" fmla="val 9231"/>
            </a:avLst>
          </a:prstGeom>
          <a:solidFill>
            <a:srgbClr val="F3F6F9"/>
          </a:solidFill>
          <a:ln w="9525">
            <a:solidFill>
              <a:srgbClr val="E1E7EE"/>
            </a:solidFill>
            <a:prstDash val="solid"/>
          </a:ln>
        </p:spPr>
        <p:txBody>
          <a:bodyPr/>
          <a:p/>
        </p:txBody>
      </p:sp>
      <p:sp>
        <p:nvSpPr>
          <p:cNvPr id="16" name="Shape 11"/>
          <p:cNvSpPr/>
          <p:nvPr/>
        </p:nvSpPr>
        <p:spPr>
          <a:xfrm>
            <a:off x="1691640" y="3826764"/>
            <a:ext cx="384048" cy="384048"/>
          </a:xfrm>
          <a:prstGeom prst="ellipse">
            <a:avLst/>
          </a:prstGeom>
          <a:solidFill>
            <a:srgbClr val="0B5E82"/>
          </a:solidFill>
          <a:ln w="12700">
            <a:solidFill>
              <a:srgbClr val="0B5E82"/>
            </a:solidFill>
            <a:prstDash val="solid"/>
          </a:ln>
        </p:spPr>
        <p:txBody>
          <a:bodyPr/>
          <a:p/>
        </p:txBody>
      </p:sp>
      <p:sp>
        <p:nvSpPr>
          <p:cNvPr id="17" name="Text 12"/>
          <p:cNvSpPr txBox="1"/>
          <p:nvPr/>
        </p:nvSpPr>
        <p:spPr>
          <a:xfrm>
            <a:off x="1691640" y="38267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3"/>
          <p:cNvSpPr txBox="1"/>
          <p:nvPr/>
        </p:nvSpPr>
        <p:spPr>
          <a:xfrm>
            <a:off x="2286000" y="3721608"/>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Audit outcomes and error rates by region, investigate proxies, estimate the profit and fairness trade-off, and agree governance</a:t>
            </a:r>
            <a:endParaRPr lang="en-US" sz="1450" dirty="0"/>
          </a:p>
        </p:txBody>
      </p:sp>
      <p:sp>
        <p:nvSpPr>
          <p:cNvPr id="19" name="Shape 14"/>
          <p:cNvSpPr/>
          <p:nvPr/>
        </p:nvSpPr>
        <p:spPr>
          <a:xfrm>
            <a:off x="1508760" y="4425696"/>
            <a:ext cx="9966960" cy="594360"/>
          </a:xfrm>
          <a:prstGeom prst="roundRect">
            <a:avLst>
              <a:gd name="adj" fmla="val 9231"/>
            </a:avLst>
          </a:prstGeom>
          <a:solidFill>
            <a:srgbClr val="F3F6F9"/>
          </a:solidFill>
          <a:ln w="9525">
            <a:solidFill>
              <a:srgbClr val="E1E7EE"/>
            </a:solidFill>
            <a:prstDash val="solid"/>
          </a:ln>
        </p:spPr>
        <p:txBody>
          <a:bodyPr/>
          <a:p/>
        </p:txBody>
      </p:sp>
      <p:sp>
        <p:nvSpPr>
          <p:cNvPr id="20" name="Shape 15"/>
          <p:cNvSpPr/>
          <p:nvPr/>
        </p:nvSpPr>
        <p:spPr>
          <a:xfrm>
            <a:off x="1691640" y="4530852"/>
            <a:ext cx="384048" cy="384048"/>
          </a:xfrm>
          <a:prstGeom prst="ellipse">
            <a:avLst/>
          </a:prstGeom>
          <a:solidFill>
            <a:srgbClr val="0B5E82"/>
          </a:solidFill>
          <a:ln w="12700">
            <a:solidFill>
              <a:srgbClr val="0B5E82"/>
            </a:solidFill>
            <a:prstDash val="solid"/>
          </a:ln>
        </p:spPr>
        <p:txBody>
          <a:bodyPr/>
          <a:p/>
        </p:txBody>
      </p:sp>
      <p:sp>
        <p:nvSpPr>
          <p:cNvPr id="21" name="Text 16"/>
          <p:cNvSpPr txBox="1"/>
          <p:nvPr/>
        </p:nvSpPr>
        <p:spPr>
          <a:xfrm>
            <a:off x="1691640" y="45308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7"/>
          <p:cNvSpPr txBox="1"/>
          <p:nvPr/>
        </p:nvSpPr>
        <p:spPr>
          <a:xfrm>
            <a:off x="2286000" y="4425696"/>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Remove the region column and deploy</a:t>
            </a:r>
            <a:endParaRPr lang="en-US" sz="1450" dirty="0"/>
          </a:p>
        </p:txBody>
      </p:sp>
      <p:sp>
        <p:nvSpPr>
          <p:cNvPr id="23" name="Shape 18"/>
          <p:cNvSpPr/>
          <p:nvPr/>
        </p:nvSpPr>
        <p:spPr>
          <a:xfrm>
            <a:off x="1508760" y="5129784"/>
            <a:ext cx="9966960" cy="594360"/>
          </a:xfrm>
          <a:prstGeom prst="roundRect">
            <a:avLst>
              <a:gd name="adj" fmla="val 9231"/>
            </a:avLst>
          </a:prstGeom>
          <a:solidFill>
            <a:srgbClr val="F3F6F9"/>
          </a:solidFill>
          <a:ln w="9525">
            <a:solidFill>
              <a:srgbClr val="E1E7EE"/>
            </a:solidFill>
            <a:prstDash val="solid"/>
          </a:ln>
        </p:spPr>
        <p:txBody>
          <a:bodyPr/>
          <a:p/>
        </p:txBody>
      </p:sp>
      <p:sp>
        <p:nvSpPr>
          <p:cNvPr id="24" name="Shape 19"/>
          <p:cNvSpPr/>
          <p:nvPr/>
        </p:nvSpPr>
        <p:spPr>
          <a:xfrm>
            <a:off x="1691640" y="5234940"/>
            <a:ext cx="384048" cy="384048"/>
          </a:xfrm>
          <a:prstGeom prst="ellipse">
            <a:avLst/>
          </a:prstGeom>
          <a:solidFill>
            <a:srgbClr val="0B5E82"/>
          </a:solidFill>
          <a:ln w="12700">
            <a:solidFill>
              <a:srgbClr val="0B5E82"/>
            </a:solidFill>
            <a:prstDash val="solid"/>
          </a:ln>
        </p:spPr>
        <p:txBody>
          <a:bodyPr/>
          <a:p/>
        </p:txBody>
      </p:sp>
      <p:sp>
        <p:nvSpPr>
          <p:cNvPr id="25" name="Text 20"/>
          <p:cNvSpPr txBox="1"/>
          <p:nvPr/>
        </p:nvSpPr>
        <p:spPr>
          <a:xfrm>
            <a:off x="1691640" y="52349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6" name="Text 21"/>
          <p:cNvSpPr txBox="1"/>
          <p:nvPr/>
        </p:nvSpPr>
        <p:spPr>
          <a:xfrm>
            <a:off x="2286000" y="5129784"/>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Keep the old model forever</a:t>
            </a:r>
            <a:endParaRPr lang="en-US" sz="1450" dirty="0"/>
          </a:p>
        </p:txBody>
      </p:sp>
      <p:sp>
        <p:nvSpPr>
          <p:cNvPr id="27" name="Text 22"/>
          <p:cNvSpPr txBox="1"/>
          <p:nvPr/>
        </p:nvSpPr>
        <p:spPr>
          <a:xfrm>
            <a:off x="1508760" y="5897880"/>
            <a:ext cx="9966960" cy="274320"/>
          </a:xfrm>
          <a:prstGeom prst="rect">
            <a:avLst/>
          </a:prstGeom>
          <a:noFill/>
          <a:ln/>
        </p:spPr>
        <p:txBody>
          <a:bodyPr wrap="square" lIns="0" tIns="0" rIns="0" bIns="0" rtlCol="0" anchor="t"/>
          <a:lstStyle/>
          <a:p>
            <a:pPr indent="0" marL="0">
              <a:buNone/>
            </a:pPr>
            <a:r>
              <a:rPr lang="en-US" sz="1100" i="1" dirty="0">
                <a:solidFill>
                  <a:srgbClr val="5C6B7A"/>
                </a:solidFill>
                <a:latin typeface="Calibri" pitchFamily="34" charset="0"/>
                <a:ea typeface="Calibri" pitchFamily="34" charset="-122"/>
                <a:cs typeface="Calibri" pitchFamily="34" charset="-120"/>
              </a:rPr>
              <a:t>Discuss with your neighbour for 60 seconds — answer and reasoning in the speaker notes.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EXAM TIPS</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How to Earn the Marks</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19</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640080" y="1691640"/>
            <a:ext cx="34747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8" name="Shape 5"/>
          <p:cNvSpPr/>
          <p:nvPr/>
        </p:nvSpPr>
        <p:spPr>
          <a:xfrm>
            <a:off x="868680" y="1892808"/>
            <a:ext cx="457200" cy="457200"/>
          </a:xfrm>
          <a:prstGeom prst="ellipse">
            <a:avLst/>
          </a:prstGeom>
          <a:solidFill>
            <a:srgbClr val="0B5E82"/>
          </a:solidFill>
          <a:ln w="12700">
            <a:solidFill>
              <a:srgbClr val="0B5E82"/>
            </a:solidFill>
            <a:prstDash val="solid"/>
          </a:ln>
        </p:spPr>
        <p:txBody>
          <a:bodyPr/>
          <a:p/>
        </p:txBody>
      </p:sp>
      <p:pic>
        <p:nvPicPr>
          <p:cNvPr id="9" name="Image 1" descr="preencoded.png">    </p:cNvPr>
          <p:cNvPicPr>
            <a:picLocks noChangeAspect="1"/>
          </p:cNvPicPr>
          <p:nvPr/>
        </p:nvPicPr>
        <p:blipFill>
          <a:blip r:embed="rId2"/>
          <a:stretch>
            <a:fillRect/>
          </a:stretch>
        </p:blipFill>
        <p:spPr>
          <a:xfrm>
            <a:off x="982980" y="2007108"/>
            <a:ext cx="228600" cy="228600"/>
          </a:xfrm>
          <a:prstGeom prst="rect">
            <a:avLst/>
          </a:prstGeom>
        </p:spPr>
      </p:pic>
      <p:sp>
        <p:nvSpPr>
          <p:cNvPr id="10" name="Text 6"/>
          <p:cNvSpPr txBox="1"/>
          <p:nvPr/>
        </p:nvSpPr>
        <p:spPr>
          <a:xfrm>
            <a:off x="1463040" y="187452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Answer the question asked</a:t>
            </a:r>
            <a:endParaRPr lang="en-US" sz="1500" dirty="0"/>
          </a:p>
        </p:txBody>
      </p:sp>
      <p:sp>
        <p:nvSpPr>
          <p:cNvPr id="11" name="Text 7"/>
          <p:cNvSpPr txBox="1"/>
          <p:nvPr/>
        </p:nvSpPr>
        <p:spPr>
          <a:xfrm>
            <a:off x="868680" y="2468880"/>
            <a:ext cx="301752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Underline the decision in the question; end every answer with what the manager should do.</a:t>
            </a:r>
            <a:endParaRPr lang="en-US" sz="1250" dirty="0"/>
          </a:p>
        </p:txBody>
      </p:sp>
      <p:sp>
        <p:nvSpPr>
          <p:cNvPr id="12" name="Shape 8"/>
          <p:cNvSpPr/>
          <p:nvPr/>
        </p:nvSpPr>
        <p:spPr>
          <a:xfrm>
            <a:off x="4343400" y="1691640"/>
            <a:ext cx="34747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3" name="Shape 9"/>
          <p:cNvSpPr/>
          <p:nvPr/>
        </p:nvSpPr>
        <p:spPr>
          <a:xfrm>
            <a:off x="4572000" y="1892808"/>
            <a:ext cx="457200" cy="457200"/>
          </a:xfrm>
          <a:prstGeom prst="ellipse">
            <a:avLst/>
          </a:prstGeom>
          <a:solidFill>
            <a:srgbClr val="0B5E82"/>
          </a:solidFill>
          <a:ln w="12700">
            <a:solidFill>
              <a:srgbClr val="0B5E82"/>
            </a:solidFill>
            <a:prstDash val="solid"/>
          </a:ln>
        </p:spPr>
        <p:txBody>
          <a:bodyPr/>
          <a:p/>
        </p:txBody>
      </p:sp>
      <p:pic>
        <p:nvPicPr>
          <p:cNvPr id="14" name="Image 2" descr="preencoded.png">    </p:cNvPr>
          <p:cNvPicPr>
            <a:picLocks noChangeAspect="1"/>
          </p:cNvPicPr>
          <p:nvPr/>
        </p:nvPicPr>
        <p:blipFill>
          <a:blip r:embed="rId3"/>
          <a:stretch>
            <a:fillRect/>
          </a:stretch>
        </p:blipFill>
        <p:spPr>
          <a:xfrm>
            <a:off x="4686300" y="2007108"/>
            <a:ext cx="228600" cy="228600"/>
          </a:xfrm>
          <a:prstGeom prst="rect">
            <a:avLst/>
          </a:prstGeom>
        </p:spPr>
      </p:pic>
      <p:sp>
        <p:nvSpPr>
          <p:cNvPr id="15" name="Text 10"/>
          <p:cNvSpPr txBox="1"/>
          <p:nvPr/>
        </p:nvSpPr>
        <p:spPr>
          <a:xfrm>
            <a:off x="5166360" y="187452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Show your working</a:t>
            </a:r>
            <a:endParaRPr lang="en-US" sz="1500" dirty="0"/>
          </a:p>
        </p:txBody>
      </p:sp>
      <p:sp>
        <p:nvSpPr>
          <p:cNvPr id="16" name="Text 11"/>
          <p:cNvSpPr txBox="1"/>
          <p:nvPr/>
        </p:nvSpPr>
        <p:spPr>
          <a:xfrm>
            <a:off x="4572000" y="2468880"/>
            <a:ext cx="301752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Write the formula, the numbers and the result: partial credit is generous.</a:t>
            </a:r>
            <a:endParaRPr lang="en-US" sz="1250" dirty="0"/>
          </a:p>
        </p:txBody>
      </p:sp>
      <p:sp>
        <p:nvSpPr>
          <p:cNvPr id="17" name="Shape 12"/>
          <p:cNvSpPr/>
          <p:nvPr/>
        </p:nvSpPr>
        <p:spPr>
          <a:xfrm>
            <a:off x="8046720" y="1691640"/>
            <a:ext cx="34747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8" name="Shape 13"/>
          <p:cNvSpPr/>
          <p:nvPr/>
        </p:nvSpPr>
        <p:spPr>
          <a:xfrm>
            <a:off x="8275320" y="1892808"/>
            <a:ext cx="457200" cy="457200"/>
          </a:xfrm>
          <a:prstGeom prst="ellipse">
            <a:avLst/>
          </a:prstGeom>
          <a:solidFill>
            <a:srgbClr val="D99A2B"/>
          </a:solidFill>
          <a:ln w="12700">
            <a:solidFill>
              <a:srgbClr val="D99A2B"/>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8389620" y="2007108"/>
            <a:ext cx="228600" cy="228600"/>
          </a:xfrm>
          <a:prstGeom prst="rect">
            <a:avLst/>
          </a:prstGeom>
        </p:spPr>
      </p:pic>
      <p:sp>
        <p:nvSpPr>
          <p:cNvPr id="20" name="Text 14"/>
          <p:cNvSpPr txBox="1"/>
          <p:nvPr/>
        </p:nvSpPr>
        <p:spPr>
          <a:xfrm>
            <a:off x="8869680" y="187452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Put it in naira</a:t>
            </a:r>
            <a:endParaRPr lang="en-US" sz="1500" dirty="0"/>
          </a:p>
        </p:txBody>
      </p:sp>
      <p:sp>
        <p:nvSpPr>
          <p:cNvPr id="21" name="Text 15"/>
          <p:cNvSpPr txBox="1"/>
          <p:nvPr/>
        </p:nvSpPr>
        <p:spPr>
          <a:xfrm>
            <a:off x="8275320" y="2468880"/>
            <a:ext cx="301752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Translate statistics into money, customers or risk wherever you can.</a:t>
            </a:r>
            <a:endParaRPr lang="en-US" sz="1250" dirty="0"/>
          </a:p>
        </p:txBody>
      </p:sp>
      <p:sp>
        <p:nvSpPr>
          <p:cNvPr id="22" name="Shape 16"/>
          <p:cNvSpPr/>
          <p:nvPr/>
        </p:nvSpPr>
        <p:spPr>
          <a:xfrm>
            <a:off x="640080" y="4023360"/>
            <a:ext cx="34747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3" name="Shape 17"/>
          <p:cNvSpPr/>
          <p:nvPr/>
        </p:nvSpPr>
        <p:spPr>
          <a:xfrm>
            <a:off x="868680" y="4224528"/>
            <a:ext cx="457200" cy="457200"/>
          </a:xfrm>
          <a:prstGeom prst="ellipse">
            <a:avLst/>
          </a:prstGeom>
          <a:solidFill>
            <a:srgbClr val="0B5E82"/>
          </a:solidFill>
          <a:ln w="12700">
            <a:solidFill>
              <a:srgbClr val="0B5E82"/>
            </a:solidFill>
            <a:prstDash val="solid"/>
          </a:ln>
        </p:spPr>
        <p:txBody>
          <a:bodyPr/>
          <a:p/>
        </p:txBody>
      </p:sp>
      <p:pic>
        <p:nvPicPr>
          <p:cNvPr id="24" name="Image 4" descr="preencoded.png">    </p:cNvPr>
          <p:cNvPicPr>
            <a:picLocks noChangeAspect="1"/>
          </p:cNvPicPr>
          <p:nvPr/>
        </p:nvPicPr>
        <p:blipFill>
          <a:blip r:embed="rId5"/>
          <a:stretch>
            <a:fillRect/>
          </a:stretch>
        </p:blipFill>
        <p:spPr>
          <a:xfrm>
            <a:off x="982980" y="4338828"/>
            <a:ext cx="228600" cy="228600"/>
          </a:xfrm>
          <a:prstGeom prst="rect">
            <a:avLst/>
          </a:prstGeom>
        </p:spPr>
      </p:pic>
      <p:sp>
        <p:nvSpPr>
          <p:cNvPr id="25" name="Text 18"/>
          <p:cNvSpPr txBox="1"/>
          <p:nvPr/>
        </p:nvSpPr>
        <p:spPr>
          <a:xfrm>
            <a:off x="1463040" y="420624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Name a limitation</a:t>
            </a:r>
            <a:endParaRPr lang="en-US" sz="1500" dirty="0"/>
          </a:p>
        </p:txBody>
      </p:sp>
      <p:sp>
        <p:nvSpPr>
          <p:cNvPr id="26" name="Text 19"/>
          <p:cNvSpPr txBox="1"/>
          <p:nvPr/>
        </p:nvSpPr>
        <p:spPr>
          <a:xfrm>
            <a:off x="868680" y="4800600"/>
            <a:ext cx="301752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Correlation vs causation, data quality, sample size, drift: one well-chosen caveat earns marks.</a:t>
            </a:r>
            <a:endParaRPr lang="en-US" sz="1250" dirty="0"/>
          </a:p>
        </p:txBody>
      </p:sp>
      <p:sp>
        <p:nvSpPr>
          <p:cNvPr id="27" name="Shape 20"/>
          <p:cNvSpPr/>
          <p:nvPr/>
        </p:nvSpPr>
        <p:spPr>
          <a:xfrm>
            <a:off x="4343400" y="4023360"/>
            <a:ext cx="34747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8" name="Shape 21"/>
          <p:cNvSpPr/>
          <p:nvPr/>
        </p:nvSpPr>
        <p:spPr>
          <a:xfrm>
            <a:off x="4572000" y="4224528"/>
            <a:ext cx="457200" cy="457200"/>
          </a:xfrm>
          <a:prstGeom prst="ellipse">
            <a:avLst/>
          </a:prstGeom>
          <a:solidFill>
            <a:srgbClr val="0B5E82"/>
          </a:solidFill>
          <a:ln w="12700">
            <a:solidFill>
              <a:srgbClr val="0B5E82"/>
            </a:solidFill>
            <a:prstDash val="solid"/>
          </a:ln>
        </p:spPr>
        <p:txBody>
          <a:bodyPr/>
          <a:p/>
        </p:txBody>
      </p:sp>
      <p:pic>
        <p:nvPicPr>
          <p:cNvPr id="29" name="Image 5" descr="preencoded.png">    </p:cNvPr>
          <p:cNvPicPr>
            <a:picLocks noChangeAspect="1"/>
          </p:cNvPicPr>
          <p:nvPr/>
        </p:nvPicPr>
        <p:blipFill>
          <a:blip r:embed="rId6"/>
          <a:stretch>
            <a:fillRect/>
          </a:stretch>
        </p:blipFill>
        <p:spPr>
          <a:xfrm>
            <a:off x="4686300" y="4338828"/>
            <a:ext cx="228600" cy="228600"/>
          </a:xfrm>
          <a:prstGeom prst="rect">
            <a:avLst/>
          </a:prstGeom>
        </p:spPr>
      </p:pic>
      <p:sp>
        <p:nvSpPr>
          <p:cNvPr id="30" name="Text 22"/>
          <p:cNvSpPr txBox="1"/>
          <p:nvPr/>
        </p:nvSpPr>
        <p:spPr>
          <a:xfrm>
            <a:off x="5166360" y="420624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Watch the clock</a:t>
            </a:r>
            <a:endParaRPr lang="en-US" sz="1500" dirty="0"/>
          </a:p>
        </p:txBody>
      </p:sp>
      <p:sp>
        <p:nvSpPr>
          <p:cNvPr id="31" name="Text 23"/>
          <p:cNvSpPr txBox="1"/>
          <p:nvPr/>
        </p:nvSpPr>
        <p:spPr>
          <a:xfrm>
            <a:off x="4572000" y="4800600"/>
            <a:ext cx="301752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Marks ≈ minutes. Don't spend 20 minutes on a 5-mark question.</a:t>
            </a:r>
            <a:endParaRPr lang="en-US" sz="1250" dirty="0"/>
          </a:p>
        </p:txBody>
      </p:sp>
      <p:sp>
        <p:nvSpPr>
          <p:cNvPr id="32" name="Shape 24"/>
          <p:cNvSpPr/>
          <p:nvPr/>
        </p:nvSpPr>
        <p:spPr>
          <a:xfrm>
            <a:off x="8046720" y="4023360"/>
            <a:ext cx="34747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33" name="Shape 25"/>
          <p:cNvSpPr/>
          <p:nvPr/>
        </p:nvSpPr>
        <p:spPr>
          <a:xfrm>
            <a:off x="8275320" y="4224528"/>
            <a:ext cx="457200" cy="457200"/>
          </a:xfrm>
          <a:prstGeom prst="ellipse">
            <a:avLst/>
          </a:prstGeom>
          <a:solidFill>
            <a:srgbClr val="0B5E82"/>
          </a:solidFill>
          <a:ln w="12700">
            <a:solidFill>
              <a:srgbClr val="0B5E82"/>
            </a:solidFill>
            <a:prstDash val="solid"/>
          </a:ln>
        </p:spPr>
        <p:txBody>
          <a:bodyPr/>
          <a:p/>
        </p:txBody>
      </p:sp>
      <p:pic>
        <p:nvPicPr>
          <p:cNvPr id="34" name="Image 6" descr="preencoded.png">    </p:cNvPr>
          <p:cNvPicPr>
            <a:picLocks noChangeAspect="1"/>
          </p:cNvPicPr>
          <p:nvPr/>
        </p:nvPicPr>
        <p:blipFill>
          <a:blip r:embed="rId7"/>
          <a:stretch>
            <a:fillRect/>
          </a:stretch>
        </p:blipFill>
        <p:spPr>
          <a:xfrm>
            <a:off x="8389620" y="4338828"/>
            <a:ext cx="228600" cy="228600"/>
          </a:xfrm>
          <a:prstGeom prst="rect">
            <a:avLst/>
          </a:prstGeom>
        </p:spPr>
      </p:pic>
      <p:sp>
        <p:nvSpPr>
          <p:cNvPr id="35" name="Text 26"/>
          <p:cNvSpPr txBox="1"/>
          <p:nvPr/>
        </p:nvSpPr>
        <p:spPr>
          <a:xfrm>
            <a:off x="8869680" y="420624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Practise with the papers</a:t>
            </a:r>
            <a:endParaRPr lang="en-US" sz="1500" dirty="0"/>
          </a:p>
        </p:txBody>
      </p:sp>
      <p:sp>
        <p:nvSpPr>
          <p:cNvPr id="36" name="Text 27"/>
          <p:cNvSpPr txBox="1"/>
          <p:nvPr/>
        </p:nvSpPr>
        <p:spPr>
          <a:xfrm>
            <a:off x="8275320" y="4800600"/>
            <a:ext cx="301752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Re-run the Practice Papers 1, 2 and 3 practice papers; model answers are in the speaker notes.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1828800"/>
            <a:ext cx="5486400" cy="320040"/>
          </a:xfrm>
          <a:prstGeom prst="rect">
            <a:avLst/>
          </a:prstGeom>
          <a:noFill/>
          <a:ln/>
        </p:spPr>
        <p:txBody>
          <a:bodyPr wrap="square" lIns="0" tIns="0" rIns="0" bIns="0" rtlCol="0" anchor="t"/>
          <a:lstStyle/>
          <a:p>
            <a:pPr indent="0" marL="0">
              <a:buNone/>
            </a:pPr>
            <a:r>
              <a:rPr lang="en-US" sz="1300" b="1" spc="400" kern="0" dirty="0">
                <a:solidFill>
                  <a:srgbClr val="D99A2B"/>
                </a:solidFill>
                <a:latin typeface="Calibri" pitchFamily="34" charset="0"/>
                <a:ea typeface="Calibri" pitchFamily="34" charset="-122"/>
                <a:cs typeface="Calibri" pitchFamily="34" charset="-120"/>
              </a:rPr>
              <a:t>PART</a:t>
            </a:r>
            <a:endParaRPr lang="en-US" sz="1300" dirty="0"/>
          </a:p>
        </p:txBody>
      </p:sp>
      <p:sp>
        <p:nvSpPr>
          <p:cNvPr id="5" name="Text 3"/>
          <p:cNvSpPr txBox="1"/>
          <p:nvPr/>
        </p:nvSpPr>
        <p:spPr>
          <a:xfrm>
            <a:off x="822960" y="2148840"/>
            <a:ext cx="2743200" cy="1097280"/>
          </a:xfrm>
          <a:prstGeom prst="rect">
            <a:avLst/>
          </a:prstGeom>
          <a:noFill/>
          <a:ln/>
        </p:spPr>
        <p:txBody>
          <a:bodyPr wrap="square" lIns="0" tIns="0" rIns="0" bIns="0" rtlCol="0" anchor="t"/>
          <a:lstStyle/>
          <a:p>
            <a:pPr indent="0" marL="0">
              <a:buNone/>
            </a:pPr>
            <a:r>
              <a:rPr lang="en-US" sz="7200" b="1" dirty="0">
                <a:solidFill>
                  <a:srgbClr val="AAB9CC"/>
                </a:solidFill>
                <a:latin typeface="Cambria" pitchFamily="34" charset="0"/>
                <a:ea typeface="Cambria" pitchFamily="34" charset="-122"/>
                <a:cs typeface="Cambria" pitchFamily="34" charset="-120"/>
              </a:rPr>
              <a:t>04</a:t>
            </a:r>
            <a:endParaRPr lang="en-US" sz="7200" dirty="0"/>
          </a:p>
        </p:txBody>
      </p:sp>
      <p:sp>
        <p:nvSpPr>
          <p:cNvPr id="6" name="Text 4"/>
          <p:cNvSpPr txBox="1"/>
          <p:nvPr/>
        </p:nvSpPr>
        <p:spPr>
          <a:xfrm>
            <a:off x="822960" y="3291840"/>
            <a:ext cx="86868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Building Your Analytics Practice</a:t>
            </a:r>
            <a:endParaRPr lang="en-US" sz="3600" dirty="0"/>
          </a:p>
        </p:txBody>
      </p:sp>
      <p:sp>
        <p:nvSpPr>
          <p:cNvPr id="7" name="Text 5"/>
          <p:cNvSpPr txBox="1"/>
          <p:nvPr/>
        </p:nvSpPr>
        <p:spPr>
          <a:xfrm>
            <a:off x="822960" y="4251960"/>
            <a:ext cx="8229600" cy="73152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Chapter 64: what happens after the course.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NEXT 90 DAYS</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Turn the Course Into Results at Work</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5.4  ·  CAPSTONE: FROM QUESTION TO RECOMMENDATION</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21</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640080" y="1691640"/>
            <a:ext cx="532638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8" name="Shape 5"/>
          <p:cNvSpPr/>
          <p:nvPr/>
        </p:nvSpPr>
        <p:spPr>
          <a:xfrm>
            <a:off x="868680" y="1892808"/>
            <a:ext cx="457200" cy="457200"/>
          </a:xfrm>
          <a:prstGeom prst="ellipse">
            <a:avLst/>
          </a:prstGeom>
          <a:solidFill>
            <a:srgbClr val="0B5E82"/>
          </a:solidFill>
          <a:ln w="12700">
            <a:solidFill>
              <a:srgbClr val="0B5E82"/>
            </a:solidFill>
            <a:prstDash val="solid"/>
          </a:ln>
        </p:spPr>
        <p:txBody>
          <a:bodyPr/>
          <a:p/>
        </p:txBody>
      </p:sp>
      <p:pic>
        <p:nvPicPr>
          <p:cNvPr id="9" name="Image 1" descr="preencoded.png">    </p:cNvPr>
          <p:cNvPicPr>
            <a:picLocks noChangeAspect="1"/>
          </p:cNvPicPr>
          <p:nvPr/>
        </p:nvPicPr>
        <p:blipFill>
          <a:blip r:embed="rId2"/>
          <a:stretch>
            <a:fillRect/>
          </a:stretch>
        </p:blipFill>
        <p:spPr>
          <a:xfrm>
            <a:off x="982980" y="2007108"/>
            <a:ext cx="228600" cy="228600"/>
          </a:xfrm>
          <a:prstGeom prst="rect">
            <a:avLst/>
          </a:prstGeom>
        </p:spPr>
      </p:pic>
      <p:sp>
        <p:nvSpPr>
          <p:cNvPr id="10" name="Text 6"/>
          <p:cNvSpPr txBox="1"/>
          <p:nvPr/>
        </p:nvSpPr>
        <p:spPr>
          <a:xfrm>
            <a:off x="1463040" y="187452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Pick one decision</a:t>
            </a:r>
            <a:endParaRPr lang="en-US" sz="1500" dirty="0"/>
          </a:p>
        </p:txBody>
      </p:sp>
      <p:sp>
        <p:nvSpPr>
          <p:cNvPr id="11" name="Text 7"/>
          <p:cNvSpPr txBox="1"/>
          <p:nvPr/>
        </p:nvSpPr>
        <p:spPr>
          <a:xfrm>
            <a:off x="868680" y="2468880"/>
            <a:ext cx="486918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Choose one recurring decision in your unit and measure how it's made today. Then improve it with data.</a:t>
            </a:r>
            <a:endParaRPr lang="en-US" sz="1250" dirty="0"/>
          </a:p>
        </p:txBody>
      </p:sp>
      <p:sp>
        <p:nvSpPr>
          <p:cNvPr id="12" name="Shape 8"/>
          <p:cNvSpPr/>
          <p:nvPr/>
        </p:nvSpPr>
        <p:spPr>
          <a:xfrm>
            <a:off x="6195060" y="1691640"/>
            <a:ext cx="532638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3" name="Shape 9"/>
          <p:cNvSpPr/>
          <p:nvPr/>
        </p:nvSpPr>
        <p:spPr>
          <a:xfrm>
            <a:off x="6423660" y="1892808"/>
            <a:ext cx="457200" cy="457200"/>
          </a:xfrm>
          <a:prstGeom prst="ellipse">
            <a:avLst/>
          </a:prstGeom>
          <a:solidFill>
            <a:srgbClr val="0B5E82"/>
          </a:solidFill>
          <a:ln w="12700">
            <a:solidFill>
              <a:srgbClr val="0B5E82"/>
            </a:solidFill>
            <a:prstDash val="solid"/>
          </a:ln>
        </p:spPr>
        <p:txBody>
          <a:bodyPr/>
          <a:p/>
        </p:txBody>
      </p:sp>
      <p:pic>
        <p:nvPicPr>
          <p:cNvPr id="14" name="Image 2" descr="preencoded.png">    </p:cNvPr>
          <p:cNvPicPr>
            <a:picLocks noChangeAspect="1"/>
          </p:cNvPicPr>
          <p:nvPr/>
        </p:nvPicPr>
        <p:blipFill>
          <a:blip r:embed="rId3"/>
          <a:stretch>
            <a:fillRect/>
          </a:stretch>
        </p:blipFill>
        <p:spPr>
          <a:xfrm>
            <a:off x="6537960" y="2007108"/>
            <a:ext cx="228600" cy="228600"/>
          </a:xfrm>
          <a:prstGeom prst="rect">
            <a:avLst/>
          </a:prstGeom>
        </p:spPr>
      </p:pic>
      <p:sp>
        <p:nvSpPr>
          <p:cNvPr id="15" name="Text 10"/>
          <p:cNvSpPr txBox="1"/>
          <p:nvPr/>
        </p:nvSpPr>
        <p:spPr>
          <a:xfrm>
            <a:off x="7018020" y="187452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Run one experiment</a:t>
            </a:r>
            <a:endParaRPr lang="en-US" sz="1500" dirty="0"/>
          </a:p>
        </p:txBody>
      </p:sp>
      <p:sp>
        <p:nvSpPr>
          <p:cNvPr id="16" name="Text 11"/>
          <p:cNvSpPr txBox="1"/>
          <p:nvPr/>
        </p:nvSpPr>
        <p:spPr>
          <a:xfrm>
            <a:off x="6423660" y="2468880"/>
            <a:ext cx="486918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A/B test one change (price, message, layout, process) and let the data decide.</a:t>
            </a:r>
            <a:endParaRPr lang="en-US" sz="1250" dirty="0"/>
          </a:p>
        </p:txBody>
      </p:sp>
      <p:sp>
        <p:nvSpPr>
          <p:cNvPr id="17" name="Shape 12"/>
          <p:cNvSpPr/>
          <p:nvPr/>
        </p:nvSpPr>
        <p:spPr>
          <a:xfrm>
            <a:off x="640080" y="4023360"/>
            <a:ext cx="532638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8" name="Shape 13"/>
          <p:cNvSpPr/>
          <p:nvPr/>
        </p:nvSpPr>
        <p:spPr>
          <a:xfrm>
            <a:off x="868680" y="4224528"/>
            <a:ext cx="457200" cy="457200"/>
          </a:xfrm>
          <a:prstGeom prst="ellipse">
            <a:avLst/>
          </a:prstGeom>
          <a:solidFill>
            <a:srgbClr val="D99A2B"/>
          </a:solidFill>
          <a:ln w="12700">
            <a:solidFill>
              <a:srgbClr val="D99A2B"/>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982980" y="4338828"/>
            <a:ext cx="228600" cy="228600"/>
          </a:xfrm>
          <a:prstGeom prst="rect">
            <a:avLst/>
          </a:prstGeom>
        </p:spPr>
      </p:pic>
      <p:sp>
        <p:nvSpPr>
          <p:cNvPr id="20" name="Text 14"/>
          <p:cNvSpPr txBox="1"/>
          <p:nvPr/>
        </p:nvSpPr>
        <p:spPr>
          <a:xfrm>
            <a:off x="1463040" y="420624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Build the team habit</a:t>
            </a:r>
            <a:endParaRPr lang="en-US" sz="1500" dirty="0"/>
          </a:p>
        </p:txBody>
      </p:sp>
      <p:sp>
        <p:nvSpPr>
          <p:cNvPr id="21" name="Text 15"/>
          <p:cNvSpPr txBox="1"/>
          <p:nvPr/>
        </p:nvSpPr>
        <p:spPr>
          <a:xfrm>
            <a:off x="868680" y="4800600"/>
            <a:ext cx="486918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Ask for the benchmark, the test-set result and the naira value in every analysis presented to you.</a:t>
            </a:r>
            <a:endParaRPr lang="en-US" sz="1250" dirty="0"/>
          </a:p>
        </p:txBody>
      </p:sp>
      <p:sp>
        <p:nvSpPr>
          <p:cNvPr id="22" name="Shape 16"/>
          <p:cNvSpPr/>
          <p:nvPr/>
        </p:nvSpPr>
        <p:spPr>
          <a:xfrm>
            <a:off x="6195060" y="4023360"/>
            <a:ext cx="532638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3" name="Shape 17"/>
          <p:cNvSpPr/>
          <p:nvPr/>
        </p:nvSpPr>
        <p:spPr>
          <a:xfrm>
            <a:off x="6423660" y="4224528"/>
            <a:ext cx="457200" cy="457200"/>
          </a:xfrm>
          <a:prstGeom prst="ellipse">
            <a:avLst/>
          </a:prstGeom>
          <a:solidFill>
            <a:srgbClr val="0B5E82"/>
          </a:solidFill>
          <a:ln w="12700">
            <a:solidFill>
              <a:srgbClr val="0B5E82"/>
            </a:solidFill>
            <a:prstDash val="solid"/>
          </a:ln>
        </p:spPr>
        <p:txBody>
          <a:bodyPr/>
          <a:p/>
        </p:txBody>
      </p:sp>
      <p:pic>
        <p:nvPicPr>
          <p:cNvPr id="24" name="Image 4" descr="preencoded.png">    </p:cNvPr>
          <p:cNvPicPr>
            <a:picLocks noChangeAspect="1"/>
          </p:cNvPicPr>
          <p:nvPr/>
        </p:nvPicPr>
        <p:blipFill>
          <a:blip r:embed="rId5"/>
          <a:stretch>
            <a:fillRect/>
          </a:stretch>
        </p:blipFill>
        <p:spPr>
          <a:xfrm>
            <a:off x="6537960" y="4338828"/>
            <a:ext cx="228600" cy="228600"/>
          </a:xfrm>
          <a:prstGeom prst="rect">
            <a:avLst/>
          </a:prstGeom>
        </p:spPr>
      </p:pic>
      <p:sp>
        <p:nvSpPr>
          <p:cNvPr id="25" name="Text 18"/>
          <p:cNvSpPr txBox="1"/>
          <p:nvPr/>
        </p:nvSpPr>
        <p:spPr>
          <a:xfrm>
            <a:off x="7018020" y="420624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Govern AI use</a:t>
            </a:r>
            <a:endParaRPr lang="en-US" sz="1500" dirty="0"/>
          </a:p>
        </p:txBody>
      </p:sp>
      <p:sp>
        <p:nvSpPr>
          <p:cNvPr id="26" name="Text 19"/>
          <p:cNvSpPr txBox="1"/>
          <p:nvPr/>
        </p:nvSpPr>
        <p:spPr>
          <a:xfrm>
            <a:off x="6423660" y="4800600"/>
            <a:ext cx="486918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Agree data, privacy and fairness rules (NDPA) before models touch customers or staff.</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548640"/>
            <a:ext cx="7315200" cy="274320"/>
          </a:xfrm>
          <a:prstGeom prst="rect">
            <a:avLst/>
          </a:prstGeom>
          <a:noFill/>
          <a:ln/>
        </p:spPr>
        <p:txBody>
          <a:bodyPr wrap="square" lIns="0" tIns="0" rIns="0" bIns="0" rtlCol="0" anchor="t"/>
          <a:lstStyle/>
          <a:p>
            <a:pPr indent="0" marL="0">
              <a:buNone/>
            </a:pPr>
            <a:r>
              <a:rPr lang="en-US" sz="1200" b="1" spc="400" kern="0" dirty="0">
                <a:solidFill>
                  <a:srgbClr val="D99A2B"/>
                </a:solidFill>
                <a:latin typeface="Calibri" pitchFamily="34" charset="0"/>
                <a:ea typeface="Calibri" pitchFamily="34" charset="-122"/>
                <a:cs typeface="Calibri" pitchFamily="34" charset="-120"/>
              </a:rPr>
              <a:t>KEY TAKEAWAYS</a:t>
            </a:r>
            <a:endParaRPr lang="en-US" sz="1200" dirty="0"/>
          </a:p>
        </p:txBody>
      </p:sp>
      <p:sp>
        <p:nvSpPr>
          <p:cNvPr id="5" name="Text 3"/>
          <p:cNvSpPr txBox="1"/>
          <p:nvPr/>
        </p:nvSpPr>
        <p:spPr>
          <a:xfrm>
            <a:off x="822960" y="822960"/>
            <a:ext cx="822960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Turning Data into Business Growth in Five Ideas</a:t>
            </a:r>
            <a:endParaRPr lang="en-US" sz="3000" dirty="0"/>
          </a:p>
        </p:txBody>
      </p:sp>
      <p:sp>
        <p:nvSpPr>
          <p:cNvPr id="6" name="Text 4"/>
          <p:cNvSpPr txBox="1"/>
          <p:nvPr/>
        </p:nvSpPr>
        <p:spPr>
          <a:xfrm>
            <a:off x="822960" y="1691640"/>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01</a:t>
            </a:r>
            <a:endParaRPr lang="en-US" sz="2200" dirty="0"/>
          </a:p>
        </p:txBody>
      </p:sp>
      <p:sp>
        <p:nvSpPr>
          <p:cNvPr id="7" name="Text 5"/>
          <p:cNvSpPr txBox="1"/>
          <p:nvPr/>
        </p:nvSpPr>
        <p:spPr>
          <a:xfrm>
            <a:off x="1600200" y="1691640"/>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Start with the </a:t>
            </a:r>
            <a:r>
              <a:rPr lang="en-US" sz="1500" b="1" dirty="0">
                <a:solidFill>
                  <a:srgbClr val="FFFFFF"/>
                </a:solidFill>
                <a:latin typeface="Calibri" pitchFamily="34" charset="0"/>
                <a:ea typeface="Calibri" pitchFamily="34" charset="-122"/>
                <a:cs typeface="Calibri" pitchFamily="34" charset="-120"/>
              </a:rPr>
              <a:t>decision</a:t>
            </a:r>
            <a:r>
              <a:rPr lang="en-US" sz="1500" dirty="0">
                <a:solidFill>
                  <a:srgbClr val="FFFFFF"/>
                </a:solidFill>
                <a:latin typeface="Calibri" pitchFamily="34" charset="0"/>
                <a:ea typeface="Calibri" pitchFamily="34" charset="-122"/>
                <a:cs typeface="Calibri" pitchFamily="34" charset="-120"/>
              </a:rPr>
              <a:t>, not the data or the technique.</a:t>
            </a:r>
            <a:endParaRPr lang="en-US" sz="1500" dirty="0"/>
          </a:p>
        </p:txBody>
      </p:sp>
      <p:sp>
        <p:nvSpPr>
          <p:cNvPr id="8" name="Text 6"/>
          <p:cNvSpPr txBox="1"/>
          <p:nvPr/>
        </p:nvSpPr>
        <p:spPr>
          <a:xfrm>
            <a:off x="822960" y="2340864"/>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02</a:t>
            </a:r>
            <a:endParaRPr lang="en-US" sz="2200" dirty="0"/>
          </a:p>
        </p:txBody>
      </p:sp>
      <p:sp>
        <p:nvSpPr>
          <p:cNvPr id="9" name="Text 7"/>
          <p:cNvSpPr txBox="1"/>
          <p:nvPr/>
        </p:nvSpPr>
        <p:spPr>
          <a:xfrm>
            <a:off x="1600200" y="2340864"/>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Understand </a:t>
            </a:r>
            <a:r>
              <a:rPr lang="en-US" sz="1500" b="1" dirty="0">
                <a:solidFill>
                  <a:srgbClr val="FFFFFF"/>
                </a:solidFill>
                <a:latin typeface="Calibri" pitchFamily="34" charset="0"/>
                <a:ea typeface="Calibri" pitchFamily="34" charset="-122"/>
                <a:cs typeface="Calibri" pitchFamily="34" charset="-120"/>
              </a:rPr>
              <a:t>variation</a:t>
            </a:r>
            <a:r>
              <a:rPr lang="en-US" sz="1500" dirty="0">
                <a:solidFill>
                  <a:srgbClr val="FFFFFF"/>
                </a:solidFill>
                <a:latin typeface="Calibri" pitchFamily="34" charset="0"/>
                <a:ea typeface="Calibri" pitchFamily="34" charset="-122"/>
                <a:cs typeface="Calibri" pitchFamily="34" charset="-120"/>
              </a:rPr>
              <a:t>: averages hide spread, samples carry uncertainty, noise isn't signal.</a:t>
            </a:r>
            <a:endParaRPr lang="en-US" sz="1500" dirty="0"/>
          </a:p>
        </p:txBody>
      </p:sp>
      <p:sp>
        <p:nvSpPr>
          <p:cNvPr id="10" name="Text 8"/>
          <p:cNvSpPr txBox="1"/>
          <p:nvPr/>
        </p:nvSpPr>
        <p:spPr>
          <a:xfrm>
            <a:off x="822960" y="2990088"/>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03</a:t>
            </a:r>
            <a:endParaRPr lang="en-US" sz="2200" dirty="0"/>
          </a:p>
        </p:txBody>
      </p:sp>
      <p:sp>
        <p:nvSpPr>
          <p:cNvPr id="11" name="Text 9"/>
          <p:cNvSpPr txBox="1"/>
          <p:nvPr/>
        </p:nvSpPr>
        <p:spPr>
          <a:xfrm>
            <a:off x="1600200" y="2990088"/>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Judge every model on </a:t>
            </a:r>
            <a:r>
              <a:rPr lang="en-US" sz="1500" b="1" dirty="0">
                <a:solidFill>
                  <a:srgbClr val="FFFFFF"/>
                </a:solidFill>
                <a:latin typeface="Calibri" pitchFamily="34" charset="0"/>
                <a:ea typeface="Calibri" pitchFamily="34" charset="-122"/>
                <a:cs typeface="Calibri" pitchFamily="34" charset="-120"/>
              </a:rPr>
              <a:t>held-out data</a:t>
            </a:r>
            <a:r>
              <a:rPr lang="en-US" sz="1500" dirty="0">
                <a:solidFill>
                  <a:srgbClr val="FFFFFF"/>
                </a:solidFill>
                <a:latin typeface="Calibri" pitchFamily="34" charset="0"/>
                <a:ea typeface="Calibri" pitchFamily="34" charset="-122"/>
                <a:cs typeface="Calibri" pitchFamily="34" charset="-120"/>
              </a:rPr>
              <a:t> against a simple benchmark.</a:t>
            </a:r>
            <a:endParaRPr lang="en-US" sz="1500" dirty="0"/>
          </a:p>
        </p:txBody>
      </p:sp>
      <p:sp>
        <p:nvSpPr>
          <p:cNvPr id="12" name="Text 10"/>
          <p:cNvSpPr txBox="1"/>
          <p:nvPr/>
        </p:nvSpPr>
        <p:spPr>
          <a:xfrm>
            <a:off x="822960" y="3639312"/>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04</a:t>
            </a:r>
            <a:endParaRPr lang="en-US" sz="2200" dirty="0"/>
          </a:p>
        </p:txBody>
      </p:sp>
      <p:sp>
        <p:nvSpPr>
          <p:cNvPr id="13" name="Text 11"/>
          <p:cNvSpPr txBox="1"/>
          <p:nvPr/>
        </p:nvSpPr>
        <p:spPr>
          <a:xfrm>
            <a:off x="1600200" y="3639312"/>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Translate results into </a:t>
            </a:r>
            <a:r>
              <a:rPr lang="en-US" sz="1500" b="1" dirty="0">
                <a:solidFill>
                  <a:srgbClr val="FFFFFF"/>
                </a:solidFill>
                <a:latin typeface="Calibri" pitchFamily="34" charset="0"/>
                <a:ea typeface="Calibri" pitchFamily="34" charset="-122"/>
                <a:cs typeface="Calibri" pitchFamily="34" charset="-120"/>
              </a:rPr>
              <a:t>naira, customers and risk</a:t>
            </a:r>
            <a:r>
              <a:rPr lang="en-US" sz="1500" dirty="0">
                <a:solidFill>
                  <a:srgbClr val="FFFFFF"/>
                </a:solidFill>
                <a:latin typeface="Calibri" pitchFamily="34" charset="0"/>
                <a:ea typeface="Calibri" pitchFamily="34" charset="-122"/>
                <a:cs typeface="Calibri" pitchFamily="34" charset="-120"/>
              </a:rPr>
              <a:t> and a clear action.</a:t>
            </a:r>
            <a:endParaRPr lang="en-US" sz="1500" dirty="0"/>
          </a:p>
        </p:txBody>
      </p:sp>
      <p:sp>
        <p:nvSpPr>
          <p:cNvPr id="14" name="Text 12"/>
          <p:cNvSpPr txBox="1"/>
          <p:nvPr/>
        </p:nvSpPr>
        <p:spPr>
          <a:xfrm>
            <a:off x="822960" y="4288536"/>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05</a:t>
            </a:r>
            <a:endParaRPr lang="en-US" sz="2200" dirty="0"/>
          </a:p>
        </p:txBody>
      </p:sp>
      <p:sp>
        <p:nvSpPr>
          <p:cNvPr id="15" name="Text 13"/>
          <p:cNvSpPr txBox="1"/>
          <p:nvPr/>
        </p:nvSpPr>
        <p:spPr>
          <a:xfrm>
            <a:off x="1600200" y="4288536"/>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Use AI </a:t>
            </a:r>
            <a:r>
              <a:rPr lang="en-US" sz="1500" b="1" dirty="0">
                <a:solidFill>
                  <a:srgbClr val="FFFFFF"/>
                </a:solidFill>
                <a:latin typeface="Calibri" pitchFamily="34" charset="0"/>
                <a:ea typeface="Calibri" pitchFamily="34" charset="-122"/>
                <a:cs typeface="Calibri" pitchFamily="34" charset="-120"/>
              </a:rPr>
              <a:t>responsibly</a:t>
            </a:r>
            <a:r>
              <a:rPr lang="en-US" sz="1500" dirty="0">
                <a:solidFill>
                  <a:srgbClr val="FFFFFF"/>
                </a:solidFill>
                <a:latin typeface="Calibri" pitchFamily="34" charset="0"/>
                <a:ea typeface="Calibri" pitchFamily="34" charset="-122"/>
                <a:cs typeface="Calibri" pitchFamily="34" charset="-120"/>
              </a:rPr>
              <a:t>: verify, audit for fairness, keep a human accountable.</a:t>
            </a:r>
            <a:endParaRPr lang="en-US" sz="1500" dirty="0"/>
          </a:p>
        </p:txBody>
      </p:sp>
      <p:sp>
        <p:nvSpPr>
          <p:cNvPr id="16" name="Shape 14"/>
          <p:cNvSpPr/>
          <p:nvPr/>
        </p:nvSpPr>
        <p:spPr>
          <a:xfrm>
            <a:off x="822960" y="5120640"/>
            <a:ext cx="8092440" cy="1051560"/>
          </a:xfrm>
          <a:prstGeom prst="roundRect">
            <a:avLst>
              <a:gd name="adj" fmla="val 6957"/>
            </a:avLst>
          </a:prstGeom>
          <a:solidFill>
            <a:srgbClr val="17305C"/>
          </a:solidFill>
          <a:ln w="12700">
            <a:solidFill>
              <a:srgbClr val="1C7293"/>
            </a:solidFill>
            <a:prstDash val="solid"/>
          </a:ln>
        </p:spPr>
        <p:txBody>
          <a:bodyPr/>
          <a:p/>
        </p:txBody>
      </p:sp>
      <p:sp>
        <p:nvSpPr>
          <p:cNvPr id="17" name="Text 15"/>
          <p:cNvSpPr txBox="1"/>
          <p:nvPr/>
        </p:nvSpPr>
        <p:spPr>
          <a:xfrm>
            <a:off x="1051560" y="5120640"/>
            <a:ext cx="7680960" cy="1051560"/>
          </a:xfrm>
          <a:prstGeom prst="rect">
            <a:avLst/>
          </a:prstGeom>
          <a:noFill/>
          <a:ln/>
        </p:spPr>
        <p:txBody>
          <a:bodyPr wrap="square" lIns="0" tIns="0" rIns="0" bIns="0" rtlCol="0" anchor="ctr"/>
          <a:lstStyle/>
          <a:p>
            <a:pPr indent="0" marL="0">
              <a:buNone/>
            </a:pPr>
            <a:r>
              <a:rPr lang="en-US" sz="1300" b="1" dirty="0">
                <a:solidFill>
                  <a:srgbClr val="C7D3E3"/>
                </a:solidFill>
                <a:latin typeface="Calibri" pitchFamily="34" charset="0"/>
                <a:ea typeface="Calibri" pitchFamily="34" charset="-122"/>
                <a:cs typeface="Calibri" pitchFamily="34" charset="-120"/>
              </a:rPr>
              <a:t>Keep learning:</a:t>
            </a:r>
            <a:r>
              <a:rPr lang="en-US" sz="1300" dirty="0">
                <a:solidFill>
                  <a:srgbClr val="C7D3E3"/>
                </a:solidFill>
                <a:latin typeface="Calibri" pitchFamily="34" charset="0"/>
                <a:ea typeface="Calibri" pitchFamily="34" charset="-122"/>
                <a:cs typeface="Calibri" pitchFamily="34" charset="-120"/>
              </a:rPr>
              <a:t> The textbook, all decks, data and R/Python scripts stay available at markanalytics.online. Revisit any lab with your own organisation's data.</a:t>
            </a:r>
            <a:endParaRPr lang="en-US" sz="1300" dirty="0"/>
          </a:p>
        </p:txBody>
      </p:sp>
      <p:pic>
        <p:nvPicPr>
          <p:cNvPr id="18" name="Image 0" descr="/home/claude/da1/assets/logos/da1_hex.png">    </p:cNvPr>
          <p:cNvPicPr>
            <a:picLocks noChangeAspect="1"/>
          </p:cNvPicPr>
          <p:nvPr/>
        </p:nvPicPr>
        <p:blipFill>
          <a:blip r:embed="rId1"/>
          <a:stretch>
            <a:fillRect/>
          </a:stretch>
        </p:blipFill>
        <p:spPr>
          <a:xfrm>
            <a:off x="9326880" y="2103120"/>
            <a:ext cx="2286000" cy="2286000"/>
          </a:xfrm>
          <a:prstGeom prst="rect">
            <a:avLst/>
          </a:prstGeom>
        </p:spPr>
      </p:pic>
      <p:sp>
        <p:nvSpPr>
          <p:cNvPr id="19" name="Text 16"/>
          <p:cNvSpPr txBox="1"/>
          <p:nvPr/>
        </p:nvSpPr>
        <p:spPr>
          <a:xfrm>
            <a:off x="9052560" y="4572000"/>
            <a:ext cx="2834640" cy="822960"/>
          </a:xfrm>
          <a:prstGeom prst="rect">
            <a:avLst/>
          </a:prstGeom>
          <a:noFill/>
          <a:ln/>
        </p:spPr>
        <p:txBody>
          <a:bodyPr wrap="square" lIns="0" tIns="0" rIns="0" bIns="0" rtlCol="0" anchor="ctr"/>
          <a:lstStyle/>
          <a:p>
            <a:pPr algn="ctr" indent="0" marL="0">
              <a:buNone/>
            </a:pPr>
            <a:r>
              <a:rPr lang="en-US" sz="1250" b="1" dirty="0">
                <a:solidFill>
                  <a:srgbClr val="D99A2B"/>
                </a:solidFill>
                <a:latin typeface="Calibri" pitchFamily="34" charset="0"/>
                <a:ea typeface="Calibri" pitchFamily="34" charset="-122"/>
                <a:cs typeface="Calibri" pitchFamily="34" charset="-120"/>
              </a:rPr>
              <a:t>NEXT  ›  Capstone defences at 16:15. Go and build!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Lagos Business School, Pan-Atlantic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 Session 22: Final Examination &amp; Capstone Presentations</dc:title>
  <dc:subject>PptxGenJS Presentation</dc:subject>
  <dc:creator>Prof. Bongo Adi — Lagos Business School</dc:creator>
  <cp:lastModifiedBy>Prof. Bongo Adi — Lagos Business School</cp:lastModifiedBy>
  <cp:revision>1</cp:revision>
  <dcterms:created xsi:type="dcterms:W3CDTF">2026-10-01T21:51:21Z</dcterms:created>
  <dcterms:modified xsi:type="dcterms:W3CDTF">2026-10-01T21:51:21Z</dcterms:modified>
</cp:coreProperties>
</file>