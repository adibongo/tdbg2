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7.png"/><Relationship Id="rId8" Type="http://schemas.openxmlformats.org/officeDocument/2006/relationships/image" Target="../media/image-40-8.png"/><Relationship Id="rId9" Type="http://schemas.openxmlformats.org/officeDocument/2006/relationships/image" Target="../media/image-40-9.png"/><Relationship Id="rId10" Type="http://schemas.openxmlformats.org/officeDocument/2006/relationships/image" Target="../media/image-40-10.png"/><Relationship Id="rId11" Type="http://schemas.openxmlformats.org/officeDocument/2006/relationships/image" Target="../media/image-4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2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2.2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Statistics 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Actually Needs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Foundations for Decision-Making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 8 — A Statistical Primer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2.1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chain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only creates value when it travels all the way to a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table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ask: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one row represent?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Then: what scale is each column on?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but verify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2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quality — missing values, duplicates, impossible values — before believing a number.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2.2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uncertainty, to the numbers managers use, to an honest margin of error.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2139696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67200" y="1874520"/>
            <a:ext cx="2865120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267200" y="1874520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68896" y="1874520"/>
            <a:ext cx="2865120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168896" y="1874520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070592" y="1874520"/>
            <a:ext cx="141427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0070592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2560320"/>
            <a:ext cx="2015338" cy="3383280"/>
          </a:xfrm>
          <a:prstGeom prst="roundRect">
            <a:avLst>
              <a:gd name="adj" fmla="val 363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327709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29" y="294894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77240" y="3611880"/>
            <a:ext cx="17410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822960" y="4206240"/>
            <a:ext cx="16495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managers need statistics at all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2856586" y="2560320"/>
            <a:ext cx="2015338" cy="3383280"/>
          </a:xfrm>
          <a:prstGeom prst="roundRect">
            <a:avLst>
              <a:gd name="adj" fmla="val 363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354421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234" y="294894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993746" y="3611880"/>
            <a:ext cx="17410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3039466" y="4206240"/>
            <a:ext cx="16495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uncertainty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073091" y="2560320"/>
            <a:ext cx="2015338" cy="3383280"/>
          </a:xfrm>
          <a:prstGeom prst="roundRect">
            <a:avLst>
              <a:gd name="adj" fmla="val 363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5760720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94894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210251" y="3611880"/>
            <a:ext cx="17410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Describing Data</a:t>
            </a:r>
            <a:endParaRPr lang="en-US" sz="1450" dirty="0"/>
          </a:p>
        </p:txBody>
      </p:sp>
      <p:sp>
        <p:nvSpPr>
          <p:cNvPr id="32" name="Text 26"/>
          <p:cNvSpPr txBox="1"/>
          <p:nvPr/>
        </p:nvSpPr>
        <p:spPr>
          <a:xfrm>
            <a:off x="5255971" y="4206240"/>
            <a:ext cx="16495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centre and spread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7289597" y="2560320"/>
            <a:ext cx="2015338" cy="3383280"/>
          </a:xfrm>
          <a:prstGeom prst="roundRect">
            <a:avLst>
              <a:gd name="adj" fmla="val 363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7977226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246" y="2948940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426757" y="3611880"/>
            <a:ext cx="17410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&amp; CIs</a:t>
            </a:r>
            <a:endParaRPr lang="en-US" sz="1450" dirty="0"/>
          </a:p>
        </p:txBody>
      </p:sp>
      <p:sp>
        <p:nvSpPr>
          <p:cNvPr id="37" name="Text 30"/>
          <p:cNvSpPr txBox="1"/>
          <p:nvPr/>
        </p:nvSpPr>
        <p:spPr>
          <a:xfrm>
            <a:off x="7472477" y="4206240"/>
            <a:ext cx="16495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CLT, standard error, confidence intervals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9506102" y="2560320"/>
            <a:ext cx="2015338" cy="3383280"/>
          </a:xfrm>
          <a:prstGeom prst="roundRect">
            <a:avLst>
              <a:gd name="adj" fmla="val 363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32"/>
          <p:cNvSpPr/>
          <p:nvPr/>
        </p:nvSpPr>
        <p:spPr>
          <a:xfrm>
            <a:off x="10193731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751" y="2948940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643262" y="3611880"/>
            <a:ext cx="17410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&amp; Wrap-Up</a:t>
            </a:r>
            <a:endParaRPr lang="en-US" sz="1450" dirty="0"/>
          </a:p>
        </p:txBody>
      </p:sp>
      <p:sp>
        <p:nvSpPr>
          <p:cNvPr id="42" name="Text 34"/>
          <p:cNvSpPr txBox="1"/>
          <p:nvPr/>
        </p:nvSpPr>
        <p:spPr>
          <a:xfrm>
            <a:off x="9688982" y="4206240"/>
            <a:ext cx="16495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margin of error in R / Python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2.2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Data Honestly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mean and median, and report spread, using the shape of the data.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With Probability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basic probability rules — including Bayes — to avoid classic business misjudgements.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Uncertainty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sampling variation and build and interpret a 95% confidence interval.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Manager's Uncertainty Problem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“Our average basket is ₦8,450.” — Based on 400 receipts. Out of millions. How sure are you?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number you see is computed from a sample, and every sample could have come out differently. Statistics tells you: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typical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single number best summarises a messy pile of data.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things vary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₦8,450 means 'almost everyone' or 'hardly anyone'.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sure to be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margin of error so you neither over- nor under-react.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Lagos Supermarket Chain Asks a Simple Question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five-region supermarket chain is planning a loyalty programme. Rewards will be set as a share of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basket value across all our stores — and how precise is our estimate? Do some regions genuinely spend more?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retail_basket_sizes.csv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receipts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sampled from 12 stores across Lagos Mainland, Lagos Island, Ikeja, Lekki and Surulere.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7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 with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of error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₦8,450 ± ₦206), and a judgement on whether regional differences are real or noise.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Probability: The Language of Uncertainty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can measure uncertainty, we need words for it.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Probability?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is a number between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(impossible) and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(certain) that measures how likely something is. 0.25 means 'about one time in four'. Probabilities of all possible outcomes add up to 1.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52 out of 500 past microloans defaulted, a reasonable estimate of P(default) for a similar new loan is 52 ÷ 500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0.104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(10.4%).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P(event) = favourable ÷ total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720840" y="29535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outcomes are equally likely — or estimate it from past frequencies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provisioning and planning all rest on probabilities: the chance a loan defaults, a customer churns, a shipment is late. Managers who think in probabilities — not 'will it or won't it' — make calmer, better-calibrated decisions.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GET A PROBABILITY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Probabilities Come From?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291840"/>
                <a:gridCol w="26517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equally likely outcomes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 6 regions picked at random for an audit → 1/6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Outcomes are rarely equally likely in business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frequency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share it happened in the past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Jimi Tool Rental: 12 of 40 days rented 3 machines → 0.30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past may not repeat (new regulation, FX shocks)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judgement of an expert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“60% chance the CBN holds rates at the next MPC”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Overconfidence and wishful thinking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method, two rules always hold: each probability is between 0 and 1, and all outcomes add up to 1.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Complement: The Chance It Does NOT Happen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either happens or it does not. So the probability it does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happen is simply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minus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probability it does. Often the 'not' is much easier to count.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92% of deliveries arrive on time, then 1 − 0.92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late. With 3,000 orders a month, plan for about 240 late-delivery complaints.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P(not A) = 1 − P(A)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usually the complement of the target. A '95% uptime' network is down 5% of the time — about 36 hours a month. Translate percentages into the complement and into counts before you accept them.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Addition Rule: A OR 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chance of 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B, add their probabilities — but subtract the overlap so you don't count customers who are in both twice.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a bank's customers use the app, 20% use USSD, and 8% use both. Share using at least one digital channel = 0.30 + 0.20 − 0.08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or B) = P(A) + P(B) − P(A and B)</a:t>
            </a:r>
            <a:endParaRPr lang="en-US" sz="21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reach, product overlap and risk exposure are all 'or' questions. Forgetting the overlap is the most common way campaign reach gets inflated in board decks.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Probability: Given That…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probability answers: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already know B happened, how likely is A?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shrink the world to only the cases where B is true, then ask what share of those are also A.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500 loans, 200 are to traders, and 34 traders defaulted. P(default | trader) = 34 ÷ 200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compared with 10.4% for all loans.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| B) = P(A and B) ÷ P(B)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720840" y="29535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bar “|” as “given”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useful business number is conditional: default rate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sector, churn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complaint, conversion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mobile visit. Segmenting is just conditioning — and it is where insight lives.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Independence: Does Knowing B Change A?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events are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knowing one happened tells you nothing about the other. Then — and only then — the chance of both is just the product.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unrelated suppliers each deliver late 10% of the time. Chance both are late on the same day = 0.1 × 0.1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But if both use the same trucking firm, they are not independent — the true risk is far higher.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independent: P(A and B) = P(A) × P(B)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only works if risks are (close to) independent. In 2020, 'independent' supply routes all failed together. Before multiplying probabilities, ask: could one common cause hit both?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THEOREM, MADE INTUITIVE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Fraud Alert Is Not a Verdict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2/figures/python/s02_f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959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60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S2.2-F10  ·  replicate: tdbg_2_2_figures.R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 of 10,000 transactions are fraud: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catches 95% of them: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true alerts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also wrongly flags 5% of 9,950 honest ones: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 false alarms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only 48 ÷ 546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alerts are real fraud.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events + imperfect test = mostly false alarms. This is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base-rate trap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CV-screening tool is '90% accurate'. Only 2% of applicants are truly strong hires. The tool flags an applicant as strong. What is the best reading?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90% chance this applicant is a strong hire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2% chance — the flag adds nothing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is well below 90%, because strong hires are rare; we need the false-positive rate to say how far below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use probability for hiring decisions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EVENTS TO NUMBERS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Variables and Expected Value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variable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turns an uncertain outcome into a number — machines rented today, defaults this month, naira spent. Its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long-run average: each possible value weighted by its probability.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₦500,000 microloan earns ₦90,000 interest if repaid (prob 0.9) and loses ₦350,000 net if it defaults (prob 0.1). E = 0.9×90,000 + 0.1×(−350,000)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+₦46,000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loan.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E(X) = Σ x · P(x)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is how lenders price risk, insurers set premiums and investors compare projects. It is an average over many repetitions — a single loan never earns ₦46,000 — so pair it with a measure of risk (spread).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DISTRIBUTION YOU WILL MEET OFTEN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Binomial: Counting Yes/No Outcomes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2/figures/python/s02_f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01" y="1600200"/>
            <a:ext cx="6863519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S2.2-F09  ·  replicate: tdbg_2_2_figures.R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there are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independent trials, each a yes/no with the same probability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new loans, 10% default risk each → expect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defaults.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5 or more defaults still happens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time — about one month in 23.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for the range, not just the average.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Describing Data: Shape, Centre, Spread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to ask of any column of numbers.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DISTRIBUTION?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Shapes You Will See Every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2/figures/python/s02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246006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410598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S2.2-F01  ·  replicate: tdbg_2_2_figures.R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how often each value occurs.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mean ≈ median.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(long tail to the right): mean &gt; median. Income, sales, basket value.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Left-skewed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mean &lt; median. Scores on an easy test, product lifetimes.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decides which average to trust.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Mean, Median and Mode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add everything up and divide by how many — the 'fair share'.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line values up and take the middle one — half are below, half above.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most common value — useful for categories.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baskets: ₦4k, ₦5k, ₦6k, ₦7k, ₦48k. Mean = ₦70k ÷ 5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₦14k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Median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₦6k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One stock-up shopper doubles the mean; the median does not move.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 = (x₁ + x₂ + … + xₙ) ÷ n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sensitive to extremes; the median is robust. For skewed money data (income, house prices, claim sizes) the median describes the typical customer better. Use the mean when you need totals — revenue = mean × number of customers.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MEAN MISLEADS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Nigerian Example: The 'Average' Bank Customer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2/figures/python/s02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59" y="1600200"/>
            <a:ext cx="6995202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S2.2-F02  ·  replicate: tdbg_2_2_figures.R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monthly income: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₦97,000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₦340,007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3.5× higher.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very high earners drag the mean up.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priced for the 'average' customer would be unaffordable for most.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here =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 would be symmetric).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ONCE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Mean, Median and Spread of Six Deliveries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times (hours) for six Ikeja orders.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− x̄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x̄)²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Sum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24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16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12648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126480" y="231343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61264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629400" y="2286000"/>
            <a:ext cx="4892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x̄ = 24 ÷ 6 =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26480" y="2880360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612648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629400" y="2852928"/>
            <a:ext cx="4892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sort (2, 3, 3, 4, 5, 7); middle two are 3 and 4 →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hours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26480" y="3447288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612648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3419856"/>
            <a:ext cx="4892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from the mean always sum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we square them.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26480" y="4014216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6126480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629400" y="3986784"/>
            <a:ext cx="4892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s² = 16 ÷ (6 − 1) =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divide by n − 1 for a sample.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126480" y="4581144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 txBox="1"/>
          <p:nvPr/>
        </p:nvSpPr>
        <p:spPr>
          <a:xfrm>
            <a:off x="6126480" y="4581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629400" y="4553712"/>
            <a:ext cx="4892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= √3.2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1.79 hours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typical distance from the mean, back in hours.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126480" y="52578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27" name="Text 22"/>
          <p:cNvSpPr txBox="1"/>
          <p:nvPr/>
        </p:nvSpPr>
        <p:spPr>
          <a:xfrm>
            <a:off x="6355080" y="5257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delivery ≈ 4 hours, give or take about 1.8 hours.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Average, Different Experience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2/figures/python/s02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14" y="1600200"/>
            <a:ext cx="6791691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S2.2-F03  ·  replicate: tdbg_2_2_figures.R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Ikeja's median delivery is fastest — and its box is tightest.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Apapa's box is widest: customers can't predict when orders arrive.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 beyond the whiskers are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deliveries worth investigating.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feel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average.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USEFUL CHART YOU'LL LEARN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a Box Plot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2/figures/python/s02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9947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54539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S2.2-F04  ·  replicate: tdbg_2_2_figures.R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the middle 50% (Q1 to Q3).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inside is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Q3 − Q1 = ₦2,625: a robust measure of spread.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Whiskers reach the furthest points within 1.5 × IQR.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 beyond are flagged as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YOUR SUMMARY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Numbers Should You Report?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468880"/>
                <a:gridCol w="2743200"/>
                <a:gridCol w="31089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data is…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the centre 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the spread 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symmetric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deviation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 fill volume; exam scores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Skewed or has outliers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(Q1–Q3)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Income; basket value; claim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 (nominal)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/ % in 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categories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method; 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very different scales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of variation = SD ÷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 of ₦ sales vs unit 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 the distribution (histogram or box plot) alongside the numbers — a picture reveals what summaries hide.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Bell Curve and the 68–95–99.7 Rule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2/figures/python/s02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19" y="1600200"/>
            <a:ext cx="6634283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S2.2-F05  ·  replicate: tdbg_2_2_figures.R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averages and measurement errors follow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(bell) shape.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values lie within 1 SD of the mean,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2 SD,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3 SD.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(value − mean) ÷ SD: how many SDs from typical.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&gt; 2 is unusual; |z| &gt; 3 is rare — worth a second look.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across 40 branches have mean ₦52m and median ₦31m. Which statement is most defensible?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branches sell about ₦52m a month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right-skewed: a few large branches pull the mean up; the typical branch sells about ₦31m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must contain errors because mean and median differ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is symmetric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Sample to Population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400 receipts can tell us about millions — and how sure to be.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vs. Sample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94360" cy="59436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096262"/>
            <a:ext cx="297180" cy="2971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91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69164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or everything you care about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receipts ever rung up across the chain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too big, costly or slow to measure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true average is called a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(μ)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but unknown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1792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096262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6948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726948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you actually measure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653796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receipts drawn from 12 stores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affordable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average is a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(x̄)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from sample to sample — that variation is what we must measure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is the art of using a sample statistic to say something honest about a population parameter.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BIAS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Traps That No Formula Can Fix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sample does not save you from a biased one.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206654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28600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bias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6868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Surveying only app users about 'customer satisfaction' misses everyone who left or never went digital.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34340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576986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28600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262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Non-response bias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angry or delighted customers answer surveys — the quiet middle is missing.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04672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9473184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28600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Survivorship bias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27532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only SMEs still trading hides the habits that killed the ones that closed.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IDEA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Limit Theorem in Action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2/figures/python/s02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220219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3848115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S2.2-F06  ·  replicate: tdbg_2_2_figures.R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Incomes are wildly skewed (left panel).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many samples and plot each sample's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 = 30 or more, the means form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curve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whatever the original shape.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we can attach a normal-based margin of error to almost any average.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Error: How Much Would the Average Wobble?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repeated your sample many times, the average would change a little each time.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(SE) measures that wobble. Bigger samples wobble less — but only with the square root of n.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Baskets: s = ₦2,100 and n = 400. SE = 2,100 ÷ √400 = 2,100 ÷ 20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₦105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Our average of ₦8,450 is precise to roughly ± ₦105.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= s ÷ √n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tells you if a change is real. If next month's average is ₦8,520, that is less than one SE away — probably noise. To halve the SE you need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times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sample: precision gets expensive fast.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MANAGER'S TOOL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Intervals: An Honest Range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range built so that, if we repeated the sampling many times, 95% of the ranges would contain the true average. It is the estimate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or minus a margin of error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₦8,450 ± 1.96 × ₦105 = ₦8,450 ± ₦206 →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₦8,244 to ₦8,656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 ± 1.96 × SE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720840" y="29535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 comes from the normal curve (95% within ±1.96 SD); software uses the t value, almost identical for large 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'the average basket is ₦8,450' with 'between ₦8,244 and ₦8,656'. It stops over-reaction to small changes, and tells you when you need more data before deciding.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95% REALLY MEANS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Fifty Samples, Fifty Intervals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2/figures/python/s02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071" y="1600200"/>
            <a:ext cx="6755777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S2.2-F07  ·  replicate: tdbg_2_2_figures.R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is one sample's 95% interval.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capture the true average (gold line).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in 20 miss — by design.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know whether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interval is one of the misses. That is the honest price of sampling.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CONTROLS THE WIDTH?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Levers on Your Margin of Error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of error = critical value × s ÷ √n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206654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28600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size (n) ↑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6868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shrinks with √n. Four times the data → half the margin of error.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34340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576986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28600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262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Variability (s) ↑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diverse customers → wider interval. Segmenting into similar groups can help.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04672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9473184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28600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level ↑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27532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instead of 95% → wider (2.58 vs 1.96). More certainty costs precision.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Some Regions Really Spend More?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2/figures/python/s02_f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2328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87877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S2.2-F08  ·  replicate: tdbg_2_2_figures.R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Ikeja looks lowest (₦8,104) and Lagos Mainland highest (₦8,665).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intervals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overlap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hint the gap may be real.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Surulere's interval is widest: only 49 receipts.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2.5 gives a formal test. For now: don't redesign rewards by region on this evidence alone.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NUMBERS TO A CONFIDENCE INTERVAL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Four Moves in R and Python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49240" cy="3749040"/>
          </a:xfrm>
          <a:prstGeom prst="roundRect">
            <a:avLst>
              <a:gd name="adj" fmla="val 1463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22960" y="182880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22960" y="1828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402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basket &lt;- read.csv("data/retail_basket_sizes.csv")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basket$basket_size_naira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mean(x); median(x)          # centre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sd(x); IQR(x)               # spread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&lt;- sd(x) / sqrt(length(x))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mean(x) + c(-1.96, 1.96) * se   # 95% CI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t.test(x)$conf.int          # software version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349240" cy="3749040"/>
          </a:xfrm>
          <a:prstGeom prst="roundRect">
            <a:avLst>
              <a:gd name="adj" fmla="val 1463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355080" y="182880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355080" y="1828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2402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pd.read_csv("data/retail_basket_sizes.csv")["basket_size_naira"]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x.mean(); x.median()        # centre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x.std(); x.quantile(.75) - x.quantile(.25)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= x.std() / np.sqrt(len(x))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x.mean() - 1.96*se, x.mean() + 1.96*se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stats.t.interval(.95, len(x)-1, x.mean(), se)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labs: tdbg_2_2_lab1_summarise, tdbg_2_2_lab2_clt and tdbg_2_2_lab3_confidence_interval — each in R/ and python/.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R's t.test() Output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OUTPUT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t.test(x)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One Sample t-test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 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80.47, df = 399, p-value &lt; 2.2e-16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 hypothesis: true mean 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equal to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percent confidence interval: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8243.34 8656.21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estimates: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of 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8449.775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x = 8449.775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point estimate: the sample average basket.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8243 to 8656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range for the true average —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number to report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399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 = n − 1. Used to pick the t critical value (1.966).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and p-value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the mean is zero — meaningless here. We learn proper tests in Session 2.5.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Summarise, Simulate, Estimate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data/retail_basket_sizes.csv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data/bank_customer_income.csv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sessions/2-2/R/tdbg_2_2_lab1…3_*.R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sessions/2-2/python/tdbg_2_2_lab1…3_*.py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Labs 1–3 · 20 minutes in class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summarise basket sizes: mean, median, mode, SD, IQR; draw the histogram and box plot.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6517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6060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simulate the CLT with bank incomes. Change the sample size to 5, 30 and 100 and watch the shape.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5661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 the 95% CI for the average basket, by hand and with software; repeat by region.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44805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44348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two sentences a CEO could act on, using an interval, not a single number.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two-sentence recommendation on rewards by region.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Statistical Habits That Mislead Boards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only the mean for skewed money data.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too, and explain the gap.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2% month-on-month change as a trend.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change to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Single-number forecasts and estimates.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give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(confidence interval).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 huge but self-selected sample.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sample was drawn before how big it is.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Believing a '95% accurate' alert means 95% of alerts are real.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 natural frequencies.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2.2  ·  THE STATISTICS A MANAGER ACTUALLY NEEDS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from 0 to 1 measuring how likely an event is.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prob.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B): chance of A once we know B happened.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value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average outcome, weighting values by probability.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each value occurs; its shape matters.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value; robust to extremes.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deviation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distance of values from the mean.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Q3 − Q1: spread of the middle 50%.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SDs a value is from the mean.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error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 sample average would vary between samples.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interval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± margin of error; an honest range.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2.2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are conditional, and rare events breed false alarms — always check the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decides the summary: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+ IQR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skewed data, mean + SD for symmetric.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is a business fact: customers feel variability, not averages.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makes sample averages bell-shaped, so we can measure their precision.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estimate ± 1.96 × 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 9 (Exploratory Data Analysis). Rerun Lab 3 and post your regional CI chart. Optional: play with the CLT using different sample sizes in Lab 2.</a:t>
            </a:r>
            <a:endParaRPr lang="en-US" sz="1300" dirty="0"/>
          </a:p>
        </p:txBody>
      </p:sp>
      <p:pic>
        <p:nvPicPr>
          <p:cNvPr id="18" name="Image 0" descr="/home/claude/da1/assets/logos/da1_hex_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2.3: What Is Odd Here?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2: Statistical Foundations for Decision-Making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2026-10-01T21:51:18Z</dcterms:created>
  <dcterms:modified xsi:type="dcterms:W3CDTF">2026-10-01T21:51:18Z</dcterms:modified>
</cp:coreProperties>
</file>