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5" name="Text 2"/>
          <p:cNvSpPr txBox="1"/>
          <p:nvPr/>
        </p:nvSpPr>
        <p:spPr>
          <a:xfrm>
            <a:off x="822960" y="1005840"/>
            <a:ext cx="10515600" cy="320040"/>
          </a:xfrm>
          <a:prstGeom prst="rect">
            <a:avLst/>
          </a:prstGeom>
          <a:noFill/>
          <a:ln/>
        </p:spPr>
        <p:txBody>
          <a:bodyPr wrap="square" lIns="0" tIns="0" rIns="0" bIns="0" rtlCol="0" anchor="t"/>
          <a:lstStyle/>
          <a:p>
            <a:pPr indent="0" marL="0">
              <a:buNone/>
            </a:pPr>
            <a:r>
              <a:rPr lang="en-US" sz="1250" b="1" spc="400" kern="0" dirty="0">
                <a:solidFill>
                  <a:srgbClr val="D99A2B"/>
                </a:solidFill>
                <a:latin typeface="Calibri" pitchFamily="34" charset="0"/>
                <a:ea typeface="Calibri" pitchFamily="34" charset="-122"/>
                <a:cs typeface="Calibri" pitchFamily="34" charset="-120"/>
              </a:rPr>
              <a:t>LAGOS BUSINESS SCHOOL  ·  TURNING DATA INTO BUSINESS GROWTH  ·  DAY 4</a:t>
            </a:r>
            <a:endParaRPr lang="en-US" sz="1250" dirty="0"/>
          </a:p>
        </p:txBody>
      </p:sp>
      <p:sp>
        <p:nvSpPr>
          <p:cNvPr id="6" name="Text 3"/>
          <p:cNvSpPr txBox="1"/>
          <p:nvPr/>
        </p:nvSpPr>
        <p:spPr>
          <a:xfrm>
            <a:off x="822960" y="1645920"/>
            <a:ext cx="5486400" cy="502920"/>
          </a:xfrm>
          <a:prstGeom prst="rect">
            <a:avLst/>
          </a:prstGeom>
          <a:noFill/>
          <a:ln/>
        </p:spPr>
        <p:txBody>
          <a:bodyPr wrap="square" lIns="0" tIns="0" rIns="0" bIns="0" rtlCol="0" anchor="t"/>
          <a:lstStyle/>
          <a:p>
            <a:pPr indent="0" marL="0">
              <a:buNone/>
            </a:pPr>
            <a:r>
              <a:rPr lang="en-US" sz="2800" b="1" dirty="0">
                <a:solidFill>
                  <a:srgbClr val="AAB9CC"/>
                </a:solidFill>
                <a:latin typeface="Cambria" pitchFamily="34" charset="0"/>
                <a:ea typeface="Cambria" pitchFamily="34" charset="-122"/>
                <a:cs typeface="Cambria" pitchFamily="34" charset="-120"/>
              </a:rPr>
              <a:t>SESSION 4.1</a:t>
            </a:r>
            <a:endParaRPr lang="en-US" sz="2800" dirty="0"/>
          </a:p>
        </p:txBody>
      </p:sp>
      <p:sp>
        <p:nvSpPr>
          <p:cNvPr id="7" name="Text 4"/>
          <p:cNvSpPr txBox="1"/>
          <p:nvPr/>
        </p:nvSpPr>
        <p:spPr>
          <a:xfrm>
            <a:off x="822960" y="2240280"/>
            <a:ext cx="7863840" cy="173736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Opening the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Black Box</a:t>
            </a:r>
            <a:endParaRPr lang="en-US" sz="4000" dirty="0"/>
          </a:p>
        </p:txBody>
      </p:sp>
      <p:sp>
        <p:nvSpPr>
          <p:cNvPr id="8" name="Text 5"/>
          <p:cNvSpPr txBox="1"/>
          <p:nvPr/>
        </p:nvSpPr>
        <p:spPr>
          <a:xfrm>
            <a:off x="822960" y="4114800"/>
            <a:ext cx="7680960" cy="41148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Model Explainability &amp; Lead Scoring</a:t>
            </a:r>
            <a:endParaRPr lang="en-US" sz="1600" dirty="0"/>
          </a:p>
        </p:txBody>
      </p:sp>
      <p:sp>
        <p:nvSpPr>
          <p:cNvPr id="9" name="Shape 6"/>
          <p:cNvSpPr/>
          <p:nvPr/>
        </p:nvSpPr>
        <p:spPr>
          <a:xfrm>
            <a:off x="777240" y="4846320"/>
            <a:ext cx="502920" cy="502920"/>
          </a:xfrm>
          <a:prstGeom prst="ellipse">
            <a:avLst/>
          </a:prstGeom>
          <a:solidFill>
            <a:srgbClr val="1C7293"/>
          </a:solidFill>
          <a:ln w="12700">
            <a:solidFill>
              <a:srgbClr val="1C729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902970" y="4972050"/>
            <a:ext cx="251460" cy="251460"/>
          </a:xfrm>
          <a:prstGeom prst="rect">
            <a:avLst/>
          </a:prstGeom>
        </p:spPr>
      </p:pic>
      <p:sp>
        <p:nvSpPr>
          <p:cNvPr id="11" name="Text 7"/>
          <p:cNvSpPr txBox="1"/>
          <p:nvPr/>
        </p:nvSpPr>
        <p:spPr>
          <a:xfrm>
            <a:off x="1463040" y="4919472"/>
            <a:ext cx="6949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Source: Chapters 21–22 — Model Explainability (SHAP &amp; LIME) · Lead Scoring</a:t>
            </a:r>
            <a:endParaRPr lang="en-US" sz="1250" dirty="0"/>
          </a:p>
        </p:txBody>
      </p:sp>
      <p:sp>
        <p:nvSpPr>
          <p:cNvPr id="12" name="Text 8"/>
          <p:cNvSpPr txBox="1"/>
          <p:nvPr/>
        </p:nvSpPr>
        <p:spPr>
          <a:xfrm>
            <a:off x="822960" y="6035040"/>
            <a:ext cx="8229600" cy="274320"/>
          </a:xfrm>
          <a:prstGeom prst="rect">
            <a:avLst/>
          </a:prstGeom>
          <a:noFill/>
          <a:ln/>
        </p:spPr>
        <p:txBody>
          <a:bodyPr wrap="square" lIns="0" tIns="0" rIns="0" bIns="0" rtlCol="0" anchor="t"/>
          <a:lstStyle/>
          <a:p>
            <a:pPr indent="0" marL="0">
              <a:buNone/>
            </a:pPr>
            <a:r>
              <a:rPr lang="en-US" sz="1050" dirty="0">
                <a:solidFill>
                  <a:srgbClr val="AAB9CC"/>
                </a:solidFill>
                <a:latin typeface="Calibri" pitchFamily="34" charset="0"/>
                <a:ea typeface="Calibri" pitchFamily="34" charset="-122"/>
                <a:cs typeface="Calibri" pitchFamily="34" charset="-120"/>
              </a:rPr>
              <a:t>AI-Powered Business Analytics: A Practical Textbook for Data-Driven Decision Making  ·  Prof. Bongo Adi</a:t>
            </a:r>
            <a:endParaRPr lang="en-US" sz="1050" dirty="0"/>
          </a:p>
        </p:txBody>
      </p:sp>
      <p:pic>
        <p:nvPicPr>
          <p:cNvPr id="13" name="Image 1" descr="/home/claude/da1/assets/logos/da1_hex_m2.png">    </p:cNvPr>
          <p:cNvPicPr>
            <a:picLocks noChangeAspect="1"/>
          </p:cNvPicPr>
          <p:nvPr/>
        </p:nvPicPr>
        <p:blipFill>
          <a:blip r:embed="rId2"/>
          <a:stretch>
            <a:fillRect/>
          </a:stretch>
        </p:blipFill>
        <p:spPr>
          <a:xfrm>
            <a:off x="8915400" y="1554480"/>
            <a:ext cx="2743200" cy="274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RECAP</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3.5 in Three Ideas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2080260"/>
            <a:ext cx="640080" cy="640080"/>
          </a:xfrm>
          <a:prstGeom prst="ellipse">
            <a:avLst/>
          </a:prstGeom>
          <a:solidFill>
            <a:srgbClr val="0B5E82"/>
          </a:solidFill>
          <a:ln w="12700">
            <a:solidFill>
              <a:srgbClr val="0B5E82"/>
            </a:solidFill>
            <a:prstDash val="solid"/>
          </a:ln>
        </p:spPr>
        <p:txBody>
          <a:bodyPr/>
          <a:p/>
        </p:txBody>
      </p:sp>
      <p:pic>
        <p:nvPicPr>
          <p:cNvPr id="8" name="Image 1" descr="preencoded.png">    </p:cNvPr>
          <p:cNvPicPr>
            <a:picLocks noChangeAspect="1"/>
          </p:cNvPicPr>
          <p:nvPr/>
        </p:nvPicPr>
        <p:blipFill>
          <a:blip r:embed="rId2"/>
          <a:stretch>
            <a:fillRect/>
          </a:stretch>
        </p:blipFill>
        <p:spPr>
          <a:xfrm>
            <a:off x="800100" y="2240280"/>
            <a:ext cx="320040" cy="320040"/>
          </a:xfrm>
          <a:prstGeom prst="rect">
            <a:avLst/>
          </a:prstGeom>
        </p:spPr>
      </p:pic>
      <p:sp>
        <p:nvSpPr>
          <p:cNvPr id="9" name="Text 5"/>
          <p:cNvSpPr txBox="1"/>
          <p:nvPr/>
        </p:nvSpPr>
        <p:spPr>
          <a:xfrm>
            <a:off x="1508760" y="1645920"/>
            <a:ext cx="2377440" cy="150876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Trees</a:t>
            </a:r>
            <a:endParaRPr lang="en-US" sz="1600" dirty="0"/>
          </a:p>
        </p:txBody>
      </p:sp>
      <p:sp>
        <p:nvSpPr>
          <p:cNvPr id="10" name="Shape 6"/>
          <p:cNvSpPr/>
          <p:nvPr/>
        </p:nvSpPr>
        <p:spPr>
          <a:xfrm>
            <a:off x="3977640" y="1709928"/>
            <a:ext cx="7543800" cy="1380744"/>
          </a:xfrm>
          <a:prstGeom prst="roundRect">
            <a:avLst>
              <a:gd name="adj" fmla="val 3974"/>
            </a:avLst>
          </a:prstGeom>
          <a:solidFill>
            <a:srgbClr val="F3F6F9"/>
          </a:solidFill>
          <a:ln w="9525">
            <a:solidFill>
              <a:srgbClr val="E1E7EE"/>
            </a:solidFill>
            <a:prstDash val="solid"/>
          </a:ln>
        </p:spPr>
        <p:txBody>
          <a:bodyPr/>
          <a:p/>
        </p:txBody>
      </p:sp>
      <p:sp>
        <p:nvSpPr>
          <p:cNvPr id="11" name="Text 7"/>
          <p:cNvSpPr txBox="1"/>
          <p:nvPr/>
        </p:nvSpPr>
        <p:spPr>
          <a:xfrm>
            <a:off x="4251960" y="1709928"/>
            <a:ext cx="7086600" cy="138074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If–then rules that capture thresholds and interactions — but a single deep tree overfits.</a:t>
            </a:r>
            <a:endParaRPr lang="en-US" sz="1350" dirty="0"/>
          </a:p>
        </p:txBody>
      </p:sp>
      <p:sp>
        <p:nvSpPr>
          <p:cNvPr id="12" name="Shape 8"/>
          <p:cNvSpPr/>
          <p:nvPr/>
        </p:nvSpPr>
        <p:spPr>
          <a:xfrm>
            <a:off x="640080" y="3589020"/>
            <a:ext cx="640080" cy="640080"/>
          </a:xfrm>
          <a:prstGeom prst="ellipse">
            <a:avLst/>
          </a:prstGeom>
          <a:solidFill>
            <a:srgbClr val="0B5E82"/>
          </a:solidFill>
          <a:ln w="12700">
            <a:solidFill>
              <a:srgbClr val="0B5E82"/>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800100" y="3749040"/>
            <a:ext cx="320040" cy="320040"/>
          </a:xfrm>
          <a:prstGeom prst="rect">
            <a:avLst/>
          </a:prstGeom>
        </p:spPr>
      </p:pic>
      <p:sp>
        <p:nvSpPr>
          <p:cNvPr id="14" name="Text 9"/>
          <p:cNvSpPr txBox="1"/>
          <p:nvPr/>
        </p:nvSpPr>
        <p:spPr>
          <a:xfrm>
            <a:off x="1508760" y="3154680"/>
            <a:ext cx="2377440" cy="150876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Ensembles</a:t>
            </a:r>
            <a:endParaRPr lang="en-US" sz="1600" dirty="0"/>
          </a:p>
        </p:txBody>
      </p:sp>
      <p:sp>
        <p:nvSpPr>
          <p:cNvPr id="15" name="Shape 10"/>
          <p:cNvSpPr/>
          <p:nvPr/>
        </p:nvSpPr>
        <p:spPr>
          <a:xfrm>
            <a:off x="3977640" y="3218688"/>
            <a:ext cx="7543800" cy="1380744"/>
          </a:xfrm>
          <a:prstGeom prst="roundRect">
            <a:avLst>
              <a:gd name="adj" fmla="val 3974"/>
            </a:avLst>
          </a:prstGeom>
          <a:solidFill>
            <a:srgbClr val="F3F6F9"/>
          </a:solidFill>
          <a:ln w="9525">
            <a:solidFill>
              <a:srgbClr val="E1E7EE"/>
            </a:solidFill>
            <a:prstDash val="solid"/>
          </a:ln>
        </p:spPr>
        <p:txBody>
          <a:bodyPr/>
          <a:p/>
        </p:txBody>
      </p:sp>
      <p:sp>
        <p:nvSpPr>
          <p:cNvPr id="16" name="Text 11"/>
          <p:cNvSpPr txBox="1"/>
          <p:nvPr/>
        </p:nvSpPr>
        <p:spPr>
          <a:xfrm>
            <a:off x="4251960" y="3218688"/>
            <a:ext cx="7086600" cy="138074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Forests average many trees; boosting corrects errors in sequence. AUC 0.77 → 0.81.</a:t>
            </a:r>
            <a:endParaRPr lang="en-US" sz="1350" dirty="0"/>
          </a:p>
        </p:txBody>
      </p:sp>
      <p:sp>
        <p:nvSpPr>
          <p:cNvPr id="17" name="Shape 12"/>
          <p:cNvSpPr/>
          <p:nvPr/>
        </p:nvSpPr>
        <p:spPr>
          <a:xfrm>
            <a:off x="640080" y="5097780"/>
            <a:ext cx="640080" cy="640080"/>
          </a:xfrm>
          <a:prstGeom prst="ellipse">
            <a:avLst/>
          </a:prstGeom>
          <a:solidFill>
            <a:srgbClr val="0B5E82"/>
          </a:solidFill>
          <a:ln w="12700">
            <a:solidFill>
              <a:srgbClr val="0B5E82"/>
            </a:solidFill>
            <a:prstDash val="solid"/>
          </a:ln>
        </p:spPr>
        <p:txBody>
          <a:bodyPr/>
          <a:p/>
        </p:txBody>
      </p:sp>
      <p:pic>
        <p:nvPicPr>
          <p:cNvPr id="18" name="Image 3" descr="preencoded.png">    </p:cNvPr>
          <p:cNvPicPr>
            <a:picLocks noChangeAspect="1"/>
          </p:cNvPicPr>
          <p:nvPr/>
        </p:nvPicPr>
        <p:blipFill>
          <a:blip r:embed="rId4"/>
          <a:stretch>
            <a:fillRect/>
          </a:stretch>
        </p:blipFill>
        <p:spPr>
          <a:xfrm>
            <a:off x="800100" y="5257800"/>
            <a:ext cx="320040" cy="320040"/>
          </a:xfrm>
          <a:prstGeom prst="rect">
            <a:avLst/>
          </a:prstGeom>
        </p:spPr>
      </p:pic>
      <p:sp>
        <p:nvSpPr>
          <p:cNvPr id="19" name="Text 13"/>
          <p:cNvSpPr txBox="1"/>
          <p:nvPr/>
        </p:nvSpPr>
        <p:spPr>
          <a:xfrm>
            <a:off x="1508760" y="4663440"/>
            <a:ext cx="2377440" cy="150876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The cost</a:t>
            </a:r>
            <a:endParaRPr lang="en-US" sz="1600" dirty="0"/>
          </a:p>
        </p:txBody>
      </p:sp>
      <p:sp>
        <p:nvSpPr>
          <p:cNvPr id="20" name="Shape 14"/>
          <p:cNvSpPr/>
          <p:nvPr/>
        </p:nvSpPr>
        <p:spPr>
          <a:xfrm>
            <a:off x="3977640" y="4727448"/>
            <a:ext cx="7543800" cy="1380744"/>
          </a:xfrm>
          <a:prstGeom prst="roundRect">
            <a:avLst>
              <a:gd name="adj" fmla="val 3974"/>
            </a:avLst>
          </a:prstGeom>
          <a:solidFill>
            <a:srgbClr val="F3F6F9"/>
          </a:solidFill>
          <a:ln w="9525">
            <a:solidFill>
              <a:srgbClr val="E1E7EE"/>
            </a:solidFill>
            <a:prstDash val="solid"/>
          </a:ln>
        </p:spPr>
        <p:txBody>
          <a:bodyPr/>
          <a:p/>
        </p:txBody>
      </p:sp>
      <p:sp>
        <p:nvSpPr>
          <p:cNvPr id="21" name="Text 15"/>
          <p:cNvSpPr txBox="1"/>
          <p:nvPr/>
        </p:nvSpPr>
        <p:spPr>
          <a:xfrm>
            <a:off x="4251960" y="4727448"/>
            <a:ext cx="7086600" cy="138074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More accuracy, less transparency. Today: how to open the black box.</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TODAY'S PLAN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4.1 at a Glance — 75 Minutes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From 'the model says so' to 'here is why'.</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874520"/>
            <a:ext cx="1414272" cy="384048"/>
          </a:xfrm>
          <a:prstGeom prst="rect">
            <a:avLst/>
          </a:prstGeom>
          <a:solidFill>
            <a:srgbClr val="0B5E82"/>
          </a:solidFill>
          <a:ln w="12700">
            <a:solidFill>
              <a:srgbClr val="FFFFFF"/>
            </a:solidFill>
            <a:prstDash val="solid"/>
          </a:ln>
        </p:spPr>
        <p:txBody>
          <a:bodyPr/>
          <a:p/>
        </p:txBody>
      </p:sp>
      <p:sp>
        <p:nvSpPr>
          <p:cNvPr id="9" name="Text 6"/>
          <p:cNvSpPr txBox="1"/>
          <p:nvPr/>
        </p:nvSpPr>
        <p:spPr>
          <a:xfrm>
            <a:off x="640080" y="1874520"/>
            <a:ext cx="14142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10" name="Shape 7"/>
          <p:cNvSpPr/>
          <p:nvPr/>
        </p:nvSpPr>
        <p:spPr>
          <a:xfrm>
            <a:off x="2090928" y="1874520"/>
            <a:ext cx="4315968" cy="384048"/>
          </a:xfrm>
          <a:prstGeom prst="rect">
            <a:avLst/>
          </a:prstGeom>
          <a:solidFill>
            <a:srgbClr val="1C7293"/>
          </a:solidFill>
          <a:ln w="12700">
            <a:solidFill>
              <a:srgbClr val="FFFFFF"/>
            </a:solidFill>
            <a:prstDash val="solid"/>
          </a:ln>
        </p:spPr>
        <p:txBody>
          <a:bodyPr/>
          <a:p/>
        </p:txBody>
      </p:sp>
      <p:sp>
        <p:nvSpPr>
          <p:cNvPr id="11" name="Text 8"/>
          <p:cNvSpPr txBox="1"/>
          <p:nvPr/>
        </p:nvSpPr>
        <p:spPr>
          <a:xfrm>
            <a:off x="2090928" y="1874520"/>
            <a:ext cx="43159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a:t>
            </a:r>
            <a:endParaRPr lang="en-US" sz="1200" dirty="0"/>
          </a:p>
        </p:txBody>
      </p:sp>
      <p:sp>
        <p:nvSpPr>
          <p:cNvPr id="12" name="Shape 9"/>
          <p:cNvSpPr/>
          <p:nvPr/>
        </p:nvSpPr>
        <p:spPr>
          <a:xfrm>
            <a:off x="6443472" y="1874520"/>
            <a:ext cx="4315968" cy="384048"/>
          </a:xfrm>
          <a:prstGeom prst="rect">
            <a:avLst/>
          </a:prstGeom>
          <a:solidFill>
            <a:srgbClr val="D99A2B"/>
          </a:solidFill>
          <a:ln w="12700">
            <a:solidFill>
              <a:srgbClr val="FFFFFF"/>
            </a:solidFill>
            <a:prstDash val="solid"/>
          </a:ln>
        </p:spPr>
        <p:txBody>
          <a:bodyPr/>
          <a:p/>
        </p:txBody>
      </p:sp>
      <p:sp>
        <p:nvSpPr>
          <p:cNvPr id="13" name="Text 10"/>
          <p:cNvSpPr txBox="1"/>
          <p:nvPr/>
        </p:nvSpPr>
        <p:spPr>
          <a:xfrm>
            <a:off x="6443472" y="1874520"/>
            <a:ext cx="43159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30'</a:t>
            </a:r>
            <a:endParaRPr lang="en-US" sz="1200" dirty="0"/>
          </a:p>
        </p:txBody>
      </p:sp>
      <p:sp>
        <p:nvSpPr>
          <p:cNvPr id="14" name="Shape 11"/>
          <p:cNvSpPr/>
          <p:nvPr/>
        </p:nvSpPr>
        <p:spPr>
          <a:xfrm>
            <a:off x="10796016" y="1874520"/>
            <a:ext cx="688848" cy="384048"/>
          </a:xfrm>
          <a:prstGeom prst="rect">
            <a:avLst/>
          </a:prstGeom>
          <a:solidFill>
            <a:srgbClr val="0B5E82"/>
          </a:solidFill>
          <a:ln w="12700">
            <a:solidFill>
              <a:srgbClr val="FFFFFF"/>
            </a:solidFill>
            <a:prstDash val="solid"/>
          </a:ln>
        </p:spPr>
        <p:txBody>
          <a:bodyPr/>
          <a:p/>
        </p:txBody>
      </p:sp>
      <p:sp>
        <p:nvSpPr>
          <p:cNvPr id="15" name="Text 12"/>
          <p:cNvSpPr txBox="1"/>
          <p:nvPr/>
        </p:nvSpPr>
        <p:spPr>
          <a:xfrm>
            <a:off x="10796016" y="1874520"/>
            <a:ext cx="6888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6" name="Shape 13"/>
          <p:cNvSpPr/>
          <p:nvPr/>
        </p:nvSpPr>
        <p:spPr>
          <a:xfrm>
            <a:off x="640080"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7" name="Shape 14"/>
          <p:cNvSpPr/>
          <p:nvPr/>
        </p:nvSpPr>
        <p:spPr>
          <a:xfrm>
            <a:off x="1604772" y="2788920"/>
            <a:ext cx="640080" cy="640080"/>
          </a:xfrm>
          <a:prstGeom prst="ellipse">
            <a:avLst/>
          </a:prstGeom>
          <a:solidFill>
            <a:srgbClr val="0B5E82"/>
          </a:solidFill>
          <a:ln w="12700">
            <a:solidFill>
              <a:srgbClr val="0B5E82"/>
            </a:solidFill>
            <a:prstDash val="solid"/>
          </a:ln>
        </p:spPr>
        <p:txBody>
          <a:bodyPr/>
          <a:p/>
        </p:txBody>
      </p:sp>
      <p:pic>
        <p:nvPicPr>
          <p:cNvPr id="18" name="Image 1" descr="preencoded.png">    </p:cNvPr>
          <p:cNvPicPr>
            <a:picLocks noChangeAspect="1"/>
          </p:cNvPicPr>
          <p:nvPr/>
        </p:nvPicPr>
        <p:blipFill>
          <a:blip r:embed="rId2"/>
          <a:stretch>
            <a:fillRect/>
          </a:stretch>
        </p:blipFill>
        <p:spPr>
          <a:xfrm>
            <a:off x="1764792" y="2948940"/>
            <a:ext cx="320040" cy="320040"/>
          </a:xfrm>
          <a:prstGeom prst="rect">
            <a:avLst/>
          </a:prstGeom>
        </p:spPr>
      </p:pic>
      <p:sp>
        <p:nvSpPr>
          <p:cNvPr id="19" name="Text 15"/>
          <p:cNvSpPr txBox="1"/>
          <p:nvPr/>
        </p:nvSpPr>
        <p:spPr>
          <a:xfrm>
            <a:off x="777240"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Recap &amp; Hook</a:t>
            </a:r>
            <a:endParaRPr lang="en-US" sz="1450" dirty="0"/>
          </a:p>
        </p:txBody>
      </p:sp>
      <p:sp>
        <p:nvSpPr>
          <p:cNvPr id="20" name="Text 16"/>
          <p:cNvSpPr txBox="1"/>
          <p:nvPr/>
        </p:nvSpPr>
        <p:spPr>
          <a:xfrm>
            <a:off x="822960"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Why 'trust me' is not enough</a:t>
            </a:r>
            <a:endParaRPr lang="en-US" sz="1200" dirty="0"/>
          </a:p>
        </p:txBody>
      </p:sp>
      <p:sp>
        <p:nvSpPr>
          <p:cNvPr id="21" name="Shape 17"/>
          <p:cNvSpPr/>
          <p:nvPr/>
        </p:nvSpPr>
        <p:spPr>
          <a:xfrm>
            <a:off x="3410712"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2" name="Shape 18"/>
          <p:cNvSpPr/>
          <p:nvPr/>
        </p:nvSpPr>
        <p:spPr>
          <a:xfrm>
            <a:off x="4375404" y="2788920"/>
            <a:ext cx="640080" cy="640080"/>
          </a:xfrm>
          <a:prstGeom prst="ellipse">
            <a:avLst/>
          </a:prstGeom>
          <a:solidFill>
            <a:srgbClr val="0B5E82"/>
          </a:solidFill>
          <a:ln w="12700">
            <a:solidFill>
              <a:srgbClr val="0B5E82"/>
            </a:solidFill>
            <a:prstDash val="solid"/>
          </a:ln>
        </p:spPr>
        <p:txBody>
          <a:bodyPr/>
          <a:p/>
        </p:txBody>
      </p:sp>
      <p:pic>
        <p:nvPicPr>
          <p:cNvPr id="23" name="Image 2" descr="preencoded.png">    </p:cNvPr>
          <p:cNvPicPr>
            <a:picLocks noChangeAspect="1"/>
          </p:cNvPicPr>
          <p:nvPr/>
        </p:nvPicPr>
        <p:blipFill>
          <a:blip r:embed="rId3"/>
          <a:stretch>
            <a:fillRect/>
          </a:stretch>
        </p:blipFill>
        <p:spPr>
          <a:xfrm>
            <a:off x="4535424" y="2948940"/>
            <a:ext cx="320040" cy="320040"/>
          </a:xfrm>
          <a:prstGeom prst="rect">
            <a:avLst/>
          </a:prstGeom>
        </p:spPr>
      </p:pic>
      <p:sp>
        <p:nvSpPr>
          <p:cNvPr id="24" name="Text 19"/>
          <p:cNvSpPr txBox="1"/>
          <p:nvPr/>
        </p:nvSpPr>
        <p:spPr>
          <a:xfrm>
            <a:off x="3547872"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Explainability</a:t>
            </a:r>
            <a:endParaRPr lang="en-US" sz="1450" dirty="0"/>
          </a:p>
        </p:txBody>
      </p:sp>
      <p:sp>
        <p:nvSpPr>
          <p:cNvPr id="25" name="Text 20"/>
          <p:cNvSpPr txBox="1"/>
          <p:nvPr/>
        </p:nvSpPr>
        <p:spPr>
          <a:xfrm>
            <a:off x="3593592"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Global vs local; SHAP; LIME; limits</a:t>
            </a:r>
            <a:endParaRPr lang="en-US" sz="1200" dirty="0"/>
          </a:p>
        </p:txBody>
      </p:sp>
      <p:sp>
        <p:nvSpPr>
          <p:cNvPr id="26" name="Shape 21"/>
          <p:cNvSpPr/>
          <p:nvPr/>
        </p:nvSpPr>
        <p:spPr>
          <a:xfrm>
            <a:off x="6181344"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7" name="Shape 22"/>
          <p:cNvSpPr/>
          <p:nvPr/>
        </p:nvSpPr>
        <p:spPr>
          <a:xfrm>
            <a:off x="7146036" y="2788920"/>
            <a:ext cx="640080" cy="640080"/>
          </a:xfrm>
          <a:prstGeom prst="ellipse">
            <a:avLst/>
          </a:prstGeom>
          <a:solidFill>
            <a:srgbClr val="D99A2B"/>
          </a:solidFill>
          <a:ln w="12700">
            <a:solidFill>
              <a:srgbClr val="D99A2B"/>
            </a:solidFill>
            <a:prstDash val="solid"/>
          </a:ln>
        </p:spPr>
        <p:txBody>
          <a:bodyPr/>
          <a:p/>
        </p:txBody>
      </p:sp>
      <p:pic>
        <p:nvPicPr>
          <p:cNvPr id="28" name="Image 3" descr="preencoded.png">    </p:cNvPr>
          <p:cNvPicPr>
            <a:picLocks noChangeAspect="1"/>
          </p:cNvPicPr>
          <p:nvPr/>
        </p:nvPicPr>
        <p:blipFill>
          <a:blip r:embed="rId4"/>
          <a:stretch>
            <a:fillRect/>
          </a:stretch>
        </p:blipFill>
        <p:spPr>
          <a:xfrm>
            <a:off x="7306056" y="2948940"/>
            <a:ext cx="320040" cy="320040"/>
          </a:xfrm>
          <a:prstGeom prst="rect">
            <a:avLst/>
          </a:prstGeom>
        </p:spPr>
      </p:pic>
      <p:sp>
        <p:nvSpPr>
          <p:cNvPr id="29" name="Text 23"/>
          <p:cNvSpPr txBox="1"/>
          <p:nvPr/>
        </p:nvSpPr>
        <p:spPr>
          <a:xfrm>
            <a:off x="6318504"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Lab: Lead Scoring</a:t>
            </a:r>
            <a:endParaRPr lang="en-US" sz="1450" dirty="0"/>
          </a:p>
        </p:txBody>
      </p:sp>
      <p:sp>
        <p:nvSpPr>
          <p:cNvPr id="30" name="Text 24"/>
          <p:cNvSpPr txBox="1"/>
          <p:nvPr/>
        </p:nvSpPr>
        <p:spPr>
          <a:xfrm>
            <a:off x="6364224"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Score, grade and explain B2B leads</a:t>
            </a:r>
            <a:endParaRPr lang="en-US" sz="1200" dirty="0"/>
          </a:p>
        </p:txBody>
      </p:sp>
      <p:sp>
        <p:nvSpPr>
          <p:cNvPr id="31" name="Shape 25"/>
          <p:cNvSpPr/>
          <p:nvPr/>
        </p:nvSpPr>
        <p:spPr>
          <a:xfrm>
            <a:off x="8951976" y="2560320"/>
            <a:ext cx="2569464" cy="3383280"/>
          </a:xfrm>
          <a:prstGeom prst="roundRect">
            <a:avLst>
              <a:gd name="adj" fmla="val 284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2" name="Shape 26"/>
          <p:cNvSpPr/>
          <p:nvPr/>
        </p:nvSpPr>
        <p:spPr>
          <a:xfrm>
            <a:off x="9916668" y="2788920"/>
            <a:ext cx="640080" cy="640080"/>
          </a:xfrm>
          <a:prstGeom prst="ellipse">
            <a:avLst/>
          </a:prstGeom>
          <a:solidFill>
            <a:srgbClr val="0B5E82"/>
          </a:solidFill>
          <a:ln w="12700">
            <a:solidFill>
              <a:srgbClr val="0B5E82"/>
            </a:solidFill>
            <a:prstDash val="solid"/>
          </a:ln>
        </p:spPr>
        <p:txBody>
          <a:bodyPr/>
          <a:p/>
        </p:txBody>
      </p:sp>
      <p:pic>
        <p:nvPicPr>
          <p:cNvPr id="33" name="Image 4" descr="preencoded.png">    </p:cNvPr>
          <p:cNvPicPr>
            <a:picLocks noChangeAspect="1"/>
          </p:cNvPicPr>
          <p:nvPr/>
        </p:nvPicPr>
        <p:blipFill>
          <a:blip r:embed="rId5"/>
          <a:stretch>
            <a:fillRect/>
          </a:stretch>
        </p:blipFill>
        <p:spPr>
          <a:xfrm>
            <a:off x="10076688" y="2948940"/>
            <a:ext cx="320040" cy="320040"/>
          </a:xfrm>
          <a:prstGeom prst="rect">
            <a:avLst/>
          </a:prstGeom>
        </p:spPr>
      </p:pic>
      <p:sp>
        <p:nvSpPr>
          <p:cNvPr id="34" name="Text 27"/>
          <p:cNvSpPr txBox="1"/>
          <p:nvPr/>
        </p:nvSpPr>
        <p:spPr>
          <a:xfrm>
            <a:off x="9089136" y="3611880"/>
            <a:ext cx="2295144"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Module 2 Review</a:t>
            </a:r>
            <a:endParaRPr lang="en-US" sz="1450" dirty="0"/>
          </a:p>
        </p:txBody>
      </p:sp>
      <p:sp>
        <p:nvSpPr>
          <p:cNvPr id="35" name="Text 28"/>
          <p:cNvSpPr txBox="1"/>
          <p:nvPr/>
        </p:nvSpPr>
        <p:spPr>
          <a:xfrm>
            <a:off x="9134856" y="4206240"/>
            <a:ext cx="2203704"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Practice-paper briefing: Practice Paper 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BY THE END OF TODAY</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4.1 Learning Objectives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You will be able to:</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4</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Text 6"/>
          <p:cNvSpPr txBox="1"/>
          <p:nvPr/>
        </p:nvSpPr>
        <p:spPr>
          <a:xfrm>
            <a:off x="91440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01</a:t>
            </a:r>
            <a:endParaRPr lang="en-US" sz="3000" dirty="0"/>
          </a:p>
        </p:txBody>
      </p:sp>
      <p:sp>
        <p:nvSpPr>
          <p:cNvPr id="10" name="Shape 7"/>
          <p:cNvSpPr/>
          <p:nvPr/>
        </p:nvSpPr>
        <p:spPr>
          <a:xfrm>
            <a:off x="3215640" y="2148840"/>
            <a:ext cx="566928" cy="566928"/>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3357372" y="2290572"/>
            <a:ext cx="283464" cy="283464"/>
          </a:xfrm>
          <a:prstGeom prst="rect">
            <a:avLst/>
          </a:prstGeom>
        </p:spPr>
      </p:pic>
      <p:sp>
        <p:nvSpPr>
          <p:cNvPr id="12" name="Text 8"/>
          <p:cNvSpPr txBox="1"/>
          <p:nvPr/>
        </p:nvSpPr>
        <p:spPr>
          <a:xfrm>
            <a:off x="91440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Explain Globally</a:t>
            </a:r>
            <a:endParaRPr lang="en-US" sz="1700" dirty="0"/>
          </a:p>
        </p:txBody>
      </p:sp>
      <p:sp>
        <p:nvSpPr>
          <p:cNvPr id="13" name="Text 9"/>
          <p:cNvSpPr txBox="1"/>
          <p:nvPr/>
        </p:nvSpPr>
        <p:spPr>
          <a:xfrm>
            <a:off x="91440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Show which drivers matter most across all predictions, and in which direction.</a:t>
            </a:r>
            <a:endParaRPr lang="en-US" sz="1350" dirty="0"/>
          </a:p>
        </p:txBody>
      </p:sp>
      <p:sp>
        <p:nvSpPr>
          <p:cNvPr id="14" name="Shape 10"/>
          <p:cNvSpPr/>
          <p:nvPr/>
        </p:nvSpPr>
        <p:spPr>
          <a:xfrm>
            <a:off x="435864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Text 11"/>
          <p:cNvSpPr txBox="1"/>
          <p:nvPr/>
        </p:nvSpPr>
        <p:spPr>
          <a:xfrm>
            <a:off x="463296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02</a:t>
            </a:r>
            <a:endParaRPr lang="en-US" sz="3000" dirty="0"/>
          </a:p>
        </p:txBody>
      </p:sp>
      <p:sp>
        <p:nvSpPr>
          <p:cNvPr id="16" name="Shape 12"/>
          <p:cNvSpPr/>
          <p:nvPr/>
        </p:nvSpPr>
        <p:spPr>
          <a:xfrm>
            <a:off x="6934200" y="2148840"/>
            <a:ext cx="566928" cy="566928"/>
          </a:xfrm>
          <a:prstGeom prst="ellipse">
            <a:avLst/>
          </a:prstGeom>
          <a:solidFill>
            <a:srgbClr val="0B5E82"/>
          </a:solidFill>
          <a:ln w="12700">
            <a:solidFill>
              <a:srgbClr val="0B5E82"/>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7075932" y="2290572"/>
            <a:ext cx="283464" cy="283464"/>
          </a:xfrm>
          <a:prstGeom prst="rect">
            <a:avLst/>
          </a:prstGeom>
        </p:spPr>
      </p:pic>
      <p:sp>
        <p:nvSpPr>
          <p:cNvPr id="18" name="Text 13"/>
          <p:cNvSpPr txBox="1"/>
          <p:nvPr/>
        </p:nvSpPr>
        <p:spPr>
          <a:xfrm>
            <a:off x="463296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Explain Locally</a:t>
            </a:r>
            <a:endParaRPr lang="en-US" sz="1700" dirty="0"/>
          </a:p>
        </p:txBody>
      </p:sp>
      <p:sp>
        <p:nvSpPr>
          <p:cNvPr id="19" name="Text 14"/>
          <p:cNvSpPr txBox="1"/>
          <p:nvPr/>
        </p:nvSpPr>
        <p:spPr>
          <a:xfrm>
            <a:off x="463296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Use SHAP (and know LIME) to explain a single prediction to a non-technical stakeholder.</a:t>
            </a:r>
            <a:endParaRPr lang="en-US" sz="1350" dirty="0"/>
          </a:p>
        </p:txBody>
      </p:sp>
      <p:sp>
        <p:nvSpPr>
          <p:cNvPr id="20" name="Shape 15"/>
          <p:cNvSpPr/>
          <p:nvPr/>
        </p:nvSpPr>
        <p:spPr>
          <a:xfrm>
            <a:off x="807720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1" name="Text 16"/>
          <p:cNvSpPr txBox="1"/>
          <p:nvPr/>
        </p:nvSpPr>
        <p:spPr>
          <a:xfrm>
            <a:off x="835152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03</a:t>
            </a:r>
            <a:endParaRPr lang="en-US" sz="3000" dirty="0"/>
          </a:p>
        </p:txBody>
      </p:sp>
      <p:sp>
        <p:nvSpPr>
          <p:cNvPr id="22" name="Shape 17"/>
          <p:cNvSpPr/>
          <p:nvPr/>
        </p:nvSpPr>
        <p:spPr>
          <a:xfrm>
            <a:off x="10652760" y="2148840"/>
            <a:ext cx="566928" cy="566928"/>
          </a:xfrm>
          <a:prstGeom prst="ellipse">
            <a:avLst/>
          </a:prstGeom>
          <a:solidFill>
            <a:srgbClr val="0B5E82"/>
          </a:solidFill>
          <a:ln w="12700">
            <a:solidFill>
              <a:srgbClr val="0B5E8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10794492" y="2290572"/>
            <a:ext cx="283464" cy="283464"/>
          </a:xfrm>
          <a:prstGeom prst="rect">
            <a:avLst/>
          </a:prstGeom>
        </p:spPr>
      </p:pic>
      <p:sp>
        <p:nvSpPr>
          <p:cNvPr id="24" name="Text 18"/>
          <p:cNvSpPr txBox="1"/>
          <p:nvPr/>
        </p:nvSpPr>
        <p:spPr>
          <a:xfrm>
            <a:off x="835152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Build a Lead Score</a:t>
            </a:r>
            <a:endParaRPr lang="en-US" sz="1700" dirty="0"/>
          </a:p>
        </p:txBody>
      </p:sp>
      <p:sp>
        <p:nvSpPr>
          <p:cNvPr id="25" name="Text 19"/>
          <p:cNvSpPr txBox="1"/>
          <p:nvPr/>
        </p:nvSpPr>
        <p:spPr>
          <a:xfrm>
            <a:off x="835152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Turn a model into lead grades and a calling plan a sales director can trust and act 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502920"/>
            <a:ext cx="7315200" cy="274320"/>
          </a:xfrm>
          <a:prstGeom prst="rect">
            <a:avLst/>
          </a:prstGeom>
          <a:noFill/>
          <a:ln/>
        </p:spPr>
        <p:txBody>
          <a:bodyPr wrap="square" lIns="0" tIns="0" rIns="0" bIns="0" rtlCol="0" anchor="t"/>
          <a:lstStyle/>
          <a:p>
            <a:pPr indent="0" marL="0">
              <a:buNone/>
            </a:pPr>
            <a:r>
              <a:rPr lang="en-US" sz="1150" b="1" spc="300" kern="0" dirty="0">
                <a:solidFill>
                  <a:srgbClr val="D99A2B"/>
                </a:solidFill>
                <a:latin typeface="Calibri" pitchFamily="34" charset="0"/>
                <a:ea typeface="Calibri" pitchFamily="34" charset="-122"/>
                <a:cs typeface="Calibri" pitchFamily="34" charset="-120"/>
              </a:rPr>
              <a:t>THE HOOK</a:t>
            </a:r>
            <a:endParaRPr lang="en-US" sz="1150" dirty="0"/>
          </a:p>
        </p:txBody>
      </p:sp>
      <p:sp>
        <p:nvSpPr>
          <p:cNvPr id="5" name="Text 3"/>
          <p:cNvSpPr txBox="1"/>
          <p:nvPr/>
        </p:nvSpPr>
        <p:spPr>
          <a:xfrm>
            <a:off x="822960" y="777240"/>
            <a:ext cx="10058400" cy="6400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“Why Did the Model Say That?”</a:t>
            </a:r>
            <a:endParaRPr lang="en-US" sz="2800" dirty="0"/>
          </a:p>
        </p:txBody>
      </p:sp>
      <p:sp>
        <p:nvSpPr>
          <p:cNvPr id="6" name="Shape 4"/>
          <p:cNvSpPr/>
          <p:nvPr/>
        </p:nvSpPr>
        <p:spPr>
          <a:xfrm>
            <a:off x="822960" y="1783080"/>
            <a:ext cx="685800" cy="685800"/>
          </a:xfrm>
          <a:prstGeom prst="ellipse">
            <a:avLst/>
          </a:prstGeom>
          <a:solidFill>
            <a:srgbClr val="D99A2B"/>
          </a:solidFill>
          <a:ln w="12700">
            <a:solidFill>
              <a:srgbClr val="D99A2B"/>
            </a:solidFill>
            <a:prstDash val="solid"/>
          </a:ln>
        </p:spPr>
        <p:txBody>
          <a:bodyPr/>
          <a:p/>
        </p:txBody>
      </p:sp>
      <p:pic>
        <p:nvPicPr>
          <p:cNvPr id="7" name="Image 0" descr="preencoded.png">    </p:cNvPr>
          <p:cNvPicPr>
            <a:picLocks noChangeAspect="1"/>
          </p:cNvPicPr>
          <p:nvPr/>
        </p:nvPicPr>
        <p:blipFill>
          <a:blip r:embed="rId1"/>
          <a:stretch>
            <a:fillRect/>
          </a:stretch>
        </p:blipFill>
        <p:spPr>
          <a:xfrm>
            <a:off x="994410" y="1954530"/>
            <a:ext cx="342900" cy="342900"/>
          </a:xfrm>
          <a:prstGeom prst="rect">
            <a:avLst/>
          </a:prstGeom>
        </p:spPr>
      </p:pic>
      <p:sp>
        <p:nvSpPr>
          <p:cNvPr id="8" name="Text 5"/>
          <p:cNvSpPr txBox="1"/>
          <p:nvPr/>
        </p:nvSpPr>
        <p:spPr>
          <a:xfrm>
            <a:off x="1737360" y="1691640"/>
            <a:ext cx="9326880" cy="100584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A sales director asks why a ₦40m prospect is graded 'D'. A customer asks why her loan was declined. A regulator asks you to prove the model is fair.</a:t>
            </a:r>
            <a:endParaRPr lang="en-US" sz="2000" dirty="0"/>
          </a:p>
        </p:txBody>
      </p:sp>
      <p:sp>
        <p:nvSpPr>
          <p:cNvPr id="9" name="Text 6"/>
          <p:cNvSpPr txBox="1"/>
          <p:nvPr/>
        </p:nvSpPr>
        <p:spPr>
          <a:xfrm>
            <a:off x="822960" y="2971800"/>
            <a:ext cx="10424160" cy="457200"/>
          </a:xfrm>
          <a:prstGeom prst="rect">
            <a:avLst/>
          </a:prstGeom>
          <a:noFill/>
          <a:ln/>
        </p:spPr>
        <p:txBody>
          <a:bodyPr wrap="square" lIns="0" tIns="0" rIns="0" bIns="0" rtlCol="0" anchor="t"/>
          <a:lstStyle/>
          <a:p>
            <a:pPr indent="0" marL="0">
              <a:buNone/>
            </a:pPr>
            <a:r>
              <a:rPr lang="en-US" sz="1500" dirty="0">
                <a:solidFill>
                  <a:srgbClr val="C7D3E3"/>
                </a:solidFill>
                <a:latin typeface="Calibri" pitchFamily="34" charset="0"/>
                <a:ea typeface="Calibri" pitchFamily="34" charset="-122"/>
                <a:cs typeface="Calibri" pitchFamily="34" charset="-120"/>
              </a:rPr>
              <a:t>If you can't answer, the model won't be used — or shouldn't be. Explainability gives you:</a:t>
            </a:r>
            <a:endParaRPr lang="en-US" sz="1500" dirty="0"/>
          </a:p>
        </p:txBody>
      </p:sp>
      <p:sp>
        <p:nvSpPr>
          <p:cNvPr id="10" name="Shape 7"/>
          <p:cNvSpPr/>
          <p:nvPr/>
        </p:nvSpPr>
        <p:spPr>
          <a:xfrm>
            <a:off x="822960" y="3703320"/>
            <a:ext cx="457200" cy="457200"/>
          </a:xfrm>
          <a:prstGeom prst="ellipse">
            <a:avLst/>
          </a:prstGeom>
          <a:solidFill>
            <a:srgbClr val="1C7293"/>
          </a:solidFill>
          <a:ln w="12700">
            <a:solidFill>
              <a:srgbClr val="1C7293"/>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937260" y="3817620"/>
            <a:ext cx="228600" cy="228600"/>
          </a:xfrm>
          <a:prstGeom prst="rect">
            <a:avLst/>
          </a:prstGeom>
        </p:spPr>
      </p:pic>
      <p:sp>
        <p:nvSpPr>
          <p:cNvPr id="12" name="Text 8"/>
          <p:cNvSpPr txBox="1"/>
          <p:nvPr/>
        </p:nvSpPr>
        <p:spPr>
          <a:xfrm>
            <a:off x="1417320" y="3730752"/>
            <a:ext cx="28041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Trust</a:t>
            </a:r>
            <a:endParaRPr lang="en-US" sz="1600" dirty="0"/>
          </a:p>
        </p:txBody>
      </p:sp>
      <p:sp>
        <p:nvSpPr>
          <p:cNvPr id="13" name="Text 9"/>
          <p:cNvSpPr txBox="1"/>
          <p:nvPr/>
        </p:nvSpPr>
        <p:spPr>
          <a:xfrm>
            <a:off x="822960" y="4343400"/>
            <a:ext cx="3215640" cy="1463040"/>
          </a:xfrm>
          <a:prstGeom prst="rect">
            <a:avLst/>
          </a:prstGeom>
          <a:noFill/>
          <a:ln/>
        </p:spPr>
        <p:txBody>
          <a:bodyPr wrap="square" lIns="0" tIns="0" rIns="0" bIns="0" rtlCol="0" anchor="t"/>
          <a:lstStyle/>
          <a:p>
            <a:pPr indent="0" marL="0">
              <a:buNone/>
            </a:pPr>
            <a:r>
              <a:rPr lang="en-US" sz="1350" dirty="0">
                <a:solidFill>
                  <a:srgbClr val="C7D3E3"/>
                </a:solidFill>
                <a:latin typeface="Calibri" pitchFamily="34" charset="0"/>
                <a:ea typeface="Calibri" pitchFamily="34" charset="-122"/>
                <a:cs typeface="Calibri" pitchFamily="34" charset="-120"/>
              </a:rPr>
              <a:t>People act on scores they understand.</a:t>
            </a:r>
            <a:endParaRPr lang="en-US" sz="1350" dirty="0"/>
          </a:p>
        </p:txBody>
      </p:sp>
      <p:sp>
        <p:nvSpPr>
          <p:cNvPr id="14" name="Shape 10"/>
          <p:cNvSpPr/>
          <p:nvPr/>
        </p:nvSpPr>
        <p:spPr>
          <a:xfrm>
            <a:off x="4358640" y="3703320"/>
            <a:ext cx="457200" cy="457200"/>
          </a:xfrm>
          <a:prstGeom prst="ellipse">
            <a:avLst/>
          </a:prstGeom>
          <a:solidFill>
            <a:srgbClr val="1C7293"/>
          </a:solidFill>
          <a:ln w="12700">
            <a:solidFill>
              <a:srgbClr val="1C7293"/>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4472940" y="3817620"/>
            <a:ext cx="228600" cy="228600"/>
          </a:xfrm>
          <a:prstGeom prst="rect">
            <a:avLst/>
          </a:prstGeom>
        </p:spPr>
      </p:pic>
      <p:sp>
        <p:nvSpPr>
          <p:cNvPr id="16" name="Text 11"/>
          <p:cNvSpPr txBox="1"/>
          <p:nvPr/>
        </p:nvSpPr>
        <p:spPr>
          <a:xfrm>
            <a:off x="4953000" y="3730752"/>
            <a:ext cx="28041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Debugging</a:t>
            </a:r>
            <a:endParaRPr lang="en-US" sz="1600" dirty="0"/>
          </a:p>
        </p:txBody>
      </p:sp>
      <p:sp>
        <p:nvSpPr>
          <p:cNvPr id="17" name="Text 12"/>
          <p:cNvSpPr txBox="1"/>
          <p:nvPr/>
        </p:nvSpPr>
        <p:spPr>
          <a:xfrm>
            <a:off x="4358640" y="4343400"/>
            <a:ext cx="3215640" cy="1463040"/>
          </a:xfrm>
          <a:prstGeom prst="rect">
            <a:avLst/>
          </a:prstGeom>
          <a:noFill/>
          <a:ln/>
        </p:spPr>
        <p:txBody>
          <a:bodyPr wrap="square" lIns="0" tIns="0" rIns="0" bIns="0" rtlCol="0" anchor="t"/>
          <a:lstStyle/>
          <a:p>
            <a:pPr indent="0" marL="0">
              <a:buNone/>
            </a:pPr>
            <a:r>
              <a:rPr lang="en-US" sz="1350" dirty="0">
                <a:solidFill>
                  <a:srgbClr val="C7D3E3"/>
                </a:solidFill>
                <a:latin typeface="Calibri" pitchFamily="34" charset="0"/>
                <a:ea typeface="Calibri" pitchFamily="34" charset="-122"/>
                <a:cs typeface="Calibri" pitchFamily="34" charset="-120"/>
              </a:rPr>
              <a:t>Spot when a model relies on a leak, a proxy or nonsense.</a:t>
            </a:r>
            <a:endParaRPr lang="en-US" sz="1350" dirty="0"/>
          </a:p>
        </p:txBody>
      </p:sp>
      <p:sp>
        <p:nvSpPr>
          <p:cNvPr id="18" name="Shape 13"/>
          <p:cNvSpPr/>
          <p:nvPr/>
        </p:nvSpPr>
        <p:spPr>
          <a:xfrm>
            <a:off x="7894320" y="3703320"/>
            <a:ext cx="457200" cy="457200"/>
          </a:xfrm>
          <a:prstGeom prst="ellipse">
            <a:avLst/>
          </a:prstGeom>
          <a:solidFill>
            <a:srgbClr val="1C7293"/>
          </a:solidFill>
          <a:ln w="12700">
            <a:solidFill>
              <a:srgbClr val="1C7293"/>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8008620" y="3817620"/>
            <a:ext cx="228600" cy="228600"/>
          </a:xfrm>
          <a:prstGeom prst="rect">
            <a:avLst/>
          </a:prstGeom>
        </p:spPr>
      </p:pic>
      <p:sp>
        <p:nvSpPr>
          <p:cNvPr id="20" name="Text 14"/>
          <p:cNvSpPr txBox="1"/>
          <p:nvPr/>
        </p:nvSpPr>
        <p:spPr>
          <a:xfrm>
            <a:off x="8488680" y="3730752"/>
            <a:ext cx="28041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Accountability</a:t>
            </a:r>
            <a:endParaRPr lang="en-US" sz="1600" dirty="0"/>
          </a:p>
        </p:txBody>
      </p:sp>
      <p:sp>
        <p:nvSpPr>
          <p:cNvPr id="21" name="Text 15"/>
          <p:cNvSpPr txBox="1"/>
          <p:nvPr/>
        </p:nvSpPr>
        <p:spPr>
          <a:xfrm>
            <a:off x="7894320" y="4343400"/>
            <a:ext cx="3215640" cy="1463040"/>
          </a:xfrm>
          <a:prstGeom prst="rect">
            <a:avLst/>
          </a:prstGeom>
          <a:noFill/>
          <a:ln/>
        </p:spPr>
        <p:txBody>
          <a:bodyPr wrap="square" lIns="0" tIns="0" rIns="0" bIns="0" rtlCol="0" anchor="t"/>
          <a:lstStyle/>
          <a:p>
            <a:pPr indent="0" marL="0">
              <a:buNone/>
            </a:pPr>
            <a:r>
              <a:rPr lang="en-US" sz="1350" dirty="0">
                <a:solidFill>
                  <a:srgbClr val="C7D3E3"/>
                </a:solidFill>
                <a:latin typeface="Calibri" pitchFamily="34" charset="0"/>
                <a:ea typeface="Calibri" pitchFamily="34" charset="-122"/>
                <a:cs typeface="Calibri" pitchFamily="34" charset="-120"/>
              </a:rPr>
              <a:t>Meet NDPA and fair-lending expectations to explain automated decisions.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NIGERIAN BUSINESS CASE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A B2B Lead-Scoring Model for a Sales Director</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6</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8" name="Shape 5"/>
          <p:cNvSpPr/>
          <p:nvPr/>
        </p:nvSpPr>
        <p:spPr>
          <a:xfrm>
            <a:off x="868680" y="1892808"/>
            <a:ext cx="457200" cy="457200"/>
          </a:xfrm>
          <a:prstGeom prst="ellipse">
            <a:avLst/>
          </a:prstGeom>
          <a:solidFill>
            <a:srgbClr val="0B5E82"/>
          </a:solidFill>
          <a:ln w="12700">
            <a:solidFill>
              <a:srgbClr val="0B5E8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982980" y="2007108"/>
            <a:ext cx="228600" cy="228600"/>
          </a:xfrm>
          <a:prstGeom prst="rect">
            <a:avLst/>
          </a:prstGeom>
        </p:spPr>
      </p:pic>
      <p:sp>
        <p:nvSpPr>
          <p:cNvPr id="10" name="Text 6"/>
          <p:cNvSpPr txBox="1"/>
          <p:nvPr/>
        </p:nvSpPr>
        <p:spPr>
          <a:xfrm>
            <a:off x="1463040" y="189280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situation</a:t>
            </a:r>
            <a:endParaRPr lang="en-US" sz="1550" dirty="0"/>
          </a:p>
        </p:txBody>
      </p:sp>
      <p:sp>
        <p:nvSpPr>
          <p:cNvPr id="11" name="Text 7"/>
          <p:cNvSpPr txBox="1"/>
          <p:nvPr/>
        </p:nvSpPr>
        <p:spPr>
          <a:xfrm>
            <a:off x="914400" y="246888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A Lagos-based enterprise software firm generates 2,500 leads a year from referrals, events, its website, LinkedIn and cold outreach. Only </a:t>
            </a:r>
            <a:r>
              <a:rPr lang="en-US" sz="1300" b="1" dirty="0">
                <a:solidFill>
                  <a:srgbClr val="1A2233"/>
                </a:solidFill>
                <a:latin typeface="Calibri" pitchFamily="34" charset="0"/>
                <a:ea typeface="Calibri" pitchFamily="34" charset="-122"/>
                <a:cs typeface="Calibri" pitchFamily="34" charset="-120"/>
              </a:rPr>
              <a:t>16%</a:t>
            </a:r>
            <a:r>
              <a:rPr lang="en-US" sz="1300" dirty="0">
                <a:solidFill>
                  <a:srgbClr val="1A2233"/>
                </a:solidFill>
                <a:latin typeface="Calibri" pitchFamily="34" charset="0"/>
                <a:ea typeface="Calibri" pitchFamily="34" charset="-122"/>
                <a:cs typeface="Calibri" pitchFamily="34" charset="-120"/>
              </a:rPr>
              <a:t> convert. The 12-person sales team can't call everyone well.</a:t>
            </a:r>
            <a:endParaRPr lang="en-US" sz="1300" dirty="0"/>
          </a:p>
        </p:txBody>
      </p:sp>
      <p:sp>
        <p:nvSpPr>
          <p:cNvPr id="12" name="Shape 8"/>
          <p:cNvSpPr/>
          <p:nvPr/>
        </p:nvSpPr>
        <p:spPr>
          <a:xfrm>
            <a:off x="6217920" y="169164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3" name="Shape 9"/>
          <p:cNvSpPr/>
          <p:nvPr/>
        </p:nvSpPr>
        <p:spPr>
          <a:xfrm>
            <a:off x="6446520" y="1892808"/>
            <a:ext cx="457200" cy="457200"/>
          </a:xfrm>
          <a:prstGeom prst="ellipse">
            <a:avLst/>
          </a:prstGeom>
          <a:solidFill>
            <a:srgbClr val="D99A2B"/>
          </a:solidFill>
          <a:ln w="12700">
            <a:solidFill>
              <a:srgbClr val="D99A2B"/>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6560820" y="2007108"/>
            <a:ext cx="228600" cy="228600"/>
          </a:xfrm>
          <a:prstGeom prst="rect">
            <a:avLst/>
          </a:prstGeom>
        </p:spPr>
      </p:pic>
      <p:sp>
        <p:nvSpPr>
          <p:cNvPr id="15" name="Text 10"/>
          <p:cNvSpPr txBox="1"/>
          <p:nvPr/>
        </p:nvSpPr>
        <p:spPr>
          <a:xfrm>
            <a:off x="7040880" y="189280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decision question</a:t>
            </a:r>
            <a:endParaRPr lang="en-US" sz="1550" dirty="0"/>
          </a:p>
        </p:txBody>
      </p:sp>
      <p:sp>
        <p:nvSpPr>
          <p:cNvPr id="16" name="Text 11"/>
          <p:cNvSpPr txBox="1"/>
          <p:nvPr/>
        </p:nvSpPr>
        <p:spPr>
          <a:xfrm>
            <a:off x="6492240" y="246888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Which leads should sales call first — and can we explain each score so account managers trust it?</a:t>
            </a:r>
            <a:endParaRPr lang="en-US" sz="1300" dirty="0"/>
          </a:p>
        </p:txBody>
      </p:sp>
      <p:sp>
        <p:nvSpPr>
          <p:cNvPr id="17" name="Shape 12"/>
          <p:cNvSpPr/>
          <p:nvPr/>
        </p:nvSpPr>
        <p:spPr>
          <a:xfrm>
            <a:off x="640080" y="402336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8" name="Shape 13"/>
          <p:cNvSpPr/>
          <p:nvPr/>
        </p:nvSpPr>
        <p:spPr>
          <a:xfrm>
            <a:off x="868680" y="4224528"/>
            <a:ext cx="457200" cy="457200"/>
          </a:xfrm>
          <a:prstGeom prst="ellipse">
            <a:avLst/>
          </a:prstGeom>
          <a:solidFill>
            <a:srgbClr val="0B5E82"/>
          </a:solidFill>
          <a:ln w="12700">
            <a:solidFill>
              <a:srgbClr val="0B5E82"/>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982980" y="4338828"/>
            <a:ext cx="228600" cy="228600"/>
          </a:xfrm>
          <a:prstGeom prst="rect">
            <a:avLst/>
          </a:prstGeom>
        </p:spPr>
      </p:pic>
      <p:sp>
        <p:nvSpPr>
          <p:cNvPr id="20" name="Text 14"/>
          <p:cNvSpPr txBox="1"/>
          <p:nvPr/>
        </p:nvSpPr>
        <p:spPr>
          <a:xfrm>
            <a:off x="1463040" y="422452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data we have</a:t>
            </a:r>
            <a:endParaRPr lang="en-US" sz="1550" dirty="0"/>
          </a:p>
        </p:txBody>
      </p:sp>
      <p:sp>
        <p:nvSpPr>
          <p:cNvPr id="21" name="Text 15"/>
          <p:cNvSpPr txBox="1"/>
          <p:nvPr/>
        </p:nvSpPr>
        <p:spPr>
          <a:xfrm>
            <a:off x="914400" y="480060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b2b_leads.csv — industry, company size, lead source, web visits, demo request, emails opened, days since first touch, converted. Train on 1,750 leads; test on 750.</a:t>
            </a:r>
            <a:endParaRPr lang="en-US" sz="1300" dirty="0"/>
          </a:p>
        </p:txBody>
      </p:sp>
      <p:sp>
        <p:nvSpPr>
          <p:cNvPr id="22" name="Shape 16"/>
          <p:cNvSpPr/>
          <p:nvPr/>
        </p:nvSpPr>
        <p:spPr>
          <a:xfrm>
            <a:off x="6217920" y="402336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3" name="Shape 17"/>
          <p:cNvSpPr/>
          <p:nvPr/>
        </p:nvSpPr>
        <p:spPr>
          <a:xfrm>
            <a:off x="6446520" y="4224528"/>
            <a:ext cx="457200" cy="457200"/>
          </a:xfrm>
          <a:prstGeom prst="ellipse">
            <a:avLst/>
          </a:prstGeom>
          <a:solidFill>
            <a:srgbClr val="0B5E82"/>
          </a:solidFill>
          <a:ln w="12700">
            <a:solidFill>
              <a:srgbClr val="0B5E82"/>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6560820" y="4338828"/>
            <a:ext cx="228600" cy="228600"/>
          </a:xfrm>
          <a:prstGeom prst="rect">
            <a:avLst/>
          </a:prstGeom>
        </p:spPr>
      </p:pic>
      <p:sp>
        <p:nvSpPr>
          <p:cNvPr id="25" name="Text 18"/>
          <p:cNvSpPr txBox="1"/>
          <p:nvPr/>
        </p:nvSpPr>
        <p:spPr>
          <a:xfrm>
            <a:off x="7040880" y="422452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What a good answer looks like</a:t>
            </a:r>
            <a:endParaRPr lang="en-US" sz="1550" dirty="0"/>
          </a:p>
        </p:txBody>
      </p:sp>
      <p:sp>
        <p:nvSpPr>
          <p:cNvPr id="26" name="Text 19"/>
          <p:cNvSpPr txBox="1"/>
          <p:nvPr/>
        </p:nvSpPr>
        <p:spPr>
          <a:xfrm>
            <a:off x="6492240" y="4800600"/>
            <a:ext cx="4754880" cy="1188720"/>
          </a:xfrm>
          <a:prstGeom prst="rect">
            <a:avLst/>
          </a:prstGeom>
          <a:noFill/>
          <a:ln/>
        </p:spPr>
        <p:txBody>
          <a:bodyPr wrap="square" lIns="0" tIns="0" rIns="0" bIns="0" rtlCol="0" anchor="t"/>
          <a:lstStyle/>
          <a:p>
            <a:pPr indent="0" marL="0">
              <a:buNone/>
            </a:pPr>
            <a:r>
              <a:rPr lang="en-US" sz="1300" b="1" dirty="0">
                <a:solidFill>
                  <a:srgbClr val="1A2233"/>
                </a:solidFill>
                <a:latin typeface="Calibri" pitchFamily="34" charset="0"/>
                <a:ea typeface="Calibri" pitchFamily="34" charset="-122"/>
                <a:cs typeface="Calibri" pitchFamily="34" charset="-120"/>
              </a:rPr>
              <a:t>Lead grades</a:t>
            </a:r>
            <a:r>
              <a:rPr lang="en-US" sz="1300" dirty="0">
                <a:solidFill>
                  <a:srgbClr val="1A2233"/>
                </a:solidFill>
                <a:latin typeface="Calibri" pitchFamily="34" charset="0"/>
                <a:ea typeface="Calibri" pitchFamily="34" charset="-122"/>
                <a:cs typeface="Calibri" pitchFamily="34" charset="-120"/>
              </a:rPr>
              <a:t> (A–D) with expected conversion rates, a calling plan, and a plain-English explanation for any individual lead.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Opening the Black Box</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Global explanations, local explanations.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TWO QUESTIONS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Global vs Local Explanations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8</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530352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8" name="Shape 5"/>
          <p:cNvSpPr/>
          <p:nvPr/>
        </p:nvSpPr>
        <p:spPr>
          <a:xfrm>
            <a:off x="914400" y="1947672"/>
            <a:ext cx="594360" cy="594360"/>
          </a:xfrm>
          <a:prstGeom prst="ellipse">
            <a:avLst/>
          </a:prstGeom>
          <a:solidFill>
            <a:srgbClr val="0B5E82"/>
          </a:solidFill>
          <a:ln w="12700">
            <a:solidFill>
              <a:srgbClr val="0B5E8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1062990" y="2096262"/>
            <a:ext cx="297180" cy="297180"/>
          </a:xfrm>
          <a:prstGeom prst="rect">
            <a:avLst/>
          </a:prstGeom>
        </p:spPr>
      </p:pic>
      <p:sp>
        <p:nvSpPr>
          <p:cNvPr id="10" name="Text 6"/>
          <p:cNvSpPr txBox="1"/>
          <p:nvPr/>
        </p:nvSpPr>
        <p:spPr>
          <a:xfrm>
            <a:off x="1691640" y="1920240"/>
            <a:ext cx="4023360" cy="411480"/>
          </a:xfrm>
          <a:prstGeom prst="rect">
            <a:avLst/>
          </a:prstGeom>
          <a:noFill/>
          <a:ln/>
        </p:spPr>
        <p:txBody>
          <a:bodyPr wrap="square" lIns="0" tIns="0" rIns="0" bIns="0" rtlCol="0" anchor="t"/>
          <a:lstStyle/>
          <a:p>
            <a:pPr indent="0" marL="0">
              <a:buNone/>
            </a:pPr>
            <a:r>
              <a:rPr lang="en-US" sz="1800" b="1" dirty="0">
                <a:solidFill>
                  <a:srgbClr val="141B4D"/>
                </a:solidFill>
                <a:latin typeface="Cambria" pitchFamily="34" charset="0"/>
                <a:ea typeface="Cambria" pitchFamily="34" charset="-122"/>
                <a:cs typeface="Cambria" pitchFamily="34" charset="-120"/>
              </a:rPr>
              <a:t>Global</a:t>
            </a:r>
            <a:endParaRPr lang="en-US" sz="1800" dirty="0"/>
          </a:p>
        </p:txBody>
      </p:sp>
      <p:sp>
        <p:nvSpPr>
          <p:cNvPr id="11" name="Text 7"/>
          <p:cNvSpPr txBox="1"/>
          <p:nvPr/>
        </p:nvSpPr>
        <p:spPr>
          <a:xfrm>
            <a:off x="1691640" y="2313432"/>
            <a:ext cx="4023360" cy="320040"/>
          </a:xfrm>
          <a:prstGeom prst="rect">
            <a:avLst/>
          </a:prstGeom>
          <a:noFill/>
          <a:ln/>
        </p:spPr>
        <p:txBody>
          <a:bodyPr wrap="square" lIns="0" tIns="0" rIns="0" bIns="0" rtlCol="0" anchor="t"/>
          <a:lstStyle/>
          <a:p>
            <a:pPr indent="0" marL="0">
              <a:buNone/>
            </a:pPr>
            <a:r>
              <a:rPr lang="en-US" sz="1250" i="1" dirty="0">
                <a:solidFill>
                  <a:srgbClr val="5C6B7A"/>
                </a:solidFill>
                <a:latin typeface="Calibri" pitchFamily="34" charset="0"/>
                <a:ea typeface="Calibri" pitchFamily="34" charset="-122"/>
                <a:cs typeface="Calibri" pitchFamily="34" charset="-120"/>
              </a:rPr>
              <a:t>How does the model behave overall?</a:t>
            </a:r>
            <a:endParaRPr lang="en-US" sz="1250" dirty="0"/>
          </a:p>
        </p:txBody>
      </p:sp>
      <p:sp>
        <p:nvSpPr>
          <p:cNvPr id="12" name="Text 8"/>
          <p:cNvSpPr txBox="1"/>
          <p:nvPr/>
        </p:nvSpPr>
        <p:spPr>
          <a:xfrm>
            <a:off x="960120" y="2834640"/>
            <a:ext cx="4663440" cy="31546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Which drivers matter most across all leads?</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In which direction does each push?</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Tools: permutation importance, mean |SHAP|, partial dependence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Audience: management, model validators, regulators</a:t>
            </a:r>
            <a:endParaRPr lang="en-US" sz="1350" dirty="0"/>
          </a:p>
        </p:txBody>
      </p:sp>
      <p:sp>
        <p:nvSpPr>
          <p:cNvPr id="13" name="Shape 9"/>
          <p:cNvSpPr/>
          <p:nvPr/>
        </p:nvSpPr>
        <p:spPr>
          <a:xfrm>
            <a:off x="6217920" y="1691640"/>
            <a:ext cx="530352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4" name="Shape 10"/>
          <p:cNvSpPr/>
          <p:nvPr/>
        </p:nvSpPr>
        <p:spPr>
          <a:xfrm>
            <a:off x="6492240" y="1947672"/>
            <a:ext cx="594360" cy="594360"/>
          </a:xfrm>
          <a:prstGeom prst="ellipse">
            <a:avLst/>
          </a:prstGeom>
          <a:solidFill>
            <a:srgbClr val="D99A2B"/>
          </a:solidFill>
          <a:ln w="12700">
            <a:solidFill>
              <a:srgbClr val="D99A2B"/>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640830" y="2096262"/>
            <a:ext cx="297180" cy="297180"/>
          </a:xfrm>
          <a:prstGeom prst="rect">
            <a:avLst/>
          </a:prstGeom>
        </p:spPr>
      </p:pic>
      <p:sp>
        <p:nvSpPr>
          <p:cNvPr id="16" name="Text 11"/>
          <p:cNvSpPr txBox="1"/>
          <p:nvPr/>
        </p:nvSpPr>
        <p:spPr>
          <a:xfrm>
            <a:off x="7269480" y="1920240"/>
            <a:ext cx="4023360" cy="411480"/>
          </a:xfrm>
          <a:prstGeom prst="rect">
            <a:avLst/>
          </a:prstGeom>
          <a:noFill/>
          <a:ln/>
        </p:spPr>
        <p:txBody>
          <a:bodyPr wrap="square" lIns="0" tIns="0" rIns="0" bIns="0" rtlCol="0" anchor="t"/>
          <a:lstStyle/>
          <a:p>
            <a:pPr indent="0" marL="0">
              <a:buNone/>
            </a:pPr>
            <a:r>
              <a:rPr lang="en-US" sz="1800" b="1" dirty="0">
                <a:solidFill>
                  <a:srgbClr val="141B4D"/>
                </a:solidFill>
                <a:latin typeface="Cambria" pitchFamily="34" charset="0"/>
                <a:ea typeface="Cambria" pitchFamily="34" charset="-122"/>
                <a:cs typeface="Cambria" pitchFamily="34" charset="-120"/>
              </a:rPr>
              <a:t>Local</a:t>
            </a:r>
            <a:endParaRPr lang="en-US" sz="1800" dirty="0"/>
          </a:p>
        </p:txBody>
      </p:sp>
      <p:sp>
        <p:nvSpPr>
          <p:cNvPr id="17" name="Text 12"/>
          <p:cNvSpPr txBox="1"/>
          <p:nvPr/>
        </p:nvSpPr>
        <p:spPr>
          <a:xfrm>
            <a:off x="7269480" y="2313432"/>
            <a:ext cx="4023360" cy="320040"/>
          </a:xfrm>
          <a:prstGeom prst="rect">
            <a:avLst/>
          </a:prstGeom>
          <a:noFill/>
          <a:ln/>
        </p:spPr>
        <p:txBody>
          <a:bodyPr wrap="square" lIns="0" tIns="0" rIns="0" bIns="0" rtlCol="0" anchor="t"/>
          <a:lstStyle/>
          <a:p>
            <a:pPr indent="0" marL="0">
              <a:buNone/>
            </a:pPr>
            <a:r>
              <a:rPr lang="en-US" sz="1250" i="1" dirty="0">
                <a:solidFill>
                  <a:srgbClr val="5C6B7A"/>
                </a:solidFill>
                <a:latin typeface="Calibri" pitchFamily="34" charset="0"/>
                <a:ea typeface="Calibri" pitchFamily="34" charset="-122"/>
                <a:cs typeface="Calibri" pitchFamily="34" charset="-120"/>
              </a:rPr>
              <a:t>Why did this one lead get this score?</a:t>
            </a:r>
            <a:endParaRPr lang="en-US" sz="1250" dirty="0"/>
          </a:p>
        </p:txBody>
      </p:sp>
      <p:sp>
        <p:nvSpPr>
          <p:cNvPr id="18" name="Text 13"/>
          <p:cNvSpPr txBox="1"/>
          <p:nvPr/>
        </p:nvSpPr>
        <p:spPr>
          <a:xfrm>
            <a:off x="6537960" y="2834640"/>
            <a:ext cx="4663440" cy="31546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Which drivers pushed this score up or down, and by how much?</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What would need to change for a different outcome?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Tools: SHAP waterfall, LIME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Audience: account managers, customers, complaints teams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SHAP</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SHAP Values in Plain English</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9</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557784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5"/>
          <p:cNvSpPr/>
          <p:nvPr/>
        </p:nvSpPr>
        <p:spPr>
          <a:xfrm>
            <a:off x="914400" y="1947672"/>
            <a:ext cx="502920" cy="50292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1040130" y="2073402"/>
            <a:ext cx="251460" cy="251460"/>
          </a:xfrm>
          <a:prstGeom prst="rect">
            <a:avLst/>
          </a:prstGeom>
        </p:spPr>
      </p:pic>
      <p:sp>
        <p:nvSpPr>
          <p:cNvPr id="11" name="Text 6"/>
          <p:cNvSpPr txBox="1"/>
          <p:nvPr/>
        </p:nvSpPr>
        <p:spPr>
          <a:xfrm>
            <a:off x="1554480" y="1965960"/>
            <a:ext cx="4114800" cy="45720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IN PLAIN ENGLISH</a:t>
            </a:r>
            <a:endParaRPr lang="en-US" sz="1200" dirty="0"/>
          </a:p>
        </p:txBody>
      </p:sp>
      <p:sp>
        <p:nvSpPr>
          <p:cNvPr id="12" name="Text 7"/>
          <p:cNvSpPr txBox="1"/>
          <p:nvPr/>
        </p:nvSpPr>
        <p:spPr>
          <a:xfrm>
            <a:off x="960120" y="2606040"/>
            <a:ext cx="4937760" cy="2103120"/>
          </a:xfrm>
          <a:prstGeom prst="rect">
            <a:avLst/>
          </a:prstGeom>
          <a:noFill/>
          <a:ln/>
        </p:spPr>
        <p:txBody>
          <a:bodyPr wrap="square" lIns="0" tIns="0" rIns="0" bIns="0" rtlCol="0" anchor="t"/>
          <a:lstStyle/>
          <a:p>
            <a:pPr indent="0" marL="0">
              <a:buNone/>
            </a:pPr>
            <a:r>
              <a:rPr lang="en-US" sz="1500" dirty="0">
                <a:solidFill>
                  <a:srgbClr val="1A2233"/>
                </a:solidFill>
                <a:latin typeface="Calibri" pitchFamily="34" charset="0"/>
                <a:ea typeface="Calibri" pitchFamily="34" charset="-122"/>
                <a:cs typeface="Calibri" pitchFamily="34" charset="-120"/>
              </a:rPr>
              <a:t>Think of a prediction as a </a:t>
            </a:r>
            <a:r>
              <a:rPr lang="en-US" sz="1500" b="1" dirty="0">
                <a:solidFill>
                  <a:srgbClr val="1A2233"/>
                </a:solidFill>
                <a:latin typeface="Calibri" pitchFamily="34" charset="0"/>
                <a:ea typeface="Calibri" pitchFamily="34" charset="-122"/>
                <a:cs typeface="Calibri" pitchFamily="34" charset="-120"/>
              </a:rPr>
              <a:t>team result</a:t>
            </a:r>
            <a:r>
              <a:rPr lang="en-US" sz="1500" dirty="0">
                <a:solidFill>
                  <a:srgbClr val="1A2233"/>
                </a:solidFill>
                <a:latin typeface="Calibri" pitchFamily="34" charset="0"/>
                <a:ea typeface="Calibri" pitchFamily="34" charset="-122"/>
                <a:cs typeface="Calibri" pitchFamily="34" charset="-120"/>
              </a:rPr>
              <a:t>. SHAP (from game theory's Shapley values) fairly shares out the credit: starting from the </a:t>
            </a:r>
            <a:r>
              <a:rPr lang="en-US" sz="1500" b="1" dirty="0">
                <a:solidFill>
                  <a:srgbClr val="1A2233"/>
                </a:solidFill>
                <a:latin typeface="Calibri" pitchFamily="34" charset="0"/>
                <a:ea typeface="Calibri" pitchFamily="34" charset="-122"/>
                <a:cs typeface="Calibri" pitchFamily="34" charset="-120"/>
              </a:rPr>
              <a:t>average score</a:t>
            </a:r>
            <a:r>
              <a:rPr lang="en-US" sz="1500" dirty="0">
                <a:solidFill>
                  <a:srgbClr val="1A2233"/>
                </a:solidFill>
                <a:latin typeface="Calibri" pitchFamily="34" charset="0"/>
                <a:ea typeface="Calibri" pitchFamily="34" charset="-122"/>
                <a:cs typeface="Calibri" pitchFamily="34" charset="-120"/>
              </a:rPr>
              <a:t>, each driver gets a push up or down, and the pushes add up </a:t>
            </a:r>
            <a:r>
              <a:rPr lang="en-US" sz="1500" b="1" dirty="0">
                <a:solidFill>
                  <a:srgbClr val="1A2233"/>
                </a:solidFill>
                <a:latin typeface="Calibri" pitchFamily="34" charset="0"/>
                <a:ea typeface="Calibri" pitchFamily="34" charset="-122"/>
                <a:cs typeface="Calibri" pitchFamily="34" charset="-120"/>
              </a:rPr>
              <a:t>exactly</a:t>
            </a:r>
            <a:r>
              <a:rPr lang="en-US" sz="1500" dirty="0">
                <a:solidFill>
                  <a:srgbClr val="1A2233"/>
                </a:solidFill>
                <a:latin typeface="Calibri" pitchFamily="34" charset="0"/>
                <a:ea typeface="Calibri" pitchFamily="34" charset="-122"/>
                <a:cs typeface="Calibri" pitchFamily="34" charset="-120"/>
              </a:rPr>
              <a:t> to this lead's score.</a:t>
            </a:r>
            <a:endParaRPr lang="en-US" sz="1500" dirty="0"/>
          </a:p>
        </p:txBody>
      </p:sp>
      <p:sp>
        <p:nvSpPr>
          <p:cNvPr id="13" name="Text 8"/>
          <p:cNvSpPr txBox="1"/>
          <p:nvPr/>
        </p:nvSpPr>
        <p:spPr>
          <a:xfrm>
            <a:off x="960120" y="4754880"/>
            <a:ext cx="36576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EXAMPLE</a:t>
            </a:r>
            <a:endParaRPr lang="en-US" sz="1100" dirty="0"/>
          </a:p>
        </p:txBody>
      </p:sp>
      <p:sp>
        <p:nvSpPr>
          <p:cNvPr id="14" name="Text 9"/>
          <p:cNvSpPr txBox="1"/>
          <p:nvPr/>
        </p:nvSpPr>
        <p:spPr>
          <a:xfrm>
            <a:off x="960120" y="5074920"/>
            <a:ext cx="4937760" cy="8229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Average lead: log-odds −1.65 (16%). This lead: requested a demo (+0.99), recent touch (+0.49), enterprise (+0.47), referral (+0.31)… → </a:t>
            </a:r>
            <a:r>
              <a:rPr lang="en-US" sz="1300" b="1" dirty="0">
                <a:solidFill>
                  <a:srgbClr val="5C6B7A"/>
                </a:solidFill>
                <a:latin typeface="Calibri" pitchFamily="34" charset="0"/>
                <a:ea typeface="Calibri" pitchFamily="34" charset="-122"/>
                <a:cs typeface="Calibri" pitchFamily="34" charset="-120"/>
              </a:rPr>
              <a:t>77%</a:t>
            </a:r>
            <a:r>
              <a:rPr lang="en-US" sz="1300" dirty="0">
                <a:solidFill>
                  <a:srgbClr val="5C6B7A"/>
                </a:solidFill>
                <a:latin typeface="Calibri" pitchFamily="34" charset="0"/>
                <a:ea typeface="Calibri" pitchFamily="34" charset="-122"/>
                <a:cs typeface="Calibri" pitchFamily="34" charset="-120"/>
              </a:rPr>
              <a:t>.</a:t>
            </a:r>
            <a:endParaRPr lang="en-US" sz="1300" dirty="0"/>
          </a:p>
        </p:txBody>
      </p:sp>
      <p:sp>
        <p:nvSpPr>
          <p:cNvPr id="15" name="Shape 10"/>
          <p:cNvSpPr/>
          <p:nvPr/>
        </p:nvSpPr>
        <p:spPr>
          <a:xfrm>
            <a:off x="6446520" y="1691640"/>
            <a:ext cx="5074920" cy="1828800"/>
          </a:xfrm>
          <a:prstGeom prst="roundRect">
            <a:avLst>
              <a:gd name="adj" fmla="val 4000"/>
            </a:avLst>
          </a:prstGeom>
          <a:solidFill>
            <a:srgbClr val="141B4D"/>
          </a:solidFill>
          <a:ln w="12700">
            <a:solidFill>
              <a:srgbClr val="141B4D"/>
            </a:solidFill>
            <a:prstDash val="solid"/>
          </a:ln>
        </p:spPr>
        <p:txBody>
          <a:bodyPr/>
          <a:p/>
        </p:txBody>
      </p:sp>
      <p:sp>
        <p:nvSpPr>
          <p:cNvPr id="16" name="Text 11"/>
          <p:cNvSpPr txBox="1"/>
          <p:nvPr/>
        </p:nvSpPr>
        <p:spPr>
          <a:xfrm>
            <a:off x="6720840" y="1856232"/>
            <a:ext cx="27432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THE FORMULA</a:t>
            </a:r>
            <a:endParaRPr lang="en-US" sz="1100" dirty="0"/>
          </a:p>
        </p:txBody>
      </p:sp>
      <p:sp>
        <p:nvSpPr>
          <p:cNvPr id="17" name="Text 12"/>
          <p:cNvSpPr txBox="1"/>
          <p:nvPr/>
        </p:nvSpPr>
        <p:spPr>
          <a:xfrm>
            <a:off x="6720840" y="2148840"/>
            <a:ext cx="4526280" cy="777240"/>
          </a:xfrm>
          <a:prstGeom prst="rect">
            <a:avLst/>
          </a:prstGeom>
          <a:noFill/>
          <a:ln/>
        </p:spPr>
        <p:txBody>
          <a:bodyPr wrap="square" lIns="0" tIns="0" rIns="0" bIns="0" rtlCol="0" anchor="ctr"/>
          <a:lstStyle/>
          <a:p>
            <a:pPr algn="ctr" indent="0" marL="0">
              <a:buNone/>
            </a:pPr>
            <a:r>
              <a:rPr lang="en-US" sz="2100" dirty="0">
                <a:solidFill>
                  <a:srgbClr val="FFFFFF"/>
                </a:solidFill>
                <a:latin typeface="Cambria" pitchFamily="34" charset="0"/>
                <a:ea typeface="Cambria" pitchFamily="34" charset="-122"/>
                <a:cs typeface="Cambria" pitchFamily="34" charset="-120"/>
              </a:rPr>
              <a:t>score = average + Σ driver pushes</a:t>
            </a:r>
            <a:endParaRPr lang="en-US" sz="2100" dirty="0"/>
          </a:p>
        </p:txBody>
      </p:sp>
      <p:sp>
        <p:nvSpPr>
          <p:cNvPr id="18" name="Shape 13"/>
          <p:cNvSpPr/>
          <p:nvPr/>
        </p:nvSpPr>
        <p:spPr>
          <a:xfrm>
            <a:off x="6446520" y="3749040"/>
            <a:ext cx="5074920" cy="2377440"/>
          </a:xfrm>
          <a:prstGeom prst="roundRect">
            <a:avLst>
              <a:gd name="adj" fmla="val 3077"/>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9" name="Shape 14"/>
          <p:cNvSpPr/>
          <p:nvPr/>
        </p:nvSpPr>
        <p:spPr>
          <a:xfrm>
            <a:off x="6720840" y="3977640"/>
            <a:ext cx="457200" cy="457200"/>
          </a:xfrm>
          <a:prstGeom prst="ellipse">
            <a:avLst/>
          </a:prstGeom>
          <a:solidFill>
            <a:srgbClr val="D99A2B"/>
          </a:solidFill>
          <a:ln w="12700">
            <a:solidFill>
              <a:srgbClr val="D99A2B"/>
            </a:solidFill>
            <a:prstDash val="solid"/>
          </a:ln>
        </p:spPr>
        <p:txBody>
          <a:bodyPr/>
          <a:p/>
        </p:txBody>
      </p:sp>
      <p:pic>
        <p:nvPicPr>
          <p:cNvPr id="20" name="Image 2" descr="preencoded.png">    </p:cNvPr>
          <p:cNvPicPr>
            <a:picLocks noChangeAspect="1"/>
          </p:cNvPicPr>
          <p:nvPr/>
        </p:nvPicPr>
        <p:blipFill>
          <a:blip r:embed="rId3"/>
          <a:stretch>
            <a:fillRect/>
          </a:stretch>
        </p:blipFill>
        <p:spPr>
          <a:xfrm>
            <a:off x="6835140" y="4091940"/>
            <a:ext cx="228600" cy="228600"/>
          </a:xfrm>
          <a:prstGeom prst="rect">
            <a:avLst/>
          </a:prstGeom>
        </p:spPr>
      </p:pic>
      <p:sp>
        <p:nvSpPr>
          <p:cNvPr id="21" name="Text 15"/>
          <p:cNvSpPr txBox="1"/>
          <p:nvPr/>
        </p:nvSpPr>
        <p:spPr>
          <a:xfrm>
            <a:off x="7315200" y="3995928"/>
            <a:ext cx="3657600" cy="41148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WHY A MANAGER CARES</a:t>
            </a:r>
            <a:endParaRPr lang="en-US" sz="1200" dirty="0"/>
          </a:p>
        </p:txBody>
      </p:sp>
      <p:sp>
        <p:nvSpPr>
          <p:cNvPr id="22" name="Text 16"/>
          <p:cNvSpPr txBox="1"/>
          <p:nvPr/>
        </p:nvSpPr>
        <p:spPr>
          <a:xfrm>
            <a:off x="6720840" y="4572000"/>
            <a:ext cx="4526280" cy="141732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SHAP gives </a:t>
            </a:r>
            <a:r>
              <a:rPr lang="en-US" sz="1350" b="1" dirty="0">
                <a:solidFill>
                  <a:srgbClr val="1A2233"/>
                </a:solidFill>
                <a:latin typeface="Calibri" pitchFamily="34" charset="0"/>
                <a:ea typeface="Calibri" pitchFamily="34" charset="-122"/>
                <a:cs typeface="Calibri" pitchFamily="34" charset="-120"/>
              </a:rPr>
              <a:t>consistent</a:t>
            </a:r>
            <a:r>
              <a:rPr lang="en-US" sz="1350" dirty="0">
                <a:solidFill>
                  <a:srgbClr val="1A2233"/>
                </a:solidFill>
                <a:latin typeface="Calibri" pitchFamily="34" charset="0"/>
                <a:ea typeface="Calibri" pitchFamily="34" charset="-122"/>
                <a:cs typeface="Calibri" pitchFamily="34" charset="-120"/>
              </a:rPr>
              <a:t>, additive explanations for any model, global and local, from the same numbers. Exact and fast for tree models (TreeSHAP); slower but possible for any model (KernelSHAP).</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GLOBAL · IMPORTANCE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Which Drivers Move Lead Scores Most?</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10</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7" name="Image 1" descr="/home/claude/da1/sessions/s12/figures/python/s12_f01.png">    </p:cNvPr>
          <p:cNvPicPr>
            <a:picLocks noChangeAspect="1"/>
          </p:cNvPicPr>
          <p:nvPr/>
        </p:nvPicPr>
        <p:blipFill>
          <a:blip r:embed="rId2"/>
          <a:stretch>
            <a:fillRect/>
          </a:stretch>
        </p:blipFill>
        <p:spPr>
          <a:xfrm>
            <a:off x="640080" y="1600200"/>
            <a:ext cx="7223760" cy="4031083"/>
          </a:xfrm>
          <a:prstGeom prst="rect">
            <a:avLst/>
          </a:prstGeom>
        </p:spPr>
      </p:pic>
      <p:sp>
        <p:nvSpPr>
          <p:cNvPr id="8" name="Text 4"/>
          <p:cNvSpPr txBox="1"/>
          <p:nvPr/>
        </p:nvSpPr>
        <p:spPr>
          <a:xfrm>
            <a:off x="640080" y="5677003"/>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S4.1-F01  ·  replicate: tdbg_4_1_figures.R / .py</a:t>
            </a:r>
            <a:endParaRPr lang="en-US" sz="900" dirty="0"/>
          </a:p>
        </p:txBody>
      </p:sp>
      <p:sp>
        <p:nvSpPr>
          <p:cNvPr id="9"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1"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Demo requested</a:t>
            </a:r>
            <a:r>
              <a:rPr lang="en-US" sz="1300" dirty="0">
                <a:solidFill>
                  <a:srgbClr val="1A2233"/>
                </a:solidFill>
                <a:latin typeface="Calibri" pitchFamily="34" charset="0"/>
                <a:ea typeface="Calibri" pitchFamily="34" charset="-122"/>
                <a:cs typeface="Calibri" pitchFamily="34" charset="-120"/>
              </a:rPr>
              <a:t> is by far the strongest signal.</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Then </a:t>
            </a:r>
            <a:r>
              <a:rPr lang="en-US" sz="1300" b="1" dirty="0">
                <a:solidFill>
                  <a:srgbClr val="1A2233"/>
                </a:solidFill>
                <a:latin typeface="Calibri" pitchFamily="34" charset="0"/>
                <a:ea typeface="Calibri" pitchFamily="34" charset="-122"/>
                <a:cs typeface="Calibri" pitchFamily="34" charset="-120"/>
              </a:rPr>
              <a:t>recency</a:t>
            </a:r>
            <a:r>
              <a:rPr lang="en-US" sz="1300" dirty="0">
                <a:solidFill>
                  <a:srgbClr val="1A2233"/>
                </a:solidFill>
                <a:latin typeface="Calibri" pitchFamily="34" charset="0"/>
                <a:ea typeface="Calibri" pitchFamily="34" charset="-122"/>
                <a:cs typeface="Calibri" pitchFamily="34" charset="-120"/>
              </a:rPr>
              <a:t> (days since first touch) and </a:t>
            </a:r>
            <a:r>
              <a:rPr lang="en-US" sz="1300" b="1" dirty="0">
                <a:solidFill>
                  <a:srgbClr val="1A2233"/>
                </a:solidFill>
                <a:latin typeface="Calibri" pitchFamily="34" charset="0"/>
                <a:ea typeface="Calibri" pitchFamily="34" charset="-122"/>
                <a:cs typeface="Calibri" pitchFamily="34" charset="-120"/>
              </a:rPr>
              <a:t>web visits</a:t>
            </a:r>
            <a:r>
              <a:rPr lang="en-US" sz="1300" dirty="0">
                <a:solidFill>
                  <a:srgbClr val="1A2233"/>
                </a:solidFill>
                <a:latin typeface="Calibri" pitchFamily="34" charset="0"/>
                <a:ea typeface="Calibri" pitchFamily="34" charset="-122"/>
                <a:cs typeface="Calibri" pitchFamily="34" charset="-120"/>
              </a:rPr>
              <a:t>.</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Lead source matters: referral up, cold outreach down.</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Company size and industry matter less than behaviour.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GLOBAL · DIRECTION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SHAP Summary Plot</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11</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12/figures/python/s12_f02.png">    </p:cNvPr>
          <p:cNvPicPr>
            <a:picLocks noChangeAspect="1"/>
          </p:cNvPicPr>
          <p:nvPr/>
        </p:nvPicPr>
        <p:blipFill>
          <a:blip r:embed="rId2"/>
          <a:stretch>
            <a:fillRect/>
          </a:stretch>
        </p:blipFill>
        <p:spPr>
          <a:xfrm>
            <a:off x="737220" y="1600200"/>
            <a:ext cx="7029480"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S4.1-F02  ·  replicate: tdbg_4_1_figures.R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Each dot is one test lead; colour is the driver's value.</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Demo requested (red) → strongly positive; not requested (blue) → negative.</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Older</a:t>
            </a:r>
            <a:r>
              <a:rPr lang="en-US" sz="1300" dirty="0">
                <a:solidFill>
                  <a:srgbClr val="1A2233"/>
                </a:solidFill>
                <a:latin typeface="Calibri" pitchFamily="34" charset="0"/>
                <a:ea typeface="Calibri" pitchFamily="34" charset="-122"/>
                <a:cs typeface="Calibri" pitchFamily="34" charset="-120"/>
              </a:rPr>
              <a:t> leads (red on 'days since first touch') score lower: interest decays.</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Cold-outreach leads (red) are pushed down.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LOCAL · A HOT LEAD</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Why Is This Lead Graded 'A'?</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12</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7" name="Image 1" descr="/home/claude/da1/sessions/s12/figures/python/s12_f03.png">    </p:cNvPr>
          <p:cNvPicPr>
            <a:picLocks noChangeAspect="1"/>
          </p:cNvPicPr>
          <p:nvPr/>
        </p:nvPicPr>
        <p:blipFill>
          <a:blip r:embed="rId2"/>
          <a:stretch>
            <a:fillRect/>
          </a:stretch>
        </p:blipFill>
        <p:spPr>
          <a:xfrm>
            <a:off x="640080" y="1600200"/>
            <a:ext cx="7223760" cy="3917417"/>
          </a:xfrm>
          <a:prstGeom prst="rect">
            <a:avLst/>
          </a:prstGeom>
        </p:spPr>
      </p:pic>
      <p:sp>
        <p:nvSpPr>
          <p:cNvPr id="8" name="Text 4"/>
          <p:cNvSpPr txBox="1"/>
          <p:nvPr/>
        </p:nvSpPr>
        <p:spPr>
          <a:xfrm>
            <a:off x="640080" y="5563337"/>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S4.1-F03  ·  replicate: tdbg_4_1_figures.R / .py</a:t>
            </a:r>
            <a:endParaRPr lang="en-US" sz="900" dirty="0"/>
          </a:p>
        </p:txBody>
      </p:sp>
      <p:sp>
        <p:nvSpPr>
          <p:cNvPr id="9"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1"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Starts from the average lead's log-odds.</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Demo requested</a:t>
            </a:r>
            <a:r>
              <a:rPr lang="en-US" sz="1300" dirty="0">
                <a:solidFill>
                  <a:srgbClr val="1A2233"/>
                </a:solidFill>
                <a:latin typeface="Calibri" pitchFamily="34" charset="0"/>
                <a:ea typeface="Calibri" pitchFamily="34" charset="-122"/>
                <a:cs typeface="Calibri" pitchFamily="34" charset="-120"/>
              </a:rPr>
              <a:t>, </a:t>
            </a:r>
            <a:r>
              <a:rPr lang="en-US" sz="1300" b="1" dirty="0">
                <a:solidFill>
                  <a:srgbClr val="1A2233"/>
                </a:solidFill>
                <a:latin typeface="Calibri" pitchFamily="34" charset="0"/>
                <a:ea typeface="Calibri" pitchFamily="34" charset="-122"/>
                <a:cs typeface="Calibri" pitchFamily="34" charset="-120"/>
              </a:rPr>
              <a:t>28 days</a:t>
            </a:r>
            <a:r>
              <a:rPr lang="en-US" sz="1300" dirty="0">
                <a:solidFill>
                  <a:srgbClr val="1A2233"/>
                </a:solidFill>
                <a:latin typeface="Calibri" pitchFamily="34" charset="0"/>
                <a:ea typeface="Calibri" pitchFamily="34" charset="-122"/>
                <a:cs typeface="Calibri" pitchFamily="34" charset="-120"/>
              </a:rPr>
              <a:t> since first touch, </a:t>
            </a:r>
            <a:r>
              <a:rPr lang="en-US" sz="1300" b="1" dirty="0">
                <a:solidFill>
                  <a:srgbClr val="1A2233"/>
                </a:solidFill>
                <a:latin typeface="Calibri" pitchFamily="34" charset="0"/>
                <a:ea typeface="Calibri" pitchFamily="34" charset="-122"/>
                <a:cs typeface="Calibri" pitchFamily="34" charset="-120"/>
              </a:rPr>
              <a:t>enterprise</a:t>
            </a:r>
            <a:r>
              <a:rPr lang="en-US" sz="1300" dirty="0">
                <a:solidFill>
                  <a:srgbClr val="1A2233"/>
                </a:solidFill>
                <a:latin typeface="Calibri" pitchFamily="34" charset="0"/>
                <a:ea typeface="Calibri" pitchFamily="34" charset="-122"/>
                <a:cs typeface="Calibri" pitchFamily="34" charset="-120"/>
              </a:rPr>
              <a:t>, </a:t>
            </a:r>
            <a:r>
              <a:rPr lang="en-US" sz="1300" b="1" dirty="0">
                <a:solidFill>
                  <a:srgbClr val="1A2233"/>
                </a:solidFill>
                <a:latin typeface="Calibri" pitchFamily="34" charset="0"/>
                <a:ea typeface="Calibri" pitchFamily="34" charset="-122"/>
                <a:cs typeface="Calibri" pitchFamily="34" charset="-120"/>
              </a:rPr>
              <a:t>referral</a:t>
            </a:r>
            <a:r>
              <a:rPr lang="en-US" sz="1300" dirty="0">
                <a:solidFill>
                  <a:srgbClr val="1A2233"/>
                </a:solidFill>
                <a:latin typeface="Calibri" pitchFamily="34" charset="0"/>
                <a:ea typeface="Calibri" pitchFamily="34" charset="-122"/>
                <a:cs typeface="Calibri" pitchFamily="34" charset="-120"/>
              </a:rPr>
              <a:t> each push it up.</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Final score ≈ </a:t>
            </a:r>
            <a:r>
              <a:rPr lang="en-US" sz="1300" b="1" dirty="0">
                <a:solidFill>
                  <a:srgbClr val="1A2233"/>
                </a:solidFill>
                <a:latin typeface="Calibri" pitchFamily="34" charset="0"/>
                <a:ea typeface="Calibri" pitchFamily="34" charset="-122"/>
                <a:cs typeface="Calibri" pitchFamily="34" charset="-120"/>
              </a:rPr>
              <a:t>77%</a:t>
            </a:r>
            <a:r>
              <a:rPr lang="en-US" sz="1300" dirty="0">
                <a:solidFill>
                  <a:srgbClr val="1A2233"/>
                </a:solidFill>
                <a:latin typeface="Calibri" pitchFamily="34" charset="0"/>
                <a:ea typeface="Calibri" pitchFamily="34" charset="-122"/>
                <a:cs typeface="Calibri" pitchFamily="34" charset="-120"/>
              </a:rPr>
              <a:t>: call today.</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An account manager can read this in ten seconds.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LOCAL · A COLD LEAD</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Why Is This Lead Graded 'D'?</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13</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7" name="Image 1" descr="/home/claude/da1/sessions/s12/figures/python/s12_f04.png">    </p:cNvPr>
          <p:cNvPicPr>
            <a:picLocks noChangeAspect="1"/>
          </p:cNvPicPr>
          <p:nvPr/>
        </p:nvPicPr>
        <p:blipFill>
          <a:blip r:embed="rId2"/>
          <a:stretch>
            <a:fillRect/>
          </a:stretch>
        </p:blipFill>
        <p:spPr>
          <a:xfrm>
            <a:off x="640080" y="1600200"/>
            <a:ext cx="7223760" cy="3911508"/>
          </a:xfrm>
          <a:prstGeom prst="rect">
            <a:avLst/>
          </a:prstGeom>
        </p:spPr>
      </p:pic>
      <p:sp>
        <p:nvSpPr>
          <p:cNvPr id="8" name="Text 4"/>
          <p:cNvSpPr txBox="1"/>
          <p:nvPr/>
        </p:nvSpPr>
        <p:spPr>
          <a:xfrm>
            <a:off x="640080" y="5557428"/>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S4.1-F04  ·  replicate: tdbg_4_1_figures.R / .py</a:t>
            </a:r>
            <a:endParaRPr lang="en-US" sz="900" dirty="0"/>
          </a:p>
        </p:txBody>
      </p:sp>
      <p:sp>
        <p:nvSpPr>
          <p:cNvPr id="9"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1"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96 days</a:t>
            </a:r>
            <a:r>
              <a:rPr lang="en-US" sz="1300" dirty="0">
                <a:solidFill>
                  <a:srgbClr val="1A2233"/>
                </a:solidFill>
                <a:latin typeface="Calibri" pitchFamily="34" charset="0"/>
                <a:ea typeface="Calibri" pitchFamily="34" charset="-122"/>
                <a:cs typeface="Calibri" pitchFamily="34" charset="-120"/>
              </a:rPr>
              <a:t> since first touch: interest has cooled (−0.71).</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No demo request; came from </a:t>
            </a:r>
            <a:r>
              <a:rPr lang="en-US" sz="1300" b="1" dirty="0">
                <a:solidFill>
                  <a:srgbClr val="1A2233"/>
                </a:solidFill>
                <a:latin typeface="Calibri" pitchFamily="34" charset="0"/>
                <a:ea typeface="Calibri" pitchFamily="34" charset="-122"/>
                <a:cs typeface="Calibri" pitchFamily="34" charset="-120"/>
              </a:rPr>
              <a:t>cold outreach</a:t>
            </a:r>
            <a:r>
              <a:rPr lang="en-US" sz="1300" dirty="0">
                <a:solidFill>
                  <a:srgbClr val="1A2233"/>
                </a:solidFill>
                <a:latin typeface="Calibri" pitchFamily="34" charset="0"/>
                <a:ea typeface="Calibri" pitchFamily="34" charset="-122"/>
                <a:cs typeface="Calibri" pitchFamily="34" charset="-120"/>
              </a:rPr>
              <a:t>; public sector.</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Eight web visits help a little (+0.29) — not enough.</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Score ≈ </a:t>
            </a:r>
            <a:r>
              <a:rPr lang="en-US" sz="1300" b="1" dirty="0">
                <a:solidFill>
                  <a:srgbClr val="1A2233"/>
                </a:solidFill>
                <a:latin typeface="Calibri" pitchFamily="34" charset="0"/>
                <a:ea typeface="Calibri" pitchFamily="34" charset="-122"/>
                <a:cs typeface="Calibri" pitchFamily="34" charset="-120"/>
              </a:rPr>
              <a:t>3%</a:t>
            </a:r>
            <a:r>
              <a:rPr lang="en-US" sz="1300" dirty="0">
                <a:solidFill>
                  <a:srgbClr val="1A2233"/>
                </a:solidFill>
                <a:latin typeface="Calibri" pitchFamily="34" charset="0"/>
                <a:ea typeface="Calibri" pitchFamily="34" charset="-122"/>
                <a:cs typeface="Calibri" pitchFamily="34" charset="-120"/>
              </a:rPr>
              <a:t>. Action: nurture by email, don't spend a senior rep's time.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GLOBAL · SHAPE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SHAP Dependence: How One Driver Works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14</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7" name="Image 1" descr="/home/claude/da1/sessions/s12/figures/python/s12_f05.png">    </p:cNvPr>
          <p:cNvPicPr>
            <a:picLocks noChangeAspect="1"/>
          </p:cNvPicPr>
          <p:nvPr/>
        </p:nvPicPr>
        <p:blipFill>
          <a:blip r:embed="rId2"/>
          <a:stretch>
            <a:fillRect/>
          </a:stretch>
        </p:blipFill>
        <p:spPr>
          <a:xfrm>
            <a:off x="820201" y="1600200"/>
            <a:ext cx="6863519" cy="4297680"/>
          </a:xfrm>
          <a:prstGeom prst="rect">
            <a:avLst/>
          </a:prstGeom>
        </p:spPr>
      </p:pic>
      <p:sp>
        <p:nvSpPr>
          <p:cNvPr id="8"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S4.1-F05  ·  replicate: tdbg_4_1_figures.R / .py</a:t>
            </a:r>
            <a:endParaRPr lang="en-US" sz="900" dirty="0"/>
          </a:p>
        </p:txBody>
      </p:sp>
      <p:sp>
        <p:nvSpPr>
          <p:cNvPr id="9"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1"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Each dot: one lead's web visits and that driver's push.</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Below ~6 visits pushes the score down; 7+ pushes it up.</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The pattern is noisy at high counts — few leads visit 10+ times.</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Use it to sanity-check that the model learned something sensible.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LIME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LIME: A Simple Model Around One Prediction</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15</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557784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5"/>
          <p:cNvSpPr/>
          <p:nvPr/>
        </p:nvSpPr>
        <p:spPr>
          <a:xfrm>
            <a:off x="914400" y="1947672"/>
            <a:ext cx="502920" cy="50292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1040130" y="2073402"/>
            <a:ext cx="251460" cy="251460"/>
          </a:xfrm>
          <a:prstGeom prst="rect">
            <a:avLst/>
          </a:prstGeom>
        </p:spPr>
      </p:pic>
      <p:sp>
        <p:nvSpPr>
          <p:cNvPr id="11" name="Text 6"/>
          <p:cNvSpPr txBox="1"/>
          <p:nvPr/>
        </p:nvSpPr>
        <p:spPr>
          <a:xfrm>
            <a:off x="1554480" y="1965960"/>
            <a:ext cx="4114800" cy="45720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IN PLAIN ENGLISH</a:t>
            </a:r>
            <a:endParaRPr lang="en-US" sz="1200" dirty="0"/>
          </a:p>
        </p:txBody>
      </p:sp>
      <p:sp>
        <p:nvSpPr>
          <p:cNvPr id="12" name="Text 7"/>
          <p:cNvSpPr txBox="1"/>
          <p:nvPr/>
        </p:nvSpPr>
        <p:spPr>
          <a:xfrm>
            <a:off x="960120" y="2606040"/>
            <a:ext cx="4937760" cy="2103120"/>
          </a:xfrm>
          <a:prstGeom prst="rect">
            <a:avLst/>
          </a:prstGeom>
          <a:noFill/>
          <a:ln/>
        </p:spPr>
        <p:txBody>
          <a:bodyPr wrap="square" lIns="0" tIns="0" rIns="0" bIns="0" rtlCol="0" anchor="t"/>
          <a:lstStyle/>
          <a:p>
            <a:pPr indent="0" marL="0">
              <a:buNone/>
            </a:pPr>
            <a:r>
              <a:rPr lang="en-US" sz="1500" dirty="0">
                <a:solidFill>
                  <a:srgbClr val="1A2233"/>
                </a:solidFill>
                <a:latin typeface="Calibri" pitchFamily="34" charset="0"/>
                <a:ea typeface="Calibri" pitchFamily="34" charset="-122"/>
                <a:cs typeface="Calibri" pitchFamily="34" charset="-120"/>
              </a:rPr>
              <a:t>LIME (Local Interpretable Model-agnostic Explanations) creates many slightly altered copies of one case, asks the black box to score them, then fits a </a:t>
            </a:r>
            <a:r>
              <a:rPr lang="en-US" sz="1500" b="1" dirty="0">
                <a:solidFill>
                  <a:srgbClr val="1A2233"/>
                </a:solidFill>
                <a:latin typeface="Calibri" pitchFamily="34" charset="0"/>
                <a:ea typeface="Calibri" pitchFamily="34" charset="-122"/>
                <a:cs typeface="Calibri" pitchFamily="34" charset="-120"/>
              </a:rPr>
              <a:t>small, simple model</a:t>
            </a:r>
            <a:r>
              <a:rPr lang="en-US" sz="1500" dirty="0">
                <a:solidFill>
                  <a:srgbClr val="1A2233"/>
                </a:solidFill>
                <a:latin typeface="Calibri" pitchFamily="34" charset="0"/>
                <a:ea typeface="Calibri" pitchFamily="34" charset="-122"/>
                <a:cs typeface="Calibri" pitchFamily="34" charset="-120"/>
              </a:rPr>
              <a:t> (like a short regression) that mimics the black box </a:t>
            </a:r>
            <a:r>
              <a:rPr lang="en-US" sz="1500" b="1" dirty="0">
                <a:solidFill>
                  <a:srgbClr val="1A2233"/>
                </a:solidFill>
                <a:latin typeface="Calibri" pitchFamily="34" charset="0"/>
                <a:ea typeface="Calibri" pitchFamily="34" charset="-122"/>
                <a:cs typeface="Calibri" pitchFamily="34" charset="-120"/>
              </a:rPr>
              <a:t>just around that case</a:t>
            </a:r>
            <a:r>
              <a:rPr lang="en-US" sz="1500" dirty="0">
                <a:solidFill>
                  <a:srgbClr val="1A2233"/>
                </a:solidFill>
                <a:latin typeface="Calibri" pitchFamily="34" charset="0"/>
                <a:ea typeface="Calibri" pitchFamily="34" charset="-122"/>
                <a:cs typeface="Calibri" pitchFamily="34" charset="-120"/>
              </a:rPr>
              <a:t>.</a:t>
            </a:r>
            <a:endParaRPr lang="en-US" sz="1500" dirty="0"/>
          </a:p>
        </p:txBody>
      </p:sp>
      <p:sp>
        <p:nvSpPr>
          <p:cNvPr id="13" name="Text 8"/>
          <p:cNvSpPr txBox="1"/>
          <p:nvPr/>
        </p:nvSpPr>
        <p:spPr>
          <a:xfrm>
            <a:off x="960120" y="4754880"/>
            <a:ext cx="36576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EXAMPLE</a:t>
            </a:r>
            <a:endParaRPr lang="en-US" sz="1100" dirty="0"/>
          </a:p>
        </p:txBody>
      </p:sp>
      <p:sp>
        <p:nvSpPr>
          <p:cNvPr id="14" name="Text 9"/>
          <p:cNvSpPr txBox="1"/>
          <p:nvPr/>
        </p:nvSpPr>
        <p:spPr>
          <a:xfrm>
            <a:off x="960120" y="5074920"/>
            <a:ext cx="4937760" cy="8229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For a declined loan: 'Near this applicant, the score is driven mainly by repayment-to-income and two late payments.'</a:t>
            </a:r>
            <a:endParaRPr lang="en-US" sz="1300" dirty="0"/>
          </a:p>
        </p:txBody>
      </p:sp>
      <p:sp>
        <p:nvSpPr>
          <p:cNvPr id="15" name="Shape 10"/>
          <p:cNvSpPr/>
          <p:nvPr/>
        </p:nvSpPr>
        <p:spPr>
          <a:xfrm>
            <a:off x="6446520" y="1691640"/>
            <a:ext cx="507492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6720840" y="1920240"/>
            <a:ext cx="457200" cy="457200"/>
          </a:xfrm>
          <a:prstGeom prst="ellipse">
            <a:avLst/>
          </a:prstGeom>
          <a:solidFill>
            <a:srgbClr val="D99A2B"/>
          </a:solidFill>
          <a:ln w="12700">
            <a:solidFill>
              <a:srgbClr val="D99A2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6835140" y="2034540"/>
            <a:ext cx="228600" cy="228600"/>
          </a:xfrm>
          <a:prstGeom prst="rect">
            <a:avLst/>
          </a:prstGeom>
        </p:spPr>
      </p:pic>
      <p:sp>
        <p:nvSpPr>
          <p:cNvPr id="18" name="Text 12"/>
          <p:cNvSpPr txBox="1"/>
          <p:nvPr/>
        </p:nvSpPr>
        <p:spPr>
          <a:xfrm>
            <a:off x="7315200" y="1938528"/>
            <a:ext cx="3657600" cy="41148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WHY A MANAGER CARES</a:t>
            </a:r>
            <a:endParaRPr lang="en-US" sz="1200" dirty="0"/>
          </a:p>
        </p:txBody>
      </p:sp>
      <p:sp>
        <p:nvSpPr>
          <p:cNvPr id="19" name="Text 13"/>
          <p:cNvSpPr txBox="1"/>
          <p:nvPr/>
        </p:nvSpPr>
        <p:spPr>
          <a:xfrm>
            <a:off x="6720840" y="2514600"/>
            <a:ext cx="4526280" cy="347472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LIME works with any model, including text and image models. But explanations can change from run to run and depend on choices like neighbourhood size. SHAP is usually more stable for tabular business data; LIME is a useful second opinion.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LIMITS OF EXPLANATION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What Explanations Can't Tell You</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16</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Text 4"/>
          <p:cNvSpPr txBox="1"/>
          <p:nvPr/>
        </p:nvSpPr>
        <p:spPr>
          <a:xfrm>
            <a:off x="1188720" y="1691640"/>
            <a:ext cx="4572000" cy="274320"/>
          </a:xfrm>
          <a:prstGeom prst="rect">
            <a:avLst/>
          </a:prstGeom>
          <a:noFill/>
          <a:ln/>
        </p:spPr>
        <p:txBody>
          <a:bodyPr wrap="square" lIns="0" tIns="0" rIns="0" bIns="0" rtlCol="0" anchor="t"/>
          <a:lstStyle/>
          <a:p>
            <a:pPr indent="0" marL="0">
              <a:buNone/>
            </a:pPr>
            <a:r>
              <a:rPr lang="en-US" sz="1150" b="1" spc="300" kern="0" dirty="0">
                <a:solidFill>
                  <a:srgbClr val="B5541A"/>
                </a:solidFill>
                <a:latin typeface="Calibri" pitchFamily="34" charset="0"/>
                <a:ea typeface="Calibri" pitchFamily="34" charset="-122"/>
                <a:cs typeface="Calibri" pitchFamily="34" charset="-120"/>
              </a:rPr>
              <a:t>THE TRAP</a:t>
            </a:r>
            <a:endParaRPr lang="en-US" sz="1150" dirty="0"/>
          </a:p>
        </p:txBody>
      </p:sp>
      <p:sp>
        <p:nvSpPr>
          <p:cNvPr id="8" name="Text 5"/>
          <p:cNvSpPr txBox="1"/>
          <p:nvPr/>
        </p:nvSpPr>
        <p:spPr>
          <a:xfrm>
            <a:off x="6400800" y="1691640"/>
            <a:ext cx="4572000" cy="274320"/>
          </a:xfrm>
          <a:prstGeom prst="rect">
            <a:avLst/>
          </a:prstGeom>
          <a:noFill/>
          <a:ln/>
        </p:spPr>
        <p:txBody>
          <a:bodyPr wrap="square" lIns="0" tIns="0" rIns="0" bIns="0" rtlCol="0" anchor="t"/>
          <a:lstStyle/>
          <a:p>
            <a:pPr indent="0" marL="0">
              <a:buNone/>
            </a:pPr>
            <a:r>
              <a:rPr lang="en-US" sz="1150" b="1" spc="300" kern="0" dirty="0">
                <a:solidFill>
                  <a:srgbClr val="2E7D5B"/>
                </a:solidFill>
                <a:latin typeface="Calibri" pitchFamily="34" charset="0"/>
                <a:ea typeface="Calibri" pitchFamily="34" charset="-122"/>
                <a:cs typeface="Calibri" pitchFamily="34" charset="-120"/>
              </a:rPr>
              <a:t>THE BETTER HABIT</a:t>
            </a:r>
            <a:endParaRPr lang="en-US" sz="1150" dirty="0"/>
          </a:p>
        </p:txBody>
      </p:sp>
      <p:sp>
        <p:nvSpPr>
          <p:cNvPr id="9" name="Shape 6"/>
          <p:cNvSpPr/>
          <p:nvPr/>
        </p:nvSpPr>
        <p:spPr>
          <a:xfrm>
            <a:off x="640080" y="2057400"/>
            <a:ext cx="5440680" cy="896112"/>
          </a:xfrm>
          <a:prstGeom prst="roundRect">
            <a:avLst>
              <a:gd name="adj" fmla="val 6122"/>
            </a:avLst>
          </a:prstGeom>
          <a:solidFill>
            <a:srgbClr val="FBF1EC"/>
          </a:solidFill>
          <a:ln w="9525">
            <a:solidFill>
              <a:srgbClr val="F0D9C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822960" y="2350008"/>
            <a:ext cx="310896" cy="310896"/>
          </a:xfrm>
          <a:prstGeom prst="rect">
            <a:avLst/>
          </a:prstGeom>
        </p:spPr>
      </p:pic>
      <p:sp>
        <p:nvSpPr>
          <p:cNvPr id="11" name="Text 7"/>
          <p:cNvSpPr txBox="1"/>
          <p:nvPr/>
        </p:nvSpPr>
        <p:spPr>
          <a:xfrm>
            <a:off x="1280160" y="2057400"/>
            <a:ext cx="466344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“SHAP says demos </a:t>
            </a:r>
            <a:r>
              <a:rPr lang="en-US" sz="1300" b="1" dirty="0">
                <a:solidFill>
                  <a:srgbClr val="1A2233"/>
                </a:solidFill>
                <a:latin typeface="Calibri" pitchFamily="34" charset="0"/>
                <a:ea typeface="Calibri" pitchFamily="34" charset="-122"/>
                <a:cs typeface="Calibri" pitchFamily="34" charset="-120"/>
              </a:rPr>
              <a:t>cause</a:t>
            </a:r>
            <a:r>
              <a:rPr lang="en-US" sz="1300" dirty="0">
                <a:solidFill>
                  <a:srgbClr val="1A2233"/>
                </a:solidFill>
                <a:latin typeface="Calibri" pitchFamily="34" charset="0"/>
                <a:ea typeface="Calibri" pitchFamily="34" charset="-122"/>
                <a:cs typeface="Calibri" pitchFamily="34" charset="-120"/>
              </a:rPr>
              <a:t> conversions — make everyone book a demo.”</a:t>
            </a:r>
            <a:endParaRPr lang="en-US" sz="1300" dirty="0"/>
          </a:p>
        </p:txBody>
      </p:sp>
      <p:sp>
        <p:nvSpPr>
          <p:cNvPr id="12" name="Shape 8"/>
          <p:cNvSpPr/>
          <p:nvPr/>
        </p:nvSpPr>
        <p:spPr>
          <a:xfrm>
            <a:off x="6263640" y="2057400"/>
            <a:ext cx="5257800" cy="896112"/>
          </a:xfrm>
          <a:prstGeom prst="roundRect">
            <a:avLst>
              <a:gd name="adj" fmla="val 6122"/>
            </a:avLst>
          </a:prstGeom>
          <a:solidFill>
            <a:srgbClr val="EEF6F1"/>
          </a:solidFill>
          <a:ln w="9525">
            <a:solidFill>
              <a:srgbClr val="D2E7DA"/>
            </a:solidFill>
            <a:prstDash val="solid"/>
          </a:ln>
        </p:spPr>
        <p:txBody>
          <a:bodyPr/>
          <a:p/>
        </p:txBody>
      </p:sp>
      <p:pic>
        <p:nvPicPr>
          <p:cNvPr id="13" name="Image 2" descr="preencoded.png">    </p:cNvPr>
          <p:cNvPicPr>
            <a:picLocks noChangeAspect="1"/>
          </p:cNvPicPr>
          <p:nvPr/>
        </p:nvPicPr>
        <p:blipFill>
          <a:blip r:embed="rId3"/>
          <a:stretch>
            <a:fillRect/>
          </a:stretch>
        </p:blipFill>
        <p:spPr>
          <a:xfrm>
            <a:off x="6446520" y="2350008"/>
            <a:ext cx="310896" cy="310896"/>
          </a:xfrm>
          <a:prstGeom prst="rect">
            <a:avLst/>
          </a:prstGeom>
        </p:spPr>
      </p:pic>
      <p:sp>
        <p:nvSpPr>
          <p:cNvPr id="14" name="Text 9"/>
          <p:cNvSpPr txBox="1"/>
          <p:nvPr/>
        </p:nvSpPr>
        <p:spPr>
          <a:xfrm>
            <a:off x="6903720" y="2057400"/>
            <a:ext cx="448056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SHAP explains the </a:t>
            </a:r>
            <a:r>
              <a:rPr lang="en-US" sz="1300" b="1" dirty="0">
                <a:solidFill>
                  <a:srgbClr val="1A2233"/>
                </a:solidFill>
                <a:latin typeface="Calibri" pitchFamily="34" charset="0"/>
                <a:ea typeface="Calibri" pitchFamily="34" charset="-122"/>
                <a:cs typeface="Calibri" pitchFamily="34" charset="-120"/>
              </a:rPr>
              <a:t>model</a:t>
            </a:r>
            <a:r>
              <a:rPr lang="en-US" sz="1300" dirty="0">
                <a:solidFill>
                  <a:srgbClr val="1A2233"/>
                </a:solidFill>
                <a:latin typeface="Calibri" pitchFamily="34" charset="0"/>
                <a:ea typeface="Calibri" pitchFamily="34" charset="-122"/>
                <a:cs typeface="Calibri" pitchFamily="34" charset="-120"/>
              </a:rPr>
              <a:t>, not the world. Demo requests may signal intent rather than create it.</a:t>
            </a:r>
            <a:endParaRPr lang="en-US" sz="1300" dirty="0"/>
          </a:p>
        </p:txBody>
      </p:sp>
      <p:sp>
        <p:nvSpPr>
          <p:cNvPr id="15" name="Shape 10"/>
          <p:cNvSpPr/>
          <p:nvPr/>
        </p:nvSpPr>
        <p:spPr>
          <a:xfrm>
            <a:off x="640080" y="3063240"/>
            <a:ext cx="5440680" cy="896112"/>
          </a:xfrm>
          <a:prstGeom prst="roundRect">
            <a:avLst>
              <a:gd name="adj" fmla="val 6122"/>
            </a:avLst>
          </a:prstGeom>
          <a:solidFill>
            <a:srgbClr val="FBF1EC"/>
          </a:solidFill>
          <a:ln w="9525">
            <a:solidFill>
              <a:srgbClr val="F0D9CC"/>
            </a:solidFill>
            <a:prstDash val="solid"/>
          </a:ln>
        </p:spPr>
        <p:txBody>
          <a:bodyPr/>
          <a:p/>
        </p:txBody>
      </p:sp>
      <p:pic>
        <p:nvPicPr>
          <p:cNvPr id="16" name="Image 3" descr="preencoded.png">    </p:cNvPr>
          <p:cNvPicPr>
            <a:picLocks noChangeAspect="1"/>
          </p:cNvPicPr>
          <p:nvPr/>
        </p:nvPicPr>
        <p:blipFill>
          <a:blip r:embed="rId4"/>
          <a:stretch>
            <a:fillRect/>
          </a:stretch>
        </p:blipFill>
        <p:spPr>
          <a:xfrm>
            <a:off x="822960" y="3355848"/>
            <a:ext cx="310896" cy="310896"/>
          </a:xfrm>
          <a:prstGeom prst="rect">
            <a:avLst/>
          </a:prstGeom>
        </p:spPr>
      </p:pic>
      <p:sp>
        <p:nvSpPr>
          <p:cNvPr id="17" name="Text 11"/>
          <p:cNvSpPr txBox="1"/>
          <p:nvPr/>
        </p:nvSpPr>
        <p:spPr>
          <a:xfrm>
            <a:off x="1280160" y="3063240"/>
            <a:ext cx="466344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Explaining a model built on leaked data ('call outcome' recorded after conversion).</a:t>
            </a:r>
            <a:endParaRPr lang="en-US" sz="1300" dirty="0"/>
          </a:p>
        </p:txBody>
      </p:sp>
      <p:sp>
        <p:nvSpPr>
          <p:cNvPr id="18" name="Shape 12"/>
          <p:cNvSpPr/>
          <p:nvPr/>
        </p:nvSpPr>
        <p:spPr>
          <a:xfrm>
            <a:off x="6263640" y="3063240"/>
            <a:ext cx="5257800" cy="896112"/>
          </a:xfrm>
          <a:prstGeom prst="roundRect">
            <a:avLst>
              <a:gd name="adj" fmla="val 6122"/>
            </a:avLst>
          </a:prstGeom>
          <a:solidFill>
            <a:srgbClr val="EEF6F1"/>
          </a:solidFill>
          <a:ln w="9525">
            <a:solidFill>
              <a:srgbClr val="D2E7DA"/>
            </a:solidFill>
            <a:prstDash val="solid"/>
          </a:ln>
        </p:spPr>
        <p:txBody>
          <a:bodyPr/>
          <a:p/>
        </p:txBody>
      </p:sp>
      <p:pic>
        <p:nvPicPr>
          <p:cNvPr id="19" name="Image 4" descr="preencoded.png">    </p:cNvPr>
          <p:cNvPicPr>
            <a:picLocks noChangeAspect="1"/>
          </p:cNvPicPr>
          <p:nvPr/>
        </p:nvPicPr>
        <p:blipFill>
          <a:blip r:embed="rId5"/>
          <a:stretch>
            <a:fillRect/>
          </a:stretch>
        </p:blipFill>
        <p:spPr>
          <a:xfrm>
            <a:off x="6446520" y="3355848"/>
            <a:ext cx="310896" cy="310896"/>
          </a:xfrm>
          <a:prstGeom prst="rect">
            <a:avLst/>
          </a:prstGeom>
        </p:spPr>
      </p:pic>
      <p:sp>
        <p:nvSpPr>
          <p:cNvPr id="20" name="Text 13"/>
          <p:cNvSpPr txBox="1"/>
          <p:nvPr/>
        </p:nvSpPr>
        <p:spPr>
          <a:xfrm>
            <a:off x="6903720" y="3063240"/>
            <a:ext cx="448056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Use explanations to </a:t>
            </a:r>
            <a:r>
              <a:rPr lang="en-US" sz="1300" b="1" dirty="0">
                <a:solidFill>
                  <a:srgbClr val="1A2233"/>
                </a:solidFill>
                <a:latin typeface="Calibri" pitchFamily="34" charset="0"/>
                <a:ea typeface="Calibri" pitchFamily="34" charset="-122"/>
                <a:cs typeface="Calibri" pitchFamily="34" charset="-120"/>
              </a:rPr>
              <a:t>find</a:t>
            </a:r>
            <a:r>
              <a:rPr lang="en-US" sz="1300" dirty="0">
                <a:solidFill>
                  <a:srgbClr val="1A2233"/>
                </a:solidFill>
                <a:latin typeface="Calibri" pitchFamily="34" charset="0"/>
                <a:ea typeface="Calibri" pitchFamily="34" charset="-122"/>
                <a:cs typeface="Calibri" pitchFamily="34" charset="-120"/>
              </a:rPr>
              <a:t> leaks — a too-good driver is a red flag.</a:t>
            </a:r>
            <a:endParaRPr lang="en-US" sz="1300" dirty="0"/>
          </a:p>
        </p:txBody>
      </p:sp>
      <p:sp>
        <p:nvSpPr>
          <p:cNvPr id="21" name="Shape 14"/>
          <p:cNvSpPr/>
          <p:nvPr/>
        </p:nvSpPr>
        <p:spPr>
          <a:xfrm>
            <a:off x="640080" y="4069080"/>
            <a:ext cx="5440680" cy="896112"/>
          </a:xfrm>
          <a:prstGeom prst="roundRect">
            <a:avLst>
              <a:gd name="adj" fmla="val 6122"/>
            </a:avLst>
          </a:prstGeom>
          <a:solidFill>
            <a:srgbClr val="FBF1EC"/>
          </a:solidFill>
          <a:ln w="9525">
            <a:solidFill>
              <a:srgbClr val="F0D9CC"/>
            </a:solidFill>
            <a:prstDash val="solid"/>
          </a:ln>
        </p:spPr>
        <p:txBody>
          <a:bodyPr/>
          <a:p/>
        </p:txBody>
      </p:sp>
      <p:pic>
        <p:nvPicPr>
          <p:cNvPr id="22" name="Image 5" descr="preencoded.png">    </p:cNvPr>
          <p:cNvPicPr>
            <a:picLocks noChangeAspect="1"/>
          </p:cNvPicPr>
          <p:nvPr/>
        </p:nvPicPr>
        <p:blipFill>
          <a:blip r:embed="rId6"/>
          <a:stretch>
            <a:fillRect/>
          </a:stretch>
        </p:blipFill>
        <p:spPr>
          <a:xfrm>
            <a:off x="822960" y="4361688"/>
            <a:ext cx="310896" cy="310896"/>
          </a:xfrm>
          <a:prstGeom prst="rect">
            <a:avLst/>
          </a:prstGeom>
        </p:spPr>
      </p:pic>
      <p:sp>
        <p:nvSpPr>
          <p:cNvPr id="23" name="Text 15"/>
          <p:cNvSpPr txBox="1"/>
          <p:nvPr/>
        </p:nvSpPr>
        <p:spPr>
          <a:xfrm>
            <a:off x="1280160" y="4069080"/>
            <a:ext cx="466344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Treating a clean explanation as proof of fairness.</a:t>
            </a:r>
            <a:endParaRPr lang="en-US" sz="1300" dirty="0"/>
          </a:p>
        </p:txBody>
      </p:sp>
      <p:sp>
        <p:nvSpPr>
          <p:cNvPr id="24" name="Shape 16"/>
          <p:cNvSpPr/>
          <p:nvPr/>
        </p:nvSpPr>
        <p:spPr>
          <a:xfrm>
            <a:off x="6263640" y="4069080"/>
            <a:ext cx="5257800" cy="896112"/>
          </a:xfrm>
          <a:prstGeom prst="roundRect">
            <a:avLst>
              <a:gd name="adj" fmla="val 6122"/>
            </a:avLst>
          </a:prstGeom>
          <a:solidFill>
            <a:srgbClr val="EEF6F1"/>
          </a:solidFill>
          <a:ln w="9525">
            <a:solidFill>
              <a:srgbClr val="D2E7DA"/>
            </a:solidFill>
            <a:prstDash val="solid"/>
          </a:ln>
        </p:spPr>
        <p:txBody>
          <a:bodyPr/>
          <a:p/>
        </p:txBody>
      </p:sp>
      <p:pic>
        <p:nvPicPr>
          <p:cNvPr id="25" name="Image 6" descr="preencoded.png">    </p:cNvPr>
          <p:cNvPicPr>
            <a:picLocks noChangeAspect="1"/>
          </p:cNvPicPr>
          <p:nvPr/>
        </p:nvPicPr>
        <p:blipFill>
          <a:blip r:embed="rId7"/>
          <a:stretch>
            <a:fillRect/>
          </a:stretch>
        </p:blipFill>
        <p:spPr>
          <a:xfrm>
            <a:off x="6446520" y="4361688"/>
            <a:ext cx="310896" cy="310896"/>
          </a:xfrm>
          <a:prstGeom prst="rect">
            <a:avLst/>
          </a:prstGeom>
        </p:spPr>
      </p:pic>
      <p:sp>
        <p:nvSpPr>
          <p:cNvPr id="26" name="Text 17"/>
          <p:cNvSpPr txBox="1"/>
          <p:nvPr/>
        </p:nvSpPr>
        <p:spPr>
          <a:xfrm>
            <a:off x="6903720" y="4069080"/>
            <a:ext cx="448056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Check outcomes across groups; proxies can hide in innocent-looking drivers.</a:t>
            </a:r>
            <a:endParaRPr lang="en-US" sz="1300" dirty="0"/>
          </a:p>
        </p:txBody>
      </p:sp>
      <p:sp>
        <p:nvSpPr>
          <p:cNvPr id="27" name="Shape 18"/>
          <p:cNvSpPr/>
          <p:nvPr/>
        </p:nvSpPr>
        <p:spPr>
          <a:xfrm>
            <a:off x="640080" y="5074920"/>
            <a:ext cx="5440680" cy="896112"/>
          </a:xfrm>
          <a:prstGeom prst="roundRect">
            <a:avLst>
              <a:gd name="adj" fmla="val 6122"/>
            </a:avLst>
          </a:prstGeom>
          <a:solidFill>
            <a:srgbClr val="FBF1EC"/>
          </a:solidFill>
          <a:ln w="9525">
            <a:solidFill>
              <a:srgbClr val="F0D9CC"/>
            </a:solidFill>
            <a:prstDash val="solid"/>
          </a:ln>
        </p:spPr>
        <p:txBody>
          <a:bodyPr/>
          <a:p/>
        </p:txBody>
      </p:sp>
      <p:pic>
        <p:nvPicPr>
          <p:cNvPr id="28" name="Image 7" descr="preencoded.png">    </p:cNvPr>
          <p:cNvPicPr>
            <a:picLocks noChangeAspect="1"/>
          </p:cNvPicPr>
          <p:nvPr/>
        </p:nvPicPr>
        <p:blipFill>
          <a:blip r:embed="rId8"/>
          <a:stretch>
            <a:fillRect/>
          </a:stretch>
        </p:blipFill>
        <p:spPr>
          <a:xfrm>
            <a:off x="822960" y="5367528"/>
            <a:ext cx="310896" cy="310896"/>
          </a:xfrm>
          <a:prstGeom prst="rect">
            <a:avLst/>
          </a:prstGeom>
        </p:spPr>
      </p:pic>
      <p:sp>
        <p:nvSpPr>
          <p:cNvPr id="29" name="Text 19"/>
          <p:cNvSpPr txBox="1"/>
          <p:nvPr/>
        </p:nvSpPr>
        <p:spPr>
          <a:xfrm>
            <a:off x="1280160" y="5074920"/>
            <a:ext cx="466344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Using a black box when a glass box is as accurate.</a:t>
            </a:r>
            <a:endParaRPr lang="en-US" sz="1300" dirty="0"/>
          </a:p>
        </p:txBody>
      </p:sp>
      <p:sp>
        <p:nvSpPr>
          <p:cNvPr id="30" name="Shape 20"/>
          <p:cNvSpPr/>
          <p:nvPr/>
        </p:nvSpPr>
        <p:spPr>
          <a:xfrm>
            <a:off x="6263640" y="5074920"/>
            <a:ext cx="5257800" cy="896112"/>
          </a:xfrm>
          <a:prstGeom prst="roundRect">
            <a:avLst>
              <a:gd name="adj" fmla="val 6122"/>
            </a:avLst>
          </a:prstGeom>
          <a:solidFill>
            <a:srgbClr val="EEF6F1"/>
          </a:solidFill>
          <a:ln w="9525">
            <a:solidFill>
              <a:srgbClr val="D2E7DA"/>
            </a:solidFill>
            <a:prstDash val="solid"/>
          </a:ln>
        </p:spPr>
        <p:txBody>
          <a:bodyPr/>
          <a:p/>
        </p:txBody>
      </p:sp>
      <p:pic>
        <p:nvPicPr>
          <p:cNvPr id="31" name="Image 8" descr="preencoded.png">    </p:cNvPr>
          <p:cNvPicPr>
            <a:picLocks noChangeAspect="1"/>
          </p:cNvPicPr>
          <p:nvPr/>
        </p:nvPicPr>
        <p:blipFill>
          <a:blip r:embed="rId9"/>
          <a:stretch>
            <a:fillRect/>
          </a:stretch>
        </p:blipFill>
        <p:spPr>
          <a:xfrm>
            <a:off x="6446520" y="5367528"/>
            <a:ext cx="310896" cy="310896"/>
          </a:xfrm>
          <a:prstGeom prst="rect">
            <a:avLst/>
          </a:prstGeom>
        </p:spPr>
      </p:pic>
      <p:sp>
        <p:nvSpPr>
          <p:cNvPr id="32" name="Text 21"/>
          <p:cNvSpPr txBox="1"/>
          <p:nvPr/>
        </p:nvSpPr>
        <p:spPr>
          <a:xfrm>
            <a:off x="6903720" y="5074920"/>
            <a:ext cx="4480560" cy="89611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Prefer the </a:t>
            </a:r>
            <a:r>
              <a:rPr lang="en-US" sz="1300" b="1" dirty="0">
                <a:solidFill>
                  <a:srgbClr val="1A2233"/>
                </a:solidFill>
                <a:latin typeface="Calibri" pitchFamily="34" charset="0"/>
                <a:ea typeface="Calibri" pitchFamily="34" charset="-122"/>
                <a:cs typeface="Calibri" pitchFamily="34" charset="-120"/>
              </a:rPr>
              <a:t>simplest model</a:t>
            </a:r>
            <a:r>
              <a:rPr lang="en-US" sz="1300" dirty="0">
                <a:solidFill>
                  <a:srgbClr val="1A2233"/>
                </a:solidFill>
                <a:latin typeface="Calibri" pitchFamily="34" charset="0"/>
                <a:ea typeface="Calibri" pitchFamily="34" charset="-122"/>
                <a:cs typeface="Calibri" pitchFamily="34" charset="-120"/>
              </a:rPr>
              <a:t> that performs — here logistic matches XGBoost.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Lead Scoring in Practice</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From probabilities to a Monday-morning calling plan.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VALUE OF RANKING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Cumulative Gains: Who to Call First</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18</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12/figures/python/s12_f06.png">    </p:cNvPr>
          <p:cNvPicPr>
            <a:picLocks noChangeAspect="1"/>
          </p:cNvPicPr>
          <p:nvPr/>
        </p:nvPicPr>
        <p:blipFill>
          <a:blip r:embed="rId2"/>
          <a:stretch>
            <a:fillRect/>
          </a:stretch>
        </p:blipFill>
        <p:spPr>
          <a:xfrm>
            <a:off x="838158" y="1600200"/>
            <a:ext cx="6827605"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S4.1-F06  ·  replicate: tdbg_4_1_figures.R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Sort leads by score and call from the top.</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Calling the </a:t>
            </a:r>
            <a:r>
              <a:rPr lang="en-US" sz="1300" b="1" dirty="0">
                <a:solidFill>
                  <a:srgbClr val="1A2233"/>
                </a:solidFill>
                <a:latin typeface="Calibri" pitchFamily="34" charset="0"/>
                <a:ea typeface="Calibri" pitchFamily="34" charset="-122"/>
                <a:cs typeface="Calibri" pitchFamily="34" charset="-120"/>
              </a:rPr>
              <a:t>top 30%</a:t>
            </a:r>
            <a:r>
              <a:rPr lang="en-US" sz="1300" dirty="0">
                <a:solidFill>
                  <a:srgbClr val="1A2233"/>
                </a:solidFill>
                <a:latin typeface="Calibri" pitchFamily="34" charset="0"/>
                <a:ea typeface="Calibri" pitchFamily="34" charset="-122"/>
                <a:cs typeface="Calibri" pitchFamily="34" charset="-120"/>
              </a:rPr>
              <a:t> captures about </a:t>
            </a:r>
            <a:r>
              <a:rPr lang="en-US" sz="1300" b="1" dirty="0">
                <a:solidFill>
                  <a:srgbClr val="1A2233"/>
                </a:solidFill>
                <a:latin typeface="Calibri" pitchFamily="34" charset="0"/>
                <a:ea typeface="Calibri" pitchFamily="34" charset="-122"/>
                <a:cs typeface="Calibri" pitchFamily="34" charset="-120"/>
              </a:rPr>
              <a:t>60%</a:t>
            </a:r>
            <a:r>
              <a:rPr lang="en-US" sz="1300" dirty="0">
                <a:solidFill>
                  <a:srgbClr val="1A2233"/>
                </a:solidFill>
                <a:latin typeface="Calibri" pitchFamily="34" charset="0"/>
                <a:ea typeface="Calibri" pitchFamily="34" charset="-122"/>
                <a:cs typeface="Calibri" pitchFamily="34" charset="-120"/>
              </a:rPr>
              <a:t> of all conversions.</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Random calling would capture only 30%.</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Logistic and XGBoost scores perform almost identically here.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MAKING IT USABLE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From Scores to Lead Grades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19</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7" name="Image 1" descr="/home/claude/da1/sessions/s12/figures/python/s12_f07.png">    </p:cNvPr>
          <p:cNvPicPr>
            <a:picLocks noChangeAspect="1"/>
          </p:cNvPicPr>
          <p:nvPr/>
        </p:nvPicPr>
        <p:blipFill>
          <a:blip r:embed="rId2"/>
          <a:stretch>
            <a:fillRect/>
          </a:stretch>
        </p:blipFill>
        <p:spPr>
          <a:xfrm>
            <a:off x="719935" y="1600200"/>
            <a:ext cx="7064051" cy="4297680"/>
          </a:xfrm>
          <a:prstGeom prst="rect">
            <a:avLst/>
          </a:prstGeom>
        </p:spPr>
      </p:pic>
      <p:sp>
        <p:nvSpPr>
          <p:cNvPr id="8"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S4.1-F07  ·  replicate: tdbg_4_1_figures.R / .py</a:t>
            </a:r>
            <a:endParaRPr lang="en-US" sz="900" dirty="0"/>
          </a:p>
        </p:txBody>
      </p:sp>
      <p:sp>
        <p:nvSpPr>
          <p:cNvPr id="9"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1"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A</a:t>
            </a:r>
            <a:r>
              <a:rPr lang="en-US" sz="1300" dirty="0">
                <a:solidFill>
                  <a:srgbClr val="1A2233"/>
                </a:solidFill>
                <a:latin typeface="Calibri" pitchFamily="34" charset="0"/>
                <a:ea typeface="Calibri" pitchFamily="34" charset="-122"/>
                <a:cs typeface="Calibri" pitchFamily="34" charset="-120"/>
              </a:rPr>
              <a:t> (top 5%): 53% convert — senior rep, same day.</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B</a:t>
            </a:r>
            <a:r>
              <a:rPr lang="en-US" sz="1300" dirty="0">
                <a:solidFill>
                  <a:srgbClr val="1A2233"/>
                </a:solidFill>
                <a:latin typeface="Calibri" pitchFamily="34" charset="0"/>
                <a:ea typeface="Calibri" pitchFamily="34" charset="-122"/>
                <a:cs typeface="Calibri" pitchFamily="34" charset="-120"/>
              </a:rPr>
              <a:t> (next 15%): 29% — call within 48 hours.</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C</a:t>
            </a:r>
            <a:r>
              <a:rPr lang="en-US" sz="1300" dirty="0">
                <a:solidFill>
                  <a:srgbClr val="1A2233"/>
                </a:solidFill>
                <a:latin typeface="Calibri" pitchFamily="34" charset="0"/>
                <a:ea typeface="Calibri" pitchFamily="34" charset="-122"/>
                <a:cs typeface="Calibri" pitchFamily="34" charset="-120"/>
              </a:rPr>
              <a:t> (next 30%): 16% — inside sales / email + call.</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D</a:t>
            </a:r>
            <a:r>
              <a:rPr lang="en-US" sz="1300" dirty="0">
                <a:solidFill>
                  <a:srgbClr val="1A2233"/>
                </a:solidFill>
                <a:latin typeface="Calibri" pitchFamily="34" charset="0"/>
                <a:ea typeface="Calibri" pitchFamily="34" charset="-122"/>
                <a:cs typeface="Calibri" pitchFamily="34" charset="-120"/>
              </a:rPr>
              <a:t> (bottom 50%): 5% — automated nurture.</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Grades are easier to act on than raw probabilities.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CALLING PLAN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What Does Scoring Buy the Sales Team?</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Sales can make 200 quality calls a week; about 48 new leads arrive weekly.</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20</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6035040" cy="914400"/>
        </p:xfrm>
        <a:graphic>
          <a:graphicData uri="http://schemas.openxmlformats.org/drawingml/2006/table">
            <a:tbl>
              <a:tblPr/>
              <a:tblGrid>
                <a:gridCol w="1207008"/>
                <a:gridCol w="1207008"/>
                <a:gridCol w="1207008"/>
                <a:gridCol w="1207008"/>
                <a:gridCol w="1207008"/>
              </a:tblGrid>
              <a:tr h="36576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Grade</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Share of leads</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Conversion</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Leads / week</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Expected wins</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r>
              <a:tr h="365760">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53%</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2.4</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1.3</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365760">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29%</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7.2</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2.1</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365760">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14.4</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2.2</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365760">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D</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24.0</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2233"/>
                          </a:solidFill>
                          <a:latin typeface="Calibri" pitchFamily="34" charset="0"/>
                          <a:ea typeface="Calibri" pitchFamily="34" charset="-122"/>
                          <a:cs typeface="Calibri" pitchFamily="34" charset="-120"/>
                        </a:rPr>
                        <a:t>1.3</a:t>
                      </a:r>
                      <a:endParaRPr lang="en-US" sz="1250" dirty="0">
                        <a:latin typeface="Calibri" charset="0"/>
                        <a:ea typeface="Calibri" charset="0"/>
                        <a:cs typeface="Calibri" charset="0"/>
                      </a:endParaRPr>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365760">
                <a:tc>
                  <a:txBody>
                    <a:bodyPr/>
                    <a:lstStyle/>
                    <a:p>
                      <a:pPr algn="ctr" indent="0" marL="0">
                        <a:buNone/>
                      </a:pPr>
                      <a:r>
                        <a:rPr lang="en-US" sz="1250" b="1" dirty="0">
                          <a:solidFill>
                            <a:srgbClr val="141B4D"/>
                          </a:solidFill>
                        </a:rPr>
                        <a:t>All</a:t>
                      </a:r>
                      <a:endParaRPr lang="en-US" sz="1250" dirty="0"/>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E8EEF5"/>
                    </a:solidFill>
                  </a:tcPr>
                </a:tc>
                <a:tc>
                  <a:txBody>
                    <a:bodyPr/>
                    <a:lstStyle/>
                    <a:p>
                      <a:pPr algn="ctr" indent="0" marL="0">
                        <a:buNone/>
                      </a:pPr>
                      <a:r>
                        <a:rPr lang="en-US" sz="1250" b="1" dirty="0">
                          <a:solidFill>
                            <a:srgbClr val="141B4D"/>
                          </a:solidFill>
                        </a:rPr>
                        <a:t>100%</a:t>
                      </a:r>
                      <a:endParaRPr lang="en-US" sz="1250" dirty="0"/>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E8EEF5"/>
                    </a:solidFill>
                  </a:tcPr>
                </a:tc>
                <a:tc>
                  <a:txBody>
                    <a:bodyPr/>
                    <a:lstStyle/>
                    <a:p>
                      <a:pPr algn="ctr" indent="0" marL="0">
                        <a:buNone/>
                      </a:pPr>
                      <a:r>
                        <a:rPr lang="en-US" sz="1250" b="1" dirty="0">
                          <a:solidFill>
                            <a:srgbClr val="141B4D"/>
                          </a:solidFill>
                        </a:rPr>
                        <a:t>14%</a:t>
                      </a:r>
                      <a:endParaRPr lang="en-US" sz="1250" dirty="0"/>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E8EEF5"/>
                    </a:solidFill>
                  </a:tcPr>
                </a:tc>
                <a:tc>
                  <a:txBody>
                    <a:bodyPr/>
                    <a:lstStyle/>
                    <a:p>
                      <a:pPr algn="ctr" indent="0" marL="0">
                        <a:buNone/>
                      </a:pPr>
                      <a:r>
                        <a:rPr lang="en-US" sz="1250" b="1" dirty="0">
                          <a:solidFill>
                            <a:srgbClr val="141B4D"/>
                          </a:solidFill>
                        </a:rPr>
                        <a:t>48</a:t>
                      </a:r>
                      <a:endParaRPr lang="en-US" sz="1250" dirty="0"/>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E8EEF5"/>
                    </a:solidFill>
                  </a:tcPr>
                </a:tc>
                <a:tc>
                  <a:txBody>
                    <a:bodyPr/>
                    <a:lstStyle/>
                    <a:p>
                      <a:pPr algn="ctr" indent="0" marL="0">
                        <a:buNone/>
                      </a:pPr>
                      <a:r>
                        <a:rPr lang="en-US" sz="1250" b="1" dirty="0">
                          <a:solidFill>
                            <a:srgbClr val="141B4D"/>
                          </a:solidFill>
                        </a:rPr>
                        <a:t>6.9</a:t>
                      </a:r>
                      <a:endParaRPr lang="en-US" sz="1250" dirty="0"/>
                    </a:p>
                  </a:txBody>
                  <a:tcPr marL="91440" marR="91440" marT="45720" marB="45720">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E8EEF5"/>
                    </a:solidFill>
                  </a:tcPr>
                </a:tc>
              </a:tr>
            </a:tbl>
          </a:graphicData>
        </a:graphic>
      </p:graphicFrame>
      <p:sp>
        <p:nvSpPr>
          <p:cNvPr id="10" name="Text 5"/>
          <p:cNvSpPr txBox="1"/>
          <p:nvPr/>
        </p:nvSpPr>
        <p:spPr>
          <a:xfrm>
            <a:off x="7040880" y="1874520"/>
            <a:ext cx="44805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STEP BY STEP</a:t>
            </a:r>
            <a:endParaRPr lang="en-US" sz="1150" dirty="0"/>
          </a:p>
        </p:txBody>
      </p:sp>
      <p:sp>
        <p:nvSpPr>
          <p:cNvPr id="11" name="Shape 6"/>
          <p:cNvSpPr/>
          <p:nvPr/>
        </p:nvSpPr>
        <p:spPr>
          <a:xfrm>
            <a:off x="7040880" y="2313432"/>
            <a:ext cx="347472" cy="347472"/>
          </a:xfrm>
          <a:prstGeom prst="ellipse">
            <a:avLst/>
          </a:prstGeom>
          <a:solidFill>
            <a:srgbClr val="0B5E82"/>
          </a:solidFill>
          <a:ln w="12700">
            <a:solidFill>
              <a:srgbClr val="0B5E82"/>
            </a:solidFill>
            <a:prstDash val="solid"/>
          </a:ln>
        </p:spPr>
        <p:txBody>
          <a:bodyPr/>
          <a:p/>
        </p:txBody>
      </p:sp>
      <p:sp>
        <p:nvSpPr>
          <p:cNvPr id="12" name="Text 7"/>
          <p:cNvSpPr txBox="1"/>
          <p:nvPr/>
        </p:nvSpPr>
        <p:spPr>
          <a:xfrm>
            <a:off x="7040880" y="23134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8"/>
          <p:cNvSpPr txBox="1"/>
          <p:nvPr/>
        </p:nvSpPr>
        <p:spPr>
          <a:xfrm>
            <a:off x="7543800" y="2286000"/>
            <a:ext cx="3977640" cy="66294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Weekly leads ≈ 2,500 ÷ 52 ≈ 48.</a:t>
            </a:r>
            <a:endParaRPr lang="en-US" sz="1300" dirty="0"/>
          </a:p>
        </p:txBody>
      </p:sp>
      <p:sp>
        <p:nvSpPr>
          <p:cNvPr id="14" name="Shape 9"/>
          <p:cNvSpPr/>
          <p:nvPr/>
        </p:nvSpPr>
        <p:spPr>
          <a:xfrm>
            <a:off x="7040880" y="3022092"/>
            <a:ext cx="347472" cy="347472"/>
          </a:xfrm>
          <a:prstGeom prst="ellipse">
            <a:avLst/>
          </a:prstGeom>
          <a:solidFill>
            <a:srgbClr val="0B5E82"/>
          </a:solidFill>
          <a:ln w="12700">
            <a:solidFill>
              <a:srgbClr val="0B5E82"/>
            </a:solidFill>
            <a:prstDash val="solid"/>
          </a:ln>
        </p:spPr>
        <p:txBody>
          <a:bodyPr/>
          <a:p/>
        </p:txBody>
      </p:sp>
      <p:sp>
        <p:nvSpPr>
          <p:cNvPr id="15" name="Text 10"/>
          <p:cNvSpPr txBox="1"/>
          <p:nvPr/>
        </p:nvSpPr>
        <p:spPr>
          <a:xfrm>
            <a:off x="7040880" y="30220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1"/>
          <p:cNvSpPr txBox="1"/>
          <p:nvPr/>
        </p:nvSpPr>
        <p:spPr>
          <a:xfrm>
            <a:off x="7543800" y="2994660"/>
            <a:ext cx="3977640" cy="66294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Focus senior reps on A and B: ~10 leads → </a:t>
            </a:r>
            <a:r>
              <a:rPr lang="en-US" sz="1300" b="1" dirty="0">
                <a:solidFill>
                  <a:srgbClr val="1A2233"/>
                </a:solidFill>
                <a:latin typeface="Calibri" pitchFamily="34" charset="0"/>
                <a:ea typeface="Calibri" pitchFamily="34" charset="-122"/>
                <a:cs typeface="Calibri" pitchFamily="34" charset="-120"/>
              </a:rPr>
              <a:t>3.4 expected wins</a:t>
            </a:r>
            <a:r>
              <a:rPr lang="en-US" sz="1300" dirty="0">
                <a:solidFill>
                  <a:srgbClr val="1A2233"/>
                </a:solidFill>
                <a:latin typeface="Calibri" pitchFamily="34" charset="0"/>
                <a:ea typeface="Calibri" pitchFamily="34" charset="-122"/>
                <a:cs typeface="Calibri" pitchFamily="34" charset="-120"/>
              </a:rPr>
              <a:t> a week.</a:t>
            </a:r>
            <a:endParaRPr lang="en-US" sz="1300" dirty="0"/>
          </a:p>
        </p:txBody>
      </p:sp>
      <p:sp>
        <p:nvSpPr>
          <p:cNvPr id="17" name="Shape 12"/>
          <p:cNvSpPr/>
          <p:nvPr/>
        </p:nvSpPr>
        <p:spPr>
          <a:xfrm>
            <a:off x="7040880" y="3730752"/>
            <a:ext cx="347472" cy="347472"/>
          </a:xfrm>
          <a:prstGeom prst="ellipse">
            <a:avLst/>
          </a:prstGeom>
          <a:solidFill>
            <a:srgbClr val="0B5E82"/>
          </a:solidFill>
          <a:ln w="12700">
            <a:solidFill>
              <a:srgbClr val="0B5E82"/>
            </a:solidFill>
            <a:prstDash val="solid"/>
          </a:ln>
        </p:spPr>
        <p:txBody>
          <a:bodyPr/>
          <a:p/>
        </p:txBody>
      </p:sp>
      <p:sp>
        <p:nvSpPr>
          <p:cNvPr id="18" name="Text 13"/>
          <p:cNvSpPr txBox="1"/>
          <p:nvPr/>
        </p:nvSpPr>
        <p:spPr>
          <a:xfrm>
            <a:off x="7040880" y="37307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4"/>
          <p:cNvSpPr txBox="1"/>
          <p:nvPr/>
        </p:nvSpPr>
        <p:spPr>
          <a:xfrm>
            <a:off x="7543800" y="3703320"/>
            <a:ext cx="3977640" cy="66294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D leads (half the volume) yield only ~1.3 wins — move them to automated nurture.</a:t>
            </a:r>
            <a:endParaRPr lang="en-US" sz="1300" dirty="0"/>
          </a:p>
        </p:txBody>
      </p:sp>
      <p:sp>
        <p:nvSpPr>
          <p:cNvPr id="20" name="Shape 15"/>
          <p:cNvSpPr/>
          <p:nvPr/>
        </p:nvSpPr>
        <p:spPr>
          <a:xfrm>
            <a:off x="7040880" y="4439412"/>
            <a:ext cx="347472" cy="347472"/>
          </a:xfrm>
          <a:prstGeom prst="ellipse">
            <a:avLst/>
          </a:prstGeom>
          <a:solidFill>
            <a:srgbClr val="0B5E82"/>
          </a:solidFill>
          <a:ln w="12700">
            <a:solidFill>
              <a:srgbClr val="0B5E82"/>
            </a:solidFill>
            <a:prstDash val="solid"/>
          </a:ln>
        </p:spPr>
        <p:txBody>
          <a:bodyPr/>
          <a:p/>
        </p:txBody>
      </p:sp>
      <p:sp>
        <p:nvSpPr>
          <p:cNvPr id="21" name="Text 16"/>
          <p:cNvSpPr txBox="1"/>
          <p:nvPr/>
        </p:nvSpPr>
        <p:spPr>
          <a:xfrm>
            <a:off x="7040880" y="44394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7"/>
          <p:cNvSpPr txBox="1"/>
          <p:nvPr/>
        </p:nvSpPr>
        <p:spPr>
          <a:xfrm>
            <a:off x="7543800" y="4411980"/>
            <a:ext cx="3977640" cy="66294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Freed capacity goes to faster follow-up, which itself raises conversion.</a:t>
            </a:r>
            <a:endParaRPr lang="en-US" sz="1300" dirty="0"/>
          </a:p>
        </p:txBody>
      </p:sp>
      <p:sp>
        <p:nvSpPr>
          <p:cNvPr id="23" name="Shape 18"/>
          <p:cNvSpPr/>
          <p:nvPr/>
        </p:nvSpPr>
        <p:spPr>
          <a:xfrm>
            <a:off x="7040880" y="5257800"/>
            <a:ext cx="4480560" cy="868680"/>
          </a:xfrm>
          <a:prstGeom prst="roundRect">
            <a:avLst>
              <a:gd name="adj" fmla="val 6316"/>
            </a:avLst>
          </a:prstGeom>
          <a:solidFill>
            <a:srgbClr val="141B4D"/>
          </a:solidFill>
          <a:ln w="12700">
            <a:solidFill>
              <a:srgbClr val="141B4D"/>
            </a:solidFill>
            <a:prstDash val="solid"/>
          </a:ln>
        </p:spPr>
        <p:txBody>
          <a:bodyPr/>
          <a:p/>
        </p:txBody>
      </p:sp>
      <p:sp>
        <p:nvSpPr>
          <p:cNvPr id="24" name="Text 19"/>
          <p:cNvSpPr txBox="1"/>
          <p:nvPr/>
        </p:nvSpPr>
        <p:spPr>
          <a:xfrm>
            <a:off x="7269480" y="5257800"/>
            <a:ext cx="402336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Same team, sharper focus: the top half of leads (A–C) produce about 80% of the wins.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DEPLOYING A LEAD SCORE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Five Rules for a Score Sales Will Actually Use</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21</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8" name="Shape 5"/>
          <p:cNvSpPr/>
          <p:nvPr/>
        </p:nvSpPr>
        <p:spPr>
          <a:xfrm>
            <a:off x="868680" y="1892808"/>
            <a:ext cx="457200" cy="457200"/>
          </a:xfrm>
          <a:prstGeom prst="ellipse">
            <a:avLst/>
          </a:prstGeom>
          <a:solidFill>
            <a:srgbClr val="0B5E82"/>
          </a:solidFill>
          <a:ln w="12700">
            <a:solidFill>
              <a:srgbClr val="0B5E8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982980" y="2007108"/>
            <a:ext cx="228600" cy="228600"/>
          </a:xfrm>
          <a:prstGeom prst="rect">
            <a:avLst/>
          </a:prstGeom>
        </p:spPr>
      </p:pic>
      <p:sp>
        <p:nvSpPr>
          <p:cNvPr id="10" name="Text 6"/>
          <p:cNvSpPr txBox="1"/>
          <p:nvPr/>
        </p:nvSpPr>
        <p:spPr>
          <a:xfrm>
            <a:off x="1463040" y="187452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Explain every score</a:t>
            </a:r>
            <a:endParaRPr lang="en-US" sz="1500" dirty="0"/>
          </a:p>
        </p:txBody>
      </p:sp>
      <p:sp>
        <p:nvSpPr>
          <p:cNvPr id="11" name="Text 7"/>
          <p:cNvSpPr txBox="1"/>
          <p:nvPr/>
        </p:nvSpPr>
        <p:spPr>
          <a:xfrm>
            <a:off x="868680" y="246888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Show the top 3 reasons next to each lead in the CRM.</a:t>
            </a:r>
            <a:endParaRPr lang="en-US" sz="1250" dirty="0"/>
          </a:p>
        </p:txBody>
      </p:sp>
      <p:sp>
        <p:nvSpPr>
          <p:cNvPr id="12" name="Shape 8"/>
          <p:cNvSpPr/>
          <p:nvPr/>
        </p:nvSpPr>
        <p:spPr>
          <a:xfrm>
            <a:off x="4343400" y="169164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3" name="Shape 9"/>
          <p:cNvSpPr/>
          <p:nvPr/>
        </p:nvSpPr>
        <p:spPr>
          <a:xfrm>
            <a:off x="4572000" y="1892808"/>
            <a:ext cx="457200" cy="457200"/>
          </a:xfrm>
          <a:prstGeom prst="ellipse">
            <a:avLst/>
          </a:prstGeom>
          <a:solidFill>
            <a:srgbClr val="0B5E82"/>
          </a:solidFill>
          <a:ln w="12700">
            <a:solidFill>
              <a:srgbClr val="0B5E82"/>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4686300" y="2007108"/>
            <a:ext cx="228600" cy="228600"/>
          </a:xfrm>
          <a:prstGeom prst="rect">
            <a:avLst/>
          </a:prstGeom>
        </p:spPr>
      </p:pic>
      <p:sp>
        <p:nvSpPr>
          <p:cNvPr id="15" name="Text 10"/>
          <p:cNvSpPr txBox="1"/>
          <p:nvPr/>
        </p:nvSpPr>
        <p:spPr>
          <a:xfrm>
            <a:off x="5166360" y="187452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Co-design with sales</a:t>
            </a:r>
            <a:endParaRPr lang="en-US" sz="1500" dirty="0"/>
          </a:p>
        </p:txBody>
      </p:sp>
      <p:sp>
        <p:nvSpPr>
          <p:cNvPr id="16" name="Text 11"/>
          <p:cNvSpPr txBox="1"/>
          <p:nvPr/>
        </p:nvSpPr>
        <p:spPr>
          <a:xfrm>
            <a:off x="4572000" y="246888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Agree grades and actions with the sales director before launch.</a:t>
            </a:r>
            <a:endParaRPr lang="en-US" sz="1250" dirty="0"/>
          </a:p>
        </p:txBody>
      </p:sp>
      <p:sp>
        <p:nvSpPr>
          <p:cNvPr id="17" name="Shape 12"/>
          <p:cNvSpPr/>
          <p:nvPr/>
        </p:nvSpPr>
        <p:spPr>
          <a:xfrm>
            <a:off x="8046720" y="169164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8" name="Shape 13"/>
          <p:cNvSpPr/>
          <p:nvPr/>
        </p:nvSpPr>
        <p:spPr>
          <a:xfrm>
            <a:off x="8275320" y="1892808"/>
            <a:ext cx="457200" cy="457200"/>
          </a:xfrm>
          <a:prstGeom prst="ellipse">
            <a:avLst/>
          </a:prstGeom>
          <a:solidFill>
            <a:srgbClr val="0B5E82"/>
          </a:solidFill>
          <a:ln w="12700">
            <a:solidFill>
              <a:srgbClr val="0B5E82"/>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8389620" y="2007108"/>
            <a:ext cx="228600" cy="228600"/>
          </a:xfrm>
          <a:prstGeom prst="rect">
            <a:avLst/>
          </a:prstGeom>
        </p:spPr>
      </p:pic>
      <p:sp>
        <p:nvSpPr>
          <p:cNvPr id="20" name="Text 14"/>
          <p:cNvSpPr txBox="1"/>
          <p:nvPr/>
        </p:nvSpPr>
        <p:spPr>
          <a:xfrm>
            <a:off x="8869680" y="187452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Prove it</a:t>
            </a:r>
            <a:endParaRPr lang="en-US" sz="1500" dirty="0"/>
          </a:p>
        </p:txBody>
      </p:sp>
      <p:sp>
        <p:nvSpPr>
          <p:cNvPr id="21" name="Text 15"/>
          <p:cNvSpPr txBox="1"/>
          <p:nvPr/>
        </p:nvSpPr>
        <p:spPr>
          <a:xfrm>
            <a:off x="8275320" y="246888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Champion–challenger test: half the team uses scores, half doesn't (Session 3.1).</a:t>
            </a:r>
            <a:endParaRPr lang="en-US" sz="1250" dirty="0"/>
          </a:p>
        </p:txBody>
      </p:sp>
      <p:sp>
        <p:nvSpPr>
          <p:cNvPr id="22" name="Shape 16"/>
          <p:cNvSpPr/>
          <p:nvPr/>
        </p:nvSpPr>
        <p:spPr>
          <a:xfrm>
            <a:off x="640080" y="402336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3" name="Shape 17"/>
          <p:cNvSpPr/>
          <p:nvPr/>
        </p:nvSpPr>
        <p:spPr>
          <a:xfrm>
            <a:off x="868680" y="4224528"/>
            <a:ext cx="457200" cy="457200"/>
          </a:xfrm>
          <a:prstGeom prst="ellipse">
            <a:avLst/>
          </a:prstGeom>
          <a:solidFill>
            <a:srgbClr val="0B5E82"/>
          </a:solidFill>
          <a:ln w="12700">
            <a:solidFill>
              <a:srgbClr val="0B5E82"/>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982980" y="4338828"/>
            <a:ext cx="228600" cy="228600"/>
          </a:xfrm>
          <a:prstGeom prst="rect">
            <a:avLst/>
          </a:prstGeom>
        </p:spPr>
      </p:pic>
      <p:sp>
        <p:nvSpPr>
          <p:cNvPr id="25" name="Text 18"/>
          <p:cNvSpPr txBox="1"/>
          <p:nvPr/>
        </p:nvSpPr>
        <p:spPr>
          <a:xfrm>
            <a:off x="1463040" y="420624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Refresh</a:t>
            </a:r>
            <a:endParaRPr lang="en-US" sz="1500" dirty="0"/>
          </a:p>
        </p:txBody>
      </p:sp>
      <p:sp>
        <p:nvSpPr>
          <p:cNvPr id="26" name="Text 19"/>
          <p:cNvSpPr txBox="1"/>
          <p:nvPr/>
        </p:nvSpPr>
        <p:spPr>
          <a:xfrm>
            <a:off x="868680" y="480060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Retrain quarterly; markets and campaigns change what signals intent.</a:t>
            </a:r>
            <a:endParaRPr lang="en-US" sz="1250" dirty="0"/>
          </a:p>
        </p:txBody>
      </p:sp>
      <p:sp>
        <p:nvSpPr>
          <p:cNvPr id="27" name="Shape 20"/>
          <p:cNvSpPr/>
          <p:nvPr/>
        </p:nvSpPr>
        <p:spPr>
          <a:xfrm>
            <a:off x="4343400" y="4023360"/>
            <a:ext cx="34747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8" name="Shape 21"/>
          <p:cNvSpPr/>
          <p:nvPr/>
        </p:nvSpPr>
        <p:spPr>
          <a:xfrm>
            <a:off x="4572000" y="4224528"/>
            <a:ext cx="457200" cy="457200"/>
          </a:xfrm>
          <a:prstGeom prst="ellipse">
            <a:avLst/>
          </a:prstGeom>
          <a:solidFill>
            <a:srgbClr val="D99A2B"/>
          </a:solidFill>
          <a:ln w="12700">
            <a:solidFill>
              <a:srgbClr val="D99A2B"/>
            </a:solidFill>
            <a:prstDash val="solid"/>
          </a:ln>
        </p:spPr>
        <p:txBody>
          <a:bodyPr/>
          <a:p/>
        </p:txBody>
      </p:sp>
      <p:pic>
        <p:nvPicPr>
          <p:cNvPr id="29" name="Image 5" descr="preencoded.png">    </p:cNvPr>
          <p:cNvPicPr>
            <a:picLocks noChangeAspect="1"/>
          </p:cNvPicPr>
          <p:nvPr/>
        </p:nvPicPr>
        <p:blipFill>
          <a:blip r:embed="rId6"/>
          <a:stretch>
            <a:fillRect/>
          </a:stretch>
        </p:blipFill>
        <p:spPr>
          <a:xfrm>
            <a:off x="4686300" y="4338828"/>
            <a:ext cx="228600" cy="228600"/>
          </a:xfrm>
          <a:prstGeom prst="rect">
            <a:avLst/>
          </a:prstGeom>
        </p:spPr>
      </p:pic>
      <p:sp>
        <p:nvSpPr>
          <p:cNvPr id="30" name="Text 22"/>
          <p:cNvSpPr txBox="1"/>
          <p:nvPr/>
        </p:nvSpPr>
        <p:spPr>
          <a:xfrm>
            <a:off x="5166360" y="420624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Watch for bias</a:t>
            </a:r>
            <a:endParaRPr lang="en-US" sz="1500" dirty="0"/>
          </a:p>
        </p:txBody>
      </p:sp>
      <p:sp>
        <p:nvSpPr>
          <p:cNvPr id="31" name="Text 23"/>
          <p:cNvSpPr txBox="1"/>
          <p:nvPr/>
        </p:nvSpPr>
        <p:spPr>
          <a:xfrm>
            <a:off x="4572000" y="4800600"/>
            <a:ext cx="3017520" cy="118872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Check grades across industries and regions — avoid starving whole segments.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CONCEPT CHECK</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Quick Check: What Would You Say?</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22</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783080"/>
            <a:ext cx="640080" cy="640080"/>
          </a:xfrm>
          <a:prstGeom prst="ellipse">
            <a:avLst/>
          </a:prstGeom>
          <a:solidFill>
            <a:srgbClr val="D99A2B"/>
          </a:solidFill>
          <a:ln w="12700">
            <a:solidFill>
              <a:srgbClr val="D99A2B"/>
            </a:solidFill>
            <a:prstDash val="solid"/>
          </a:ln>
        </p:spPr>
        <p:txBody>
          <a:bodyPr/>
          <a:p/>
        </p:txBody>
      </p:sp>
      <p:pic>
        <p:nvPicPr>
          <p:cNvPr id="9" name="Image 1" descr="preencoded.png">    </p:cNvPr>
          <p:cNvPicPr>
            <a:picLocks noChangeAspect="1"/>
          </p:cNvPicPr>
          <p:nvPr/>
        </p:nvPicPr>
        <p:blipFill>
          <a:blip r:embed="rId2"/>
          <a:stretch>
            <a:fillRect/>
          </a:stretch>
        </p:blipFill>
        <p:spPr>
          <a:xfrm>
            <a:off x="800100" y="1943100"/>
            <a:ext cx="320040" cy="320040"/>
          </a:xfrm>
          <a:prstGeom prst="rect">
            <a:avLst/>
          </a:prstGeom>
        </p:spPr>
      </p:pic>
      <p:sp>
        <p:nvSpPr>
          <p:cNvPr id="10" name="Text 5"/>
          <p:cNvSpPr txBox="1"/>
          <p:nvPr/>
        </p:nvSpPr>
        <p:spPr>
          <a:xfrm>
            <a:off x="1508760" y="1691640"/>
            <a:ext cx="9966960" cy="1097280"/>
          </a:xfrm>
          <a:prstGeom prst="rect">
            <a:avLst/>
          </a:prstGeom>
          <a:noFill/>
          <a:ln/>
        </p:spPr>
        <p:txBody>
          <a:bodyPr wrap="square" lIns="0" tIns="0" rIns="0" bIns="0" rtlCol="0" anchor="ctr"/>
          <a:lstStyle/>
          <a:p>
            <a:pPr indent="0" marL="0">
              <a:buNone/>
            </a:pPr>
            <a:r>
              <a:rPr lang="en-US" sz="1900" dirty="0">
                <a:solidFill>
                  <a:srgbClr val="141B4D"/>
                </a:solidFill>
                <a:latin typeface="Cambria" pitchFamily="34" charset="0"/>
                <a:ea typeface="Cambria" pitchFamily="34" charset="-122"/>
                <a:cs typeface="Cambria" pitchFamily="34" charset="-120"/>
              </a:rPr>
              <a:t>A SHAP waterfall shows 'industry = Public Sector' pushes a lead's score down by −0.27. The sales director asks: 'Should we stop selling to the public sector?' Best answer?</a:t>
            </a:r>
            <a:endParaRPr lang="en-US" sz="1900" dirty="0"/>
          </a:p>
        </p:txBody>
      </p:sp>
      <p:sp>
        <p:nvSpPr>
          <p:cNvPr id="11" name="Shape 6"/>
          <p:cNvSpPr/>
          <p:nvPr/>
        </p:nvSpPr>
        <p:spPr>
          <a:xfrm>
            <a:off x="1508760" y="3017520"/>
            <a:ext cx="9966960" cy="594360"/>
          </a:xfrm>
          <a:prstGeom prst="roundRect">
            <a:avLst>
              <a:gd name="adj" fmla="val 9231"/>
            </a:avLst>
          </a:prstGeom>
          <a:solidFill>
            <a:srgbClr val="F3F6F9"/>
          </a:solidFill>
          <a:ln w="9525">
            <a:solidFill>
              <a:srgbClr val="E1E7EE"/>
            </a:solidFill>
            <a:prstDash val="solid"/>
          </a:ln>
        </p:spPr>
        <p:txBody>
          <a:bodyPr/>
          <a:p/>
        </p:txBody>
      </p:sp>
      <p:sp>
        <p:nvSpPr>
          <p:cNvPr id="12" name="Shape 7"/>
          <p:cNvSpPr/>
          <p:nvPr/>
        </p:nvSpPr>
        <p:spPr>
          <a:xfrm>
            <a:off x="1691640" y="3122676"/>
            <a:ext cx="384048" cy="384048"/>
          </a:xfrm>
          <a:prstGeom prst="ellipse">
            <a:avLst/>
          </a:prstGeom>
          <a:solidFill>
            <a:srgbClr val="0B5E82"/>
          </a:solidFill>
          <a:ln w="12700">
            <a:solidFill>
              <a:srgbClr val="0B5E82"/>
            </a:solidFill>
            <a:prstDash val="solid"/>
          </a:ln>
        </p:spPr>
        <p:txBody>
          <a:bodyPr/>
          <a:p/>
        </p:txBody>
      </p:sp>
      <p:sp>
        <p:nvSpPr>
          <p:cNvPr id="13" name="Text 8"/>
          <p:cNvSpPr txBox="1"/>
          <p:nvPr/>
        </p:nvSpPr>
        <p:spPr>
          <a:xfrm>
            <a:off x="1691640" y="31226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9"/>
          <p:cNvSpPr txBox="1"/>
          <p:nvPr/>
        </p:nvSpPr>
        <p:spPr>
          <a:xfrm>
            <a:off x="2286000" y="3017520"/>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Yes — the model proves public-sector leads are worse</a:t>
            </a:r>
            <a:endParaRPr lang="en-US" sz="1450" dirty="0"/>
          </a:p>
        </p:txBody>
      </p:sp>
      <p:sp>
        <p:nvSpPr>
          <p:cNvPr id="15" name="Shape 10"/>
          <p:cNvSpPr/>
          <p:nvPr/>
        </p:nvSpPr>
        <p:spPr>
          <a:xfrm>
            <a:off x="1508760" y="3721608"/>
            <a:ext cx="9966960" cy="594360"/>
          </a:xfrm>
          <a:prstGeom prst="roundRect">
            <a:avLst>
              <a:gd name="adj" fmla="val 9231"/>
            </a:avLst>
          </a:prstGeom>
          <a:solidFill>
            <a:srgbClr val="F3F6F9"/>
          </a:solidFill>
          <a:ln w="9525">
            <a:solidFill>
              <a:srgbClr val="E1E7EE"/>
            </a:solidFill>
            <a:prstDash val="solid"/>
          </a:ln>
        </p:spPr>
        <p:txBody>
          <a:bodyPr/>
          <a:p/>
        </p:txBody>
      </p:sp>
      <p:sp>
        <p:nvSpPr>
          <p:cNvPr id="16" name="Shape 11"/>
          <p:cNvSpPr/>
          <p:nvPr/>
        </p:nvSpPr>
        <p:spPr>
          <a:xfrm>
            <a:off x="1691640" y="3826764"/>
            <a:ext cx="384048" cy="384048"/>
          </a:xfrm>
          <a:prstGeom prst="ellipse">
            <a:avLst/>
          </a:prstGeom>
          <a:solidFill>
            <a:srgbClr val="0B5E82"/>
          </a:solidFill>
          <a:ln w="12700">
            <a:solidFill>
              <a:srgbClr val="0B5E82"/>
            </a:solidFill>
            <a:prstDash val="solid"/>
          </a:ln>
        </p:spPr>
        <p:txBody>
          <a:bodyPr/>
          <a:p/>
        </p:txBody>
      </p:sp>
      <p:sp>
        <p:nvSpPr>
          <p:cNvPr id="17" name="Text 12"/>
          <p:cNvSpPr txBox="1"/>
          <p:nvPr/>
        </p:nvSpPr>
        <p:spPr>
          <a:xfrm>
            <a:off x="1691640" y="38267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3"/>
          <p:cNvSpPr txBox="1"/>
          <p:nvPr/>
        </p:nvSpPr>
        <p:spPr>
          <a:xfrm>
            <a:off x="2286000" y="3721608"/>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No — SHAP shows how the model uses industry for this lead; it reflects past conversion patterns, not whether public-sector deals are worth pursuing (they may be large or strategic)</a:t>
            </a:r>
            <a:endParaRPr lang="en-US" sz="1450" dirty="0"/>
          </a:p>
        </p:txBody>
      </p:sp>
      <p:sp>
        <p:nvSpPr>
          <p:cNvPr id="19" name="Shape 14"/>
          <p:cNvSpPr/>
          <p:nvPr/>
        </p:nvSpPr>
        <p:spPr>
          <a:xfrm>
            <a:off x="1508760" y="4425696"/>
            <a:ext cx="9966960" cy="594360"/>
          </a:xfrm>
          <a:prstGeom prst="roundRect">
            <a:avLst>
              <a:gd name="adj" fmla="val 9231"/>
            </a:avLst>
          </a:prstGeom>
          <a:solidFill>
            <a:srgbClr val="F3F6F9"/>
          </a:solidFill>
          <a:ln w="9525">
            <a:solidFill>
              <a:srgbClr val="E1E7EE"/>
            </a:solidFill>
            <a:prstDash val="solid"/>
          </a:ln>
        </p:spPr>
        <p:txBody>
          <a:bodyPr/>
          <a:p/>
        </p:txBody>
      </p:sp>
      <p:sp>
        <p:nvSpPr>
          <p:cNvPr id="20" name="Shape 15"/>
          <p:cNvSpPr/>
          <p:nvPr/>
        </p:nvSpPr>
        <p:spPr>
          <a:xfrm>
            <a:off x="1691640" y="4530852"/>
            <a:ext cx="384048" cy="384048"/>
          </a:xfrm>
          <a:prstGeom prst="ellipse">
            <a:avLst/>
          </a:prstGeom>
          <a:solidFill>
            <a:srgbClr val="0B5E82"/>
          </a:solidFill>
          <a:ln w="12700">
            <a:solidFill>
              <a:srgbClr val="0B5E82"/>
            </a:solidFill>
            <a:prstDash val="solid"/>
          </a:ln>
        </p:spPr>
        <p:txBody>
          <a:bodyPr/>
          <a:p/>
        </p:txBody>
      </p:sp>
      <p:sp>
        <p:nvSpPr>
          <p:cNvPr id="21" name="Text 16"/>
          <p:cNvSpPr txBox="1"/>
          <p:nvPr/>
        </p:nvSpPr>
        <p:spPr>
          <a:xfrm>
            <a:off x="1691640" y="45308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7"/>
          <p:cNvSpPr txBox="1"/>
          <p:nvPr/>
        </p:nvSpPr>
        <p:spPr>
          <a:xfrm>
            <a:off x="2286000" y="4425696"/>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SHAP values are random and should be ignored</a:t>
            </a:r>
            <a:endParaRPr lang="en-US" sz="1450" dirty="0"/>
          </a:p>
        </p:txBody>
      </p:sp>
      <p:sp>
        <p:nvSpPr>
          <p:cNvPr id="23" name="Shape 18"/>
          <p:cNvSpPr/>
          <p:nvPr/>
        </p:nvSpPr>
        <p:spPr>
          <a:xfrm>
            <a:off x="1508760" y="5129784"/>
            <a:ext cx="9966960" cy="594360"/>
          </a:xfrm>
          <a:prstGeom prst="roundRect">
            <a:avLst>
              <a:gd name="adj" fmla="val 9231"/>
            </a:avLst>
          </a:prstGeom>
          <a:solidFill>
            <a:srgbClr val="F3F6F9"/>
          </a:solidFill>
          <a:ln w="9525">
            <a:solidFill>
              <a:srgbClr val="E1E7EE"/>
            </a:solidFill>
            <a:prstDash val="solid"/>
          </a:ln>
        </p:spPr>
        <p:txBody>
          <a:bodyPr/>
          <a:p/>
        </p:txBody>
      </p:sp>
      <p:sp>
        <p:nvSpPr>
          <p:cNvPr id="24" name="Shape 19"/>
          <p:cNvSpPr/>
          <p:nvPr/>
        </p:nvSpPr>
        <p:spPr>
          <a:xfrm>
            <a:off x="1691640" y="5234940"/>
            <a:ext cx="384048" cy="384048"/>
          </a:xfrm>
          <a:prstGeom prst="ellipse">
            <a:avLst/>
          </a:prstGeom>
          <a:solidFill>
            <a:srgbClr val="0B5E82"/>
          </a:solidFill>
          <a:ln w="12700">
            <a:solidFill>
              <a:srgbClr val="0B5E82"/>
            </a:solidFill>
            <a:prstDash val="solid"/>
          </a:ln>
        </p:spPr>
        <p:txBody>
          <a:bodyPr/>
          <a:p/>
        </p:txBody>
      </p:sp>
      <p:sp>
        <p:nvSpPr>
          <p:cNvPr id="25" name="Text 20"/>
          <p:cNvSpPr txBox="1"/>
          <p:nvPr/>
        </p:nvSpPr>
        <p:spPr>
          <a:xfrm>
            <a:off x="1691640" y="52349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6" name="Text 21"/>
          <p:cNvSpPr txBox="1"/>
          <p:nvPr/>
        </p:nvSpPr>
        <p:spPr>
          <a:xfrm>
            <a:off x="2286000" y="5129784"/>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Remove industry from the model so the problem disappears</a:t>
            </a:r>
            <a:endParaRPr lang="en-US" sz="1450" dirty="0"/>
          </a:p>
        </p:txBody>
      </p:sp>
      <p:sp>
        <p:nvSpPr>
          <p:cNvPr id="27" name="Text 22"/>
          <p:cNvSpPr txBox="1"/>
          <p:nvPr/>
        </p:nvSpPr>
        <p:spPr>
          <a:xfrm>
            <a:off x="1508760" y="5897880"/>
            <a:ext cx="9966960" cy="274320"/>
          </a:xfrm>
          <a:prstGeom prst="rect">
            <a:avLst/>
          </a:prstGeom>
          <a:noFill/>
          <a:ln/>
        </p:spPr>
        <p:txBody>
          <a:bodyPr wrap="square" lIns="0" tIns="0" rIns="0" bIns="0" rtlCol="0" anchor="t"/>
          <a:lstStyle/>
          <a:p>
            <a:pPr indent="0" marL="0">
              <a:buNone/>
            </a:pPr>
            <a:r>
              <a:rPr lang="en-US" sz="1100" i="1" dirty="0">
                <a:solidFill>
                  <a:srgbClr val="5C6B7A"/>
                </a:solidFill>
                <a:latin typeface="Calibri" pitchFamily="34" charset="0"/>
                <a:ea typeface="Calibri" pitchFamily="34" charset="-122"/>
                <a:cs typeface="Calibri" pitchFamily="34" charset="-120"/>
              </a:rPr>
              <a:t>Discuss with your neighbour for 60 seconds — answer and reasoning in the speaker notes.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HANDS-ON LAB</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Lab: Score, Grade and Explain the Leads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23</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691640"/>
            <a:ext cx="3749040" cy="4434840"/>
          </a:xfrm>
          <a:prstGeom prst="roundRect">
            <a:avLst>
              <a:gd name="adj" fmla="val 1951"/>
            </a:avLst>
          </a:prstGeom>
          <a:solidFill>
            <a:srgbClr val="141B4D"/>
          </a:solidFill>
          <a:ln w="12700">
            <a:solidFill>
              <a:srgbClr val="141B4D"/>
            </a:solidFill>
            <a:prstDash val="solid"/>
          </a:ln>
        </p:spPr>
        <p:txBody>
          <a:bodyPr/>
          <a:p/>
        </p:txBody>
      </p:sp>
      <p:sp>
        <p:nvSpPr>
          <p:cNvPr id="8" name="Text 5"/>
          <p:cNvSpPr txBox="1"/>
          <p:nvPr/>
        </p:nvSpPr>
        <p:spPr>
          <a:xfrm>
            <a:off x="914400" y="1920240"/>
            <a:ext cx="32004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YOU WILL NEED</a:t>
            </a:r>
            <a:endParaRPr lang="en-US" sz="1100" dirty="0"/>
          </a:p>
        </p:txBody>
      </p:sp>
      <p:pic>
        <p:nvPicPr>
          <p:cNvPr id="9" name="Image 1" descr="preencoded.png">    </p:cNvPr>
          <p:cNvPicPr>
            <a:picLocks noChangeAspect="1"/>
          </p:cNvPicPr>
          <p:nvPr/>
        </p:nvPicPr>
        <p:blipFill>
          <a:blip r:embed="rId2"/>
          <a:stretch>
            <a:fillRect/>
          </a:stretch>
        </p:blipFill>
        <p:spPr>
          <a:xfrm>
            <a:off x="914400" y="2423160"/>
            <a:ext cx="365760" cy="365760"/>
          </a:xfrm>
          <a:prstGeom prst="rect">
            <a:avLst/>
          </a:prstGeom>
        </p:spPr>
      </p:pic>
      <p:sp>
        <p:nvSpPr>
          <p:cNvPr id="10" name="Text 6"/>
          <p:cNvSpPr txBox="1"/>
          <p:nvPr/>
        </p:nvSpPr>
        <p:spPr>
          <a:xfrm>
            <a:off x="1417320" y="237744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p:txBody>
      </p:sp>
      <p:sp>
        <p:nvSpPr>
          <p:cNvPr id="11" name="Text 7"/>
          <p:cNvSpPr txBox="1"/>
          <p:nvPr/>
        </p:nvSpPr>
        <p:spPr>
          <a:xfrm>
            <a:off x="1417320" y="267004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data/b2b_leads.csv</a:t>
            </a:r>
            <a:endParaRPr lang="en-US" sz="1050" dirty="0"/>
          </a:p>
        </p:txBody>
      </p:sp>
      <p:pic>
        <p:nvPicPr>
          <p:cNvPr id="12" name="Image 2" descr="preencoded.png">    </p:cNvPr>
          <p:cNvPicPr>
            <a:picLocks noChangeAspect="1"/>
          </p:cNvPicPr>
          <p:nvPr/>
        </p:nvPicPr>
        <p:blipFill>
          <a:blip r:embed="rId3"/>
          <a:stretch>
            <a:fillRect/>
          </a:stretch>
        </p:blipFill>
        <p:spPr>
          <a:xfrm>
            <a:off x="914400" y="3474720"/>
            <a:ext cx="365760" cy="365760"/>
          </a:xfrm>
          <a:prstGeom prst="rect">
            <a:avLst/>
          </a:prstGeom>
        </p:spPr>
      </p:pic>
      <p:sp>
        <p:nvSpPr>
          <p:cNvPr id="13" name="Text 8"/>
          <p:cNvSpPr txBox="1"/>
          <p:nvPr/>
        </p:nvSpPr>
        <p:spPr>
          <a:xfrm>
            <a:off x="1417320" y="342900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 script</a:t>
            </a:r>
            <a:endParaRPr lang="en-US" sz="1200" dirty="0"/>
          </a:p>
        </p:txBody>
      </p:sp>
      <p:sp>
        <p:nvSpPr>
          <p:cNvPr id="14" name="Text 9"/>
          <p:cNvSpPr txBox="1"/>
          <p:nvPr/>
        </p:nvSpPr>
        <p:spPr>
          <a:xfrm>
            <a:off x="1417320" y="372160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sessions/4-1/R/tdbg_4_1_lab.R</a:t>
            </a:r>
            <a:endParaRPr lang="en-US" sz="1050" dirty="0"/>
          </a:p>
        </p:txBody>
      </p:sp>
      <p:pic>
        <p:nvPicPr>
          <p:cNvPr id="15" name="Image 3" descr="preencoded.png">    </p:cNvPr>
          <p:cNvPicPr>
            <a:picLocks noChangeAspect="1"/>
          </p:cNvPicPr>
          <p:nvPr/>
        </p:nvPicPr>
        <p:blipFill>
          <a:blip r:embed="rId4"/>
          <a:stretch>
            <a:fillRect/>
          </a:stretch>
        </p:blipFill>
        <p:spPr>
          <a:xfrm>
            <a:off x="914400" y="4526280"/>
            <a:ext cx="365760" cy="365760"/>
          </a:xfrm>
          <a:prstGeom prst="rect">
            <a:avLst/>
          </a:prstGeom>
        </p:spPr>
      </p:pic>
      <p:sp>
        <p:nvSpPr>
          <p:cNvPr id="16" name="Text 10"/>
          <p:cNvSpPr txBox="1"/>
          <p:nvPr/>
        </p:nvSpPr>
        <p:spPr>
          <a:xfrm>
            <a:off x="1417320" y="448056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Python script</a:t>
            </a:r>
            <a:endParaRPr lang="en-US" sz="1200" dirty="0"/>
          </a:p>
        </p:txBody>
      </p:sp>
      <p:sp>
        <p:nvSpPr>
          <p:cNvPr id="17" name="Text 11"/>
          <p:cNvSpPr txBox="1"/>
          <p:nvPr/>
        </p:nvSpPr>
        <p:spPr>
          <a:xfrm>
            <a:off x="1417320" y="477316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sessions/4-1/python/tdbg_4_1_lab.py</a:t>
            </a:r>
            <a:endParaRPr lang="en-US" sz="1050" dirty="0"/>
          </a:p>
        </p:txBody>
      </p:sp>
      <p:sp>
        <p:nvSpPr>
          <p:cNvPr id="18" name="Text 12"/>
          <p:cNvSpPr txBox="1"/>
          <p:nvPr/>
        </p:nvSpPr>
        <p:spPr>
          <a:xfrm>
            <a:off x="914400" y="5623560"/>
            <a:ext cx="320040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  30 minutes</a:t>
            </a:r>
            <a:endParaRPr lang="en-US" sz="1300" dirty="0"/>
          </a:p>
        </p:txBody>
      </p:sp>
      <p:sp>
        <p:nvSpPr>
          <p:cNvPr id="19" name="Shape 13"/>
          <p:cNvSpPr/>
          <p:nvPr/>
        </p:nvSpPr>
        <p:spPr>
          <a:xfrm>
            <a:off x="4663440" y="1737360"/>
            <a:ext cx="384048" cy="384048"/>
          </a:xfrm>
          <a:prstGeom prst="ellipse">
            <a:avLst/>
          </a:prstGeom>
          <a:solidFill>
            <a:srgbClr val="0B5E82"/>
          </a:solidFill>
          <a:ln w="12700">
            <a:solidFill>
              <a:srgbClr val="0B5E82"/>
            </a:solidFill>
            <a:prstDash val="solid"/>
          </a:ln>
        </p:spPr>
        <p:txBody>
          <a:bodyPr/>
          <a:p/>
        </p:txBody>
      </p:sp>
      <p:sp>
        <p:nvSpPr>
          <p:cNvPr id="20" name="Text 14"/>
          <p:cNvSpPr txBox="1"/>
          <p:nvPr/>
        </p:nvSpPr>
        <p:spPr>
          <a:xfrm>
            <a:off x="46634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1" name="Text 15"/>
          <p:cNvSpPr txBox="1"/>
          <p:nvPr/>
        </p:nvSpPr>
        <p:spPr>
          <a:xfrm>
            <a:off x="5212080" y="169164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Fit a logistic model and an XGBoost model on 1,750 leads; compare </a:t>
            </a:r>
            <a:r>
              <a:rPr lang="en-US" sz="1350" b="1" dirty="0">
                <a:solidFill>
                  <a:srgbClr val="1A2233"/>
                </a:solidFill>
                <a:latin typeface="Calibri" pitchFamily="34" charset="0"/>
                <a:ea typeface="Calibri" pitchFamily="34" charset="-122"/>
                <a:cs typeface="Calibri" pitchFamily="34" charset="-120"/>
              </a:rPr>
              <a:t>test AUC</a:t>
            </a:r>
            <a:r>
              <a:rPr lang="en-US" sz="1350" dirty="0">
                <a:solidFill>
                  <a:srgbClr val="1A2233"/>
                </a:solidFill>
                <a:latin typeface="Calibri" pitchFamily="34" charset="0"/>
                <a:ea typeface="Calibri" pitchFamily="34" charset="-122"/>
                <a:cs typeface="Calibri" pitchFamily="34" charset="-120"/>
              </a:rPr>
              <a:t>.</a:t>
            </a:r>
            <a:endParaRPr lang="en-US" sz="1350" dirty="0"/>
          </a:p>
        </p:txBody>
      </p:sp>
      <p:sp>
        <p:nvSpPr>
          <p:cNvPr id="22" name="Shape 16"/>
          <p:cNvSpPr/>
          <p:nvPr/>
        </p:nvSpPr>
        <p:spPr>
          <a:xfrm>
            <a:off x="4663440" y="2468880"/>
            <a:ext cx="384048" cy="384048"/>
          </a:xfrm>
          <a:prstGeom prst="ellipse">
            <a:avLst/>
          </a:prstGeom>
          <a:solidFill>
            <a:srgbClr val="0B5E82"/>
          </a:solidFill>
          <a:ln w="12700">
            <a:solidFill>
              <a:srgbClr val="0B5E82"/>
            </a:solidFill>
            <a:prstDash val="solid"/>
          </a:ln>
        </p:spPr>
        <p:txBody>
          <a:bodyPr/>
          <a:p/>
        </p:txBody>
      </p:sp>
      <p:sp>
        <p:nvSpPr>
          <p:cNvPr id="23" name="Text 17"/>
          <p:cNvSpPr txBox="1"/>
          <p:nvPr/>
        </p:nvSpPr>
        <p:spPr>
          <a:xfrm>
            <a:off x="466344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18"/>
          <p:cNvSpPr txBox="1"/>
          <p:nvPr/>
        </p:nvSpPr>
        <p:spPr>
          <a:xfrm>
            <a:off x="5212080" y="242316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Compute </a:t>
            </a:r>
            <a:r>
              <a:rPr lang="en-US" sz="1350" b="1" dirty="0">
                <a:solidFill>
                  <a:srgbClr val="1A2233"/>
                </a:solidFill>
                <a:latin typeface="Calibri" pitchFamily="34" charset="0"/>
                <a:ea typeface="Calibri" pitchFamily="34" charset="-122"/>
                <a:cs typeface="Calibri" pitchFamily="34" charset="-120"/>
              </a:rPr>
              <a:t>SHAP values</a:t>
            </a:r>
            <a:r>
              <a:rPr lang="en-US" sz="1350" dirty="0">
                <a:solidFill>
                  <a:srgbClr val="1A2233"/>
                </a:solidFill>
                <a:latin typeface="Calibri" pitchFamily="34" charset="0"/>
                <a:ea typeface="Calibri" pitchFamily="34" charset="-122"/>
                <a:cs typeface="Calibri" pitchFamily="34" charset="-120"/>
              </a:rPr>
              <a:t>; produce the global importance and summary views.</a:t>
            </a:r>
            <a:endParaRPr lang="en-US" sz="1350" dirty="0"/>
          </a:p>
        </p:txBody>
      </p:sp>
      <p:sp>
        <p:nvSpPr>
          <p:cNvPr id="25" name="Shape 19"/>
          <p:cNvSpPr/>
          <p:nvPr/>
        </p:nvSpPr>
        <p:spPr>
          <a:xfrm>
            <a:off x="4663440" y="3200400"/>
            <a:ext cx="384048" cy="384048"/>
          </a:xfrm>
          <a:prstGeom prst="ellipse">
            <a:avLst/>
          </a:prstGeom>
          <a:solidFill>
            <a:srgbClr val="0B5E82"/>
          </a:solidFill>
          <a:ln w="12700">
            <a:solidFill>
              <a:srgbClr val="0B5E82"/>
            </a:solidFill>
            <a:prstDash val="solid"/>
          </a:ln>
        </p:spPr>
        <p:txBody>
          <a:bodyPr/>
          <a:p/>
        </p:txBody>
      </p:sp>
      <p:sp>
        <p:nvSpPr>
          <p:cNvPr id="26" name="Text 20"/>
          <p:cNvSpPr txBox="1"/>
          <p:nvPr/>
        </p:nvSpPr>
        <p:spPr>
          <a:xfrm>
            <a:off x="46634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1"/>
          <p:cNvSpPr txBox="1"/>
          <p:nvPr/>
        </p:nvSpPr>
        <p:spPr>
          <a:xfrm>
            <a:off x="5212080" y="315468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Explain the hottest lead with a </a:t>
            </a:r>
            <a:r>
              <a:rPr lang="en-US" sz="1350" b="1" dirty="0">
                <a:solidFill>
                  <a:srgbClr val="1A2233"/>
                </a:solidFill>
                <a:latin typeface="Calibri" pitchFamily="34" charset="0"/>
                <a:ea typeface="Calibri" pitchFamily="34" charset="-122"/>
                <a:cs typeface="Calibri" pitchFamily="34" charset="-120"/>
              </a:rPr>
              <a:t>waterfall</a:t>
            </a:r>
            <a:r>
              <a:rPr lang="en-US" sz="1350" dirty="0">
                <a:solidFill>
                  <a:srgbClr val="1A2233"/>
                </a:solidFill>
                <a:latin typeface="Calibri" pitchFamily="34" charset="0"/>
                <a:ea typeface="Calibri" pitchFamily="34" charset="-122"/>
                <a:cs typeface="Calibri" pitchFamily="34" charset="-120"/>
              </a:rPr>
              <a:t>; write three plain-English lines for the account manager.</a:t>
            </a:r>
            <a:endParaRPr lang="en-US" sz="1350" dirty="0"/>
          </a:p>
        </p:txBody>
      </p:sp>
      <p:sp>
        <p:nvSpPr>
          <p:cNvPr id="28" name="Shape 22"/>
          <p:cNvSpPr/>
          <p:nvPr/>
        </p:nvSpPr>
        <p:spPr>
          <a:xfrm>
            <a:off x="4663440" y="3931920"/>
            <a:ext cx="384048" cy="384048"/>
          </a:xfrm>
          <a:prstGeom prst="ellipse">
            <a:avLst/>
          </a:prstGeom>
          <a:solidFill>
            <a:srgbClr val="0B5E82"/>
          </a:solidFill>
          <a:ln w="12700">
            <a:solidFill>
              <a:srgbClr val="0B5E82"/>
            </a:solidFill>
            <a:prstDash val="solid"/>
          </a:ln>
        </p:spPr>
        <p:txBody>
          <a:bodyPr/>
          <a:p/>
        </p:txBody>
      </p:sp>
      <p:sp>
        <p:nvSpPr>
          <p:cNvPr id="29" name="Text 23"/>
          <p:cNvSpPr txBox="1"/>
          <p:nvPr/>
        </p:nvSpPr>
        <p:spPr>
          <a:xfrm>
            <a:off x="4663440"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0" name="Text 24"/>
          <p:cNvSpPr txBox="1"/>
          <p:nvPr/>
        </p:nvSpPr>
        <p:spPr>
          <a:xfrm>
            <a:off x="5212080" y="388620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Create </a:t>
            </a:r>
            <a:r>
              <a:rPr lang="en-US" sz="1350" b="1" dirty="0">
                <a:solidFill>
                  <a:srgbClr val="1A2233"/>
                </a:solidFill>
                <a:latin typeface="Calibri" pitchFamily="34" charset="0"/>
                <a:ea typeface="Calibri" pitchFamily="34" charset="-122"/>
                <a:cs typeface="Calibri" pitchFamily="34" charset="-120"/>
              </a:rPr>
              <a:t>A–D grades</a:t>
            </a:r>
            <a:r>
              <a:rPr lang="en-US" sz="1350" dirty="0">
                <a:solidFill>
                  <a:srgbClr val="1A2233"/>
                </a:solidFill>
                <a:latin typeface="Calibri" pitchFamily="34" charset="0"/>
                <a:ea typeface="Calibri" pitchFamily="34" charset="-122"/>
                <a:cs typeface="Calibri" pitchFamily="34" charset="-120"/>
              </a:rPr>
              <a:t>; compute conversion by grade and the top-30% gains.</a:t>
            </a:r>
            <a:endParaRPr lang="en-US" sz="1350" dirty="0"/>
          </a:p>
        </p:txBody>
      </p:sp>
      <p:sp>
        <p:nvSpPr>
          <p:cNvPr id="31" name="Shape 25"/>
          <p:cNvSpPr/>
          <p:nvPr/>
        </p:nvSpPr>
        <p:spPr>
          <a:xfrm>
            <a:off x="4663440" y="4663440"/>
            <a:ext cx="384048" cy="384048"/>
          </a:xfrm>
          <a:prstGeom prst="ellipse">
            <a:avLst/>
          </a:prstGeom>
          <a:solidFill>
            <a:srgbClr val="0B5E82"/>
          </a:solidFill>
          <a:ln w="12700">
            <a:solidFill>
              <a:srgbClr val="0B5E82"/>
            </a:solidFill>
            <a:prstDash val="solid"/>
          </a:ln>
        </p:spPr>
        <p:txBody>
          <a:bodyPr/>
          <a:p/>
        </p:txBody>
      </p:sp>
      <p:sp>
        <p:nvSpPr>
          <p:cNvPr id="32" name="Text 26"/>
          <p:cNvSpPr txBox="1"/>
          <p:nvPr/>
        </p:nvSpPr>
        <p:spPr>
          <a:xfrm>
            <a:off x="466344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27"/>
          <p:cNvSpPr txBox="1"/>
          <p:nvPr/>
        </p:nvSpPr>
        <p:spPr>
          <a:xfrm>
            <a:off x="5212080" y="461772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Build a weekly calling plan for 200 calls and estimate expected wins.</a:t>
            </a:r>
            <a:endParaRPr lang="en-US" sz="1350" dirty="0"/>
          </a:p>
        </p:txBody>
      </p:sp>
      <p:sp>
        <p:nvSpPr>
          <p:cNvPr id="34" name="Shape 28"/>
          <p:cNvSpPr/>
          <p:nvPr/>
        </p:nvSpPr>
        <p:spPr>
          <a:xfrm>
            <a:off x="4663440" y="5394960"/>
            <a:ext cx="6858000" cy="731520"/>
          </a:xfrm>
          <a:prstGeom prst="roundRect">
            <a:avLst>
              <a:gd name="adj" fmla="val 7500"/>
            </a:avLst>
          </a:prstGeom>
          <a:solidFill>
            <a:srgbClr val="F3F6F9"/>
          </a:solidFill>
          <a:ln w="12700">
            <a:solidFill>
              <a:srgbClr val="D99A2B"/>
            </a:solidFill>
            <a:prstDash val="solid"/>
          </a:ln>
        </p:spPr>
        <p:txBody>
          <a:bodyPr/>
          <a:p/>
        </p:txBody>
      </p:sp>
      <p:sp>
        <p:nvSpPr>
          <p:cNvPr id="35" name="Text 29"/>
          <p:cNvSpPr txBox="1"/>
          <p:nvPr/>
        </p:nvSpPr>
        <p:spPr>
          <a:xfrm>
            <a:off x="4892040" y="5394960"/>
            <a:ext cx="6400800" cy="731520"/>
          </a:xfrm>
          <a:prstGeom prst="rect">
            <a:avLst/>
          </a:prstGeom>
          <a:noFill/>
          <a:ln/>
        </p:spPr>
        <p:txBody>
          <a:bodyPr wrap="square" lIns="0" tIns="0" rIns="0" bIns="0" rtlCol="0" anchor="ctr"/>
          <a:lstStyle/>
          <a:p>
            <a:pPr indent="0" marL="0">
              <a:buNone/>
            </a:pPr>
            <a:r>
              <a:rPr lang="en-US" sz="1300" b="1" dirty="0">
                <a:solidFill>
                  <a:srgbClr val="141B4D"/>
                </a:solidFill>
                <a:latin typeface="Calibri" pitchFamily="34" charset="0"/>
                <a:ea typeface="Calibri" pitchFamily="34" charset="-122"/>
                <a:cs typeface="Calibri" pitchFamily="34" charset="-120"/>
              </a:rPr>
              <a:t>Deliverable:</a:t>
            </a:r>
            <a:r>
              <a:rPr lang="en-US" sz="1300" dirty="0">
                <a:solidFill>
                  <a:srgbClr val="141B4D"/>
                </a:solidFill>
                <a:latin typeface="Calibri" pitchFamily="34" charset="0"/>
                <a:ea typeface="Calibri" pitchFamily="34" charset="-122"/>
                <a:cs typeface="Calibri" pitchFamily="34" charset="-120"/>
              </a:rPr>
              <a:t> a one-page brief for the sales director: grades, calling plan, and one explained example lead.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MODULE 2 REVIEW</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Practice Paper 2 — What to Expect</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75 minutes. Covers Sessions 3.2–4.2. Sections B and C are open-resource.</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24</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6"/>
          <p:cNvSpPr/>
          <p:nvPr/>
        </p:nvSpPr>
        <p:spPr>
          <a:xfrm>
            <a:off x="2066544" y="2130552"/>
            <a:ext cx="621792" cy="621792"/>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2221992" y="2286000"/>
            <a:ext cx="310896" cy="310896"/>
          </a:xfrm>
          <a:prstGeom prst="rect">
            <a:avLst/>
          </a:prstGeom>
        </p:spPr>
      </p:pic>
      <p:sp>
        <p:nvSpPr>
          <p:cNvPr id="11" name="Text 7"/>
          <p:cNvSpPr txBox="1"/>
          <p:nvPr/>
        </p:nvSpPr>
        <p:spPr>
          <a:xfrm>
            <a:off x="82296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Section A · 25%</a:t>
            </a:r>
            <a:endParaRPr lang="en-US" sz="1600" dirty="0"/>
          </a:p>
        </p:txBody>
      </p:sp>
      <p:sp>
        <p:nvSpPr>
          <p:cNvPr id="12" name="Text 8"/>
          <p:cNvSpPr txBox="1"/>
          <p:nvPr/>
        </p:nvSpPr>
        <p:spPr>
          <a:xfrm>
            <a:off x="868680" y="3474720"/>
            <a:ext cx="301752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Concepts: bias–variance, regularisation, metrics, odds ratios, ensembles, explainability, clustering.</a:t>
            </a:r>
            <a:endParaRPr lang="en-US" sz="1300" dirty="0"/>
          </a:p>
        </p:txBody>
      </p:sp>
      <p:sp>
        <p:nvSpPr>
          <p:cNvPr id="13" name="Shape 9"/>
          <p:cNvSpPr/>
          <p:nvPr/>
        </p:nvSpPr>
        <p:spPr>
          <a:xfrm>
            <a:off x="434340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4" name="Shape 10"/>
          <p:cNvSpPr/>
          <p:nvPr/>
        </p:nvSpPr>
        <p:spPr>
          <a:xfrm>
            <a:off x="5769864" y="2130552"/>
            <a:ext cx="621792" cy="621792"/>
          </a:xfrm>
          <a:prstGeom prst="ellipse">
            <a:avLst/>
          </a:prstGeom>
          <a:solidFill>
            <a:srgbClr val="0B5E82"/>
          </a:solidFill>
          <a:ln w="12700">
            <a:solidFill>
              <a:srgbClr val="0B5E82"/>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5925312" y="2286000"/>
            <a:ext cx="310896" cy="310896"/>
          </a:xfrm>
          <a:prstGeom prst="rect">
            <a:avLst/>
          </a:prstGeom>
        </p:spPr>
      </p:pic>
      <p:sp>
        <p:nvSpPr>
          <p:cNvPr id="16" name="Text 11"/>
          <p:cNvSpPr txBox="1"/>
          <p:nvPr/>
        </p:nvSpPr>
        <p:spPr>
          <a:xfrm>
            <a:off x="452628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Section B · 40%</a:t>
            </a:r>
            <a:endParaRPr lang="en-US" sz="1600" dirty="0"/>
          </a:p>
        </p:txBody>
      </p:sp>
      <p:sp>
        <p:nvSpPr>
          <p:cNvPr id="17" name="Text 12"/>
          <p:cNvSpPr txBox="1"/>
          <p:nvPr/>
        </p:nvSpPr>
        <p:spPr>
          <a:xfrm>
            <a:off x="4572000" y="3474720"/>
            <a:ext cx="301752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Interpret output: regression tables, confusion matrices, ROC, importance/SHAP, cluster profiles.</a:t>
            </a:r>
            <a:endParaRPr lang="en-US" sz="1300" dirty="0"/>
          </a:p>
        </p:txBody>
      </p:sp>
      <p:sp>
        <p:nvSpPr>
          <p:cNvPr id="18" name="Shape 13"/>
          <p:cNvSpPr/>
          <p:nvPr/>
        </p:nvSpPr>
        <p:spPr>
          <a:xfrm>
            <a:off x="804672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9" name="Shape 14"/>
          <p:cNvSpPr/>
          <p:nvPr/>
        </p:nvSpPr>
        <p:spPr>
          <a:xfrm>
            <a:off x="9473184" y="2130552"/>
            <a:ext cx="621792" cy="621792"/>
          </a:xfrm>
          <a:prstGeom prst="ellipse">
            <a:avLst/>
          </a:prstGeom>
          <a:solidFill>
            <a:srgbClr val="D99A2B"/>
          </a:solidFill>
          <a:ln w="12700">
            <a:solidFill>
              <a:srgbClr val="D99A2B"/>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9628632" y="2286000"/>
            <a:ext cx="310896" cy="310896"/>
          </a:xfrm>
          <a:prstGeom prst="rect">
            <a:avLst/>
          </a:prstGeom>
        </p:spPr>
      </p:pic>
      <p:sp>
        <p:nvSpPr>
          <p:cNvPr id="21" name="Text 15"/>
          <p:cNvSpPr txBox="1"/>
          <p:nvPr/>
        </p:nvSpPr>
        <p:spPr>
          <a:xfrm>
            <a:off x="822960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Section C · 35%</a:t>
            </a:r>
            <a:endParaRPr lang="en-US" sz="1600" dirty="0"/>
          </a:p>
        </p:txBody>
      </p:sp>
      <p:sp>
        <p:nvSpPr>
          <p:cNvPr id="22" name="Text 16"/>
          <p:cNvSpPr txBox="1"/>
          <p:nvPr/>
        </p:nvSpPr>
        <p:spPr>
          <a:xfrm>
            <a:off x="8275320" y="3474720"/>
            <a:ext cx="301752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Applied build-and-interpret task on a provided dataset — R or Python.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WORDS TO OWN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Today's Vocabulary in Plain English</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4.1  ·  OPENING THE BLACK BOX</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25</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728216"/>
            <a:ext cx="5349240" cy="795528"/>
          </a:xfrm>
          <a:prstGeom prst="roundRect">
            <a:avLst>
              <a:gd name="adj" fmla="val 5747"/>
            </a:avLst>
          </a:prstGeom>
          <a:solidFill>
            <a:srgbClr val="F3F6F9"/>
          </a:solidFill>
          <a:ln w="9525">
            <a:solidFill>
              <a:srgbClr val="E1E7EE"/>
            </a:solidFill>
            <a:prstDash val="solid"/>
          </a:ln>
        </p:spPr>
        <p:txBody>
          <a:bodyPr/>
          <a:p/>
        </p:txBody>
      </p:sp>
      <p:sp>
        <p:nvSpPr>
          <p:cNvPr id="8" name="Text 5"/>
          <p:cNvSpPr txBox="1"/>
          <p:nvPr/>
        </p:nvSpPr>
        <p:spPr>
          <a:xfrm>
            <a:off x="822960" y="1728216"/>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Explainability</a:t>
            </a:r>
            <a:endParaRPr lang="en-US" sz="1300" dirty="0"/>
          </a:p>
        </p:txBody>
      </p:sp>
      <p:sp>
        <p:nvSpPr>
          <p:cNvPr id="9" name="Text 6"/>
          <p:cNvSpPr txBox="1"/>
          <p:nvPr/>
        </p:nvSpPr>
        <p:spPr>
          <a:xfrm>
            <a:off x="2468880" y="1728216"/>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Making a model's reasoning understandable to people.</a:t>
            </a:r>
            <a:endParaRPr lang="en-US" sz="1150" dirty="0"/>
          </a:p>
        </p:txBody>
      </p:sp>
      <p:sp>
        <p:nvSpPr>
          <p:cNvPr id="10" name="Shape 7"/>
          <p:cNvSpPr/>
          <p:nvPr/>
        </p:nvSpPr>
        <p:spPr>
          <a:xfrm>
            <a:off x="640080" y="2615184"/>
            <a:ext cx="5349240" cy="795528"/>
          </a:xfrm>
          <a:prstGeom prst="roundRect">
            <a:avLst>
              <a:gd name="adj" fmla="val 5747"/>
            </a:avLst>
          </a:prstGeom>
          <a:solidFill>
            <a:srgbClr val="F3F6F9"/>
          </a:solidFill>
          <a:ln w="9525">
            <a:solidFill>
              <a:srgbClr val="E1E7EE"/>
            </a:solidFill>
            <a:prstDash val="solid"/>
          </a:ln>
        </p:spPr>
        <p:txBody>
          <a:bodyPr/>
          <a:p/>
        </p:txBody>
      </p:sp>
      <p:sp>
        <p:nvSpPr>
          <p:cNvPr id="11" name="Text 8"/>
          <p:cNvSpPr txBox="1"/>
          <p:nvPr/>
        </p:nvSpPr>
        <p:spPr>
          <a:xfrm>
            <a:off x="822960" y="2615184"/>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Global explanation</a:t>
            </a:r>
            <a:endParaRPr lang="en-US" sz="1300" dirty="0"/>
          </a:p>
        </p:txBody>
      </p:sp>
      <p:sp>
        <p:nvSpPr>
          <p:cNvPr id="12" name="Text 9"/>
          <p:cNvSpPr txBox="1"/>
          <p:nvPr/>
        </p:nvSpPr>
        <p:spPr>
          <a:xfrm>
            <a:off x="2468880" y="2615184"/>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How the model behaves across all cases.</a:t>
            </a:r>
            <a:endParaRPr lang="en-US" sz="1150" dirty="0"/>
          </a:p>
        </p:txBody>
      </p:sp>
      <p:sp>
        <p:nvSpPr>
          <p:cNvPr id="13" name="Shape 10"/>
          <p:cNvSpPr/>
          <p:nvPr/>
        </p:nvSpPr>
        <p:spPr>
          <a:xfrm>
            <a:off x="640080" y="3502152"/>
            <a:ext cx="5349240" cy="795528"/>
          </a:xfrm>
          <a:prstGeom prst="roundRect">
            <a:avLst>
              <a:gd name="adj" fmla="val 5747"/>
            </a:avLst>
          </a:prstGeom>
          <a:solidFill>
            <a:srgbClr val="F3F6F9"/>
          </a:solidFill>
          <a:ln w="9525">
            <a:solidFill>
              <a:srgbClr val="E1E7EE"/>
            </a:solidFill>
            <a:prstDash val="solid"/>
          </a:ln>
        </p:spPr>
        <p:txBody>
          <a:bodyPr/>
          <a:p/>
        </p:txBody>
      </p:sp>
      <p:sp>
        <p:nvSpPr>
          <p:cNvPr id="14" name="Text 11"/>
          <p:cNvSpPr txBox="1"/>
          <p:nvPr/>
        </p:nvSpPr>
        <p:spPr>
          <a:xfrm>
            <a:off x="822960" y="3502152"/>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Local explanation</a:t>
            </a:r>
            <a:endParaRPr lang="en-US" sz="1300" dirty="0"/>
          </a:p>
        </p:txBody>
      </p:sp>
      <p:sp>
        <p:nvSpPr>
          <p:cNvPr id="15" name="Text 12"/>
          <p:cNvSpPr txBox="1"/>
          <p:nvPr/>
        </p:nvSpPr>
        <p:spPr>
          <a:xfrm>
            <a:off x="2468880" y="3502152"/>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Why one case got its prediction.</a:t>
            </a:r>
            <a:endParaRPr lang="en-US" sz="1150" dirty="0"/>
          </a:p>
        </p:txBody>
      </p:sp>
      <p:sp>
        <p:nvSpPr>
          <p:cNvPr id="16" name="Shape 13"/>
          <p:cNvSpPr/>
          <p:nvPr/>
        </p:nvSpPr>
        <p:spPr>
          <a:xfrm>
            <a:off x="640080" y="4389120"/>
            <a:ext cx="5349240" cy="795528"/>
          </a:xfrm>
          <a:prstGeom prst="roundRect">
            <a:avLst>
              <a:gd name="adj" fmla="val 5747"/>
            </a:avLst>
          </a:prstGeom>
          <a:solidFill>
            <a:srgbClr val="F3F6F9"/>
          </a:solidFill>
          <a:ln w="9525">
            <a:solidFill>
              <a:srgbClr val="E1E7EE"/>
            </a:solidFill>
            <a:prstDash val="solid"/>
          </a:ln>
        </p:spPr>
        <p:txBody>
          <a:bodyPr/>
          <a:p/>
        </p:txBody>
      </p:sp>
      <p:sp>
        <p:nvSpPr>
          <p:cNvPr id="17" name="Text 14"/>
          <p:cNvSpPr txBox="1"/>
          <p:nvPr/>
        </p:nvSpPr>
        <p:spPr>
          <a:xfrm>
            <a:off x="822960" y="4389120"/>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SHAP value</a:t>
            </a:r>
            <a:endParaRPr lang="en-US" sz="1300" dirty="0"/>
          </a:p>
        </p:txBody>
      </p:sp>
      <p:sp>
        <p:nvSpPr>
          <p:cNvPr id="18" name="Text 15"/>
          <p:cNvSpPr txBox="1"/>
          <p:nvPr/>
        </p:nvSpPr>
        <p:spPr>
          <a:xfrm>
            <a:off x="2468880" y="4389120"/>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driver's fair share of one prediction's deviation from average.</a:t>
            </a:r>
            <a:endParaRPr lang="en-US" sz="1150" dirty="0"/>
          </a:p>
        </p:txBody>
      </p:sp>
      <p:sp>
        <p:nvSpPr>
          <p:cNvPr id="19" name="Shape 16"/>
          <p:cNvSpPr/>
          <p:nvPr/>
        </p:nvSpPr>
        <p:spPr>
          <a:xfrm>
            <a:off x="640080" y="5276088"/>
            <a:ext cx="5349240" cy="795528"/>
          </a:xfrm>
          <a:prstGeom prst="roundRect">
            <a:avLst>
              <a:gd name="adj" fmla="val 5747"/>
            </a:avLst>
          </a:prstGeom>
          <a:solidFill>
            <a:srgbClr val="F3F6F9"/>
          </a:solidFill>
          <a:ln w="9525">
            <a:solidFill>
              <a:srgbClr val="E1E7EE"/>
            </a:solidFill>
            <a:prstDash val="solid"/>
          </a:ln>
        </p:spPr>
        <p:txBody>
          <a:bodyPr/>
          <a:p/>
        </p:txBody>
      </p:sp>
      <p:sp>
        <p:nvSpPr>
          <p:cNvPr id="20" name="Text 17"/>
          <p:cNvSpPr txBox="1"/>
          <p:nvPr/>
        </p:nvSpPr>
        <p:spPr>
          <a:xfrm>
            <a:off x="822960" y="5276088"/>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Waterfall plot</a:t>
            </a:r>
            <a:endParaRPr lang="en-US" sz="1300" dirty="0"/>
          </a:p>
        </p:txBody>
      </p:sp>
      <p:sp>
        <p:nvSpPr>
          <p:cNvPr id="21" name="Text 18"/>
          <p:cNvSpPr txBox="1"/>
          <p:nvPr/>
        </p:nvSpPr>
        <p:spPr>
          <a:xfrm>
            <a:off x="2468880" y="5276088"/>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Shows SHAP pushes adding up to one prediction.</a:t>
            </a:r>
            <a:endParaRPr lang="en-US" sz="1150" dirty="0"/>
          </a:p>
        </p:txBody>
      </p:sp>
      <p:sp>
        <p:nvSpPr>
          <p:cNvPr id="22" name="Shape 19"/>
          <p:cNvSpPr/>
          <p:nvPr/>
        </p:nvSpPr>
        <p:spPr>
          <a:xfrm>
            <a:off x="6172200" y="1728216"/>
            <a:ext cx="5349240" cy="795528"/>
          </a:xfrm>
          <a:prstGeom prst="roundRect">
            <a:avLst>
              <a:gd name="adj" fmla="val 5747"/>
            </a:avLst>
          </a:prstGeom>
          <a:solidFill>
            <a:srgbClr val="F3F6F9"/>
          </a:solidFill>
          <a:ln w="9525">
            <a:solidFill>
              <a:srgbClr val="E1E7EE"/>
            </a:solidFill>
            <a:prstDash val="solid"/>
          </a:ln>
        </p:spPr>
        <p:txBody>
          <a:bodyPr/>
          <a:p/>
        </p:txBody>
      </p:sp>
      <p:sp>
        <p:nvSpPr>
          <p:cNvPr id="23" name="Text 20"/>
          <p:cNvSpPr txBox="1"/>
          <p:nvPr/>
        </p:nvSpPr>
        <p:spPr>
          <a:xfrm>
            <a:off x="6355080" y="1728216"/>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LIME</a:t>
            </a:r>
            <a:endParaRPr lang="en-US" sz="1300" dirty="0"/>
          </a:p>
        </p:txBody>
      </p:sp>
      <p:sp>
        <p:nvSpPr>
          <p:cNvPr id="24" name="Text 21"/>
          <p:cNvSpPr txBox="1"/>
          <p:nvPr/>
        </p:nvSpPr>
        <p:spPr>
          <a:xfrm>
            <a:off x="8001000" y="1728216"/>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simple local model that mimics a black box near one case.</a:t>
            </a:r>
            <a:endParaRPr lang="en-US" sz="1150" dirty="0"/>
          </a:p>
        </p:txBody>
      </p:sp>
      <p:sp>
        <p:nvSpPr>
          <p:cNvPr id="25" name="Shape 22"/>
          <p:cNvSpPr/>
          <p:nvPr/>
        </p:nvSpPr>
        <p:spPr>
          <a:xfrm>
            <a:off x="6172200" y="2615184"/>
            <a:ext cx="5349240" cy="795528"/>
          </a:xfrm>
          <a:prstGeom prst="roundRect">
            <a:avLst>
              <a:gd name="adj" fmla="val 5747"/>
            </a:avLst>
          </a:prstGeom>
          <a:solidFill>
            <a:srgbClr val="F3F6F9"/>
          </a:solidFill>
          <a:ln w="9525">
            <a:solidFill>
              <a:srgbClr val="E1E7EE"/>
            </a:solidFill>
            <a:prstDash val="solid"/>
          </a:ln>
        </p:spPr>
        <p:txBody>
          <a:bodyPr/>
          <a:p/>
        </p:txBody>
      </p:sp>
      <p:sp>
        <p:nvSpPr>
          <p:cNvPr id="26" name="Text 23"/>
          <p:cNvSpPr txBox="1"/>
          <p:nvPr/>
        </p:nvSpPr>
        <p:spPr>
          <a:xfrm>
            <a:off x="6355080" y="2615184"/>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Lead scoring</a:t>
            </a:r>
            <a:endParaRPr lang="en-US" sz="1300" dirty="0"/>
          </a:p>
        </p:txBody>
      </p:sp>
      <p:sp>
        <p:nvSpPr>
          <p:cNvPr id="27" name="Text 24"/>
          <p:cNvSpPr txBox="1"/>
          <p:nvPr/>
        </p:nvSpPr>
        <p:spPr>
          <a:xfrm>
            <a:off x="8001000" y="2615184"/>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Ranking prospects by likelihood to convert.</a:t>
            </a:r>
            <a:endParaRPr lang="en-US" sz="1150" dirty="0"/>
          </a:p>
        </p:txBody>
      </p:sp>
      <p:sp>
        <p:nvSpPr>
          <p:cNvPr id="28" name="Shape 25"/>
          <p:cNvSpPr/>
          <p:nvPr/>
        </p:nvSpPr>
        <p:spPr>
          <a:xfrm>
            <a:off x="6172200" y="3502152"/>
            <a:ext cx="5349240" cy="795528"/>
          </a:xfrm>
          <a:prstGeom prst="roundRect">
            <a:avLst>
              <a:gd name="adj" fmla="val 5747"/>
            </a:avLst>
          </a:prstGeom>
          <a:solidFill>
            <a:srgbClr val="F3F6F9"/>
          </a:solidFill>
          <a:ln w="9525">
            <a:solidFill>
              <a:srgbClr val="E1E7EE"/>
            </a:solidFill>
            <a:prstDash val="solid"/>
          </a:ln>
        </p:spPr>
        <p:txBody>
          <a:bodyPr/>
          <a:p/>
        </p:txBody>
      </p:sp>
      <p:sp>
        <p:nvSpPr>
          <p:cNvPr id="29" name="Text 26"/>
          <p:cNvSpPr txBox="1"/>
          <p:nvPr/>
        </p:nvSpPr>
        <p:spPr>
          <a:xfrm>
            <a:off x="6355080" y="3502152"/>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Cumulative gains</a:t>
            </a:r>
            <a:endParaRPr lang="en-US" sz="1300" dirty="0"/>
          </a:p>
        </p:txBody>
      </p:sp>
      <p:sp>
        <p:nvSpPr>
          <p:cNvPr id="30" name="Text 27"/>
          <p:cNvSpPr txBox="1"/>
          <p:nvPr/>
        </p:nvSpPr>
        <p:spPr>
          <a:xfrm>
            <a:off x="8001000" y="3502152"/>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Share of positives captured as you work down the ranked list.</a:t>
            </a:r>
            <a:endParaRPr lang="en-US" sz="1150" dirty="0"/>
          </a:p>
        </p:txBody>
      </p:sp>
      <p:sp>
        <p:nvSpPr>
          <p:cNvPr id="31" name="Shape 28"/>
          <p:cNvSpPr/>
          <p:nvPr/>
        </p:nvSpPr>
        <p:spPr>
          <a:xfrm>
            <a:off x="6172200" y="4389120"/>
            <a:ext cx="5349240" cy="795528"/>
          </a:xfrm>
          <a:prstGeom prst="roundRect">
            <a:avLst>
              <a:gd name="adj" fmla="val 5747"/>
            </a:avLst>
          </a:prstGeom>
          <a:solidFill>
            <a:srgbClr val="F3F6F9"/>
          </a:solidFill>
          <a:ln w="9525">
            <a:solidFill>
              <a:srgbClr val="E1E7EE"/>
            </a:solidFill>
            <a:prstDash val="solid"/>
          </a:ln>
        </p:spPr>
        <p:txBody>
          <a:bodyPr/>
          <a:p/>
        </p:txBody>
      </p:sp>
      <p:sp>
        <p:nvSpPr>
          <p:cNvPr id="32" name="Text 29"/>
          <p:cNvSpPr txBox="1"/>
          <p:nvPr/>
        </p:nvSpPr>
        <p:spPr>
          <a:xfrm>
            <a:off x="6355080" y="4389120"/>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Lead grade</a:t>
            </a:r>
            <a:endParaRPr lang="en-US" sz="1300" dirty="0"/>
          </a:p>
        </p:txBody>
      </p:sp>
      <p:sp>
        <p:nvSpPr>
          <p:cNvPr id="33" name="Text 30"/>
          <p:cNvSpPr txBox="1"/>
          <p:nvPr/>
        </p:nvSpPr>
        <p:spPr>
          <a:xfrm>
            <a:off x="8001000" y="4389120"/>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band (A–D) grouping leads by score.</a:t>
            </a:r>
            <a:endParaRPr lang="en-US" sz="1150" dirty="0"/>
          </a:p>
        </p:txBody>
      </p:sp>
      <p:sp>
        <p:nvSpPr>
          <p:cNvPr id="34" name="Shape 31"/>
          <p:cNvSpPr/>
          <p:nvPr/>
        </p:nvSpPr>
        <p:spPr>
          <a:xfrm>
            <a:off x="6172200" y="5276088"/>
            <a:ext cx="5349240" cy="795528"/>
          </a:xfrm>
          <a:prstGeom prst="roundRect">
            <a:avLst>
              <a:gd name="adj" fmla="val 5747"/>
            </a:avLst>
          </a:prstGeom>
          <a:solidFill>
            <a:srgbClr val="F3F6F9"/>
          </a:solidFill>
          <a:ln w="9525">
            <a:solidFill>
              <a:srgbClr val="E1E7EE"/>
            </a:solidFill>
            <a:prstDash val="solid"/>
          </a:ln>
        </p:spPr>
        <p:txBody>
          <a:bodyPr/>
          <a:p/>
        </p:txBody>
      </p:sp>
      <p:sp>
        <p:nvSpPr>
          <p:cNvPr id="35" name="Text 32"/>
          <p:cNvSpPr txBox="1"/>
          <p:nvPr/>
        </p:nvSpPr>
        <p:spPr>
          <a:xfrm>
            <a:off x="6355080" y="5276088"/>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Data leakage</a:t>
            </a:r>
            <a:endParaRPr lang="en-US" sz="1300" dirty="0"/>
          </a:p>
        </p:txBody>
      </p:sp>
      <p:sp>
        <p:nvSpPr>
          <p:cNvPr id="36" name="Text 33"/>
          <p:cNvSpPr txBox="1"/>
          <p:nvPr/>
        </p:nvSpPr>
        <p:spPr>
          <a:xfrm>
            <a:off x="8001000" y="5276088"/>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Using information that wouldn't exist at prediction time.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548640"/>
            <a:ext cx="7315200" cy="274320"/>
          </a:xfrm>
          <a:prstGeom prst="rect">
            <a:avLst/>
          </a:prstGeom>
          <a:noFill/>
          <a:ln/>
        </p:spPr>
        <p:txBody>
          <a:bodyPr wrap="square" lIns="0" tIns="0" rIns="0" bIns="0" rtlCol="0" anchor="t"/>
          <a:lstStyle/>
          <a:p>
            <a:pPr indent="0" marL="0">
              <a:buNone/>
            </a:pPr>
            <a:r>
              <a:rPr lang="en-US" sz="1200" b="1" spc="400" kern="0" dirty="0">
                <a:solidFill>
                  <a:srgbClr val="D99A2B"/>
                </a:solidFill>
                <a:latin typeface="Calibri" pitchFamily="34" charset="0"/>
                <a:ea typeface="Calibri" pitchFamily="34" charset="-122"/>
                <a:cs typeface="Calibri" pitchFamily="34" charset="-120"/>
              </a:rPr>
              <a:t>KEY TAKEAWAYS</a:t>
            </a:r>
            <a:endParaRPr lang="en-US" sz="1200" dirty="0"/>
          </a:p>
        </p:txBody>
      </p:sp>
      <p:sp>
        <p:nvSpPr>
          <p:cNvPr id="5" name="Text 3"/>
          <p:cNvSpPr txBox="1"/>
          <p:nvPr/>
        </p:nvSpPr>
        <p:spPr>
          <a:xfrm>
            <a:off x="822960" y="82296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Session 4.1 in 5 Ideas</a:t>
            </a:r>
            <a:endParaRPr lang="en-US" sz="3000" dirty="0"/>
          </a:p>
        </p:txBody>
      </p:sp>
      <p:sp>
        <p:nvSpPr>
          <p:cNvPr id="6" name="Text 4"/>
          <p:cNvSpPr txBox="1"/>
          <p:nvPr/>
        </p:nvSpPr>
        <p:spPr>
          <a:xfrm>
            <a:off x="822960" y="1691640"/>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01</a:t>
            </a:r>
            <a:endParaRPr lang="en-US" sz="2200" dirty="0"/>
          </a:p>
        </p:txBody>
      </p:sp>
      <p:sp>
        <p:nvSpPr>
          <p:cNvPr id="7" name="Text 5"/>
          <p:cNvSpPr txBox="1"/>
          <p:nvPr/>
        </p:nvSpPr>
        <p:spPr>
          <a:xfrm>
            <a:off x="1600200" y="1691640"/>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Explanations come in two kinds: </a:t>
            </a:r>
            <a:r>
              <a:rPr lang="en-US" sz="1500" b="1" dirty="0">
                <a:solidFill>
                  <a:srgbClr val="FFFFFF"/>
                </a:solidFill>
                <a:latin typeface="Calibri" pitchFamily="34" charset="0"/>
                <a:ea typeface="Calibri" pitchFamily="34" charset="-122"/>
                <a:cs typeface="Calibri" pitchFamily="34" charset="-120"/>
              </a:rPr>
              <a:t>global</a:t>
            </a:r>
            <a:r>
              <a:rPr lang="en-US" sz="1500" dirty="0">
                <a:solidFill>
                  <a:srgbClr val="FFFFFF"/>
                </a:solidFill>
                <a:latin typeface="Calibri" pitchFamily="34" charset="0"/>
                <a:ea typeface="Calibri" pitchFamily="34" charset="-122"/>
                <a:cs typeface="Calibri" pitchFamily="34" charset="-120"/>
              </a:rPr>
              <a:t> (the model) and </a:t>
            </a:r>
            <a:r>
              <a:rPr lang="en-US" sz="1500" b="1" dirty="0">
                <a:solidFill>
                  <a:srgbClr val="FFFFFF"/>
                </a:solidFill>
                <a:latin typeface="Calibri" pitchFamily="34" charset="0"/>
                <a:ea typeface="Calibri" pitchFamily="34" charset="-122"/>
                <a:cs typeface="Calibri" pitchFamily="34" charset="-120"/>
              </a:rPr>
              <a:t>local</a:t>
            </a:r>
            <a:r>
              <a:rPr lang="en-US" sz="1500" dirty="0">
                <a:solidFill>
                  <a:srgbClr val="FFFFFF"/>
                </a:solidFill>
                <a:latin typeface="Calibri" pitchFamily="34" charset="0"/>
                <a:ea typeface="Calibri" pitchFamily="34" charset="-122"/>
                <a:cs typeface="Calibri" pitchFamily="34" charset="-120"/>
              </a:rPr>
              <a:t> (one case).</a:t>
            </a:r>
            <a:endParaRPr lang="en-US" sz="1500" dirty="0"/>
          </a:p>
        </p:txBody>
      </p:sp>
      <p:sp>
        <p:nvSpPr>
          <p:cNvPr id="8" name="Text 6"/>
          <p:cNvSpPr txBox="1"/>
          <p:nvPr/>
        </p:nvSpPr>
        <p:spPr>
          <a:xfrm>
            <a:off x="822960" y="2340864"/>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1600200" y="2340864"/>
            <a:ext cx="7315200" cy="6492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SHAP</a:t>
            </a:r>
            <a:r>
              <a:rPr lang="en-US" sz="1500" dirty="0">
                <a:solidFill>
                  <a:srgbClr val="FFFFFF"/>
                </a:solidFill>
                <a:latin typeface="Calibri" pitchFamily="34" charset="0"/>
                <a:ea typeface="Calibri" pitchFamily="34" charset="-122"/>
                <a:cs typeface="Calibri" pitchFamily="34" charset="-120"/>
              </a:rPr>
              <a:t> splits a prediction into additive pushes from the average — consistent and model-agnostic.</a:t>
            </a:r>
            <a:endParaRPr lang="en-US" sz="1500" dirty="0"/>
          </a:p>
        </p:txBody>
      </p:sp>
      <p:sp>
        <p:nvSpPr>
          <p:cNvPr id="10" name="Text 8"/>
          <p:cNvSpPr txBox="1"/>
          <p:nvPr/>
        </p:nvSpPr>
        <p:spPr>
          <a:xfrm>
            <a:off x="822960" y="2990088"/>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03</a:t>
            </a:r>
            <a:endParaRPr lang="en-US" sz="2200" dirty="0"/>
          </a:p>
        </p:txBody>
      </p:sp>
      <p:sp>
        <p:nvSpPr>
          <p:cNvPr id="11" name="Text 9"/>
          <p:cNvSpPr txBox="1"/>
          <p:nvPr/>
        </p:nvSpPr>
        <p:spPr>
          <a:xfrm>
            <a:off x="1600200" y="2990088"/>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Explanations describe the </a:t>
            </a:r>
            <a:r>
              <a:rPr lang="en-US" sz="1500" b="1" dirty="0">
                <a:solidFill>
                  <a:srgbClr val="FFFFFF"/>
                </a:solidFill>
                <a:latin typeface="Calibri" pitchFamily="34" charset="0"/>
                <a:ea typeface="Calibri" pitchFamily="34" charset="-122"/>
                <a:cs typeface="Calibri" pitchFamily="34" charset="-120"/>
              </a:rPr>
              <a:t>model</a:t>
            </a:r>
            <a:r>
              <a:rPr lang="en-US" sz="1500" dirty="0">
                <a:solidFill>
                  <a:srgbClr val="FFFFFF"/>
                </a:solidFill>
                <a:latin typeface="Calibri" pitchFamily="34" charset="0"/>
                <a:ea typeface="Calibri" pitchFamily="34" charset="-122"/>
                <a:cs typeface="Calibri" pitchFamily="34" charset="-120"/>
              </a:rPr>
              <a:t>, not cause and effect in the world.</a:t>
            </a:r>
            <a:endParaRPr lang="en-US" sz="1500" dirty="0"/>
          </a:p>
        </p:txBody>
      </p:sp>
      <p:sp>
        <p:nvSpPr>
          <p:cNvPr id="12" name="Text 10"/>
          <p:cNvSpPr txBox="1"/>
          <p:nvPr/>
        </p:nvSpPr>
        <p:spPr>
          <a:xfrm>
            <a:off x="822960" y="3639312"/>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04</a:t>
            </a:r>
            <a:endParaRPr lang="en-US" sz="2200" dirty="0"/>
          </a:p>
        </p:txBody>
      </p:sp>
      <p:sp>
        <p:nvSpPr>
          <p:cNvPr id="13" name="Text 11"/>
          <p:cNvSpPr txBox="1"/>
          <p:nvPr/>
        </p:nvSpPr>
        <p:spPr>
          <a:xfrm>
            <a:off x="1600200" y="3639312"/>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Prefer the </a:t>
            </a:r>
            <a:r>
              <a:rPr lang="en-US" sz="1500" b="1" dirty="0">
                <a:solidFill>
                  <a:srgbClr val="FFFFFF"/>
                </a:solidFill>
                <a:latin typeface="Calibri" pitchFamily="34" charset="0"/>
                <a:ea typeface="Calibri" pitchFamily="34" charset="-122"/>
                <a:cs typeface="Calibri" pitchFamily="34" charset="-120"/>
              </a:rPr>
              <a:t>simplest model</a:t>
            </a:r>
            <a:r>
              <a:rPr lang="en-US" sz="1500" dirty="0">
                <a:solidFill>
                  <a:srgbClr val="FFFFFF"/>
                </a:solidFill>
                <a:latin typeface="Calibri" pitchFamily="34" charset="0"/>
                <a:ea typeface="Calibri" pitchFamily="34" charset="-122"/>
                <a:cs typeface="Calibri" pitchFamily="34" charset="-120"/>
              </a:rPr>
              <a:t> that performs; explain the rest.</a:t>
            </a:r>
            <a:endParaRPr lang="en-US" sz="1500" dirty="0"/>
          </a:p>
        </p:txBody>
      </p:sp>
      <p:sp>
        <p:nvSpPr>
          <p:cNvPr id="14" name="Text 12"/>
          <p:cNvSpPr txBox="1"/>
          <p:nvPr/>
        </p:nvSpPr>
        <p:spPr>
          <a:xfrm>
            <a:off x="822960" y="4288536"/>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05</a:t>
            </a:r>
            <a:endParaRPr lang="en-US" sz="2200" dirty="0"/>
          </a:p>
        </p:txBody>
      </p:sp>
      <p:sp>
        <p:nvSpPr>
          <p:cNvPr id="15" name="Text 13"/>
          <p:cNvSpPr txBox="1"/>
          <p:nvPr/>
        </p:nvSpPr>
        <p:spPr>
          <a:xfrm>
            <a:off x="1600200" y="4288536"/>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lead score becomes useful as </a:t>
            </a:r>
            <a:r>
              <a:rPr lang="en-US" sz="1500" b="1" dirty="0">
                <a:solidFill>
                  <a:srgbClr val="FFFFFF"/>
                </a:solidFill>
                <a:latin typeface="Calibri" pitchFamily="34" charset="0"/>
                <a:ea typeface="Calibri" pitchFamily="34" charset="-122"/>
                <a:cs typeface="Calibri" pitchFamily="34" charset="-120"/>
              </a:rPr>
              <a:t>grades + reasons + a calling plan</a:t>
            </a:r>
            <a:r>
              <a:rPr lang="en-US" sz="1500" dirty="0">
                <a:solidFill>
                  <a:srgbClr val="FFFFFF"/>
                </a:solidFill>
                <a:latin typeface="Calibri" pitchFamily="34" charset="0"/>
                <a:ea typeface="Calibri" pitchFamily="34" charset="-122"/>
                <a:cs typeface="Calibri" pitchFamily="34" charset="-120"/>
              </a:rPr>
              <a:t>, proven with a test.</a:t>
            </a:r>
            <a:endParaRPr lang="en-US" sz="1500" dirty="0"/>
          </a:p>
        </p:txBody>
      </p:sp>
      <p:sp>
        <p:nvSpPr>
          <p:cNvPr id="16" name="Shape 14"/>
          <p:cNvSpPr/>
          <p:nvPr/>
        </p:nvSpPr>
        <p:spPr>
          <a:xfrm>
            <a:off x="822960" y="5120640"/>
            <a:ext cx="8092440" cy="1051560"/>
          </a:xfrm>
          <a:prstGeom prst="roundRect">
            <a:avLst>
              <a:gd name="adj" fmla="val 6957"/>
            </a:avLst>
          </a:prstGeom>
          <a:solidFill>
            <a:srgbClr val="17305C"/>
          </a:solidFill>
          <a:ln w="12700">
            <a:solidFill>
              <a:srgbClr val="1C7293"/>
            </a:solidFill>
            <a:prstDash val="solid"/>
          </a:ln>
        </p:spPr>
        <p:txBody>
          <a:bodyPr/>
          <a:p/>
        </p:txBody>
      </p:sp>
      <p:sp>
        <p:nvSpPr>
          <p:cNvPr id="17" name="Text 15"/>
          <p:cNvSpPr txBox="1"/>
          <p:nvPr/>
        </p:nvSpPr>
        <p:spPr>
          <a:xfrm>
            <a:off x="1051560" y="5120640"/>
            <a:ext cx="7680960" cy="1051560"/>
          </a:xfrm>
          <a:prstGeom prst="rect">
            <a:avLst/>
          </a:prstGeom>
          <a:noFill/>
          <a:ln/>
        </p:spPr>
        <p:txBody>
          <a:bodyPr wrap="square" lIns="0" tIns="0" rIns="0" bIns="0" rtlCol="0" anchor="ctr"/>
          <a:lstStyle/>
          <a:p>
            <a:pPr indent="0" marL="0">
              <a:buNone/>
            </a:pPr>
            <a:r>
              <a:rPr lang="en-US" sz="1300" b="1" dirty="0">
                <a:solidFill>
                  <a:srgbClr val="C7D3E3"/>
                </a:solidFill>
                <a:latin typeface="Calibri" pitchFamily="34" charset="0"/>
                <a:ea typeface="Calibri" pitchFamily="34" charset="-122"/>
                <a:cs typeface="Calibri" pitchFamily="34" charset="-120"/>
              </a:rPr>
              <a:t>Before next session:</a:t>
            </a:r>
            <a:r>
              <a:rPr lang="en-US" sz="1300" dirty="0">
                <a:solidFill>
                  <a:srgbClr val="C7D3E3"/>
                </a:solidFill>
                <a:latin typeface="Calibri" pitchFamily="34" charset="0"/>
                <a:ea typeface="Calibri" pitchFamily="34" charset="-122"/>
                <a:cs typeface="Calibri" pitchFamily="34" charset="-120"/>
              </a:rPr>
              <a:t> Read Chapters 24–27 (Unsupervised Learning: K-Means, Hierarchical &amp; Density-Based Clustering, PCA). List three ways your organisation currently segments customers — and how those segments were chosen.</a:t>
            </a:r>
            <a:endParaRPr lang="en-US" sz="1300" dirty="0"/>
          </a:p>
        </p:txBody>
      </p:sp>
      <p:pic>
        <p:nvPicPr>
          <p:cNvPr id="18" name="Image 0" descr="/home/claude/da1/assets/logos/da1_hex_m2.png">    </p:cNvPr>
          <p:cNvPicPr>
            <a:picLocks noChangeAspect="1"/>
          </p:cNvPicPr>
          <p:nvPr/>
        </p:nvPicPr>
        <p:blipFill>
          <a:blip r:embed="rId1"/>
          <a:stretch>
            <a:fillRect/>
          </a:stretch>
        </p:blipFill>
        <p:spPr>
          <a:xfrm>
            <a:off x="9326880" y="2103120"/>
            <a:ext cx="2286000" cy="2286000"/>
          </a:xfrm>
          <a:prstGeom prst="rect">
            <a:avLst/>
          </a:prstGeom>
        </p:spPr>
      </p:pic>
      <p:sp>
        <p:nvSpPr>
          <p:cNvPr id="19" name="Text 16"/>
          <p:cNvSpPr txBox="1"/>
          <p:nvPr/>
        </p:nvSpPr>
        <p:spPr>
          <a:xfrm>
            <a:off x="9052560" y="4572000"/>
            <a:ext cx="2834640" cy="822960"/>
          </a:xfrm>
          <a:prstGeom prst="rect">
            <a:avLst/>
          </a:prstGeom>
          <a:noFill/>
          <a:ln/>
        </p:spPr>
        <p:txBody>
          <a:bodyPr wrap="square" lIns="0" tIns="0" rIns="0" bIns="0" rtlCol="0" anchor="ctr"/>
          <a:lstStyle/>
          <a:p>
            <a:pPr algn="ctr" indent="0" marL="0">
              <a:buNone/>
            </a:pPr>
            <a:r>
              <a:rPr lang="en-US" sz="1250" b="1" dirty="0">
                <a:solidFill>
                  <a:srgbClr val="D99A2B"/>
                </a:solidFill>
                <a:latin typeface="Calibri" pitchFamily="34" charset="0"/>
                <a:ea typeface="Calibri" pitchFamily="34" charset="-122"/>
                <a:cs typeface="Calibri" pitchFamily="34" charset="-120"/>
              </a:rPr>
              <a:t>NEXT  ›  Session 4.2: Segmentation You Can Act 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Lagos Business School, Pan-Atlantic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 Session 12: Model Explainability &amp; Lead Scoring</dc:title>
  <dc:subject>PptxGenJS Presentation</dc:subject>
  <dc:creator>Prof. Bongo Adi — Lagos Business School</dc:creator>
  <cp:lastModifiedBy>Prof. Bongo Adi — Lagos Business School</cp:lastModifiedBy>
  <cp:revision>1</cp:revision>
  <dcterms:created xsi:type="dcterms:W3CDTF">2026-10-01T21:51:20Z</dcterms:created>
  <dcterms:modified xsi:type="dcterms:W3CDTF">2026-10-01T21:51:20Z</dcterms:modified>
</cp:coreProperties>
</file>