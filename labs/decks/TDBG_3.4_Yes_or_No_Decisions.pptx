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3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3.4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Yes-or-No Decisions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Logistic Regression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17–18 — Introduction to Classification · Logistic Regression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3.3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validation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every model on data it has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seen: test sets and cross-validation.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vs variance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 misses the pattern; too flexible learns the noise.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Regularisation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shrinks, lasso shrinks and selects — vital when data are scarce.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3.4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'how much?' to 'yes or no?' — and how sure.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business decisions are yes/no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Probabilities, odds ratios, thresholds, metrics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Loan Default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evaluate and price a credit model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not the goal — value 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3.4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Classification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business decision into a yes/no prediction problem with a clear cost of each mistake.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&amp; Read Logistic Regression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predicted probabilities and odds ratios in plain English.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Choose a Threshold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confusion matrix, precision, recall and ROC-AUC — and pick the threshold by profit.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Business Decisions Are Yes or 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or decline? Will this customer churn? Is this transaction fraud? Will this lead buy?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 don't just say yes or no. Good ones give a **probability** — which lets managers: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riskiest (or most promising) cases down.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threshold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where to draw the line based on what each mistake costs.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the risk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probabilities into expected losses, interest rates and limits.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Digital Microlender's Credit Decisions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Lagos fintech offers 14–90-day app loans.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loans default — eating the margin on the rest. It wants an automated credit score.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which applicants will default — and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set the cut-off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maximise profit?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digital_loans.csv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loans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age, income, salary status, loan size, tenure, repayment-to-income, prior repayments and late payments, account age, phone OS, airtime spend, BVN, acquisition channel, state.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honest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performance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interpretable risk drivers, and a profit-maximising threshold. Assumptions: a repaid loan earns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₦8,000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 default loses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₦45,000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for yes/no outcomes.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NEW MODEL?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Ordinary Regression?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0/figures/python/s10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14" y="1600200"/>
            <a:ext cx="6791691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S3.4-F01  ·  replicate: tdbg_3_4_figures.R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is 0 (repaid) or 1 (defaulted).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can predict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0% or above 100%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nonsense for a probability.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 rises steeply then levels off — an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S-shape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fits exactly that shape.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Score to Probability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0/figures/python/s10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82" y="1600200"/>
            <a:ext cx="6931356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S3.4-F02  ·  replicate: tdbg_3_4_figures.R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builds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drivers, just like regression.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curve squeezes any score into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 → 50%; score +2 → 88%; score −2 → 12%.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log-odds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log(p ÷ (1 − p)).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THE LANGUAGE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Probability, Odds and Odds Ratios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chance out of 1 (20% default).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chance it happens ÷ chance it doesn't (20% → 0.2/0.8 = 0.25, '1 to 4'). An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says how many times the odds are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multiplied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a driver changes by one unit.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prior late payment has an odds ratio of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roughly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odds of default, holding everything else fixed. BVN verification: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cuts the odds by 43%.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ratio = e^coefficient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 turn a logistic model into statements credit committees understand: '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Paid-social customers have 2.4× the odds of default of organic ones.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Above 1 raises risk; below 1 lowers it.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DRIVERS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Moves the Odds of Default?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0/figures/python/s10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0067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446599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S3.4-F03  ·  replicate: tdbg_3_4_figures.R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risk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paid-social acquisition (×2.4), each prior late payment (×2.1), higher repayment-to-income (×1.2 per 0.1).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salary earners (×0.54), BVN verified (×0.57), iOS users (×0.68), each prior loan repaid (×0.83).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that cross 1 are not clearly different from 'no effect'.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odds ratio holds all other drivers fixed.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glm() Output for a Logistic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glm(formula = defaulted ~ ..., family = binomial)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Coefficients (selected):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Estimate Std.Err z value Pr(&gt;|z|)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            -0.958   1.106   -0.87    0.386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repayment_to_income      1.902   0.129   14.76  &lt; 2e-16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prior_late_payments      0.753   0.066   11.47  &lt; 2e-16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prior_loans_repaid      -0.188   0.033   -5.68  1.4e-08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salary_earner           -0.621   0.096   -6.44  1.2e-10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bvn_verified            -0.559   0.136   -4.11  4.0e-05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acquisition_channelPaid social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0.864   0.107    8.08  6.6e-16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exp(0.753)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2.12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= log-odds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raises risk, negative lowers it. Not directly a % change.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exp(estimate) = odds ratio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 →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×2.12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odds per prior late payment.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and Pr(&gt;|z|)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as t and p in regression: is the effect distinguishable from zero?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R²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classifiers with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confusion matrices and profit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test data.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 Classifier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the wrong question.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OUTPUTS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Overlapping Groups of Scores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0/figures/python/s10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80" y="1600200"/>
            <a:ext cx="6679959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S3.4-F04  ·  replicate: tdbg_3_4_figures.R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Defaulters (red) generally get higher predicted probabilities.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groups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threshold separates them perfectly.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0.5, very few loans are flagged — most defaulters slip through.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0.2, many more defaulters are caught — at the cost of rejecting some good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CONFUSION MATRIX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Outcomes, Two Kinds of Mistake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0/figures/python/s10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18066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82658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S3.4-F05  ·  replicate: tdbg_3_4_figures.R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we approved a defaulter (costly loss).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we rejected a good customer (lost margin).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0.5 we catch only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defaulters.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0.2 we catch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353 good customers are turned away.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VOCABULARY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Precision, Recall and Friends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37744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example (threshold 0.2)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(sensitivity)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all defaulters, what share did we catch?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÷ (TP + FN)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 ÷ 335 = 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all we flagged, what share were defaulters?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÷ (TP + FP)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 ÷ 567 = 38%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all good customers, what share did we approve?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÷ (TN + FP)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1,112 ÷ 1,465 = 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share of all predictions were right?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(TP + TN) ÷ 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1,326 ÷ 1,800 = 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well does the score rank defaulters above repayers?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under 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 (0.5 = random, 1 = perfect)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metrics by the decision: fraud teams prize recall; marketing campaigns with costly contacts prize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THRESHOLD-FREE QUALITY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ROC Curve and AUC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0/figures/python/s10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04" y="1600200"/>
            <a:ext cx="4919713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S3.4-F06  ·  replicate: tdbg_3_4_figures.R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one threshold: defaulters caught vs good customers rejected.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is a coin flip.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0.77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pick a random defaulter and a random repayer — 77% of the time the model scores the defaulter higher.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compares models; the threshold is chosen separately.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 Recall as the Threshold Moves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0/figures/python/s10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82" y="1600200"/>
            <a:ext cx="6931356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S3.4-F08  ·  replicate: tdbg_3_4_figures.R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threshold: catch almost every defaulter, but most flags are false alarms.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threshold: flags are usually right, but most defaulters get through.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threshold is 'correct' — it depends on the costs.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let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Threshold by Profit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0/figures/python/s10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67" y="1600200"/>
            <a:ext cx="6751787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S3.4-F07  ·  replicate: tdbg_3_4_figures.R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everyone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₦3.4m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1,800 applications.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cut-off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reject if predicted default ≥ 15%.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₦3.7m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₦7m swing.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approve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applicants; their default rate falls from 19%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loss per default rises, the best threshold falls.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SHORTCUT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Break-Even Probability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loan only if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profit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positive. That happens when the predicted default probability is below a break-even point set by the gain on good loans and the loss on bad ones.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₦8,000, loss ₦45,000: p* = 8,000 ÷ 53,000 ≈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Exactly where the profit curve peaked.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p* = gain ÷ (gain + loss)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links the model to the P&amp;L in one line. When pricing changes — higher interest (bigger gain) or worse recoveries (bigger loss) — the threshold should move with it, without rebuilding the model.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Mistakes in Practice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Celebrating 82% accuracy when 81% repay anyway.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use AUC, precision and recall.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default 0.5 threshold.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threshold from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and benefits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coefficients as % changes in probability.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show predicted probabilities for example customers.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on the training data.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score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who gets rejected.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approval and error rates across groups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(Session 5.3).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fraud model has AUC 0.92. At the chosen threshold, recall is 80% and precision is 10%. What does precision of 10% mean?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useless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of fraud cases are caught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10 transactions flagged, about 1 is actually fraud — the rest are false alarms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10% accurate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Build and Price a Credit Score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data/digital_loans.csv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sessions/3-4/R/tdbg_3_4_lab.R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sessions/3-4/python/tdbg_3_4_lab.py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base rate; fit the logistic regression on the first 4,200 loans.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coefficients to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95% CIs; interpret three for the credit committee.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test-set probabilities; build confusion matrices at 0.5 and 0.2.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plot the ROC curve.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profit-maximising threshold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recompute if the loss per default rises to ₦60,000.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one-slide credit policy: threshold, approval rate, expected default rate, profit — and one fairness caveat.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 ·  YES-OR-NO DECISIONS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category, often yes/no.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probability of a yes/no outcome.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÷ (1 − p): chance for vs chance against.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ratio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the odds multiply per unit change.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above which we predict 'yes'.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correct and incorrect predictions.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flagged cases that are truly positive.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true positives that we caught.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/ AUC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across all thresholds.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probability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÷ (gain + loss): the profit-optimal cut-off.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3.4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turns drivers into 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0 and 1.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effects as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above 1 raises risk, below 1 lowers it.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misleads when outcomes are imbalanced — use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precision and AUC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threshold from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and benefits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p* = gain ÷ (gain + loss).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check who your errors fall 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Chapters 19–20 (Decision Trees; Random Forests, Gradient Boosting and Ensembles). Sketch the questions a loan officer asks, in order, before approving a loan — that is a decision tree.</a:t>
            </a:r>
            <a:endParaRPr lang="en-US" sz="1300" dirty="0"/>
          </a:p>
        </p:txBody>
      </p:sp>
      <p:pic>
        <p:nvPicPr>
          <p:cNvPr id="18" name="Image 0" descr="/home/claude/da1/assets/logos/da1_hex_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3.5: Many Trees, Better Decisions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10: Classification &amp; Logistic Regression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2026-10-01T21:51:19Z</dcterms:created>
  <dcterms:modified xsi:type="dcterms:W3CDTF">2026-10-01T21:51:19Z</dcterms:modified>
</cp:coreProperties>
</file>