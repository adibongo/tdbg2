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3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Association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Prediction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Linear Regression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13–14 — Correlation and Association · Simple &amp; Multiple Linear Regression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Roadmap — Days 2 to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 across four days, a self-study practice paper for each, and the capstone defence on Friday.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6868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2.1–3.1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— self-study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Inference: data literacy, statistics, EDA, visualisation, hypothesis &amp; A/B testing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2900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0B5E82"/>
          </a:solidFill>
          <a:ln w="9525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931920" y="198424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3931920" y="19842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3.2–4.2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365760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— self-study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365760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Unsupervised: regression, classification, ensembles, explainability, clustering &amp; PCA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1792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 txBox="1"/>
          <p:nvPr/>
        </p:nvSpPr>
        <p:spPr>
          <a:xfrm>
            <a:off x="644652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</a:t>
            </a:r>
            <a:endParaRPr lang="en-US" sz="19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4.3–5.3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64465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— self-study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44652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&amp; Applied: time series, text, recommendation, neural nets &amp; GenAI, customer, risk, operations &amp; people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00684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92354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92354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5.4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92354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923544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capstone defence before an external panel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3.2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'these move together' to 'here is how much each driver matters'.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Debrief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feedback; the bridge to prediction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&amp; Regression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least squares, coefficients, R², diagnostics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FMCG Revenue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interpret a multiple regression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regression can and can't claim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3.2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Correlation Wisely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r, spot non-linear and outlier traps, and avoid causal over-claims.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&amp; Read a Regression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slopes, intercepts, confidence intervals and R² in business units.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Model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residual plots to judge whether the straight-line model is trustworthy.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'What Happened' to 'What Drives It'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I give you ₦5m more for advertising, how much more revenue will we see?” — every CFO, to every marketing director.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is the workhorse of business analytics because it answers three questions at once: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each driver's effect, in naira.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what fixed?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driver's effect with the others held constant.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well?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variation the model explains — and how far off its predictions are.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an FMCG Distributor's Revenue?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Nigerian FMCG company sells through regional distributors. Management debates where the next naira should go: advertising, more outlets, more sales reps, or price.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drivers are associated with higher monthly distributor revenue — and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fmcg_distributor_revenue.csv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distributor-months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revenue, ad spend, price index, active outlets, sales reps, rainfall, region (Lagos, South-West, North, East).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of drivers with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and CIs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a what-if forecast — and a clear statement of what the model can't prove.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do two things move together?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Correlation Coefficient 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how closely two numeric variables follow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runs from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(perfect downward line) through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straight-line link) to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(perfect upward line). It has no units.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and revenue: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0.59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(moderate positive). Active outlets and revenue: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0.61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Rainfall and revenue: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0.06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(essentially none).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 ≤ r ≤ +1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a quick screen for which variables move together. But it says nothing about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revenue changes per naira (that's the slope), and nothing about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PLOT THE DATA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 Captures — and What It Misses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8/figures/python/s08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1725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8185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S3.2-F02  ·  replicate: tdbg_3_2_figures.R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r summarises straight-line patterns well.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middle: a perfect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r ≈ 0. r misses non-linear links.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right: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outlier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manufactures a high r from noise.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never report r without looking at the scatter plot.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CAVEAT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Is Not Causation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two things can move together without one causing the other.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cause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Ice-cream sales and drownings both rise in hot weather. In business: ad spend and revenue both rise in December.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causation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ads raise sales — or do strong-selling distributors get bigger ad budgets?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Coincidence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enough variables and some will correlate by chance (Session 2.5's multiple-testing trap).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driver, one straight line.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LINE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vs Advertising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8/figures/python/s08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S3.2-F01  ·  replicate: tdbg_3_2_figures.R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distributor-month.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58.1 + 1.85 × ad spend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1.85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extra ₦1m of advertising goes with ₦1.85m more revenue, on average.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58.1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predicted revenue at zero ad spend — a mathematical anchor, rarely meaningful on its own.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0.34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advertising alone explains a third of the variation.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LINE IS CHOSEN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Squares in One Picture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8/figures/python/s08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S3.2-F03  ·  replicate: tdbg_3_2_figures.R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actual minus predicted: the model's miss for one month.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 chooses the line with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sum of squared residuals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stops positive and negative misses cancelling — and punishes big misses.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does this in milliseconds; your job is to interpret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Regression Equation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predicts an outcome (y) from one or more drivers (x).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(b₁) is how much y changes, on average, when x rises by one unit.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(b₀) is the predicted y when x is zero.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58.1 + 1.85 × ad spend. At ₦10m of advertising: 58.1 + 18.5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₦76.6m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predicted revenue.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b₀ + b₁x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 are in business units — '₦1.85m per ₦1m' — which makes them easy to discuss with finance. Always give the CI too: R says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₦1.52m to ₦2.17m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₦1m for the simple model.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— How Much Does the Model Explain?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share of the variation in the outcome that the model accounts for. 0 means the model explains nothing; 1 means it predicts perfectly. With one driver, R² = r².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alone: R²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(0.59² ≈ 0.34). All drivers: R²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1 − (unexplained ÷ total variation)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R² is good for prediction — but a model with low R² can still reveal an important, real effect. And R² always rises when you add variables, even useless ones. Use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compare models of different sizes.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Regression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drivers at once — 'holding the others fixed'.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DRIVERS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Real Drivers, More Explained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8/figures/python/s08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852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31131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S3.2-F04  ·  replicate: tdbg_3_2_figures.R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alone: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revenue variation explained.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active outlets jumps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distribution reach matters enormously.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and price add more; region and rainfall finish at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added driver must earn its place — Session 3.3 tackles that properly.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MULTIPLE REGRESSION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Driver's Effect, Holding the Others Fixed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8/figures/python/s08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2497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47089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S3.2-F05  ·  replicate: tdbg_3_2_figures.R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+₦1.74m revenue per ₦1m (CI 1.58 to 1.90).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active outlet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+₦0.11m;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sales rep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+₦1.36m.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index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−₦0.40m per point.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+₦8.6m vs East. North and South-West not different from East.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detectable effect (CI spans zero).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R's summary(lm())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Estimate Std. Error t value Pr(&gt;|t|)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  59.3200    7.0325    8.435  3.6e-15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ad_spend_m_naira  1.7411    0.0794   21.924  &lt; 2e-16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price_index      -0.4038    0.0683   -5.914  1.2e-08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active_outlets    0.1080    0.0049   21.891  &lt; 2e-16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sales_reps        1.3637    0.1234   11.055  &lt; 2e-16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rainfall_mm       0.0005    0.0063    0.085    0.932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regionLagos       8.5646    1.2706    6.740  1.3e-10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regionNorth      -0.3776    1.3208   -0.286    0.775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regionSouth-West  0.4960    1.3334    0.372    0.710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 standard error: 6.484 on 231 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R-squared: 0.8577, Adjusted: 0.8527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F-statistic: 174 on 8 and 231 DF, p &lt; 2.2e-16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per one-unit change, others held fixed. Ad spend: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+₦1.74m per ₦1m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Error &amp; t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Precision. t = estimate ÷ SE; |t| &gt; 2 ≈ significant at 5%.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Pr(&gt;|t|)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for 'this effect is zero'. Rainfall: 0.93 — no evidence of any effect.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SE &amp; R²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miss ≈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₦6.5m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86% of variation explained.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IN REGRESSION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Regions Enter the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drivers become 0/1 'dummy' variables compared with a baseline.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baseline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is the reference region. Every region coefficient is a difference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East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dummy per other level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regionLagos = 1 for Lagos rows, 0 otherwise — and the same for North and South-West.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as a gap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+8.6: a Lagos distributor-month earns ₦8.6m more than an otherwise-identical East one.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TRUSTWORTHY?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Diagnostics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8/figures/python/s08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82096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466889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S3.2-F06  ·  replicate: tdbg_3_2_figures.R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residuals scatter randomly around zero with even spread — the straight-line model fits.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signs: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(missing non-linearity),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(spread grows with size), clusters.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residuals roughly bell-shaped — confidence intervals are reliable.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plot(model); Python: plot fitted vs resid.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Good Are the Predictions?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8/figures/python/s08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S3.2-F07  ·  replicate: tdbg_3_2_figures.R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 to the 45° line = accurate predictions.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 (residual SE / RMSE):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₦6.5m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revenue of ₦40m–₦130m.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one month is roughly ±₦13m — much wider than the CI for an average.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3.3: test predictions on data the model has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COEFFICIENT TO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Another ₦5m of Advertising Worth It?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ad spend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₦5.0m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₦1m ad (coefficient)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₦1.74m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₦8.7m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gross profit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₦2.2m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Net of ad cost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≈ −₦2.8m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612648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6126480" y="213055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612648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629400" y="2103120"/>
            <a:ext cx="4892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revenue = 5 × 1.74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₦8.7m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(CI ₦7.9m to ₦9.5m).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126480" y="28849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6126480" y="2884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629400" y="2857500"/>
            <a:ext cx="4892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25% gross margin, that is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₦2.2m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gross profit.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26480" y="363931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612648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3611880"/>
            <a:ext cx="4892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₦5m of extra spend: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about ₦2.8m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these numbers.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439369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6126480" y="43936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629400" y="4366260"/>
            <a:ext cx="4892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coefficient may not be causal, and brand effects can last beyond the month. Test it (Session 3.1) before cutting or raising budgets.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26480" y="5257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 txBox="1"/>
          <p:nvPr/>
        </p:nvSpPr>
        <p:spPr>
          <a:xfrm>
            <a:off x="635508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 ≠ profit up. Always convert coefficients into margin before deciding.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Mistakes Managers Make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“Advertising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₦1.74m of revenue per ₦1m.”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holding other drivers fixed.” Test causation.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raw coefficients to rank drivers with different units.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changes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+10 outlets vs +₦1m ads) or standardise.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far outside the data (₦80m of ads when the data stop at ₦20m).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observed.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a high R² without checking residuals.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plots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 driver because p = 0.08.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drivers that make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sense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report CIs.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full model, the active_outlets coefficient is 0.108 (CI 0.098 to 0.118). Which statement is best?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outlet causes ₦108,000 more revenue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ad spend, price, reps, rainfall and region fixed, each additional active outlet is associated with about ₦108,000 (₦98k–₦118k) more monthly revenue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explain 10.8% of revenue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matter less than ads because 0.108 &lt; 1.74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Model the Distributor's Revenue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data/fmcg_distributor_revenue.csv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sessions/3-2/R/tdbg_3_2_lab.R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sessions/3-2/python/tdbg_3_2_lab.py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correlation matrix and scatter-plot matrix.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regression of revenue on ad spend; read the slope, CI and R².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regression with all drivers and East as the baseline region.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plots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then predict revenue for two what-if scenarios with prediction intervals.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interpret outlets for a sales director; test the ₦5m ad case at a 25% margin; name one causal threat.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one-slide driver ranking with effect sizes, CIs and one caveat.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3.2  ·  FROM ASSOCIATION TO PREDICTION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(r)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a straight-line link, from −1 to +1.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an outcome from one or more drivers.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/ coefficient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outcome per one-unit change in a driver.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outcome when all drivers are zero.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minus predicted: the model's miss.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squares: minimises squared residuals.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outcome variation the model explains.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Adjusted R²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penalised for the number of drivers.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Dummy variable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0/1 column representing a category.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interval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for a single new outcome; wider than a CI.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3.2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straight-line association only — always plot, and never read it as cause.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change in the outcome per unit of the driver, in business units.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 estimates each effect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others fixed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fit; residual plots tell you whether to trust the model.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coefficients to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test causal claims before acting.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15–16 (Regularised Regression; Predictive Sales Analytics). Think about why a model with 20 drivers might predict next month worse than one with 5.</a:t>
            </a:r>
            <a:endParaRPr lang="en-US" sz="1300" dirty="0"/>
          </a:p>
        </p:txBody>
      </p:sp>
      <p:pic>
        <p:nvPicPr>
          <p:cNvPr id="18" name="Image 0" descr="/home/claude/da1/assets/logos/da1_hex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3.3: Forecasts That Survive New Data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8: Correlation &amp; Linear Regression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