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2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2.4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That Survive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Board Room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&amp; Storytelling for Business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 10 — Data Visualisation for Business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2.3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→ quality → clean → explore — always in that order.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≠ error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but possible: investigate. Impossible: correct or set to missing.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ends with leads to test, not decisions to act 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2.4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choosing a chart, to designing it, to telling the story it supports.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359054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3590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18048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71804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070592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070592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business charts fail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&amp; Design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choice, perception, declutter, honesty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Telco Story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KPI file into an executive story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Critique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One-slide data stories, reviewed in pairs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2.4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Right Chart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chart type to the question: compare, trend, relationship, distribution or composition.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for the Eye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Declutter, use colour and position deliberately, and keep axes honest and accessible.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a Data Story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one-slide story with a message headline, one chart and a clear ask.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Chart Is an Argument, Not Decoration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“Above all else, show the data.” — Edward Tufte. And then: say what it means.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give each chart a few seconds. In that time a good chart must: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one question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chart, one message — stated in the title.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eye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and position point to what matters; everything else steps back.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to a decision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should know what you want them to do.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Telco's Monthly Performance Review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Nigerian mobile operator reviews five regions every month. The current pack is 40 slides of default charts; directors skim it and decide little.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needs the executive committee's attention this month — and what should they do about it?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telecom_monthly_kpis.csv — 24 months × 5 regions: subscribers, ARPU, revenue, churn, data share, network uptime, NPS.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dashboard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one-slide story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headline, one chart, three facts, one ask.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Chart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question, not from the chart menu.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CHOOSER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Questions, Six Charts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4/figures/python/s04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4026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48618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S2.4-F01  ·  replicate: tdbg_2_4_figures.R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categories → bar (sorted).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time → line.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scatter.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histogram or box plot.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stacked bar (pies only for 2–3 parts).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two dimensions → heat map.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Question to the Chart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37744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Telco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is biggest / smallest?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 bar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with many slices; 3-D bars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by 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it changing?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Bars for long time series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churn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two things move together?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plot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lines on two axes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vs NPS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it spread out?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/ box plot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alone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ARPU across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makes up the total?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bar / 100% 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Pies with &gt; 3 parts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vs voice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SEE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Some Charts Are Easier to Read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judge some visual cues far more accurately than others.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on a common scale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accurate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868680" y="3822192"/>
            <a:ext cx="30175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and dots against the same axis. Use for the most important comparison.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and angle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52628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weaker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3822192"/>
            <a:ext cx="30175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is easy; pie angles are hard to compare precisely.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and area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822960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accurate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8275320" y="3822192"/>
            <a:ext cx="30175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colour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to encode exact amounts.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for the Eye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Declutter, focus, and stay honest.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Wrong With This Chart?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4/figures/python/s04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770" y="1600200"/>
            <a:ext cx="5932380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S2.4-F02  ·  replicate: tdbg_2_4_figures.R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PROBLEMS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colours that mean nothing.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 and exploded slices add noise.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look back and forth to the legend.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are hard to compare: is North-West bigger than South-South?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shouts but says nothing.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Data, Decluttered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4/figures/python/s04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78683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432757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S2.4-F03  ·  replicate: tdbg_2_4_figures.R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bars: the ranking is instant.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labels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 the axis and legend.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highlight colour points to the message.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states the finding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topic.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DECLUTTER CHECKLIST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That Fix Most Business Charts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78508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38528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title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777240"/>
          </a:xfrm>
          <a:prstGeom prst="roundRect">
            <a:avLst>
              <a:gd name="adj" fmla="val 705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'Churn by region' with 'North-West churn broke away in May'.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683764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84378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2551176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clutter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2615184"/>
            <a:ext cx="7543800" cy="777240"/>
          </a:xfrm>
          <a:prstGeom prst="roundRect">
            <a:avLst>
              <a:gd name="adj" fmla="val 705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2615184"/>
            <a:ext cx="7086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borders, heavy gridlines, 3-D effects, shadows and redundant legends.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3456432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directly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3520440"/>
            <a:ext cx="7543800" cy="777240"/>
          </a:xfrm>
          <a:prstGeom prst="roundRect">
            <a:avLst>
              <a:gd name="adj" fmla="val 705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3520440"/>
            <a:ext cx="7086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labels on the bars or line ends instead of in a legend.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40080" y="4494276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654296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08760" y="4361688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Grey + one colour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3977640" y="4425696"/>
            <a:ext cx="7543800" cy="777240"/>
          </a:xfrm>
          <a:prstGeom prst="roundRect">
            <a:avLst>
              <a:gd name="adj" fmla="val 705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 txBox="1"/>
          <p:nvPr/>
        </p:nvSpPr>
        <p:spPr>
          <a:xfrm>
            <a:off x="4251960" y="4425696"/>
            <a:ext cx="7086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context to grey; give the story one strong colour.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640080" y="5399532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5559552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508760" y="5266944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with purpose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3977640" y="5330952"/>
            <a:ext cx="7543800" cy="777240"/>
          </a:xfrm>
          <a:prstGeom prst="roundRect">
            <a:avLst>
              <a:gd name="adj" fmla="val 705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1" name="Text 23"/>
          <p:cNvSpPr txBox="1"/>
          <p:nvPr/>
        </p:nvSpPr>
        <p:spPr>
          <a:xfrm>
            <a:off x="4251960" y="5330952"/>
            <a:ext cx="7086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bars by value (or by a natural order such as time), never alphabetically by default.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SPAGHETTI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Lines, No Story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4/figures/python/s04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4200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88792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S2.4-F04  ·  replicate: tdbg_2_4_figures.R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region gets the same visual weight.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 has nowhere to land.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change is there — but hidden.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spot which region broke away?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Grey the Context, Colour the Story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4/figures/python/s04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4200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88792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S2.4-F05  ·  replicate: tdbg_2_4_figures.R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North-West churn jumps from about 1.9%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2.6–2.8%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May 2025.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regions keep falling slowly.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annotation offers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investigate: uptime started slipping.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as the last slide — now the message is unmissable.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AXES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Truncated Axes Exaggerate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4/figures/python/s04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11957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765497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S2.4-F06  ·  replicate: tdbg_2_4_figures.R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NPS seems to have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it rose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points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100-point scale.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must start at zero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their length is the message.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 may zoom in — but say so, and never to manufacture drama.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MULTIPLES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Chart Per Group, Same Scale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4/figures/python/s04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198057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362649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S2.4-F07  ·  replicate: tdbg_2_4_figures.R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crowded chart, repeat a small chart per region.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y-axis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comparison fair.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North-West's NPS is the only one not improving.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facet_wrap(); Python: plt.subplots(sharey=True).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WITH CARE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Rules for Business Charts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in 12 men has some form of colour-vision deficiency.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60362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77" y="22860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Meaningful, not decorative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colour should mean something; most of the chart can be grey.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1757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38111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567" y="228600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0045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red vs green alone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4617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colour with labels, icons or position. Use colour-blind-safe palettes.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9506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715860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7" y="228600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7794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vs diverging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2366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Light→dark for amounts; two-sided palettes only when there is a meaningful middle (e.g. zero).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97255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9936099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547" y="228600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5543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across the pack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20115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is the same colour on every slide; 'bad' is always the same colour.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to show how each of 12 product lines' share of revenue changed between 2024 and 2025. Which chart is best?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pie charts side by side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slope chart or paired bar chart, sorted by 2025 share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3-D stacked column chart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with conditional colours in every cell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Chart to Story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monitor. Stories persuade.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ONE-PAGE DASHBOARD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Executive Dashboard That Reads in 10 Seconds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4/figures/python/s04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1869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8328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S2.4-F08  ·  replicate: tdbg_2_4_figures.R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four KPI tiles — the numbers that matter, with change.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big picture — revenue is growing.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exception — North-West churn rising as uptime slips.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sentence: 'Good overall… but… because…'.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JOBS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vs. Data Stories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— 'how are we doing?'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regularly, often automatically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readers, many questions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KPIs and flags exceptions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explores; designer stays neutral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Persuade — 'here is what we should do'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one decision and one audience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beginning, a tension and a resolution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selects and emphasises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a clear recommendation or ask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tells you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look. A story tells people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it.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STRUCTURE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Three-Act Data Story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film and journalism — works in any boardroom.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93876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46" y="236601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42032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19% in 2025; churn fell in four of five regions.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470148" y="2148840"/>
            <a:ext cx="868680" cy="8686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318" y="2366010"/>
            <a:ext cx="434340" cy="4343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18304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Text 11"/>
          <p:cNvSpPr txBox="1"/>
          <p:nvPr/>
        </p:nvSpPr>
        <p:spPr>
          <a:xfrm>
            <a:off x="2907792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953512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North-West churn jumped 40% from May — as network uptime slipped.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646420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90" y="2366010"/>
            <a:ext cx="434340" cy="4343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4576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Text 15"/>
          <p:cNvSpPr txBox="1"/>
          <p:nvPr/>
        </p:nvSpPr>
        <p:spPr>
          <a:xfrm>
            <a:off x="5084064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129784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chart + uptime chart; NPS falling in the same region.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822692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862" y="2366010"/>
            <a:ext cx="434340" cy="4343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070848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6" name="Text 19"/>
          <p:cNvSpPr txBox="1"/>
          <p:nvPr/>
        </p:nvSpPr>
        <p:spPr>
          <a:xfrm>
            <a:off x="7260336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306056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tower maintenance in North-West; track churn weekly.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9998964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6134" y="2366010"/>
            <a:ext cx="434340" cy="4343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436608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9482328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maintenance budget at today's meeting.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3" name="Text 25"/>
          <p:cNvSpPr txBox="1"/>
          <p:nvPr/>
        </p:nvSpPr>
        <p:spPr>
          <a:xfrm>
            <a:off x="868680" y="5349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 test: can you state your message in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verb? If not, you are not ready to build the slide.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ONE-SLIDE STORY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Decision Slide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template in the lab and in your capstone.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5326380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68680" y="207568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8998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0574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= the message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651760"/>
            <a:ext cx="4869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sentence: 'North-West churn has risen 40% since May as network uptime slipped.'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95060" y="1874520"/>
            <a:ext cx="5326380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423660" y="207568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8998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18020" y="205740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chart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23660" y="2651760"/>
            <a:ext cx="4869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chart, with the story in colour and the context in grey.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4114800"/>
            <a:ext cx="5326380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868680" y="431596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43026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29768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supporting facts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4892040"/>
            <a:ext cx="4869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 comparisons: from–to, vs. other regions, cost per month.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195060" y="4114800"/>
            <a:ext cx="5326380" cy="2011680"/>
          </a:xfrm>
          <a:prstGeom prst="roundRect">
            <a:avLst>
              <a:gd name="adj" fmla="val 3636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6423660" y="431596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430268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18020" y="4297680"/>
            <a:ext cx="4366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clear ask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423660" y="4892040"/>
            <a:ext cx="4869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do what, by when — and what it costs or saves.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Habits That Kill Business Charts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that name the topic: 'Revenue by Region, FY2025'.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that state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'Lagos earns a third of revenue'.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with axes that do not start at zero.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at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zoom only on line charts — and say so.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series in a different bright colour.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context; one colour for the story.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everything you analysed.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supports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keep the rest in the appendix.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charts that suggest relationships.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aligned charts or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Turn a KPI File Into an Executive Story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data/telecom_monthly_kpis.csv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sessions/2-4/R/tdbg_2_4_lab.R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sessions/2-4/python/tdbg_2_4_lab.py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 + 10 peer critique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question: which region needs attention, and why?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default spaghetti chart; then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declutter and focus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story.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possible explanation: plot North-West churn against network uptime.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sorted, labelled revenue bar chart and a small-multiples NPS chart.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one-slide story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message headline, one chart, three facts, one ask. Swap with a partner and critique.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one-slide story, critiqued by one classmate.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2.4  ·  CHARTS THAT SURVIVE A BOARD ROOM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chooser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 chart type from the question you are answering.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Data-ink ratio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 chart's ink that shows data; raise it.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Declutter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marks that carry no information.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title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headline that states the chart's finding.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labelling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 the data instead of in a legend.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multiples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small charts with a shared scale.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Truncated axis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axis not starting at zero; misleading for bars.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regularly updated monitoring view of KPIs.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argument from data to a decision.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idea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 in one sentence, with a verb.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2.4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compare, trend, relationship, distribution or composition.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beats angle and colour: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bars and lines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beat pies and 3-D.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Declutter, label directly, and use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+ one colour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focus the eye.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axes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bars start at zero.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monitor; stories persuade — end with 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ask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 11 (Hypothesis Testing). Redesign the chart you brought from your own company using today's checklist, and bring before/after versions.</a:t>
            </a:r>
            <a:endParaRPr lang="en-US" sz="1300" dirty="0"/>
          </a:p>
        </p:txBody>
      </p:sp>
      <p:pic>
        <p:nvPicPr>
          <p:cNvPr id="18" name="Image 0" descr="/home/claude/da1/assets/logos/da1_hex_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2.5: Is the Difference Real?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4: Data Visualisation &amp; Storytelling for Business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2026-10-01T21:51:19Z</dcterms:created>
  <dcterms:modified xsi:type="dcterms:W3CDTF">2026-10-01T21:51:19Z</dcterms:modified>
</cp:coreProperties>
</file>