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1005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BUSINESS SCHOOL  ·  TURNING DATA INTO BUSINESS GROWTH  ·  DAY 3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645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3.5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Trees,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Decisions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14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Trees, Random Forests &amp; Gradient Boosting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8463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49720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49194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Chapters 19–20 — Decision Trees · Random Forests, Gradient Boosting &amp; Ensembles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Business Analytics: A Practical Textbook for Data-Driven Decision Making  ·  Prof. Bongo Adi</a:t>
            </a:r>
            <a:endParaRPr lang="en-US" sz="1050" dirty="0"/>
          </a:p>
        </p:txBody>
      </p:sp>
      <p:pic>
        <p:nvPicPr>
          <p:cNvPr id="13" name="Image 1" descr="/home/claude/da1/assets/logos/da1_hex_m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5544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3.4 in Three Ideas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 ·  MANY TREES, BETTER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08026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402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64592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Probabilities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977640" y="170992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4251960" y="170992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turns drivers into a probability; effects read as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ratios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5890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7490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15468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3977640" y="321868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4251960" y="321868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misleads on imbalanced data; use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AUC, precision and recall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 test set.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40080" y="509778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2578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6634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3977640" y="472744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 txBox="1"/>
          <p:nvPr/>
        </p:nvSpPr>
        <p:spPr>
          <a:xfrm>
            <a:off x="4251960" y="472744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cut-off by money: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p = gain ÷ (gain + loss)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Our logistic score earned ₦3.7m.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3.5 at a Glance — 75 Minutes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crowd of simple trees beat our logistic credit score?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 ·  MANY TREES, BETTER DECISIONS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90928" y="1874520"/>
            <a:ext cx="4315968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2090928" y="18745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43472" y="1874520"/>
            <a:ext cx="4315968" cy="384048"/>
          </a:xfrm>
          <a:prstGeom prst="rect">
            <a:avLst/>
          </a:prstGeom>
          <a:solidFill>
            <a:srgbClr val="D99A2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443472" y="18745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796016" y="1874520"/>
            <a:ext cx="688848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0796016" y="1874520"/>
            <a:ext cx="68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604772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29489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7240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Hook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loan officers already think in trees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10712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4375404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294894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547872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Trees &amp; Ensembles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3593592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Splits, overfitting, bagging, forests, boosting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181344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7146036" y="278892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94894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318504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Model Showdown</a:t>
            </a:r>
            <a:endParaRPr lang="en-US" sz="1450" dirty="0"/>
          </a:p>
        </p:txBody>
      </p:sp>
      <p:sp>
        <p:nvSpPr>
          <p:cNvPr id="30" name="Text 24"/>
          <p:cNvSpPr txBox="1"/>
          <p:nvPr/>
        </p:nvSpPr>
        <p:spPr>
          <a:xfrm>
            <a:off x="6364224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vs forest vs boosting on the loan book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951976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26"/>
          <p:cNvSpPr/>
          <p:nvPr/>
        </p:nvSpPr>
        <p:spPr>
          <a:xfrm>
            <a:off x="9916668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2948940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089136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</a:t>
            </a:r>
            <a:endParaRPr lang="en-US" sz="1450" dirty="0"/>
          </a:p>
        </p:txBody>
      </p:sp>
      <p:sp>
        <p:nvSpPr>
          <p:cNvPr id="35" name="Text 28"/>
          <p:cNvSpPr txBox="1"/>
          <p:nvPr/>
        </p:nvSpPr>
        <p:spPr>
          <a:xfrm>
            <a:off x="9134856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 explainability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3.5 Learning 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 ·  MANY TREES, BETTER DECISIONS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21564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372" y="229057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 Decision Tree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a tree splits data into rules, and why a single deep tree overfits.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463296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693420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932" y="229057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3296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Ensembles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63296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random forests and gradient boosting combine many trees — and why that works.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07720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835152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1065276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492" y="229057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5152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 &amp; Interpret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35152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 on test data, adjust key settings, and read feature importance and partial dependence.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Officers Already Think in Trees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54530"/>
            <a:ext cx="342900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169164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 the repayment more than half their income? Have they paid late before? Did they come in through a paid ad?”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71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tree turns that instinct into data-driven rules. Ensembles turn many trees into a stronger judge: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8176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find combinations — late payers acquired by paid social — without being told.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940" y="381762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5300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35864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capture cliffs, like risk jumping once repayments exceed ~55% of income.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89432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620" y="381762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48868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wisdom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789432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hundreds of trees cancels their individual mistakes.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BUSINESS CASE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Improving the Digital Lender's Credit Score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 ·  MANY TREES, BETTER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00710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3.4's logistic credit score has a test AUC of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earns about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₦3.7m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1,800 applications at its best threshold.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1792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6446520" y="1892808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007108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04088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question</a:t>
            </a:r>
            <a:endParaRPr lang="en-US" sz="1550" dirty="0"/>
          </a:p>
        </p:txBody>
      </p:sp>
      <p:sp>
        <p:nvSpPr>
          <p:cNvPr id="16" name="Text 11"/>
          <p:cNvSpPr txBox="1"/>
          <p:nvPr/>
        </p:nvSpPr>
        <p:spPr>
          <a:xfrm>
            <a:off x="649224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tree-based models rank risk better — and is the extra profit worth the loss of simplicity?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38828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we have</a:t>
            </a:r>
            <a:endParaRPr lang="en-US" sz="1550" dirty="0"/>
          </a:p>
        </p:txBody>
      </p:sp>
      <p:sp>
        <p:nvSpPr>
          <p:cNvPr id="21" name="Text 15"/>
          <p:cNvSpPr txBox="1"/>
          <p:nvPr/>
        </p:nvSpPr>
        <p:spPr>
          <a:xfrm>
            <a:off x="91440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digital_loans.csv, same train (4,200) / test (1,800) split, same profit assumptions (₦8,000 gain, ₦45,000 loss).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21792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644652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4338828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04088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answer looks like</a:t>
            </a:r>
            <a:endParaRPr lang="en-US" sz="1550" dirty="0"/>
          </a:p>
        </p:txBody>
      </p:sp>
      <p:sp>
        <p:nvSpPr>
          <p:cNvPr id="26" name="Text 19"/>
          <p:cNvSpPr txBox="1"/>
          <p:nvPr/>
        </p:nvSpPr>
        <p:spPr>
          <a:xfrm>
            <a:off x="649224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recommendation that weighs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AUC, profit, explainability and governance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AUC alone.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questions, learned from data.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TREE READS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Decision Tree for Loan Default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 ·  MANY TREES, BETTER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1/figures/python/s11_f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710" y="1600200"/>
            <a:ext cx="8420100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S3.5-F01  ·  replicate: tdbg_3_5_figures.R / .py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TREE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Tree Is Saying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path from top to bottom is a rule; each leaf shows the default rate for loans that end there.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 ·  MANY TREES, BETTER DECISIONS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051685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11705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08760" y="1828800"/>
            <a:ext cx="23774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split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3977640" y="1892808"/>
            <a:ext cx="7543800" cy="957834"/>
          </a:xfrm>
          <a:prstGeom prst="roundRect">
            <a:avLst>
              <a:gd name="adj" fmla="val 572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4251960" y="1892808"/>
            <a:ext cx="7086600" cy="957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÷ income ≤ 0.61?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single most informative question — affordability.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40080" y="3137535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297555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508760" y="2914650"/>
            <a:ext cx="23774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Affordable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3977640" y="2978658"/>
            <a:ext cx="7543800" cy="957834"/>
          </a:xfrm>
          <a:prstGeom prst="roundRect">
            <a:avLst>
              <a:gd name="adj" fmla="val 572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8" name="Text 12"/>
          <p:cNvSpPr txBox="1"/>
          <p:nvPr/>
        </p:nvSpPr>
        <p:spPr>
          <a:xfrm>
            <a:off x="4251960" y="2978658"/>
            <a:ext cx="7086600" cy="957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safe: default rates around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3–9%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older borrowers riskier in this branch.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640080" y="4223385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4383405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508760" y="4000500"/>
            <a:ext cx="23774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Stretched + late before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3977640" y="4064508"/>
            <a:ext cx="7543800" cy="957834"/>
          </a:xfrm>
          <a:prstGeom prst="roundRect">
            <a:avLst>
              <a:gd name="adj" fmla="val 572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3" name="Text 16"/>
          <p:cNvSpPr txBox="1"/>
          <p:nvPr/>
        </p:nvSpPr>
        <p:spPr>
          <a:xfrm>
            <a:off x="4251960" y="4064508"/>
            <a:ext cx="7086600" cy="957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climbs to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add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paid-social acquisition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it reaches about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40080" y="5309235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5469255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508760" y="5086350"/>
            <a:ext cx="23774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a human can audit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3977640" y="5150358"/>
            <a:ext cx="7543800" cy="957834"/>
          </a:xfrm>
          <a:prstGeom prst="roundRect">
            <a:avLst>
              <a:gd name="adj" fmla="val 572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8" name="Text 20"/>
          <p:cNvSpPr txBox="1"/>
          <p:nvPr/>
        </p:nvSpPr>
        <p:spPr>
          <a:xfrm>
            <a:off x="4251960" y="5150358"/>
            <a:ext cx="7086600" cy="957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leaf can be written as policy: 'decline if repayment &gt; 61% of income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prior late payment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paid-social'.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TREES SPLIT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Tree Carves the Data Into Boxes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 ·  MANY TREES, BETTER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11/figures/python/s11_f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611" y="1600200"/>
            <a:ext cx="6372697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S3.5-F02  ·  replicate: tdbg_3_5_figures.R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two drivers you can see it: the tree draws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cuts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gets the default rate of the training loans inside it.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jump at ~0.6 repayment ÷ income is 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straight-line model can't capture.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split is chosen to make the boxes as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possible.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Trees Memorise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 ·  MANY TREES, BETTER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1/figures/python/s11_f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01" y="1600200"/>
            <a:ext cx="6863519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S3.5-F03  ·  replicate: tdbg_3_5_figures.R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trees fit the training data almost perfectly (blue).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 peaks around depth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then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the tree learns noise.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tree is also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small data changes can redraw it completely.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 fix both problems (gold line).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weak judges, one strong verdict.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COMBINE TREES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Forests vs Gradient Boosting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 ·  MANY TREES, BETTER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94360" cy="59436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2096262"/>
            <a:ext cx="297180" cy="2971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9164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(bagging)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1691640" y="2313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independent trees, averaged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283464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sees a random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sample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loans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split considers a random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of drivers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are deep and different;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cancels their errors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Robust, hard to overfit, few settings to tune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217920" y="169164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492240" y="1947672"/>
            <a:ext cx="594360" cy="5943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30" y="2096262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26948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7269480" y="2313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trees built in sequence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6537960" y="283464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tree focuses on the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trees so far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controls how big each correction is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the most accurate tabular model (XGBoost, LightGBM)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more careful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can overfit if left unchecked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ensembles of trees. Forests reduce </a:t>
            </a:r>
            <a:r>
              <a:rPr lang="en-US" sz="1300" b="1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averaging; boosting reduces </a:t>
            </a:r>
            <a:r>
              <a:rPr lang="en-US" sz="1300" b="1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correcting step by step.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WISDOM OF CROWDS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Averaging Trees Works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 ·  MANY TREES, BETTER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1/figures/python/s11_f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01" y="1600200"/>
            <a:ext cx="6863519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S3.5-F04  ·  replicate: tdbg_3_5_figures.R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random tree: test AUC ≈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trees: ≈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500 trees: ≈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is noisy, but their errors point in different directions — averaging cancels them.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trees never hurt accuracy; they only cost computing time.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KNOBS THAT MATTER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Settings, in Plain English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 ·  MANY TREES, BETTER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291840"/>
                <a:gridCol w="2834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controls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of thumb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depth / min leaf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questions; how small a group can get its own 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3–6; leaves of 20–100 cases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trees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trees are averaged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300–1,000 (more is safe)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node size; features per 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detailed each tree is; how different trees 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Defaults work well; tune with CV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 × number of trees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of each correction × how many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rate (0.01–0.1) with more trees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depth / leaves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 of interactions each tree can capture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 trees: depth 3–6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with </a:t>
            </a:r>
            <a:r>
              <a:rPr lang="en-US" sz="1300" b="1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training data (Session 3.3) — never by peeking at the test set.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Showdown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same test set, same profit rules.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QUALITY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Model Ranks Risk Best?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 ·  MANY TREES, BETTER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1/figures/python/s11_f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104" y="1600200"/>
            <a:ext cx="4919713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S3.5-F05  ·  replicate: tdbg_3_5_figures.R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AUC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Single tree: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Gradient boosting: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 capture the affordability cliff and the late-payer × paid-social interaction.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R, gbm edges out ranger — small differences depend on settings and random seeds.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Ranking, More Profit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 ·  MANY TREES, BETTER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11/figures/python/s11_f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10" y="1600200"/>
            <a:ext cx="7025700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S3.5-F08  ·  replicate: tdbg_3_5_figures.R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model's best threshold on 1,800 test applications: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₦3.7m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tree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₦4.0m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forest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₦4.9m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boosting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₦4.9m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₦1.1m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extra per 1,800 applications — about 30% more profit.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50,000 applications a month, that gap is worth roughly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₦30m a month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THE FOREST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Drivers Does the Forest Use?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 ·  MANY TREES, BETTER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11/figures/python/s11_f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75301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39893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S3.5-F06  ·  replicate: tdbg_3_5_figures.R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scramble one driver and measure how much test AUC drops.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(repayment ÷ income) dominates.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prior late payments, age and paid-social acquisition.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says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driver matters — not in which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AND SHAPE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Dependence: The Affordability Cliff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 ·  MANY TREES, BETTER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11/figures/python/s11_f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96" y="1600200"/>
            <a:ext cx="6859528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S3.5-F07  ·  replicate: tdbg_3_5_figures.R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predicted default as one driver changes, others held as they are.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~0.5 of income, risk is flat at about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0.55 and 0.65 it jumps to about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policy insight: cap repayments at ~50% of income.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TRADE-OFF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vs Explainability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 ·  MANY TREES, BETTER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914400" y="1947672"/>
            <a:ext cx="594360" cy="59436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2096262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 / small tree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2313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box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960120" y="283464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decision explainable in a sentence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validate, document and defend to regulators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when data shift slightly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profit on the table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17920" y="169164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6492240" y="1947672"/>
            <a:ext cx="594360" cy="5943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30" y="2096262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6948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 / boosting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269480" y="2313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accurate, harder to explain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537960" y="283464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AUC and profit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trees: no single rule to show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explanation tools (Session 4.1: SHAP, LIME)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monitoring for drift and fairness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compromise: deploy the ensemble for ranking, explain individual decisions with SHAP, and keep simple </a:t>
            </a:r>
            <a:r>
              <a:rPr lang="en-US" sz="1300" b="1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rules</a:t>
            </a: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(like a 50% affordability cap) as guardrails.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What Would You Say?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 ·  MANY TREES, BETTER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random forest has training AUC 0.99 and test AUC 0.81. A single depth-12 tree has training AUC 0.97 and test AUC 0.63. What's the best reading?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are badly overfitted and useless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forest's high training AUC is expected (deep trees); its test AUC is what counts — and averaging protects it from the overfitting that wrecks the single deep tree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tree is better because its training and test AUC are closer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training AUC to choose between models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Tree vs Forest vs Boosting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 ·  MANY TREES, BETTER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9144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NEED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6700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data/digital_loans.csv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script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7216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sessions/3-5/R/tdbg_3_5_lab.R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262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417320" y="4773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sessions/3-5/python/tdbg_3_5_lab.py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914400" y="5623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30 minutes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173736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0" name="Text 14"/>
          <p:cNvSpPr txBox="1"/>
          <p:nvPr/>
        </p:nvSpPr>
        <p:spPr>
          <a:xfrm>
            <a:off x="46634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212080" y="16916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depth-4 decision tree; write its top three rules as plain-English policy.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663440" y="246888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46634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212080" y="24231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(500 trees) and list the top permutation importances.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663440" y="320040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6" name="Text 20"/>
          <p:cNvSpPr txBox="1"/>
          <p:nvPr/>
        </p:nvSpPr>
        <p:spPr>
          <a:xfrm>
            <a:off x="46634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212080" y="315468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compare all models' test AUC with Session 3.4's logistic score.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4663440" y="393192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9" name="Text 23"/>
          <p:cNvSpPr txBox="1"/>
          <p:nvPr/>
        </p:nvSpPr>
        <p:spPr>
          <a:xfrm>
            <a:off x="46634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212080" y="388620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each model's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best-threshold profit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1,800 test loans.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4663440" y="46634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32" name="Text 26"/>
          <p:cNvSpPr txBox="1"/>
          <p:nvPr/>
        </p:nvSpPr>
        <p:spPr>
          <a:xfrm>
            <a:off x="46634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5212080" y="46177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one setting (trees, leaf size, learning rate) and judge the change on CV, not test.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4663440" y="5394960"/>
            <a:ext cx="6858000" cy="731520"/>
          </a:xfrm>
          <a:prstGeom prst="roundRect">
            <a:avLst>
              <a:gd name="adj" fmla="val 7500"/>
            </a:avLst>
          </a:prstGeom>
          <a:solidFill>
            <a:srgbClr val="F3F6F9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35" name="Text 29"/>
          <p:cNvSpPr txBox="1"/>
          <p:nvPr/>
        </p:nvSpPr>
        <p:spPr>
          <a:xfrm>
            <a:off x="4892040" y="5394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</a:t>
            </a: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model recommendation for the credit committee — accuracy, profit, explainability, risks.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TO OWN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Vocabulary in Plain English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3.5  ·  MANY TREES, BETTER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2296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flowchart of yes/no splits ending in predictions.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2296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that divides cases into purer groups.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2296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Leaf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46888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 node with a predicted rate or class.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296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sample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sample drawn with replacement.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2296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Bagging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46888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models trained on bootstrap samples.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17220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35508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Bagged trees with random driver subsets at each split.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17220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35508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Boosting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trees in sequence, each fixing earlier errors.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17220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635508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rate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00100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each boosting correction is.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17220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635508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Permutation importance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00100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lost when a driver is scrambled.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17220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635508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dependence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00100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prediction as one driver varies.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3.5 in 5 Ideas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91640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turn data into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if–then rules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capture thresholds and interactions automatically.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40864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40864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deep tree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is unstable; depth must be limited.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90088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90088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average many diverse trees;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corrects errors in sequence.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39312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639312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ensembles lifted AUC from 0.77 to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profit by about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88536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288536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and partial dependence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see inside — and weigh accuracy against explainability.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8092440" cy="1051560"/>
          </a:xfrm>
          <a:prstGeom prst="roundRect">
            <a:avLst>
              <a:gd name="adj" fmla="val 6957"/>
            </a:avLst>
          </a:prstGeom>
          <a:solidFill>
            <a:srgbClr val="17305C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51560" y="51206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session:</a:t>
            </a:r>
            <a:r>
              <a:rPr lang="en-US" sz="13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 Chapters 21–22 (Model Explainability — SHAP and LIME; Lead Scoring). Think of a model decision in your organisation that a customer or regulator might ask you to explain.</a:t>
            </a:r>
            <a:endParaRPr lang="en-US" sz="1300" dirty="0"/>
          </a:p>
        </p:txBody>
      </p:sp>
      <p:pic>
        <p:nvPicPr>
          <p:cNvPr id="18" name="Image 0" descr="/home/claude/da1/assets/logos/da1_hex_m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103120"/>
            <a:ext cx="2286000" cy="22860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052560" y="4572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›  Session 4.1: Opening the Black Box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Lagos Business School, Pan-Atlantic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DA-1 Session 11: Trees, Random Forests &amp; Gradient Boosting</dc:title>
  <dc:subject>PptxGenJS Presentation</dc:subject>
  <dc:creator>Prof. Bongo Adi — Lagos Business School</dc:creator>
  <cp:lastModifiedBy>Prof. Bongo Adi — Lagos Business School</cp:lastModifiedBy>
  <cp:revision>1</cp:revision>
  <dcterms:created xsi:type="dcterms:W3CDTF">2026-10-01T21:51:19Z</dcterms:created>
  <dcterms:modified xsi:type="dcterms:W3CDTF">2026-10-01T21:51:19Z</dcterms:modified>
</cp:coreProperties>
</file>