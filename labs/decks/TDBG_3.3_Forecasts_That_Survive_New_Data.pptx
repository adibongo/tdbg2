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BUSINESS SCHOOL  ·  TURNING DATA INTO BUSINESS GROWTH  ·  DAY 3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645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3.3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Forecasts That Survive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Data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Regularised Regression &amp; Predictive Sales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8463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4972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49194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Chapters 15–16 — Regularised Regression &amp; Feature Selection · Predictive Sales Analytics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Analytics: A Practical Textbook for Data-Driven Decision Making  ·  Prof. Bongo Adi</a:t>
            </a:r>
            <a:endParaRPr lang="en-US" sz="1050" dirty="0"/>
          </a:p>
        </p:txBody>
      </p:sp>
      <p:pic>
        <p:nvPicPr>
          <p:cNvPr id="13" name="Image 1" descr="/home/claude/da1/assets/logos/da1_hex_m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3.2 in Three Ideas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 ·  FORECASTS THAT SURVIVE NEW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08026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402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6459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977640" y="170992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4251960" y="170992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measures straight-line association only — always plot, never read it as cause.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5890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7490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15468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Coefficients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3977640" y="321868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4251960" y="321868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slope is the change in outcome per unit of a driver,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the others fixed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0080" y="509778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2578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6634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3977640" y="472744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 txBox="1"/>
          <p:nvPr/>
        </p:nvSpPr>
        <p:spPr>
          <a:xfrm>
            <a:off x="4251960" y="472744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measures fit; residual plots tell you whether to trust the model.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3.3 at a Glance — 75 Minutes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explaining the past to predicting the future — honestly.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 ·  FORECASTS THAT SURVIVE NEW DATA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90928" y="1874520"/>
            <a:ext cx="431596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2090928" y="18745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43472" y="1874520"/>
            <a:ext cx="4315968" cy="384048"/>
          </a:xfrm>
          <a:prstGeom prst="rect">
            <a:avLst/>
          </a:prstGeom>
          <a:solidFill>
            <a:srgbClr val="D99A2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443472" y="18745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604772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29489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Hook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best-fitting model can forecast worst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10712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4375404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29489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547872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 &amp; Regularisation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3593592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Bias–variance, train/test, CV, ridge, lasso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81344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7146036" y="278892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9489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18504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New SKU Forecast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6364224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weekly cases from only 60 weeks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951976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9916668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294894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089136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1450" dirty="0"/>
          </a:p>
        </p:txBody>
      </p:sp>
      <p:sp>
        <p:nvSpPr>
          <p:cNvPr id="35" name="Text 28"/>
          <p:cNvSpPr txBox="1"/>
          <p:nvPr/>
        </p:nvSpPr>
        <p:spPr>
          <a:xfrm>
            <a:off x="9134856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honest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3.3 Learning 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 ·  FORECASTS THAT SURVIVE NEW DATA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21564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372" y="22905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Overfitting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bias–variance trade-off and why training error flatters a model.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463296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693420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932" y="229057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3296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Ridge &amp; Lasso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63296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penalised regression to shrink coefficients and select drivers automatically.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07720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835152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1065276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492" y="229057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5152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Honestly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35152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models with train/test splits and cross-validation — never on the data they learned from.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That Knew Too Much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5453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69164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“Our new forecast fits last year with 99% accuracy.” Three months later, it misses by 30%.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memorises the past learns its noise as if it were signal. In prediction, you must: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8176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some data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the model on data it has never seen.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940" y="381762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5300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simple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35864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 complexity so noise can't masquerade as signal.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89432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620" y="381762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8868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data choose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789432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cross-validation to pick which drivers and how much penalty.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BUSINESS CASE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Sales for a New Beverage SKU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 ·  FORECASTS THAT SURVIVE NEW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55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Nigerian beverage company launched a new SKU. Brand managers have a long list of 24 candidate drivers — price, promotions, shelf facings, distribution, weather, media, and more — but only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weeks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sales history.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21792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0710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4088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question</a:t>
            </a:r>
            <a:endParaRPr lang="en-US" sz="1550" dirty="0"/>
          </a:p>
        </p:txBody>
      </p:sp>
      <p:sp>
        <p:nvSpPr>
          <p:cNvPr id="17" name="Text 11"/>
          <p:cNvSpPr txBox="1"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drivers really matter, and how accurately can we forecast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cases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planning production and distribution?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4008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3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6304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we have</a:t>
            </a:r>
            <a:endParaRPr lang="en-US" sz="1550" dirty="0"/>
          </a:p>
        </p:txBody>
      </p:sp>
      <p:sp>
        <p:nvSpPr>
          <p:cNvPr id="22" name="Text 15"/>
          <p:cNvSpPr txBox="1"/>
          <p:nvPr/>
        </p:nvSpPr>
        <p:spPr>
          <a:xfrm>
            <a:off x="91440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beverage_sku_sales.csv — 400 SKU-weeks across 5 regions. We train on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60 weeks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test on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340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Ten of the 24 drivers are pure noise; one is a near-duplicate.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21792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4338828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04088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answer looks like</a:t>
            </a:r>
            <a:endParaRPr lang="en-US" sz="1550" dirty="0"/>
          </a:p>
        </p:txBody>
      </p:sp>
      <p:sp>
        <p:nvSpPr>
          <p:cNvPr id="27" name="Text 19"/>
          <p:cNvSpPr txBox="1"/>
          <p:nvPr/>
        </p:nvSpPr>
        <p:spPr>
          <a:xfrm>
            <a:off x="649224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forecast model with honest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accuracy and a short list of drivers the brand team can act 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the past is easy. Predicting the future is the job.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Underfit, About Right, Overfit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 ·  FORECASTS THAT SURVIVE NEW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9/figures/python/s09_f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237501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402093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S3.3-F01  ·  replicate: tdbg_3_3_figures.R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straight line misses the curve — high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gentle curve captures the pattern.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wiggly curve passes near every point — and makes absurd predictions in between. High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 models are confident and wrong on new data.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VS VARIANCE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Bias–Variance Trade-Off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 ·  FORECASTS THAT SURVIVE NEW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error from a model that is too simple to capture the pattern.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error from a model so flexible that it chases noise and changes wildly with each new sample. Total prediction error depends on both — so the best model is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between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forecast using only price is biased (misses promotions). A forecast using all 24 drivers on 60 weeks has high variance (learns the noise).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≈ bias² + variance + noise</a:t>
            </a:r>
            <a:endParaRPr lang="en-US" sz="2100" dirty="0"/>
          </a:p>
        </p:txBody>
      </p:sp>
      <p:sp>
        <p:nvSpPr>
          <p:cNvPr id="18" name="Shape 13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lets you afford more complexity. With little data — new products, new markets, new branches —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is safer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Regularisation is a dial for choosing where you sit on this trade-off.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TELL-TALE SIGN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Error Lies; Test Error Tells the Truth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 ·  FORECASTS THAT SURVIVE NEW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09/figures/python/s09_f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58" y="1600200"/>
            <a:ext cx="6827605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S3.3-F02  ·  replicate: tdbg_3_3_figures.R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drivers always lowers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error (blue).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error (red) falls, then rises once noise drivers enter.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 here: about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drivers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real ones.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never report training accuracy as model accuracy.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VALIDATION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 vs Cross-Validation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 ·  FORECASTS THAT SURVIVE NEW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94360" cy="59436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2096262"/>
            <a:ext cx="297180" cy="2971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9164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691640" y="2313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back a test set; touch it once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28346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training data only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error on the untouched test set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transparent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little data, one split can be lucky or unlucky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217920" y="169164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492240" y="1947672"/>
            <a:ext cx="594360" cy="5943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30" y="2096262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26948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k-fold cross-validation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7269480" y="2313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which part is held out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6537960" y="28346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training data into k folds (often 5 or 10)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k times, each time validating on one fold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the k errors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choices like the penalty λ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CV to choose the model; keep a separate </a:t>
            </a:r>
            <a:r>
              <a:rPr lang="en-US" sz="130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final, honest score. For time series, never shuffle — always test on the future (Session 4.3).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CV WORKS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Five-Fold Cross-Validation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 ·  FORECASTS THAT SURVIVE NEW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09/figures/python/s09_f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39454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04046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S3.3-F03  ·  replicate: tdbg_3_3_figures.R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training data into 5 equal folds.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4, validate on the 5th; repeat 5 times.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observation is validated exactly once.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error estimates out-of-sample performance.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Regularisation: Ridge and Lasso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with a penalty for complexity.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Penalised Regression in Plain English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 ·  FORECASTS THAT SURVIVE NEW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914400" y="1947672"/>
            <a:ext cx="502920" cy="50292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207340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26060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regression picks coefficients that fit the training data as closely as possible.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Regularised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regression adds a </a:t>
            </a: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</a:t>
            </a: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large coefficients. The model must now 'pay' for every driver it uses heavily — so only drivers that really help survive.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 → ordinary regression. Very large λ → all coefficients squeezed to zero (predict the average). The best λ is somewhere between.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46520" y="169164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6720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720840" y="21488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minimise: errors² + λ × size of coefficients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720840" y="295351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(lambda) sets how strong the penalty is — chosen by cross-validation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46520" y="3749040"/>
            <a:ext cx="5074920" cy="2377440"/>
          </a:xfrm>
          <a:prstGeom prst="roundRect">
            <a:avLst>
              <a:gd name="adj" fmla="val 307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720840" y="3977640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09194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3995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MANAGER CARES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72084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 protects you from noisy drivers, near-duplicate drivers and small samples — exactly the conditions of new products, new markets and long wish-lists of KPIs.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PENALTIES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vs Lasso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 ·  FORECASTS THAT SURVIVE NEW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914400" y="1947672"/>
            <a:ext cx="594360" cy="59436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2096262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(L2)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2313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on squared coefficients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960120" y="28346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all coefficients towards zero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every driver in the model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when many drivers each matter a little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near-duplicate drivers by sharing the weight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17920" y="169164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492240" y="1947672"/>
            <a:ext cx="594360" cy="5943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30" y="2096262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69480" y="1920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Lasso (L1)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269480" y="23134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on absolute coefficients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537960" y="28346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— and sets some coefficients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to zero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driver selection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shorter, explainable model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near-duplicates, tends to keep one and drop the other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blends both. In R: glmnet(alpha = 0 ridge, 1 lasso, between = elastic net). In Python: Ridge, Lasso, ElasticNet.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LASSO WORK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Lasso Path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 ·  FORECASTS THAT SURVIVE NEW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09/figures/python/s09_f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44" y="1600200"/>
            <a:ext cx="6899432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S3.3-F04  ·  replicate: tdbg_3_3_figures.R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strong penalty — every coefficient is zero.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right, drivers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one by one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price, distribution, promotions, competitor price…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drivers (grey) enter last and stay small.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shows which drivers carry the most signal.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PENALTY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 Picks the Penalty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 ·  FORECASTS THAT SURVIVE NEW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9/figures/python/s09_f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58" y="1600200"/>
            <a:ext cx="6827605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S3.3-F05  ·  replicate: tdbg_3_3_figures.R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dot: CV error for one value of λ.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penalty (right): underfit. Too little (left): overfit.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λ ≈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standardised drivers.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analysts prefer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one-standard-error rule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simplest model within 1 SE of the best.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LASSO KEPT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Ordinary Regression vs Lasso, Driver by Driver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 ·  FORECASTS THAT SURVIVE NEW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9/figures/python/s09_f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036" y="1600200"/>
            <a:ext cx="6331849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S3.3-F06  ·  replicate: tdbg_3_3_figures.R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gives social impressions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+250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its near-duplicate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−230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nonsense caused by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collinearity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keeps one modest coefficient instead.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sets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25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coefficients exactly to zero — mostly noise.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drivers keep sensible signs: price −, distribution +, promotion +.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Sales in Practice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extra discipline pay off?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340 Weeks the Model Never Saw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 ·  FORECASTS THAT SURVIVE NEW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7" name="Image 1" descr="/home/claude/da1/sessions/s09/figures/python/s09_f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44" y="1600200"/>
            <a:ext cx="6899432" cy="42976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S3.3-F08  ·  replicate: tdbg_3_3_figures.R / .py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60 weeks, tested on 340.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test RMSE ≈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cases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OLS ≈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cases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about 10% better.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 are about 1,490 cases a week, so lasso's typical miss is ~6%.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production planning, a 10-case error reduction compounds across SKUs and regions.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IT MATTER?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Regularisation Pays Most With Little Data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 ·  FORECASTS THAT SURVIVE NEW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9/figures/python/s09_f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58" y="1600200"/>
            <a:ext cx="6827605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S3.3-F07  ·  replicate: tdbg_3_3_figures.R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35 weeks, lasso's error is ~20% lower than OLS.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300 weeks, all three methods converge.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regularise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products, new markets, new branches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any model with more drivers than you can trust.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lots of data, lasso gives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coef() From a Cross-Validated Lasso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 ·  FORECASTS THAT SURVIVE NEW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68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OUTPUT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14884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coef(cv_lasso, s = "lambda.1se")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s1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(Intercept)              1243.30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regionKano                 25.42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regionPort Harcourt        20.50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price_naira                -2.30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promo_depth_pct            10.32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shelf_facings              12.45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temperature_c               7.42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distribution_pct            4.45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competitor_price            0.81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festive_week              115.20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school_term                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noise_03                   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noise_04                   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social_impressions_k_dup   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(other rows omitted)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949440" y="169164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7132320" y="185623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713232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635240" y="18105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= kept drivers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178040" y="228600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in original units: each extra ₦1 of price costs about 2.3 cases a week; a festive week adds ~115.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949440" y="281178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132320" y="297637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7132320" y="2976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9306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Dots (.) = dropped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7178040" y="340614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zero: lasso decided these drivers add nothing.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949440" y="393192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7132320" y="409651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 txBox="1"/>
          <p:nvPr/>
        </p:nvSpPr>
        <p:spPr>
          <a:xfrm>
            <a:off x="713232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40507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lambda.1se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7178040" y="452628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model within 1 SE of the best CV error — easier to explain.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949440" y="505206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7132320" y="521665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 txBox="1"/>
          <p:nvPr/>
        </p:nvSpPr>
        <p:spPr>
          <a:xfrm>
            <a:off x="7132320" y="5216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7635240" y="51709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Shrunk values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7178040" y="564642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Penalised coefficients are biased towards zero — use them to </a:t>
            </a: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and rank</a:t>
            </a: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as exact causal effects.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MANAGERS GO WRONG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Predictive Models Mislead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 ·  FORECASTS THAT SURVIVE NEW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HABIT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942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057400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training accuracy (R² 0.95!) to the board.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2057400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4942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05740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cross-validated error only.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2862072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5409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2862072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the model repeatedly against the test set.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63640" y="2862072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05409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03720" y="286207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with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touch the test set once.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40080" y="3666744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58768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80160" y="3666744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Shuffling time-ordered data before splitting.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263640" y="3666744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858768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903720" y="366674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test on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40080" y="4471416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663440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80160" y="447141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every KPI 'just in case'.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6263640" y="4471416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663440"/>
            <a:ext cx="310896" cy="31089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903720" y="4471416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let CV decide what earns its place.</a:t>
            </a:r>
            <a:endParaRPr lang="en-US" sz="1300" dirty="0"/>
          </a:p>
        </p:txBody>
      </p:sp>
      <p:sp>
        <p:nvSpPr>
          <p:cNvPr id="33" name="Shape 22"/>
          <p:cNvSpPr/>
          <p:nvPr/>
        </p:nvSpPr>
        <p:spPr>
          <a:xfrm>
            <a:off x="640080" y="5276088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468112"/>
            <a:ext cx="310896" cy="310896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280160" y="527608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lasso coefficients as precise causal effects.</a:t>
            </a:r>
            <a:endParaRPr lang="en-US" sz="1300" dirty="0"/>
          </a:p>
        </p:txBody>
      </p:sp>
      <p:sp>
        <p:nvSpPr>
          <p:cNvPr id="36" name="Shape 24"/>
          <p:cNvSpPr/>
          <p:nvPr/>
        </p:nvSpPr>
        <p:spPr>
          <a:xfrm>
            <a:off x="6263640" y="5276088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5468112"/>
            <a:ext cx="310896" cy="31089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903720" y="527608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them to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and prioritise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test causes with experiments.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What Would You Say?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 ·  FORECASTS THAT SURVIVE NEW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churn model with 150 candidate drivers, trained on 2,000 customers, shows training accuracy 97% and cross-validated accuracy 71%. What is the most likely diagnosis and first fix?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 — add more drivers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— regularise (e.g. lasso) and/or reduce drivers, then re-check CV accuracy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CV is wrong — trust the 97%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 smaller sample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Forecast a New SKU From 60 Weeks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 ·  FORECASTS THAT SURVIVE NEW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9144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NEED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6700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data/beverage_sku_sales.csv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script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7216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sessions/3-3/R/tdbg_3_3_lab.R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262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417320" y="4773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sessions/3-3/python/tdbg_3_3_lab.py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914400" y="5623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30 minutes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173736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0" name="Text 14"/>
          <p:cNvSpPr txBox="1"/>
          <p:nvPr/>
        </p:nvSpPr>
        <p:spPr>
          <a:xfrm>
            <a:off x="46634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16916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OLS with all 24 drivers on weeks 1–60. Compare training and test RMSE.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63440" y="246888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6634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212080" y="2423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5-fold CV; list the drivers it keeps and its test RMSE.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663440" y="320040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 txBox="1"/>
          <p:nvPr/>
        </p:nvSpPr>
        <p:spPr>
          <a:xfrm>
            <a:off x="46634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212080" y="31546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for comparison; try lasso's 1-SE rule for a simpler model.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4663440" y="393192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9" name="Text 23"/>
          <p:cNvSpPr txBox="1"/>
          <p:nvPr/>
        </p:nvSpPr>
        <p:spPr>
          <a:xfrm>
            <a:off x="46634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212080" y="38862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strange OLS coefficients on social impressions and its duplicate.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4663440" y="46634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32" name="Text 26"/>
          <p:cNvSpPr txBox="1"/>
          <p:nvPr/>
        </p:nvSpPr>
        <p:spPr>
          <a:xfrm>
            <a:off x="46634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212080" y="46177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 everything on 300 weeks: does lasso still win? Why?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4663440" y="539496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F3F6F9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35" name="Text 29"/>
          <p:cNvSpPr txBox="1"/>
          <p:nvPr/>
        </p:nvSpPr>
        <p:spPr>
          <a:xfrm>
            <a:off x="4892040" y="5394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model-comparison table (drivers used, train RMSE, test RMSE) and your deployment choice.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TO OWN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Vocabulary in Plain English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 ·  FORECASTS THAT SURVIVE NEW DATA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2296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noise in the training data; poor on new data.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2296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Underfitting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simple to capture the real pattern.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from an over-simple model.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296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Variance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from an over-flexible, unstable model.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2296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46888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one part, score on an untouched part.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17220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35508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train/validate folds to estimate error.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7220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35508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Regularisation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Penalising large coefficients to reduce overfitting.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17220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635508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00100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penalty: shrinks all coefficients.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7220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635508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Lasso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00100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penalty: shrinks and zeroes out coefficients.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17220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635508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Collinearity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00100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so correlated their effects can't be separated.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3.3 in 5 Ideas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error always flatters; judge models on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they have not seen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0864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40864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= bias + variance: the best model balances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and flexibility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0088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90088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chooses model settings; a test set gives the final score.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39312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639312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shrinks;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shrinks and selects — both tame noise and collinearity.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88536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288536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 hardest when data are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drivers are many.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8092440" cy="1051560"/>
          </a:xfrm>
          <a:prstGeom prst="roundRect">
            <a:avLst>
              <a:gd name="adj" fmla="val 6957"/>
            </a:avLst>
          </a:prstGeom>
          <a:solidFill>
            <a:srgbClr val="17305C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51560" y="51206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session:</a:t>
            </a:r>
            <a:r>
              <a:rPr lang="en-US" sz="13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 Chapters 17–18 (Introduction to Classification; Logistic Regression). Bring an example of a yes/no decision in your business that a model could support.</a:t>
            </a:r>
            <a:endParaRPr lang="en-US" sz="1300" dirty="0"/>
          </a:p>
        </p:txBody>
      </p:sp>
      <p:pic>
        <p:nvPicPr>
          <p:cNvPr id="18" name="Image 0" descr="/home/claude/da1/assets/logos/da1_hex_m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103120"/>
            <a:ext cx="2286000" cy="22860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52560" y="4572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›  Session 3.4: Yes-or-No Decisions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Lagos Business School, Pan-Atlantic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DA-1 Session 9: Regularised Regression &amp; Predictive Sales</dc:title>
  <dc:subject>PptxGenJS Presentation</dc:subject>
  <dc:creator>Prof. Bongo Adi — Lagos Business School</dc:creator>
  <cp:lastModifiedBy>Prof. Bongo Adi — Lagos Business School</cp:lastModifiedBy>
  <cp:revision>1</cp:revision>
  <dcterms:created xsi:type="dcterms:W3CDTF">2026-10-01T21:51:19Z</dcterms:created>
  <dcterms:modified xsi:type="dcterms:W3CDTF">2026-10-01T21:51:19Z</dcterms:modified>
</cp:coreProperties>
</file>