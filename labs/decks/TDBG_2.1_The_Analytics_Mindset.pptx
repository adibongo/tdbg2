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5" name="Text 2"/>
          <p:cNvSpPr txBox="1"/>
          <p:nvPr/>
        </p:nvSpPr>
        <p:spPr>
          <a:xfrm>
            <a:off x="822960" y="1005840"/>
            <a:ext cx="10515600" cy="320040"/>
          </a:xfrm>
          <a:prstGeom prst="rect">
            <a:avLst/>
          </a:prstGeom>
          <a:noFill/>
          <a:ln/>
        </p:spPr>
        <p:txBody>
          <a:bodyPr wrap="square" lIns="0" tIns="0" rIns="0" bIns="0" rtlCol="0" anchor="t"/>
          <a:lstStyle/>
          <a:p>
            <a:pPr indent="0" marL="0">
              <a:buNone/>
            </a:pPr>
            <a:r>
              <a:rPr lang="en-US" sz="1250" b="1" spc="400" kern="0" dirty="0">
                <a:solidFill>
                  <a:srgbClr val="D99A2B"/>
                </a:solidFill>
                <a:latin typeface="Calibri" pitchFamily="34" charset="0"/>
                <a:ea typeface="Calibri" pitchFamily="34" charset="-122"/>
                <a:cs typeface="Calibri" pitchFamily="34" charset="-120"/>
              </a:rPr>
              <a:t>LAGOS BUSINESS SCHOOL  ·  TURNING DATA INTO BUSINESS GROWTH  ·  DAY 2</a:t>
            </a:r>
            <a:endParaRPr lang="en-US" sz="1250" dirty="0"/>
          </a:p>
        </p:txBody>
      </p:sp>
      <p:sp>
        <p:nvSpPr>
          <p:cNvPr id="6" name="Text 3"/>
          <p:cNvSpPr txBox="1"/>
          <p:nvPr/>
        </p:nvSpPr>
        <p:spPr>
          <a:xfrm>
            <a:off x="822960" y="1645920"/>
            <a:ext cx="5486400" cy="502920"/>
          </a:xfrm>
          <a:prstGeom prst="rect">
            <a:avLst/>
          </a:prstGeom>
          <a:noFill/>
          <a:ln/>
        </p:spPr>
        <p:txBody>
          <a:bodyPr wrap="square" lIns="0" tIns="0" rIns="0" bIns="0" rtlCol="0" anchor="t"/>
          <a:lstStyle/>
          <a:p>
            <a:pPr indent="0" marL="0">
              <a:buNone/>
            </a:pPr>
            <a:r>
              <a:rPr lang="en-US" sz="2800" b="1" dirty="0">
                <a:solidFill>
                  <a:srgbClr val="AAB9CC"/>
                </a:solidFill>
                <a:latin typeface="Cambria" pitchFamily="34" charset="0"/>
                <a:ea typeface="Cambria" pitchFamily="34" charset="-122"/>
                <a:cs typeface="Cambria" pitchFamily="34" charset="-120"/>
              </a:rPr>
              <a:t>SESSION 2.1</a:t>
            </a:r>
            <a:endParaRPr lang="en-US" sz="2800" dirty="0"/>
          </a:p>
        </p:txBody>
      </p:sp>
      <p:sp>
        <p:nvSpPr>
          <p:cNvPr id="7" name="Text 4"/>
          <p:cNvSpPr txBox="1"/>
          <p:nvPr/>
        </p:nvSpPr>
        <p:spPr>
          <a:xfrm>
            <a:off x="822960" y="2240280"/>
            <a:ext cx="7863840" cy="173736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Cambria" pitchFamily="34" charset="0"/>
                <a:ea typeface="Cambria" pitchFamily="34" charset="-122"/>
                <a:cs typeface="Cambria" pitchFamily="34" charset="-120"/>
              </a:rPr>
              <a:t>The Analytics Mindset</a:t>
            </a:r>
            <a:endParaRPr lang="en-US" sz="4000" dirty="0"/>
          </a:p>
        </p:txBody>
      </p:sp>
      <p:sp>
        <p:nvSpPr>
          <p:cNvPr id="8" name="Text 5"/>
          <p:cNvSpPr txBox="1"/>
          <p:nvPr/>
        </p:nvSpPr>
        <p:spPr>
          <a:xfrm>
            <a:off x="822960" y="4114800"/>
            <a:ext cx="7680960" cy="41148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The Analytics Mindset, Data Literacy &amp; Your Toolkit</a:t>
            </a:r>
            <a:endParaRPr lang="en-US" sz="1600" dirty="0"/>
          </a:p>
        </p:txBody>
      </p:sp>
      <p:sp>
        <p:nvSpPr>
          <p:cNvPr id="9" name="Shape 6"/>
          <p:cNvSpPr/>
          <p:nvPr/>
        </p:nvSpPr>
        <p:spPr>
          <a:xfrm>
            <a:off x="777240" y="4846320"/>
            <a:ext cx="502920" cy="502920"/>
          </a:xfrm>
          <a:prstGeom prst="ellipse">
            <a:avLst/>
          </a:prstGeom>
          <a:solidFill>
            <a:srgbClr val="1C7293"/>
          </a:solidFill>
          <a:ln w="12700">
            <a:solidFill>
              <a:srgbClr val="1C7293"/>
            </a:solidFill>
            <a:prstDash val="solid"/>
          </a:ln>
        </p:spPr>
        <p:txBody>
          <a:bodyPr/>
          <a:p/>
        </p:txBody>
      </p:sp>
      <p:pic>
        <p:nvPicPr>
          <p:cNvPr id="10" name="Image 0" descr="preencoded.png">    </p:cNvPr>
          <p:cNvPicPr>
            <a:picLocks noChangeAspect="1"/>
          </p:cNvPicPr>
          <p:nvPr/>
        </p:nvPicPr>
        <p:blipFill>
          <a:blip r:embed="rId1"/>
          <a:stretch>
            <a:fillRect/>
          </a:stretch>
        </p:blipFill>
        <p:spPr>
          <a:xfrm>
            <a:off x="902970" y="4972050"/>
            <a:ext cx="251460" cy="251460"/>
          </a:xfrm>
          <a:prstGeom prst="rect">
            <a:avLst/>
          </a:prstGeom>
        </p:spPr>
      </p:pic>
      <p:sp>
        <p:nvSpPr>
          <p:cNvPr id="11" name="Text 7"/>
          <p:cNvSpPr txBox="1"/>
          <p:nvPr/>
        </p:nvSpPr>
        <p:spPr>
          <a:xfrm>
            <a:off x="1463040" y="4919472"/>
            <a:ext cx="6949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Source: Chapters 6–7 — Setting Up Your Environment · Data Literacy</a:t>
            </a:r>
            <a:endParaRPr lang="en-US" sz="1250" dirty="0"/>
          </a:p>
        </p:txBody>
      </p:sp>
      <p:sp>
        <p:nvSpPr>
          <p:cNvPr id="12" name="Text 8"/>
          <p:cNvSpPr txBox="1"/>
          <p:nvPr/>
        </p:nvSpPr>
        <p:spPr>
          <a:xfrm>
            <a:off x="822960" y="6035040"/>
            <a:ext cx="8229600" cy="274320"/>
          </a:xfrm>
          <a:prstGeom prst="rect">
            <a:avLst/>
          </a:prstGeom>
          <a:noFill/>
          <a:ln/>
        </p:spPr>
        <p:txBody>
          <a:bodyPr wrap="square" lIns="0" tIns="0" rIns="0" bIns="0" rtlCol="0" anchor="t"/>
          <a:lstStyle/>
          <a:p>
            <a:pPr indent="0" marL="0">
              <a:buNone/>
            </a:pPr>
            <a:r>
              <a:rPr lang="en-US" sz="1050" dirty="0">
                <a:solidFill>
                  <a:srgbClr val="AAB9CC"/>
                </a:solidFill>
                <a:latin typeface="Calibri" pitchFamily="34" charset="0"/>
                <a:ea typeface="Calibri" pitchFamily="34" charset="-122"/>
                <a:cs typeface="Calibri" pitchFamily="34" charset="-120"/>
              </a:rPr>
              <a:t>AI-Powered Business Analytics: A Practical Textbook for Data-Driven Decision Making  ·  Prof. Bongo Adi</a:t>
            </a:r>
            <a:endParaRPr lang="en-US" sz="1050" dirty="0"/>
          </a:p>
        </p:txBody>
      </p:sp>
      <p:pic>
        <p:nvPicPr>
          <p:cNvPr id="13" name="Image 1" descr="/home/claude/da1/assets/logos/da1_hex_m1.png">    </p:cNvPr>
          <p:cNvPicPr>
            <a:picLocks noChangeAspect="1"/>
          </p:cNvPicPr>
          <p:nvPr/>
        </p:nvPicPr>
        <p:blipFill>
          <a:blip r:embed="rId2"/>
          <a:stretch>
            <a:fillRect/>
          </a:stretch>
        </p:blipFill>
        <p:spPr>
          <a:xfrm>
            <a:off x="8915400" y="1554480"/>
            <a:ext cx="2743200" cy="274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TODAY'S PLAN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2.1 at a Glance — 75 Minutes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Five blocks, one arc: from expectations, to concepts, to hands-on practice.</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1414272" cy="384048"/>
          </a:xfrm>
          <a:prstGeom prst="rect">
            <a:avLst/>
          </a:prstGeom>
          <a:solidFill>
            <a:srgbClr val="0B5E82"/>
          </a:solidFill>
          <a:ln w="12700">
            <a:solidFill>
              <a:srgbClr val="FFFFFF"/>
            </a:solidFill>
            <a:prstDash val="solid"/>
          </a:ln>
        </p:spPr>
        <p:txBody>
          <a:bodyPr/>
          <a:p/>
        </p:txBody>
      </p:sp>
      <p:sp>
        <p:nvSpPr>
          <p:cNvPr id="10" name="Text 6"/>
          <p:cNvSpPr txBox="1"/>
          <p:nvPr/>
        </p:nvSpPr>
        <p:spPr>
          <a:xfrm>
            <a:off x="640080" y="1874520"/>
            <a:ext cx="14142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11" name="Shape 7"/>
          <p:cNvSpPr/>
          <p:nvPr/>
        </p:nvSpPr>
        <p:spPr>
          <a:xfrm>
            <a:off x="2090928" y="1874520"/>
            <a:ext cx="2865120" cy="384048"/>
          </a:xfrm>
          <a:prstGeom prst="rect">
            <a:avLst/>
          </a:prstGeom>
          <a:solidFill>
            <a:srgbClr val="1C7293"/>
          </a:solidFill>
          <a:ln w="12700">
            <a:solidFill>
              <a:srgbClr val="FFFFFF"/>
            </a:solidFill>
            <a:prstDash val="solid"/>
          </a:ln>
        </p:spPr>
        <p:txBody>
          <a:bodyPr/>
          <a:p/>
        </p:txBody>
      </p:sp>
      <p:sp>
        <p:nvSpPr>
          <p:cNvPr id="12" name="Text 8"/>
          <p:cNvSpPr txBox="1"/>
          <p:nvPr/>
        </p:nvSpPr>
        <p:spPr>
          <a:xfrm>
            <a:off x="2090928" y="1874520"/>
            <a:ext cx="2865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20'</a:t>
            </a:r>
            <a:endParaRPr lang="en-US" sz="1200" dirty="0"/>
          </a:p>
        </p:txBody>
      </p:sp>
      <p:sp>
        <p:nvSpPr>
          <p:cNvPr id="13" name="Shape 9"/>
          <p:cNvSpPr/>
          <p:nvPr/>
        </p:nvSpPr>
        <p:spPr>
          <a:xfrm>
            <a:off x="4992624" y="1874520"/>
            <a:ext cx="2139696" cy="384048"/>
          </a:xfrm>
          <a:prstGeom prst="rect">
            <a:avLst/>
          </a:prstGeom>
          <a:solidFill>
            <a:srgbClr val="D99A2B"/>
          </a:solidFill>
          <a:ln w="12700">
            <a:solidFill>
              <a:srgbClr val="FFFFFF"/>
            </a:solidFill>
            <a:prstDash val="solid"/>
          </a:ln>
        </p:spPr>
        <p:txBody>
          <a:bodyPr/>
          <a:p/>
        </p:txBody>
      </p:sp>
      <p:sp>
        <p:nvSpPr>
          <p:cNvPr id="14" name="Text 10"/>
          <p:cNvSpPr txBox="1"/>
          <p:nvPr/>
        </p:nvSpPr>
        <p:spPr>
          <a:xfrm>
            <a:off x="4992624" y="1874520"/>
            <a:ext cx="21396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15" name="Shape 11"/>
          <p:cNvSpPr/>
          <p:nvPr/>
        </p:nvSpPr>
        <p:spPr>
          <a:xfrm>
            <a:off x="7168896" y="1874520"/>
            <a:ext cx="3590544" cy="384048"/>
          </a:xfrm>
          <a:prstGeom prst="rect">
            <a:avLst/>
          </a:prstGeom>
          <a:solidFill>
            <a:srgbClr val="0B5E82"/>
          </a:solidFill>
          <a:ln w="12700">
            <a:solidFill>
              <a:srgbClr val="FFFFFF"/>
            </a:solidFill>
            <a:prstDash val="solid"/>
          </a:ln>
        </p:spPr>
        <p:txBody>
          <a:bodyPr/>
          <a:p/>
        </p:txBody>
      </p:sp>
      <p:sp>
        <p:nvSpPr>
          <p:cNvPr id="16" name="Text 12"/>
          <p:cNvSpPr txBox="1"/>
          <p:nvPr/>
        </p:nvSpPr>
        <p:spPr>
          <a:xfrm>
            <a:off x="7168896" y="1874520"/>
            <a:ext cx="35905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a:t>
            </a:r>
            <a:endParaRPr lang="en-US" sz="1200" dirty="0"/>
          </a:p>
        </p:txBody>
      </p:sp>
      <p:sp>
        <p:nvSpPr>
          <p:cNvPr id="17" name="Shape 13"/>
          <p:cNvSpPr/>
          <p:nvPr/>
        </p:nvSpPr>
        <p:spPr>
          <a:xfrm>
            <a:off x="10796016" y="1874520"/>
            <a:ext cx="688848" cy="384048"/>
          </a:xfrm>
          <a:prstGeom prst="rect">
            <a:avLst/>
          </a:prstGeom>
          <a:solidFill>
            <a:srgbClr val="1C7293"/>
          </a:solidFill>
          <a:ln w="12700">
            <a:solidFill>
              <a:srgbClr val="FFFFFF"/>
            </a:solidFill>
            <a:prstDash val="solid"/>
          </a:ln>
        </p:spPr>
        <p:txBody>
          <a:bodyPr/>
          <a:p/>
        </p:txBody>
      </p:sp>
      <p:sp>
        <p:nvSpPr>
          <p:cNvPr id="18" name="Text 14"/>
          <p:cNvSpPr txBox="1"/>
          <p:nvPr/>
        </p:nvSpPr>
        <p:spPr>
          <a:xfrm>
            <a:off x="10796016" y="1874520"/>
            <a:ext cx="6888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Shape 15"/>
          <p:cNvSpPr/>
          <p:nvPr/>
        </p:nvSpPr>
        <p:spPr>
          <a:xfrm>
            <a:off x="640080" y="2560320"/>
            <a:ext cx="2015338" cy="3383280"/>
          </a:xfrm>
          <a:prstGeom prst="roundRect">
            <a:avLst>
              <a:gd name="adj" fmla="val 363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6"/>
          <p:cNvSpPr/>
          <p:nvPr/>
        </p:nvSpPr>
        <p:spPr>
          <a:xfrm>
            <a:off x="1327709" y="2788920"/>
            <a:ext cx="640080" cy="640080"/>
          </a:xfrm>
          <a:prstGeom prst="ellipse">
            <a:avLst/>
          </a:prstGeom>
          <a:solidFill>
            <a:srgbClr val="0B5E82"/>
          </a:solidFill>
          <a:ln w="12700">
            <a:solidFill>
              <a:srgbClr val="0B5E82"/>
            </a:solidFill>
            <a:prstDash val="solid"/>
          </a:ln>
        </p:spPr>
        <p:txBody>
          <a:bodyPr/>
          <a:p/>
        </p:txBody>
      </p:sp>
      <p:pic>
        <p:nvPicPr>
          <p:cNvPr id="21" name="Image 1" descr="preencoded.png">    </p:cNvPr>
          <p:cNvPicPr>
            <a:picLocks noChangeAspect="1"/>
          </p:cNvPicPr>
          <p:nvPr/>
        </p:nvPicPr>
        <p:blipFill>
          <a:blip r:embed="rId2"/>
          <a:stretch>
            <a:fillRect/>
          </a:stretch>
        </p:blipFill>
        <p:spPr>
          <a:xfrm>
            <a:off x="1487729" y="2948940"/>
            <a:ext cx="320040" cy="320040"/>
          </a:xfrm>
          <a:prstGeom prst="rect">
            <a:avLst/>
          </a:prstGeom>
        </p:spPr>
      </p:pic>
      <p:sp>
        <p:nvSpPr>
          <p:cNvPr id="22" name="Text 17"/>
          <p:cNvSpPr txBox="1"/>
          <p:nvPr/>
        </p:nvSpPr>
        <p:spPr>
          <a:xfrm>
            <a:off x="777240" y="3611880"/>
            <a:ext cx="1741018"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Welcome &amp; Policies</a:t>
            </a:r>
            <a:endParaRPr lang="en-US" sz="1450" dirty="0"/>
          </a:p>
        </p:txBody>
      </p:sp>
      <p:sp>
        <p:nvSpPr>
          <p:cNvPr id="23" name="Text 18"/>
          <p:cNvSpPr txBox="1"/>
          <p:nvPr/>
        </p:nvSpPr>
        <p:spPr>
          <a:xfrm>
            <a:off x="822960" y="4206240"/>
            <a:ext cx="1649578"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Roadmap, expectations, assessment, AI-use policy</a:t>
            </a:r>
            <a:endParaRPr lang="en-US" sz="1200" dirty="0"/>
          </a:p>
        </p:txBody>
      </p:sp>
      <p:sp>
        <p:nvSpPr>
          <p:cNvPr id="24" name="Shape 19"/>
          <p:cNvSpPr/>
          <p:nvPr/>
        </p:nvSpPr>
        <p:spPr>
          <a:xfrm>
            <a:off x="2856586" y="2560320"/>
            <a:ext cx="2015338" cy="3383280"/>
          </a:xfrm>
          <a:prstGeom prst="roundRect">
            <a:avLst>
              <a:gd name="adj" fmla="val 363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20"/>
          <p:cNvSpPr/>
          <p:nvPr/>
        </p:nvSpPr>
        <p:spPr>
          <a:xfrm>
            <a:off x="3544214" y="2788920"/>
            <a:ext cx="640080" cy="640080"/>
          </a:xfrm>
          <a:prstGeom prst="ellipse">
            <a:avLst/>
          </a:prstGeom>
          <a:solidFill>
            <a:srgbClr val="0B5E82"/>
          </a:solidFill>
          <a:ln w="12700">
            <a:solidFill>
              <a:srgbClr val="0B5E82"/>
            </a:solidFill>
            <a:prstDash val="solid"/>
          </a:ln>
        </p:spPr>
        <p:txBody>
          <a:bodyPr/>
          <a:p/>
        </p:txBody>
      </p:sp>
      <p:pic>
        <p:nvPicPr>
          <p:cNvPr id="26" name="Image 2" descr="preencoded.png">    </p:cNvPr>
          <p:cNvPicPr>
            <a:picLocks noChangeAspect="1"/>
          </p:cNvPicPr>
          <p:nvPr/>
        </p:nvPicPr>
        <p:blipFill>
          <a:blip r:embed="rId3"/>
          <a:stretch>
            <a:fillRect/>
          </a:stretch>
        </p:blipFill>
        <p:spPr>
          <a:xfrm>
            <a:off x="3704234" y="2948940"/>
            <a:ext cx="320040" cy="320040"/>
          </a:xfrm>
          <a:prstGeom prst="rect">
            <a:avLst/>
          </a:prstGeom>
        </p:spPr>
      </p:pic>
      <p:sp>
        <p:nvSpPr>
          <p:cNvPr id="27" name="Text 21"/>
          <p:cNvSpPr txBox="1"/>
          <p:nvPr/>
        </p:nvSpPr>
        <p:spPr>
          <a:xfrm>
            <a:off x="2993746" y="3611880"/>
            <a:ext cx="1741018"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Lecture</a:t>
            </a:r>
            <a:endParaRPr lang="en-US" sz="1450" dirty="0"/>
          </a:p>
        </p:txBody>
      </p:sp>
      <p:sp>
        <p:nvSpPr>
          <p:cNvPr id="28" name="Text 22"/>
          <p:cNvSpPr txBox="1"/>
          <p:nvPr/>
        </p:nvSpPr>
        <p:spPr>
          <a:xfrm>
            <a:off x="3039466" y="4206240"/>
            <a:ext cx="1649578"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Data literacy &amp; the analytics value chain</a:t>
            </a:r>
            <a:endParaRPr lang="en-US" sz="1200" dirty="0"/>
          </a:p>
        </p:txBody>
      </p:sp>
      <p:sp>
        <p:nvSpPr>
          <p:cNvPr id="29" name="Shape 23"/>
          <p:cNvSpPr/>
          <p:nvPr/>
        </p:nvSpPr>
        <p:spPr>
          <a:xfrm>
            <a:off x="5073091" y="2560320"/>
            <a:ext cx="2015338" cy="3383280"/>
          </a:xfrm>
          <a:prstGeom prst="roundRect">
            <a:avLst>
              <a:gd name="adj" fmla="val 363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0" name="Shape 24"/>
          <p:cNvSpPr/>
          <p:nvPr/>
        </p:nvSpPr>
        <p:spPr>
          <a:xfrm>
            <a:off x="5760720" y="2788920"/>
            <a:ext cx="640080" cy="640080"/>
          </a:xfrm>
          <a:prstGeom prst="ellipse">
            <a:avLst/>
          </a:prstGeom>
          <a:solidFill>
            <a:srgbClr val="D99A2B"/>
          </a:solidFill>
          <a:ln w="12700">
            <a:solidFill>
              <a:srgbClr val="D99A2B"/>
            </a:solidFill>
            <a:prstDash val="solid"/>
          </a:ln>
        </p:spPr>
        <p:txBody>
          <a:bodyPr/>
          <a:p/>
        </p:txBody>
      </p:sp>
      <p:pic>
        <p:nvPicPr>
          <p:cNvPr id="31" name="Image 3" descr="preencoded.png">    </p:cNvPr>
          <p:cNvPicPr>
            <a:picLocks noChangeAspect="1"/>
          </p:cNvPicPr>
          <p:nvPr/>
        </p:nvPicPr>
        <p:blipFill>
          <a:blip r:embed="rId4"/>
          <a:stretch>
            <a:fillRect/>
          </a:stretch>
        </p:blipFill>
        <p:spPr>
          <a:xfrm>
            <a:off x="5920740" y="2948940"/>
            <a:ext cx="320040" cy="320040"/>
          </a:xfrm>
          <a:prstGeom prst="rect">
            <a:avLst/>
          </a:prstGeom>
        </p:spPr>
      </p:pic>
      <p:sp>
        <p:nvSpPr>
          <p:cNvPr id="32" name="Text 25"/>
          <p:cNvSpPr txBox="1"/>
          <p:nvPr/>
        </p:nvSpPr>
        <p:spPr>
          <a:xfrm>
            <a:off x="5210251" y="3611880"/>
            <a:ext cx="1741018"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Diagnostic Quiz</a:t>
            </a:r>
            <a:endParaRPr lang="en-US" sz="1450" dirty="0"/>
          </a:p>
        </p:txBody>
      </p:sp>
      <p:sp>
        <p:nvSpPr>
          <p:cNvPr id="33" name="Text 26"/>
          <p:cNvSpPr txBox="1"/>
          <p:nvPr/>
        </p:nvSpPr>
        <p:spPr>
          <a:xfrm>
            <a:off x="5255971" y="4206240"/>
            <a:ext cx="1649578"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Ungraded — gauge your quantitative comfort</a:t>
            </a:r>
            <a:endParaRPr lang="en-US" sz="1200" dirty="0"/>
          </a:p>
        </p:txBody>
      </p:sp>
      <p:sp>
        <p:nvSpPr>
          <p:cNvPr id="34" name="Shape 27"/>
          <p:cNvSpPr/>
          <p:nvPr/>
        </p:nvSpPr>
        <p:spPr>
          <a:xfrm>
            <a:off x="7289597" y="2560320"/>
            <a:ext cx="2015338" cy="3383280"/>
          </a:xfrm>
          <a:prstGeom prst="roundRect">
            <a:avLst>
              <a:gd name="adj" fmla="val 363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5" name="Shape 28"/>
          <p:cNvSpPr/>
          <p:nvPr/>
        </p:nvSpPr>
        <p:spPr>
          <a:xfrm>
            <a:off x="7977226" y="2788920"/>
            <a:ext cx="640080" cy="640080"/>
          </a:xfrm>
          <a:prstGeom prst="ellipse">
            <a:avLst/>
          </a:prstGeom>
          <a:solidFill>
            <a:srgbClr val="0B5E82"/>
          </a:solidFill>
          <a:ln w="12700">
            <a:solidFill>
              <a:srgbClr val="0B5E82"/>
            </a:solidFill>
            <a:prstDash val="solid"/>
          </a:ln>
        </p:spPr>
        <p:txBody>
          <a:bodyPr/>
          <a:p/>
        </p:txBody>
      </p:sp>
      <p:pic>
        <p:nvPicPr>
          <p:cNvPr id="36" name="Image 4" descr="preencoded.png">    </p:cNvPr>
          <p:cNvPicPr>
            <a:picLocks noChangeAspect="1"/>
          </p:cNvPicPr>
          <p:nvPr/>
        </p:nvPicPr>
        <p:blipFill>
          <a:blip r:embed="rId5"/>
          <a:stretch>
            <a:fillRect/>
          </a:stretch>
        </p:blipFill>
        <p:spPr>
          <a:xfrm>
            <a:off x="8137246" y="2948940"/>
            <a:ext cx="320040" cy="320040"/>
          </a:xfrm>
          <a:prstGeom prst="rect">
            <a:avLst/>
          </a:prstGeom>
        </p:spPr>
      </p:pic>
      <p:sp>
        <p:nvSpPr>
          <p:cNvPr id="37" name="Text 29"/>
          <p:cNvSpPr txBox="1"/>
          <p:nvPr/>
        </p:nvSpPr>
        <p:spPr>
          <a:xfrm>
            <a:off x="7426757" y="3611880"/>
            <a:ext cx="1741018"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Guided Lab</a:t>
            </a:r>
            <a:endParaRPr lang="en-US" sz="1450" dirty="0"/>
          </a:p>
        </p:txBody>
      </p:sp>
      <p:sp>
        <p:nvSpPr>
          <p:cNvPr id="38" name="Text 30"/>
          <p:cNvSpPr txBox="1"/>
          <p:nvPr/>
        </p:nvSpPr>
        <p:spPr>
          <a:xfrm>
            <a:off x="7472477" y="4206240"/>
            <a:ext cx="1649578"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RStudio tour; load and inspect a real dataset</a:t>
            </a:r>
            <a:endParaRPr lang="en-US" sz="1200" dirty="0"/>
          </a:p>
        </p:txBody>
      </p:sp>
      <p:sp>
        <p:nvSpPr>
          <p:cNvPr id="39" name="Shape 31"/>
          <p:cNvSpPr/>
          <p:nvPr/>
        </p:nvSpPr>
        <p:spPr>
          <a:xfrm>
            <a:off x="9506102" y="2560320"/>
            <a:ext cx="2015338" cy="3383280"/>
          </a:xfrm>
          <a:prstGeom prst="roundRect">
            <a:avLst>
              <a:gd name="adj" fmla="val 363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40" name="Shape 32"/>
          <p:cNvSpPr/>
          <p:nvPr/>
        </p:nvSpPr>
        <p:spPr>
          <a:xfrm>
            <a:off x="10193731" y="2788920"/>
            <a:ext cx="640080" cy="640080"/>
          </a:xfrm>
          <a:prstGeom prst="ellipse">
            <a:avLst/>
          </a:prstGeom>
          <a:solidFill>
            <a:srgbClr val="0B5E82"/>
          </a:solidFill>
          <a:ln w="12700">
            <a:solidFill>
              <a:srgbClr val="0B5E82"/>
            </a:solidFill>
            <a:prstDash val="solid"/>
          </a:ln>
        </p:spPr>
        <p:txBody>
          <a:bodyPr/>
          <a:p/>
        </p:txBody>
      </p:sp>
      <p:pic>
        <p:nvPicPr>
          <p:cNvPr id="41" name="Image 5" descr="preencoded.png">    </p:cNvPr>
          <p:cNvPicPr>
            <a:picLocks noChangeAspect="1"/>
          </p:cNvPicPr>
          <p:nvPr/>
        </p:nvPicPr>
        <p:blipFill>
          <a:blip r:embed="rId6"/>
          <a:stretch>
            <a:fillRect/>
          </a:stretch>
        </p:blipFill>
        <p:spPr>
          <a:xfrm>
            <a:off x="10353751" y="2948940"/>
            <a:ext cx="320040" cy="320040"/>
          </a:xfrm>
          <a:prstGeom prst="rect">
            <a:avLst/>
          </a:prstGeom>
        </p:spPr>
      </p:pic>
      <p:sp>
        <p:nvSpPr>
          <p:cNvPr id="42" name="Text 33"/>
          <p:cNvSpPr txBox="1"/>
          <p:nvPr/>
        </p:nvSpPr>
        <p:spPr>
          <a:xfrm>
            <a:off x="9643262" y="3611880"/>
            <a:ext cx="1741018" cy="548640"/>
          </a:xfrm>
          <a:prstGeom prst="rect">
            <a:avLst/>
          </a:prstGeom>
          <a:noFill/>
          <a:ln/>
        </p:spPr>
        <p:txBody>
          <a:bodyPr wrap="square" lIns="0" tIns="0" rIns="0" bIns="0" rtlCol="0" anchor="ctr"/>
          <a:lstStyle/>
          <a:p>
            <a:pPr algn="ctr" indent="0" marL="0">
              <a:buNone/>
            </a:pPr>
            <a:r>
              <a:rPr lang="en-US" sz="1450" b="1" dirty="0">
                <a:solidFill>
                  <a:srgbClr val="141B4D"/>
                </a:solidFill>
                <a:latin typeface="Cambria" pitchFamily="34" charset="0"/>
                <a:ea typeface="Cambria" pitchFamily="34" charset="-122"/>
                <a:cs typeface="Cambria" pitchFamily="34" charset="-120"/>
              </a:rPr>
              <a:t>Wrap-Up</a:t>
            </a:r>
            <a:endParaRPr lang="en-US" sz="1450" dirty="0"/>
          </a:p>
        </p:txBody>
      </p:sp>
      <p:sp>
        <p:nvSpPr>
          <p:cNvPr id="43" name="Text 34"/>
          <p:cNvSpPr txBox="1"/>
          <p:nvPr/>
        </p:nvSpPr>
        <p:spPr>
          <a:xfrm>
            <a:off x="9688982" y="4206240"/>
            <a:ext cx="1649578" cy="1645920"/>
          </a:xfrm>
          <a:prstGeom prst="rect">
            <a:avLst/>
          </a:prstGeom>
          <a:noFill/>
          <a:ln/>
        </p:spPr>
        <p:txBody>
          <a:bodyPr wrap="square" lIns="0" tIns="0" rIns="0" bIns="0" rtlCol="0" anchor="t"/>
          <a:lstStyle/>
          <a:p>
            <a:pPr algn="ctr" indent="0" marL="0">
              <a:buNone/>
            </a:pPr>
            <a:r>
              <a:rPr lang="en-US" sz="1200" dirty="0">
                <a:solidFill>
                  <a:srgbClr val="5C6B7A"/>
                </a:solidFill>
                <a:latin typeface="Calibri" pitchFamily="34" charset="0"/>
                <a:ea typeface="Calibri" pitchFamily="34" charset="-122"/>
                <a:cs typeface="Calibri" pitchFamily="34" charset="-120"/>
              </a:rPr>
              <a:t>Recap + pre-work for Session 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WHERE WE ARE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Programme Roadmap — Days 2 to 5</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Three modules across four days, a self-study practice paper for each, and the capstone defence on Friday.</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2148840"/>
            <a:ext cx="2606040" cy="3840480"/>
          </a:xfrm>
          <a:prstGeom prst="roundRect">
            <a:avLst>
              <a:gd name="adj" fmla="val 2807"/>
            </a:avLst>
          </a:prstGeom>
          <a:solidFill>
            <a:srgbClr val="0B5E82"/>
          </a:solidFill>
          <a:ln w="9525">
            <a:solidFill>
              <a:srgbClr val="0B5E82"/>
            </a:solidFill>
            <a:prstDash val="solid"/>
          </a:ln>
        </p:spPr>
        <p:txBody>
          <a:bodyPr/>
          <a:p/>
        </p:txBody>
      </p:sp>
      <p:sp>
        <p:nvSpPr>
          <p:cNvPr id="10" name="Shape 6"/>
          <p:cNvSpPr/>
          <p:nvPr/>
        </p:nvSpPr>
        <p:spPr>
          <a:xfrm>
            <a:off x="1143000" y="1984248"/>
            <a:ext cx="1600200" cy="329184"/>
          </a:xfrm>
          <a:prstGeom prst="roundRect">
            <a:avLst>
              <a:gd name="adj" fmla="val 50000"/>
            </a:avLst>
          </a:prstGeom>
          <a:solidFill>
            <a:srgbClr val="D99A2B"/>
          </a:solidFill>
          <a:ln w="12700">
            <a:solidFill>
              <a:srgbClr val="D99A2B"/>
            </a:solidFill>
            <a:prstDash val="solid"/>
          </a:ln>
        </p:spPr>
        <p:txBody>
          <a:bodyPr/>
          <a:p/>
        </p:txBody>
      </p:sp>
      <p:sp>
        <p:nvSpPr>
          <p:cNvPr id="11" name="Text 7"/>
          <p:cNvSpPr txBox="1"/>
          <p:nvPr/>
        </p:nvSpPr>
        <p:spPr>
          <a:xfrm>
            <a:off x="1143000" y="1984248"/>
            <a:ext cx="1600200" cy="329184"/>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YOU ARE HERE</a:t>
            </a:r>
            <a:endParaRPr lang="en-US" sz="1000" dirty="0"/>
          </a:p>
        </p:txBody>
      </p:sp>
      <p:sp>
        <p:nvSpPr>
          <p:cNvPr id="12" name="Text 8"/>
          <p:cNvSpPr txBox="1"/>
          <p:nvPr/>
        </p:nvSpPr>
        <p:spPr>
          <a:xfrm>
            <a:off x="868680" y="2468880"/>
            <a:ext cx="2194560"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Module 1</a:t>
            </a:r>
            <a:endParaRPr lang="en-US" sz="1900" dirty="0"/>
          </a:p>
        </p:txBody>
      </p:sp>
      <p:sp>
        <p:nvSpPr>
          <p:cNvPr id="13" name="Text 9"/>
          <p:cNvSpPr txBox="1"/>
          <p:nvPr/>
        </p:nvSpPr>
        <p:spPr>
          <a:xfrm>
            <a:off x="868680" y="2880360"/>
            <a:ext cx="2194560" cy="274320"/>
          </a:xfrm>
          <a:prstGeom prst="rect">
            <a:avLst/>
          </a:prstGeom>
          <a:noFill/>
          <a:ln/>
        </p:spPr>
        <p:txBody>
          <a:bodyPr wrap="square" lIns="0" tIns="0" rIns="0" bIns="0" rtlCol="0" anchor="t"/>
          <a:lstStyle/>
          <a:p>
            <a:pPr indent="0" marL="0">
              <a:buNone/>
            </a:pPr>
            <a:r>
              <a:rPr lang="en-US" sz="1250" b="1" dirty="0">
                <a:solidFill>
                  <a:srgbClr val="FFE3A8"/>
                </a:solidFill>
                <a:latin typeface="Calibri" pitchFamily="34" charset="0"/>
                <a:ea typeface="Calibri" pitchFamily="34" charset="-122"/>
                <a:cs typeface="Calibri" pitchFamily="34" charset="-120"/>
              </a:rPr>
              <a:t>Sessions 2.1–3.1</a:t>
            </a:r>
            <a:endParaRPr lang="en-US" sz="1250" dirty="0"/>
          </a:p>
        </p:txBody>
      </p:sp>
      <p:sp>
        <p:nvSpPr>
          <p:cNvPr id="14" name="Text 10"/>
          <p:cNvSpPr txBox="1"/>
          <p:nvPr/>
        </p:nvSpPr>
        <p:spPr>
          <a:xfrm>
            <a:off x="868680" y="3154680"/>
            <a:ext cx="2194560" cy="274320"/>
          </a:xfrm>
          <a:prstGeom prst="rect">
            <a:avLst/>
          </a:prstGeom>
          <a:noFill/>
          <a:ln/>
        </p:spPr>
        <p:txBody>
          <a:bodyPr wrap="square" lIns="0" tIns="0" rIns="0" bIns="0" rtlCol="0" anchor="t"/>
          <a:lstStyle/>
          <a:p>
            <a:pPr indent="0" marL="0">
              <a:buNone/>
            </a:pPr>
            <a:r>
              <a:rPr lang="en-US" sz="1150" dirty="0">
                <a:solidFill>
                  <a:srgbClr val="C7D3E3"/>
                </a:solidFill>
                <a:latin typeface="Calibri" pitchFamily="34" charset="0"/>
                <a:ea typeface="Calibri" pitchFamily="34" charset="-122"/>
                <a:cs typeface="Calibri" pitchFamily="34" charset="-120"/>
              </a:rPr>
              <a:t>Practice paper — self-study</a:t>
            </a:r>
            <a:endParaRPr lang="en-US" sz="1150" dirty="0"/>
          </a:p>
        </p:txBody>
      </p:sp>
      <p:sp>
        <p:nvSpPr>
          <p:cNvPr id="15" name="Text 11"/>
          <p:cNvSpPr txBox="1"/>
          <p:nvPr/>
        </p:nvSpPr>
        <p:spPr>
          <a:xfrm>
            <a:off x="868680" y="3657600"/>
            <a:ext cx="2194560" cy="2194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Foundations &amp; Inference: data literacy, statistics, EDA, visualisation, hypothesis &amp; A/B testing</a:t>
            </a:r>
            <a:endParaRPr lang="en-US" sz="1200" dirty="0"/>
          </a:p>
        </p:txBody>
      </p:sp>
      <p:sp>
        <p:nvSpPr>
          <p:cNvPr id="16" name="Shape 12"/>
          <p:cNvSpPr/>
          <p:nvPr/>
        </p:nvSpPr>
        <p:spPr>
          <a:xfrm>
            <a:off x="3429000" y="2148840"/>
            <a:ext cx="2606040" cy="3840480"/>
          </a:xfrm>
          <a:prstGeom prst="roundRect">
            <a:avLst>
              <a:gd name="adj" fmla="val 2807"/>
            </a:avLst>
          </a:prstGeom>
          <a:solidFill>
            <a:srgbClr val="F3F6F9"/>
          </a:solidFill>
          <a:ln w="9525">
            <a:solidFill>
              <a:srgbClr val="E1E7EE"/>
            </a:solidFill>
            <a:prstDash val="solid"/>
          </a:ln>
        </p:spPr>
        <p:txBody>
          <a:bodyPr/>
          <a:p/>
        </p:txBody>
      </p:sp>
      <p:sp>
        <p:nvSpPr>
          <p:cNvPr id="17" name="Text 13"/>
          <p:cNvSpPr txBox="1"/>
          <p:nvPr/>
        </p:nvSpPr>
        <p:spPr>
          <a:xfrm>
            <a:off x="3657600" y="2468880"/>
            <a:ext cx="2194560" cy="411480"/>
          </a:xfrm>
          <a:prstGeom prst="rect">
            <a:avLst/>
          </a:prstGeom>
          <a:noFill/>
          <a:ln/>
        </p:spPr>
        <p:txBody>
          <a:bodyPr wrap="square" lIns="0" tIns="0" rIns="0" bIns="0" rtlCol="0" anchor="t"/>
          <a:lstStyle/>
          <a:p>
            <a:pPr indent="0" marL="0">
              <a:buNone/>
            </a:pPr>
            <a:r>
              <a:rPr lang="en-US" sz="1900" b="1" dirty="0">
                <a:solidFill>
                  <a:srgbClr val="141B4D"/>
                </a:solidFill>
                <a:latin typeface="Cambria" pitchFamily="34" charset="0"/>
                <a:ea typeface="Cambria" pitchFamily="34" charset="-122"/>
                <a:cs typeface="Cambria" pitchFamily="34" charset="-120"/>
              </a:rPr>
              <a:t>Module 2</a:t>
            </a:r>
            <a:endParaRPr lang="en-US" sz="1900" dirty="0"/>
          </a:p>
        </p:txBody>
      </p:sp>
      <p:sp>
        <p:nvSpPr>
          <p:cNvPr id="18" name="Text 14"/>
          <p:cNvSpPr txBox="1"/>
          <p:nvPr/>
        </p:nvSpPr>
        <p:spPr>
          <a:xfrm>
            <a:off x="3657600" y="2880360"/>
            <a:ext cx="2194560" cy="274320"/>
          </a:xfrm>
          <a:prstGeom prst="rect">
            <a:avLst/>
          </a:prstGeom>
          <a:noFill/>
          <a:ln/>
        </p:spPr>
        <p:txBody>
          <a:bodyPr wrap="square" lIns="0" tIns="0" rIns="0" bIns="0" rtlCol="0" anchor="t"/>
          <a:lstStyle/>
          <a:p>
            <a:pPr indent="0" marL="0">
              <a:buNone/>
            </a:pPr>
            <a:r>
              <a:rPr lang="en-US" sz="1250" b="1" dirty="0">
                <a:solidFill>
                  <a:srgbClr val="D99A2B"/>
                </a:solidFill>
                <a:latin typeface="Calibri" pitchFamily="34" charset="0"/>
                <a:ea typeface="Calibri" pitchFamily="34" charset="-122"/>
                <a:cs typeface="Calibri" pitchFamily="34" charset="-120"/>
              </a:rPr>
              <a:t>Sessions 3.2–4.2</a:t>
            </a:r>
            <a:endParaRPr lang="en-US" sz="1250" dirty="0"/>
          </a:p>
        </p:txBody>
      </p:sp>
      <p:sp>
        <p:nvSpPr>
          <p:cNvPr id="19" name="Text 15"/>
          <p:cNvSpPr txBox="1"/>
          <p:nvPr/>
        </p:nvSpPr>
        <p:spPr>
          <a:xfrm>
            <a:off x="3657600" y="3154680"/>
            <a:ext cx="2194560" cy="27432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Practice paper — self-study</a:t>
            </a:r>
            <a:endParaRPr lang="en-US" sz="1150" dirty="0"/>
          </a:p>
        </p:txBody>
      </p:sp>
      <p:sp>
        <p:nvSpPr>
          <p:cNvPr id="20" name="Text 16"/>
          <p:cNvSpPr txBox="1"/>
          <p:nvPr/>
        </p:nvSpPr>
        <p:spPr>
          <a:xfrm>
            <a:off x="3657600" y="3657600"/>
            <a:ext cx="2194560" cy="2194560"/>
          </a:xfrm>
          <a:prstGeom prst="rect">
            <a:avLst/>
          </a:prstGeom>
          <a:noFill/>
          <a:ln/>
        </p:spPr>
        <p:txBody>
          <a:bodyPr wrap="square" lIns="0" tIns="0" rIns="0" bIns="0" rtlCol="0" anchor="t"/>
          <a:lstStyle/>
          <a:p>
            <a:pPr indent="0" marL="0">
              <a:buNone/>
            </a:pPr>
            <a:r>
              <a:rPr lang="en-US" sz="1200" dirty="0">
                <a:solidFill>
                  <a:srgbClr val="1A2233"/>
                </a:solidFill>
                <a:latin typeface="Calibri" pitchFamily="34" charset="0"/>
                <a:ea typeface="Calibri" pitchFamily="34" charset="-122"/>
                <a:cs typeface="Calibri" pitchFamily="34" charset="-120"/>
              </a:rPr>
              <a:t>Predictive &amp; Unsupervised: regression, classification, ensembles, explainability, clustering &amp; PCA</a:t>
            </a:r>
            <a:endParaRPr lang="en-US" sz="1200" dirty="0"/>
          </a:p>
        </p:txBody>
      </p:sp>
      <p:sp>
        <p:nvSpPr>
          <p:cNvPr id="21" name="Shape 17"/>
          <p:cNvSpPr/>
          <p:nvPr/>
        </p:nvSpPr>
        <p:spPr>
          <a:xfrm>
            <a:off x="6217920" y="2148840"/>
            <a:ext cx="2606040" cy="3840480"/>
          </a:xfrm>
          <a:prstGeom prst="roundRect">
            <a:avLst>
              <a:gd name="adj" fmla="val 2807"/>
            </a:avLst>
          </a:prstGeom>
          <a:solidFill>
            <a:srgbClr val="F3F6F9"/>
          </a:solidFill>
          <a:ln w="9525">
            <a:solidFill>
              <a:srgbClr val="E1E7EE"/>
            </a:solidFill>
            <a:prstDash val="solid"/>
          </a:ln>
        </p:spPr>
        <p:txBody>
          <a:bodyPr/>
          <a:p/>
        </p:txBody>
      </p:sp>
      <p:sp>
        <p:nvSpPr>
          <p:cNvPr id="22" name="Text 18"/>
          <p:cNvSpPr txBox="1"/>
          <p:nvPr/>
        </p:nvSpPr>
        <p:spPr>
          <a:xfrm>
            <a:off x="6446520" y="2468880"/>
            <a:ext cx="2194560" cy="411480"/>
          </a:xfrm>
          <a:prstGeom prst="rect">
            <a:avLst/>
          </a:prstGeom>
          <a:noFill/>
          <a:ln/>
        </p:spPr>
        <p:txBody>
          <a:bodyPr wrap="square" lIns="0" tIns="0" rIns="0" bIns="0" rtlCol="0" anchor="t"/>
          <a:lstStyle/>
          <a:p>
            <a:pPr indent="0" marL="0">
              <a:buNone/>
            </a:pPr>
            <a:r>
              <a:rPr lang="en-US" sz="1900" b="1" dirty="0">
                <a:solidFill>
                  <a:srgbClr val="141B4D"/>
                </a:solidFill>
                <a:latin typeface="Cambria" pitchFamily="34" charset="0"/>
                <a:ea typeface="Cambria" pitchFamily="34" charset="-122"/>
                <a:cs typeface="Cambria" pitchFamily="34" charset="-120"/>
              </a:rPr>
              <a:t>Module 3</a:t>
            </a:r>
            <a:endParaRPr lang="en-US" sz="1900" dirty="0"/>
          </a:p>
        </p:txBody>
      </p:sp>
      <p:sp>
        <p:nvSpPr>
          <p:cNvPr id="23" name="Text 19"/>
          <p:cNvSpPr txBox="1"/>
          <p:nvPr/>
        </p:nvSpPr>
        <p:spPr>
          <a:xfrm>
            <a:off x="6446520" y="2880360"/>
            <a:ext cx="2194560" cy="274320"/>
          </a:xfrm>
          <a:prstGeom prst="rect">
            <a:avLst/>
          </a:prstGeom>
          <a:noFill/>
          <a:ln/>
        </p:spPr>
        <p:txBody>
          <a:bodyPr wrap="square" lIns="0" tIns="0" rIns="0" bIns="0" rtlCol="0" anchor="t"/>
          <a:lstStyle/>
          <a:p>
            <a:pPr indent="0" marL="0">
              <a:buNone/>
            </a:pPr>
            <a:r>
              <a:rPr lang="en-US" sz="1250" b="1" dirty="0">
                <a:solidFill>
                  <a:srgbClr val="D99A2B"/>
                </a:solidFill>
                <a:latin typeface="Calibri" pitchFamily="34" charset="0"/>
                <a:ea typeface="Calibri" pitchFamily="34" charset="-122"/>
                <a:cs typeface="Calibri" pitchFamily="34" charset="-120"/>
              </a:rPr>
              <a:t>Sessions 4.3–5.3</a:t>
            </a:r>
            <a:endParaRPr lang="en-US" sz="1250" dirty="0"/>
          </a:p>
        </p:txBody>
      </p:sp>
      <p:sp>
        <p:nvSpPr>
          <p:cNvPr id="24" name="Text 20"/>
          <p:cNvSpPr txBox="1"/>
          <p:nvPr/>
        </p:nvSpPr>
        <p:spPr>
          <a:xfrm>
            <a:off x="6446520" y="3154680"/>
            <a:ext cx="2194560" cy="27432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Practice paper — self-study</a:t>
            </a:r>
            <a:endParaRPr lang="en-US" sz="1150" dirty="0"/>
          </a:p>
        </p:txBody>
      </p:sp>
      <p:sp>
        <p:nvSpPr>
          <p:cNvPr id="25" name="Text 21"/>
          <p:cNvSpPr txBox="1"/>
          <p:nvPr/>
        </p:nvSpPr>
        <p:spPr>
          <a:xfrm>
            <a:off x="6446520" y="3657600"/>
            <a:ext cx="2194560" cy="2194560"/>
          </a:xfrm>
          <a:prstGeom prst="rect">
            <a:avLst/>
          </a:prstGeom>
          <a:noFill/>
          <a:ln/>
        </p:spPr>
        <p:txBody>
          <a:bodyPr wrap="square" lIns="0" tIns="0" rIns="0" bIns="0" rtlCol="0" anchor="t"/>
          <a:lstStyle/>
          <a:p>
            <a:pPr indent="0" marL="0">
              <a:buNone/>
            </a:pPr>
            <a:r>
              <a:rPr lang="en-US" sz="1200" dirty="0">
                <a:solidFill>
                  <a:srgbClr val="1A2233"/>
                </a:solidFill>
                <a:latin typeface="Calibri" pitchFamily="34" charset="0"/>
                <a:ea typeface="Calibri" pitchFamily="34" charset="-122"/>
                <a:cs typeface="Calibri" pitchFamily="34" charset="-120"/>
              </a:rPr>
              <a:t>Advanced &amp; Applied: time series, text, recommendation, neural nets &amp; GenAI, customer, risk, operations &amp; people</a:t>
            </a:r>
            <a:endParaRPr lang="en-US" sz="1200" dirty="0"/>
          </a:p>
        </p:txBody>
      </p:sp>
      <p:sp>
        <p:nvSpPr>
          <p:cNvPr id="26" name="Shape 22"/>
          <p:cNvSpPr/>
          <p:nvPr/>
        </p:nvSpPr>
        <p:spPr>
          <a:xfrm>
            <a:off x="9006840" y="2148840"/>
            <a:ext cx="2606040" cy="3840480"/>
          </a:xfrm>
          <a:prstGeom prst="roundRect">
            <a:avLst>
              <a:gd name="adj" fmla="val 2807"/>
            </a:avLst>
          </a:prstGeom>
          <a:solidFill>
            <a:srgbClr val="F3F6F9"/>
          </a:solidFill>
          <a:ln w="9525">
            <a:solidFill>
              <a:srgbClr val="E1E7EE"/>
            </a:solidFill>
            <a:prstDash val="solid"/>
          </a:ln>
        </p:spPr>
        <p:txBody>
          <a:bodyPr/>
          <a:p/>
        </p:txBody>
      </p:sp>
      <p:sp>
        <p:nvSpPr>
          <p:cNvPr id="27" name="Text 23"/>
          <p:cNvSpPr txBox="1"/>
          <p:nvPr/>
        </p:nvSpPr>
        <p:spPr>
          <a:xfrm>
            <a:off x="9235440" y="2468880"/>
            <a:ext cx="2194560" cy="411480"/>
          </a:xfrm>
          <a:prstGeom prst="rect">
            <a:avLst/>
          </a:prstGeom>
          <a:noFill/>
          <a:ln/>
        </p:spPr>
        <p:txBody>
          <a:bodyPr wrap="square" lIns="0" tIns="0" rIns="0" bIns="0" rtlCol="0" anchor="t"/>
          <a:lstStyle/>
          <a:p>
            <a:pPr indent="0" marL="0">
              <a:buNone/>
            </a:pPr>
            <a:r>
              <a:rPr lang="en-US" sz="1900" b="1" dirty="0">
                <a:solidFill>
                  <a:srgbClr val="141B4D"/>
                </a:solidFill>
                <a:latin typeface="Cambria" pitchFamily="34" charset="0"/>
                <a:ea typeface="Cambria" pitchFamily="34" charset="-122"/>
                <a:cs typeface="Cambria" pitchFamily="34" charset="-120"/>
              </a:rPr>
              <a:t>Finale</a:t>
            </a:r>
            <a:endParaRPr lang="en-US" sz="1900" dirty="0"/>
          </a:p>
        </p:txBody>
      </p:sp>
      <p:sp>
        <p:nvSpPr>
          <p:cNvPr id="28" name="Text 24"/>
          <p:cNvSpPr txBox="1"/>
          <p:nvPr/>
        </p:nvSpPr>
        <p:spPr>
          <a:xfrm>
            <a:off x="9235440" y="2880360"/>
            <a:ext cx="2194560" cy="274320"/>
          </a:xfrm>
          <a:prstGeom prst="rect">
            <a:avLst/>
          </a:prstGeom>
          <a:noFill/>
          <a:ln/>
        </p:spPr>
        <p:txBody>
          <a:bodyPr wrap="square" lIns="0" tIns="0" rIns="0" bIns="0" rtlCol="0" anchor="t"/>
          <a:lstStyle/>
          <a:p>
            <a:pPr indent="0" marL="0">
              <a:buNone/>
            </a:pPr>
            <a:r>
              <a:rPr lang="en-US" sz="1250" b="1" dirty="0">
                <a:solidFill>
                  <a:srgbClr val="D99A2B"/>
                </a:solidFill>
                <a:latin typeface="Calibri" pitchFamily="34" charset="0"/>
                <a:ea typeface="Calibri" pitchFamily="34" charset="-122"/>
                <a:cs typeface="Calibri" pitchFamily="34" charset="-120"/>
              </a:rPr>
              <a:t>Session 5.4</a:t>
            </a:r>
            <a:endParaRPr lang="en-US" sz="1250" dirty="0"/>
          </a:p>
        </p:txBody>
      </p:sp>
      <p:sp>
        <p:nvSpPr>
          <p:cNvPr id="29" name="Text 25"/>
          <p:cNvSpPr txBox="1"/>
          <p:nvPr/>
        </p:nvSpPr>
        <p:spPr>
          <a:xfrm>
            <a:off x="9235440" y="3154680"/>
            <a:ext cx="2194560" cy="27432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Capstone</a:t>
            </a:r>
            <a:endParaRPr lang="en-US" sz="1150" dirty="0"/>
          </a:p>
        </p:txBody>
      </p:sp>
      <p:sp>
        <p:nvSpPr>
          <p:cNvPr id="30" name="Text 26"/>
          <p:cNvSpPr txBox="1"/>
          <p:nvPr/>
        </p:nvSpPr>
        <p:spPr>
          <a:xfrm>
            <a:off x="9235440" y="3657600"/>
            <a:ext cx="2194560" cy="2194560"/>
          </a:xfrm>
          <a:prstGeom prst="rect">
            <a:avLst/>
          </a:prstGeom>
          <a:noFill/>
          <a:ln/>
        </p:spPr>
        <p:txBody>
          <a:bodyPr wrap="square" lIns="0" tIns="0" rIns="0" bIns="0" rtlCol="0" anchor="t"/>
          <a:lstStyle/>
          <a:p>
            <a:pPr indent="0" marL="0">
              <a:buNone/>
            </a:pPr>
            <a:r>
              <a:rPr lang="en-US" sz="1200" dirty="0">
                <a:solidFill>
                  <a:srgbClr val="1A2233"/>
                </a:solidFill>
                <a:latin typeface="Calibri" pitchFamily="34" charset="0"/>
                <a:ea typeface="Calibri" pitchFamily="34" charset="-122"/>
                <a:cs typeface="Calibri" pitchFamily="34" charset="-120"/>
              </a:rPr>
              <a:t>Team capstone defence before an external panel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GRADING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How You'll Be Assessed</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Assessment blends tests, a real project and practice — mirroring how analytics judgement is built.</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4</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1603629"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759077" y="2286000"/>
            <a:ext cx="310896" cy="310896"/>
          </a:xfrm>
          <a:prstGeom prst="rect">
            <a:avLst/>
          </a:prstGeom>
        </p:spPr>
      </p:pic>
      <p:sp>
        <p:nvSpPr>
          <p:cNvPr id="12" name="Text 7"/>
          <p:cNvSpPr txBox="1"/>
          <p:nvPr/>
        </p:nvSpPr>
        <p:spPr>
          <a:xfrm>
            <a:off x="82296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Three Module Tests</a:t>
            </a:r>
            <a:endParaRPr lang="en-US" sz="1600" dirty="0"/>
          </a:p>
        </p:txBody>
      </p:sp>
      <p:sp>
        <p:nvSpPr>
          <p:cNvPr id="13" name="Text 8"/>
          <p:cNvSpPr txBox="1"/>
          <p:nvPr/>
        </p:nvSpPr>
        <p:spPr>
          <a:xfrm>
            <a:off x="82296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30% (10% each)</a:t>
            </a:r>
            <a:endParaRPr lang="en-US" sz="1250" dirty="0"/>
          </a:p>
        </p:txBody>
      </p:sp>
      <p:sp>
        <p:nvSpPr>
          <p:cNvPr id="14" name="Text 9"/>
          <p:cNvSpPr txBox="1"/>
          <p:nvPr/>
        </p:nvSpPr>
        <p:spPr>
          <a:xfrm>
            <a:off x="868680" y="3822192"/>
            <a:ext cx="2091690" cy="148132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Practice Papers 1, 2 and 3 — concepts, reading output, and one applied task each.</a:t>
            </a:r>
            <a:endParaRPr lang="en-US" sz="1300" dirty="0"/>
          </a:p>
        </p:txBody>
      </p:sp>
      <p:sp>
        <p:nvSpPr>
          <p:cNvPr id="15" name="Shape 10"/>
          <p:cNvSpPr/>
          <p:nvPr/>
        </p:nvSpPr>
        <p:spPr>
          <a:xfrm>
            <a:off x="341757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4381119" y="2130552"/>
            <a:ext cx="621792" cy="621792"/>
          </a:xfrm>
          <a:prstGeom prst="ellipse">
            <a:avLst/>
          </a:prstGeom>
          <a:solidFill>
            <a:srgbClr val="D99A2B"/>
          </a:solidFill>
          <a:ln w="12700">
            <a:solidFill>
              <a:srgbClr val="D99A2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4536567" y="2286000"/>
            <a:ext cx="310896" cy="310896"/>
          </a:xfrm>
          <a:prstGeom prst="rect">
            <a:avLst/>
          </a:prstGeom>
        </p:spPr>
      </p:pic>
      <p:sp>
        <p:nvSpPr>
          <p:cNvPr id="18" name="Text 12"/>
          <p:cNvSpPr txBox="1"/>
          <p:nvPr/>
        </p:nvSpPr>
        <p:spPr>
          <a:xfrm>
            <a:off x="360045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Capstone Project</a:t>
            </a:r>
            <a:endParaRPr lang="en-US" sz="1600" dirty="0"/>
          </a:p>
        </p:txBody>
      </p:sp>
      <p:sp>
        <p:nvSpPr>
          <p:cNvPr id="19" name="Text 13"/>
          <p:cNvSpPr txBox="1"/>
          <p:nvPr/>
        </p:nvSpPr>
        <p:spPr>
          <a:xfrm>
            <a:off x="360045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30%</a:t>
            </a:r>
            <a:endParaRPr lang="en-US" sz="1250" dirty="0"/>
          </a:p>
        </p:txBody>
      </p:sp>
      <p:sp>
        <p:nvSpPr>
          <p:cNvPr id="20" name="Text 14"/>
          <p:cNvSpPr txBox="1"/>
          <p:nvPr/>
        </p:nvSpPr>
        <p:spPr>
          <a:xfrm>
            <a:off x="3646170" y="3822192"/>
            <a:ext cx="2091690" cy="148132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Teams of 4–5 take a real business problem from question to recommendation; presented in Session 5.4.</a:t>
            </a:r>
            <a:endParaRPr lang="en-US" sz="1300" dirty="0"/>
          </a:p>
        </p:txBody>
      </p:sp>
      <p:sp>
        <p:nvSpPr>
          <p:cNvPr id="21" name="Shape 15"/>
          <p:cNvSpPr/>
          <p:nvPr/>
        </p:nvSpPr>
        <p:spPr>
          <a:xfrm>
            <a:off x="619506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2" name="Shape 16"/>
          <p:cNvSpPr/>
          <p:nvPr/>
        </p:nvSpPr>
        <p:spPr>
          <a:xfrm>
            <a:off x="7158609" y="2130552"/>
            <a:ext cx="621792" cy="621792"/>
          </a:xfrm>
          <a:prstGeom prst="ellipse">
            <a:avLst/>
          </a:prstGeom>
          <a:solidFill>
            <a:srgbClr val="0B5E82"/>
          </a:solidFill>
          <a:ln w="12700">
            <a:solidFill>
              <a:srgbClr val="0B5E8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7314057" y="2286000"/>
            <a:ext cx="310896" cy="310896"/>
          </a:xfrm>
          <a:prstGeom prst="rect">
            <a:avLst/>
          </a:prstGeom>
        </p:spPr>
      </p:pic>
      <p:sp>
        <p:nvSpPr>
          <p:cNvPr id="24" name="Text 17"/>
          <p:cNvSpPr txBox="1"/>
          <p:nvPr/>
        </p:nvSpPr>
        <p:spPr>
          <a:xfrm>
            <a:off x="637794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Final Examination</a:t>
            </a:r>
            <a:endParaRPr lang="en-US" sz="1600" dirty="0"/>
          </a:p>
        </p:txBody>
      </p:sp>
      <p:sp>
        <p:nvSpPr>
          <p:cNvPr id="25" name="Text 18"/>
          <p:cNvSpPr txBox="1"/>
          <p:nvPr/>
        </p:nvSpPr>
        <p:spPr>
          <a:xfrm>
            <a:off x="637794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25%</a:t>
            </a:r>
            <a:endParaRPr lang="en-US" sz="1250" dirty="0"/>
          </a:p>
        </p:txBody>
      </p:sp>
      <p:sp>
        <p:nvSpPr>
          <p:cNvPr id="26" name="Text 19"/>
          <p:cNvSpPr txBox="1"/>
          <p:nvPr/>
        </p:nvSpPr>
        <p:spPr>
          <a:xfrm>
            <a:off x="6423660" y="3822192"/>
            <a:ext cx="2091690" cy="148132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Comprehensive and integrative — method choice, interpretation, business judgement.</a:t>
            </a:r>
            <a:endParaRPr lang="en-US" sz="1300" dirty="0"/>
          </a:p>
        </p:txBody>
      </p:sp>
      <p:sp>
        <p:nvSpPr>
          <p:cNvPr id="27" name="Shape 20"/>
          <p:cNvSpPr/>
          <p:nvPr/>
        </p:nvSpPr>
        <p:spPr>
          <a:xfrm>
            <a:off x="897255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8" name="Shape 21"/>
          <p:cNvSpPr/>
          <p:nvPr/>
        </p:nvSpPr>
        <p:spPr>
          <a:xfrm>
            <a:off x="9936099" y="2130552"/>
            <a:ext cx="621792" cy="621792"/>
          </a:xfrm>
          <a:prstGeom prst="ellipse">
            <a:avLst/>
          </a:prstGeom>
          <a:solidFill>
            <a:srgbClr val="0B5E82"/>
          </a:solidFill>
          <a:ln w="12700">
            <a:solidFill>
              <a:srgbClr val="0B5E82"/>
            </a:solidFill>
            <a:prstDash val="solid"/>
          </a:ln>
        </p:spPr>
        <p:txBody>
          <a:bodyPr/>
          <a:p/>
        </p:txBody>
      </p:sp>
      <p:pic>
        <p:nvPicPr>
          <p:cNvPr id="29" name="Image 4" descr="preencoded.png">    </p:cNvPr>
          <p:cNvPicPr>
            <a:picLocks noChangeAspect="1"/>
          </p:cNvPicPr>
          <p:nvPr/>
        </p:nvPicPr>
        <p:blipFill>
          <a:blip r:embed="rId5"/>
          <a:stretch>
            <a:fillRect/>
          </a:stretch>
        </p:blipFill>
        <p:spPr>
          <a:xfrm>
            <a:off x="10091547" y="2286000"/>
            <a:ext cx="310896" cy="310896"/>
          </a:xfrm>
          <a:prstGeom prst="rect">
            <a:avLst/>
          </a:prstGeom>
        </p:spPr>
      </p:pic>
      <p:sp>
        <p:nvSpPr>
          <p:cNvPr id="30" name="Text 22"/>
          <p:cNvSpPr txBox="1"/>
          <p:nvPr/>
        </p:nvSpPr>
        <p:spPr>
          <a:xfrm>
            <a:off x="915543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Labs &amp; Participation</a:t>
            </a:r>
            <a:endParaRPr lang="en-US" sz="1600" dirty="0"/>
          </a:p>
        </p:txBody>
      </p:sp>
      <p:sp>
        <p:nvSpPr>
          <p:cNvPr id="31" name="Text 23"/>
          <p:cNvSpPr txBox="1"/>
          <p:nvPr/>
        </p:nvSpPr>
        <p:spPr>
          <a:xfrm>
            <a:off x="915543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15%</a:t>
            </a:r>
            <a:endParaRPr lang="en-US" sz="1250" dirty="0"/>
          </a:p>
        </p:txBody>
      </p:sp>
      <p:sp>
        <p:nvSpPr>
          <p:cNvPr id="32" name="Text 24"/>
          <p:cNvSpPr txBox="1"/>
          <p:nvPr/>
        </p:nvSpPr>
        <p:spPr>
          <a:xfrm>
            <a:off x="9201150" y="3822192"/>
            <a:ext cx="2091690" cy="148132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Weekly labs are reviewed and lightly graded to build the habit, not to punish mistakes.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GROUND RULES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AI-Use Policy &amp; Academic Integrity</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This is an AI-powered analytics course — using AI well is part of the skill we are building.</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5</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1603629"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759077" y="2286000"/>
            <a:ext cx="310896" cy="310896"/>
          </a:xfrm>
          <a:prstGeom prst="rect">
            <a:avLst/>
          </a:prstGeom>
        </p:spPr>
      </p:pic>
      <p:sp>
        <p:nvSpPr>
          <p:cNvPr id="12" name="Text 7"/>
          <p:cNvSpPr txBox="1"/>
          <p:nvPr/>
        </p:nvSpPr>
        <p:spPr>
          <a:xfrm>
            <a:off x="82296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Permitted &amp; Encouraged</a:t>
            </a:r>
            <a:endParaRPr lang="en-US" sz="1600" dirty="0"/>
          </a:p>
        </p:txBody>
      </p:sp>
      <p:sp>
        <p:nvSpPr>
          <p:cNvPr id="13" name="Text 8"/>
          <p:cNvSpPr txBox="1"/>
          <p:nvPr/>
        </p:nvSpPr>
        <p:spPr>
          <a:xfrm>
            <a:off x="86868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AI assistants for learning, coding help and drafting are allowed — and encouraged — throughout the course.</a:t>
            </a:r>
            <a:endParaRPr lang="en-US" sz="1300" dirty="0"/>
          </a:p>
        </p:txBody>
      </p:sp>
      <p:sp>
        <p:nvSpPr>
          <p:cNvPr id="14" name="Shape 9"/>
          <p:cNvSpPr/>
          <p:nvPr/>
        </p:nvSpPr>
        <p:spPr>
          <a:xfrm>
            <a:off x="341757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4381119" y="2130552"/>
            <a:ext cx="621792" cy="621792"/>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36567" y="2286000"/>
            <a:ext cx="310896" cy="310896"/>
          </a:xfrm>
          <a:prstGeom prst="rect">
            <a:avLst/>
          </a:prstGeom>
        </p:spPr>
      </p:pic>
      <p:sp>
        <p:nvSpPr>
          <p:cNvPr id="17" name="Text 11"/>
          <p:cNvSpPr txBox="1"/>
          <p:nvPr/>
        </p:nvSpPr>
        <p:spPr>
          <a:xfrm>
            <a:off x="360045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Understand &amp; Explain</a:t>
            </a:r>
            <a:endParaRPr lang="en-US" sz="1600" dirty="0"/>
          </a:p>
        </p:txBody>
      </p:sp>
      <p:sp>
        <p:nvSpPr>
          <p:cNvPr id="18" name="Text 12"/>
          <p:cNvSpPr txBox="1"/>
          <p:nvPr/>
        </p:nvSpPr>
        <p:spPr>
          <a:xfrm>
            <a:off x="364617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You must understand, be able to explain, and take full responsibility for everything you submit.</a:t>
            </a:r>
            <a:endParaRPr lang="en-US" sz="1300" dirty="0"/>
          </a:p>
        </p:txBody>
      </p:sp>
      <p:sp>
        <p:nvSpPr>
          <p:cNvPr id="19" name="Shape 13"/>
          <p:cNvSpPr/>
          <p:nvPr/>
        </p:nvSpPr>
        <p:spPr>
          <a:xfrm>
            <a:off x="619506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7158609" y="2130552"/>
            <a:ext cx="621792" cy="621792"/>
          </a:xfrm>
          <a:prstGeom prst="ellipse">
            <a:avLst/>
          </a:prstGeom>
          <a:solidFill>
            <a:srgbClr val="0B5E82"/>
          </a:solidFill>
          <a:ln w="12700">
            <a:solidFill>
              <a:srgbClr val="0B5E8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7314057" y="2286000"/>
            <a:ext cx="310896" cy="310896"/>
          </a:xfrm>
          <a:prstGeom prst="rect">
            <a:avLst/>
          </a:prstGeom>
        </p:spPr>
      </p:pic>
      <p:sp>
        <p:nvSpPr>
          <p:cNvPr id="22" name="Text 15"/>
          <p:cNvSpPr txBox="1"/>
          <p:nvPr/>
        </p:nvSpPr>
        <p:spPr>
          <a:xfrm>
            <a:off x="637794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Disclose Every Time</a:t>
            </a:r>
            <a:endParaRPr lang="en-US" sz="1600" dirty="0"/>
          </a:p>
        </p:txBody>
      </p:sp>
      <p:sp>
        <p:nvSpPr>
          <p:cNvPr id="23" name="Text 16"/>
          <p:cNvSpPr txBox="1"/>
          <p:nvPr/>
        </p:nvSpPr>
        <p:spPr>
          <a:xfrm>
            <a:off x="642366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All assessed work must disclose AI use. Short oral checks may be used to confirm understanding.</a:t>
            </a:r>
            <a:endParaRPr lang="en-US" sz="1300" dirty="0"/>
          </a:p>
        </p:txBody>
      </p:sp>
      <p:sp>
        <p:nvSpPr>
          <p:cNvPr id="24" name="Shape 17"/>
          <p:cNvSpPr/>
          <p:nvPr/>
        </p:nvSpPr>
        <p:spPr>
          <a:xfrm>
            <a:off x="897255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9936099" y="2130552"/>
            <a:ext cx="621792" cy="621792"/>
          </a:xfrm>
          <a:prstGeom prst="ellipse">
            <a:avLst/>
          </a:prstGeom>
          <a:solidFill>
            <a:srgbClr val="D99A2B"/>
          </a:solidFill>
          <a:ln w="12700">
            <a:solidFill>
              <a:srgbClr val="D99A2B"/>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10091547" y="2286000"/>
            <a:ext cx="310896" cy="310896"/>
          </a:xfrm>
          <a:prstGeom prst="rect">
            <a:avLst/>
          </a:prstGeom>
        </p:spPr>
      </p:pic>
      <p:sp>
        <p:nvSpPr>
          <p:cNvPr id="27" name="Text 19"/>
          <p:cNvSpPr txBox="1"/>
          <p:nvPr/>
        </p:nvSpPr>
        <p:spPr>
          <a:xfrm>
            <a:off x="915543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Integrity Is Non-Negotiable</a:t>
            </a:r>
            <a:endParaRPr lang="en-US" sz="1600" dirty="0"/>
          </a:p>
        </p:txBody>
      </p:sp>
      <p:sp>
        <p:nvSpPr>
          <p:cNvPr id="28" name="Text 20"/>
          <p:cNvSpPr txBox="1"/>
          <p:nvPr/>
        </p:nvSpPr>
        <p:spPr>
          <a:xfrm>
            <a:off x="920115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Submitting AI output you cannot explain, as if it were your own, is an integrity violation.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BY THE END OF TODAY</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Session 2.1 Learning Objectives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You will be able to:</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6</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5"/>
          <p:cNvSpPr/>
          <p:nvPr/>
        </p:nvSpPr>
        <p:spPr>
          <a:xfrm>
            <a:off x="64008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Text 6"/>
          <p:cNvSpPr txBox="1"/>
          <p:nvPr/>
        </p:nvSpPr>
        <p:spPr>
          <a:xfrm>
            <a:off x="91440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01</a:t>
            </a:r>
            <a:endParaRPr lang="en-US" sz="3000" dirty="0"/>
          </a:p>
        </p:txBody>
      </p:sp>
      <p:sp>
        <p:nvSpPr>
          <p:cNvPr id="10" name="Shape 7"/>
          <p:cNvSpPr/>
          <p:nvPr/>
        </p:nvSpPr>
        <p:spPr>
          <a:xfrm>
            <a:off x="3215640" y="2148840"/>
            <a:ext cx="566928" cy="566928"/>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3357372" y="2290572"/>
            <a:ext cx="283464" cy="283464"/>
          </a:xfrm>
          <a:prstGeom prst="rect">
            <a:avLst/>
          </a:prstGeom>
        </p:spPr>
      </p:pic>
      <p:sp>
        <p:nvSpPr>
          <p:cNvPr id="12" name="Text 8"/>
          <p:cNvSpPr txBox="1"/>
          <p:nvPr/>
        </p:nvSpPr>
        <p:spPr>
          <a:xfrm>
            <a:off x="91440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Explain the Value Chain</a:t>
            </a:r>
            <a:endParaRPr lang="en-US" sz="1700" dirty="0"/>
          </a:p>
        </p:txBody>
      </p:sp>
      <p:sp>
        <p:nvSpPr>
          <p:cNvPr id="13" name="Text 9"/>
          <p:cNvSpPr txBox="1"/>
          <p:nvPr/>
        </p:nvSpPr>
        <p:spPr>
          <a:xfrm>
            <a:off x="91440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Describe how data becomes information, insight, decision and value — and where AI fits.</a:t>
            </a:r>
            <a:endParaRPr lang="en-US" sz="1350" dirty="0"/>
          </a:p>
        </p:txBody>
      </p:sp>
      <p:sp>
        <p:nvSpPr>
          <p:cNvPr id="14" name="Shape 10"/>
          <p:cNvSpPr/>
          <p:nvPr/>
        </p:nvSpPr>
        <p:spPr>
          <a:xfrm>
            <a:off x="435864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Text 11"/>
          <p:cNvSpPr txBox="1"/>
          <p:nvPr/>
        </p:nvSpPr>
        <p:spPr>
          <a:xfrm>
            <a:off x="463296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02</a:t>
            </a:r>
            <a:endParaRPr lang="en-US" sz="3000" dirty="0"/>
          </a:p>
        </p:txBody>
      </p:sp>
      <p:sp>
        <p:nvSpPr>
          <p:cNvPr id="16" name="Shape 12"/>
          <p:cNvSpPr/>
          <p:nvPr/>
        </p:nvSpPr>
        <p:spPr>
          <a:xfrm>
            <a:off x="6934200" y="2148840"/>
            <a:ext cx="566928" cy="566928"/>
          </a:xfrm>
          <a:prstGeom prst="ellipse">
            <a:avLst/>
          </a:prstGeom>
          <a:solidFill>
            <a:srgbClr val="0B5E82"/>
          </a:solidFill>
          <a:ln w="12700">
            <a:solidFill>
              <a:srgbClr val="0B5E82"/>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7075932" y="2290572"/>
            <a:ext cx="283464" cy="283464"/>
          </a:xfrm>
          <a:prstGeom prst="rect">
            <a:avLst/>
          </a:prstGeom>
        </p:spPr>
      </p:pic>
      <p:sp>
        <p:nvSpPr>
          <p:cNvPr id="18" name="Text 13"/>
          <p:cNvSpPr txBox="1"/>
          <p:nvPr/>
        </p:nvSpPr>
        <p:spPr>
          <a:xfrm>
            <a:off x="463296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Read Your Data</a:t>
            </a:r>
            <a:endParaRPr lang="en-US" sz="1700" dirty="0"/>
          </a:p>
        </p:txBody>
      </p:sp>
      <p:sp>
        <p:nvSpPr>
          <p:cNvPr id="19" name="Text 14"/>
          <p:cNvSpPr txBox="1"/>
          <p:nvPr/>
        </p:nvSpPr>
        <p:spPr>
          <a:xfrm>
            <a:off x="463296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Tell data types, measurement scales, sources and quality problems apart before drawing any conclusion.</a:t>
            </a:r>
            <a:endParaRPr lang="en-US" sz="1350" dirty="0"/>
          </a:p>
        </p:txBody>
      </p:sp>
      <p:sp>
        <p:nvSpPr>
          <p:cNvPr id="20" name="Shape 15"/>
          <p:cNvSpPr/>
          <p:nvPr/>
        </p:nvSpPr>
        <p:spPr>
          <a:xfrm>
            <a:off x="8077200" y="1920240"/>
            <a:ext cx="3444240" cy="3931920"/>
          </a:xfrm>
          <a:prstGeom prst="roundRect">
            <a:avLst>
              <a:gd name="adj" fmla="val 2124"/>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1" name="Text 16"/>
          <p:cNvSpPr txBox="1"/>
          <p:nvPr/>
        </p:nvSpPr>
        <p:spPr>
          <a:xfrm>
            <a:off x="8351520" y="2148840"/>
            <a:ext cx="1097280" cy="548640"/>
          </a:xfrm>
          <a:prstGeom prst="rect">
            <a:avLst/>
          </a:prstGeom>
          <a:noFill/>
          <a:ln/>
        </p:spPr>
        <p:txBody>
          <a:bodyPr wrap="square" lIns="0" tIns="0" rIns="0" bIns="0" rtlCol="0" anchor="t"/>
          <a:lstStyle/>
          <a:p>
            <a:pPr indent="0" marL="0">
              <a:buNone/>
            </a:pPr>
            <a:r>
              <a:rPr lang="en-US" sz="3000" b="1" dirty="0">
                <a:solidFill>
                  <a:srgbClr val="C7D3E3"/>
                </a:solidFill>
                <a:latin typeface="Cambria" pitchFamily="34" charset="0"/>
                <a:ea typeface="Cambria" pitchFamily="34" charset="-122"/>
                <a:cs typeface="Cambria" pitchFamily="34" charset="-120"/>
              </a:rPr>
              <a:t>03</a:t>
            </a:r>
            <a:endParaRPr lang="en-US" sz="3000" dirty="0"/>
          </a:p>
        </p:txBody>
      </p:sp>
      <p:sp>
        <p:nvSpPr>
          <p:cNvPr id="22" name="Shape 17"/>
          <p:cNvSpPr/>
          <p:nvPr/>
        </p:nvSpPr>
        <p:spPr>
          <a:xfrm>
            <a:off x="10652760" y="2148840"/>
            <a:ext cx="566928" cy="566928"/>
          </a:xfrm>
          <a:prstGeom prst="ellipse">
            <a:avLst/>
          </a:prstGeom>
          <a:solidFill>
            <a:srgbClr val="0B5E82"/>
          </a:solidFill>
          <a:ln w="12700">
            <a:solidFill>
              <a:srgbClr val="0B5E8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10794492" y="2290572"/>
            <a:ext cx="283464" cy="283464"/>
          </a:xfrm>
          <a:prstGeom prst="rect">
            <a:avLst/>
          </a:prstGeom>
        </p:spPr>
      </p:pic>
      <p:sp>
        <p:nvSpPr>
          <p:cNvPr id="24" name="Text 18"/>
          <p:cNvSpPr txBox="1"/>
          <p:nvPr/>
        </p:nvSpPr>
        <p:spPr>
          <a:xfrm>
            <a:off x="8351520" y="2971800"/>
            <a:ext cx="2895600" cy="685800"/>
          </a:xfrm>
          <a:prstGeom prst="rect">
            <a:avLst/>
          </a:prstGeom>
          <a:noFill/>
          <a:ln/>
        </p:spPr>
        <p:txBody>
          <a:bodyPr wrap="square" lIns="0" tIns="0" rIns="0" bIns="0" rtlCol="0" anchor="ctr"/>
          <a:lstStyle/>
          <a:p>
            <a:pPr indent="0" marL="0">
              <a:buNone/>
            </a:pPr>
            <a:r>
              <a:rPr lang="en-US" sz="1700" b="1" dirty="0">
                <a:solidFill>
                  <a:srgbClr val="141B4D"/>
                </a:solidFill>
                <a:latin typeface="Cambria" pitchFamily="34" charset="0"/>
                <a:ea typeface="Cambria" pitchFamily="34" charset="-122"/>
                <a:cs typeface="Cambria" pitchFamily="34" charset="-120"/>
              </a:rPr>
              <a:t>Run Your First Script</a:t>
            </a:r>
            <a:endParaRPr lang="en-US" sz="1700" dirty="0"/>
          </a:p>
        </p:txBody>
      </p:sp>
      <p:sp>
        <p:nvSpPr>
          <p:cNvPr id="25" name="Text 19"/>
          <p:cNvSpPr txBox="1"/>
          <p:nvPr/>
        </p:nvSpPr>
        <p:spPr>
          <a:xfrm>
            <a:off x="8351520" y="3749040"/>
            <a:ext cx="2895600" cy="1920240"/>
          </a:xfrm>
          <a:prstGeom prst="rect">
            <a:avLst/>
          </a:prstGeom>
          <a:noFill/>
          <a:ln/>
        </p:spPr>
        <p:txBody>
          <a:bodyPr wrap="square" lIns="0" tIns="0" rIns="0" bIns="0" rtlCol="0" anchor="t"/>
          <a:lstStyle/>
          <a:p>
            <a:pPr indent="0" marL="0">
              <a:buNone/>
            </a:pPr>
            <a:r>
              <a:rPr lang="en-US" sz="1350" dirty="0">
                <a:solidFill>
                  <a:srgbClr val="5C6B7A"/>
                </a:solidFill>
                <a:latin typeface="Calibri" pitchFamily="34" charset="0"/>
                <a:ea typeface="Calibri" pitchFamily="34" charset="-122"/>
                <a:cs typeface="Calibri" pitchFamily="34" charset="-120"/>
              </a:rPr>
              <a:t>Open RStudio, load a real dataset in R and in Python, and inspect it end to end.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5" name="Text 2"/>
          <p:cNvSpPr txBox="1"/>
          <p:nvPr/>
        </p:nvSpPr>
        <p:spPr>
          <a:xfrm>
            <a:off x="822960" y="502920"/>
            <a:ext cx="7315200" cy="274320"/>
          </a:xfrm>
          <a:prstGeom prst="rect">
            <a:avLst/>
          </a:prstGeom>
          <a:noFill/>
          <a:ln/>
        </p:spPr>
        <p:txBody>
          <a:bodyPr wrap="square" lIns="0" tIns="0" rIns="0" bIns="0" rtlCol="0" anchor="t"/>
          <a:lstStyle/>
          <a:p>
            <a:pPr indent="0" marL="0">
              <a:buNone/>
            </a:pPr>
            <a:r>
              <a:rPr lang="en-US" sz="1150" b="1" spc="300" kern="0" dirty="0">
                <a:solidFill>
                  <a:srgbClr val="D99A2B"/>
                </a:solidFill>
                <a:latin typeface="Calibri" pitchFamily="34" charset="0"/>
                <a:ea typeface="Calibri" pitchFamily="34" charset="-122"/>
                <a:cs typeface="Calibri" pitchFamily="34" charset="-120"/>
              </a:rPr>
              <a:t>THE HOOK</a:t>
            </a:r>
            <a:endParaRPr lang="en-US" sz="1150" dirty="0"/>
          </a:p>
        </p:txBody>
      </p:sp>
      <p:sp>
        <p:nvSpPr>
          <p:cNvPr id="6" name="Text 3"/>
          <p:cNvSpPr txBox="1"/>
          <p:nvPr/>
        </p:nvSpPr>
        <p:spPr>
          <a:xfrm>
            <a:off x="822960" y="777240"/>
            <a:ext cx="10058400" cy="6400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Why Analytics Matters for Managers</a:t>
            </a:r>
            <a:endParaRPr lang="en-US" sz="2800" dirty="0"/>
          </a:p>
        </p:txBody>
      </p:sp>
      <p:sp>
        <p:nvSpPr>
          <p:cNvPr id="7" name="Shape 4"/>
          <p:cNvSpPr/>
          <p:nvPr/>
        </p:nvSpPr>
        <p:spPr>
          <a:xfrm>
            <a:off x="822960" y="1783080"/>
            <a:ext cx="685800" cy="685800"/>
          </a:xfrm>
          <a:prstGeom prst="ellipse">
            <a:avLst/>
          </a:prstGeom>
          <a:solidFill>
            <a:srgbClr val="D99A2B"/>
          </a:solidFill>
          <a:ln w="12700">
            <a:solidFill>
              <a:srgbClr val="D99A2B"/>
            </a:solidFill>
            <a:prstDash val="solid"/>
          </a:ln>
        </p:spPr>
        <p:txBody>
          <a:bodyPr/>
          <a:p/>
        </p:txBody>
      </p:sp>
      <p:pic>
        <p:nvPicPr>
          <p:cNvPr id="8" name="Image 0" descr="preencoded.png">    </p:cNvPr>
          <p:cNvPicPr>
            <a:picLocks noChangeAspect="1"/>
          </p:cNvPicPr>
          <p:nvPr/>
        </p:nvPicPr>
        <p:blipFill>
          <a:blip r:embed="rId1"/>
          <a:stretch>
            <a:fillRect/>
          </a:stretch>
        </p:blipFill>
        <p:spPr>
          <a:xfrm>
            <a:off x="994410" y="1954530"/>
            <a:ext cx="342900" cy="342900"/>
          </a:xfrm>
          <a:prstGeom prst="rect">
            <a:avLst/>
          </a:prstGeom>
        </p:spPr>
      </p:pic>
      <p:sp>
        <p:nvSpPr>
          <p:cNvPr id="9" name="Text 5"/>
          <p:cNvSpPr txBox="1"/>
          <p:nvPr/>
        </p:nvSpPr>
        <p:spPr>
          <a:xfrm>
            <a:off x="1737360" y="1691640"/>
            <a:ext cx="9326880" cy="1005840"/>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“Data without insight is just noise. Insight without decision is just interesting conversation.”</a:t>
            </a:r>
            <a:endParaRPr lang="en-US" sz="2000" dirty="0"/>
          </a:p>
        </p:txBody>
      </p:sp>
      <p:sp>
        <p:nvSpPr>
          <p:cNvPr id="10" name="Text 6"/>
          <p:cNvSpPr txBox="1"/>
          <p:nvPr/>
        </p:nvSpPr>
        <p:spPr>
          <a:xfrm>
            <a:off x="822960" y="2971800"/>
            <a:ext cx="10424160" cy="457200"/>
          </a:xfrm>
          <a:prstGeom prst="rect">
            <a:avLst/>
          </a:prstGeom>
          <a:noFill/>
          <a:ln/>
        </p:spPr>
        <p:txBody>
          <a:bodyPr wrap="square" lIns="0" tIns="0" rIns="0" bIns="0" rtlCol="0" anchor="t"/>
          <a:lstStyle/>
          <a:p>
            <a:pPr indent="0" marL="0">
              <a:buNone/>
            </a:pPr>
            <a:r>
              <a:rPr lang="en-US" sz="1500" dirty="0">
                <a:solidFill>
                  <a:srgbClr val="C7D3E3"/>
                </a:solidFill>
                <a:latin typeface="Calibri" pitchFamily="34" charset="0"/>
                <a:ea typeface="Calibri" pitchFamily="34" charset="-122"/>
                <a:cs typeface="Calibri" pitchFamily="34" charset="-120"/>
              </a:rPr>
              <a:t>This course will not turn you into a research engineer. It will turn you into a manager who can:</a:t>
            </a:r>
            <a:endParaRPr lang="en-US" sz="1500" dirty="0"/>
          </a:p>
        </p:txBody>
      </p:sp>
      <p:sp>
        <p:nvSpPr>
          <p:cNvPr id="11" name="Shape 7"/>
          <p:cNvSpPr/>
          <p:nvPr/>
        </p:nvSpPr>
        <p:spPr>
          <a:xfrm>
            <a:off x="822960" y="3703320"/>
            <a:ext cx="457200" cy="457200"/>
          </a:xfrm>
          <a:prstGeom prst="ellipse">
            <a:avLst/>
          </a:prstGeom>
          <a:solidFill>
            <a:srgbClr val="1C7293"/>
          </a:solidFill>
          <a:ln w="12700">
            <a:solidFill>
              <a:srgbClr val="1C7293"/>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937260" y="3817620"/>
            <a:ext cx="228600" cy="228600"/>
          </a:xfrm>
          <a:prstGeom prst="rect">
            <a:avLst/>
          </a:prstGeom>
        </p:spPr>
      </p:pic>
      <p:sp>
        <p:nvSpPr>
          <p:cNvPr id="13" name="Text 8"/>
          <p:cNvSpPr txBox="1"/>
          <p:nvPr/>
        </p:nvSpPr>
        <p:spPr>
          <a:xfrm>
            <a:off x="1417320" y="3730752"/>
            <a:ext cx="28041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Frame</a:t>
            </a:r>
            <a:endParaRPr lang="en-US" sz="1600" dirty="0"/>
          </a:p>
        </p:txBody>
      </p:sp>
      <p:sp>
        <p:nvSpPr>
          <p:cNvPr id="14" name="Text 9"/>
          <p:cNvSpPr txBox="1"/>
          <p:nvPr/>
        </p:nvSpPr>
        <p:spPr>
          <a:xfrm>
            <a:off x="822960" y="4343400"/>
            <a:ext cx="3215640" cy="1463040"/>
          </a:xfrm>
          <a:prstGeom prst="rect">
            <a:avLst/>
          </a:prstGeom>
          <a:noFill/>
          <a:ln/>
        </p:spPr>
        <p:txBody>
          <a:bodyPr wrap="square" lIns="0" tIns="0" rIns="0" bIns="0" rtlCol="0" anchor="t"/>
          <a:lstStyle/>
          <a:p>
            <a:pPr indent="0" marL="0">
              <a:buNone/>
            </a:pPr>
            <a:r>
              <a:rPr lang="en-US" sz="1350" dirty="0">
                <a:solidFill>
                  <a:srgbClr val="C7D3E3"/>
                </a:solidFill>
                <a:latin typeface="Calibri" pitchFamily="34" charset="0"/>
                <a:ea typeface="Calibri" pitchFamily="34" charset="-122"/>
                <a:cs typeface="Calibri" pitchFamily="34" charset="-120"/>
              </a:rPr>
              <a:t>Turn a business problem into an analytics question worth answering.</a:t>
            </a:r>
            <a:endParaRPr lang="en-US" sz="1350" dirty="0"/>
          </a:p>
        </p:txBody>
      </p:sp>
      <p:sp>
        <p:nvSpPr>
          <p:cNvPr id="15" name="Shape 10"/>
          <p:cNvSpPr/>
          <p:nvPr/>
        </p:nvSpPr>
        <p:spPr>
          <a:xfrm>
            <a:off x="4358640" y="3703320"/>
            <a:ext cx="457200" cy="457200"/>
          </a:xfrm>
          <a:prstGeom prst="ellipse">
            <a:avLst/>
          </a:prstGeom>
          <a:solidFill>
            <a:srgbClr val="1C7293"/>
          </a:solidFill>
          <a:ln w="12700">
            <a:solidFill>
              <a:srgbClr val="1C7293"/>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472940" y="3817620"/>
            <a:ext cx="228600" cy="228600"/>
          </a:xfrm>
          <a:prstGeom prst="rect">
            <a:avLst/>
          </a:prstGeom>
        </p:spPr>
      </p:pic>
      <p:sp>
        <p:nvSpPr>
          <p:cNvPr id="17" name="Text 11"/>
          <p:cNvSpPr txBox="1"/>
          <p:nvPr/>
        </p:nvSpPr>
        <p:spPr>
          <a:xfrm>
            <a:off x="4953000" y="3730752"/>
            <a:ext cx="28041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Choose</a:t>
            </a:r>
            <a:endParaRPr lang="en-US" sz="1600" dirty="0"/>
          </a:p>
        </p:txBody>
      </p:sp>
      <p:sp>
        <p:nvSpPr>
          <p:cNvPr id="18" name="Text 12"/>
          <p:cNvSpPr txBox="1"/>
          <p:nvPr/>
        </p:nvSpPr>
        <p:spPr>
          <a:xfrm>
            <a:off x="4358640" y="4343400"/>
            <a:ext cx="3215640" cy="1463040"/>
          </a:xfrm>
          <a:prstGeom prst="rect">
            <a:avLst/>
          </a:prstGeom>
          <a:noFill/>
          <a:ln/>
        </p:spPr>
        <p:txBody>
          <a:bodyPr wrap="square" lIns="0" tIns="0" rIns="0" bIns="0" rtlCol="0" anchor="t"/>
          <a:lstStyle/>
          <a:p>
            <a:pPr indent="0" marL="0">
              <a:buNone/>
            </a:pPr>
            <a:r>
              <a:rPr lang="en-US" sz="1350" dirty="0">
                <a:solidFill>
                  <a:srgbClr val="C7D3E3"/>
                </a:solidFill>
                <a:latin typeface="Calibri" pitchFamily="34" charset="0"/>
                <a:ea typeface="Calibri" pitchFamily="34" charset="-122"/>
                <a:cs typeface="Calibri" pitchFamily="34" charset="-120"/>
              </a:rPr>
              <a:t>Pick the right method for the decision — not the fanciest one.</a:t>
            </a:r>
            <a:endParaRPr lang="en-US" sz="1350" dirty="0"/>
          </a:p>
        </p:txBody>
      </p:sp>
      <p:sp>
        <p:nvSpPr>
          <p:cNvPr id="19" name="Shape 13"/>
          <p:cNvSpPr/>
          <p:nvPr/>
        </p:nvSpPr>
        <p:spPr>
          <a:xfrm>
            <a:off x="7894320" y="3703320"/>
            <a:ext cx="457200" cy="457200"/>
          </a:xfrm>
          <a:prstGeom prst="ellipse">
            <a:avLst/>
          </a:prstGeom>
          <a:solidFill>
            <a:srgbClr val="1C7293"/>
          </a:solidFill>
          <a:ln w="12700">
            <a:solidFill>
              <a:srgbClr val="1C7293"/>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8008620" y="3817620"/>
            <a:ext cx="228600" cy="228600"/>
          </a:xfrm>
          <a:prstGeom prst="rect">
            <a:avLst/>
          </a:prstGeom>
        </p:spPr>
      </p:pic>
      <p:sp>
        <p:nvSpPr>
          <p:cNvPr id="21" name="Text 14"/>
          <p:cNvSpPr txBox="1"/>
          <p:nvPr/>
        </p:nvSpPr>
        <p:spPr>
          <a:xfrm>
            <a:off x="8488680" y="3730752"/>
            <a:ext cx="280416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Translate</a:t>
            </a:r>
            <a:endParaRPr lang="en-US" sz="1600" dirty="0"/>
          </a:p>
        </p:txBody>
      </p:sp>
      <p:sp>
        <p:nvSpPr>
          <p:cNvPr id="22" name="Text 15"/>
          <p:cNvSpPr txBox="1"/>
          <p:nvPr/>
        </p:nvSpPr>
        <p:spPr>
          <a:xfrm>
            <a:off x="7894320" y="4343400"/>
            <a:ext cx="3215640" cy="1463040"/>
          </a:xfrm>
          <a:prstGeom prst="rect">
            <a:avLst/>
          </a:prstGeom>
          <a:noFill/>
          <a:ln/>
        </p:spPr>
        <p:txBody>
          <a:bodyPr wrap="square" lIns="0" tIns="0" rIns="0" bIns="0" rtlCol="0" anchor="t"/>
          <a:lstStyle/>
          <a:p>
            <a:pPr indent="0" marL="0">
              <a:buNone/>
            </a:pPr>
            <a:r>
              <a:rPr lang="en-US" sz="1350" dirty="0">
                <a:solidFill>
                  <a:srgbClr val="C7D3E3"/>
                </a:solidFill>
                <a:latin typeface="Calibri" pitchFamily="34" charset="0"/>
                <a:ea typeface="Calibri" pitchFamily="34" charset="-122"/>
                <a:cs typeface="Calibri" pitchFamily="34" charset="-120"/>
              </a:rPr>
              <a:t>Turn model output into a recommendation an executive can act on.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Analytics Mindset</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From raw records to decisions that create value.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CORE FRAMEWORK</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Analytics Value Chain</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Five stages carry a manager from raw records to real business improvement.</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9</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1293876" y="2148840"/>
            <a:ext cx="868680" cy="86868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1511046" y="2366010"/>
            <a:ext cx="434340" cy="434340"/>
          </a:xfrm>
          <a:prstGeom prst="rect">
            <a:avLst/>
          </a:prstGeom>
        </p:spPr>
      </p:pic>
      <p:sp>
        <p:nvSpPr>
          <p:cNvPr id="11" name="Text 6"/>
          <p:cNvSpPr txBox="1"/>
          <p:nvPr/>
        </p:nvSpPr>
        <p:spPr>
          <a:xfrm>
            <a:off x="2542032"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12" name="Text 7"/>
          <p:cNvSpPr txBox="1"/>
          <p:nvPr/>
        </p:nvSpPr>
        <p:spPr>
          <a:xfrm>
            <a:off x="731520" y="3154680"/>
            <a:ext cx="1993392"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Data</a:t>
            </a:r>
            <a:endParaRPr lang="en-US" sz="1600" dirty="0"/>
          </a:p>
        </p:txBody>
      </p:sp>
      <p:sp>
        <p:nvSpPr>
          <p:cNvPr id="13" name="Text 8"/>
          <p:cNvSpPr txBox="1"/>
          <p:nvPr/>
        </p:nvSpPr>
        <p:spPr>
          <a:xfrm>
            <a:off x="777240" y="3657600"/>
            <a:ext cx="1901952"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Raw, unprocessed observations — receipts, clicks, loan records</a:t>
            </a:r>
            <a:endParaRPr lang="en-US" sz="1250" dirty="0"/>
          </a:p>
        </p:txBody>
      </p:sp>
      <p:sp>
        <p:nvSpPr>
          <p:cNvPr id="14" name="Shape 9"/>
          <p:cNvSpPr/>
          <p:nvPr/>
        </p:nvSpPr>
        <p:spPr>
          <a:xfrm>
            <a:off x="3470148" y="2148840"/>
            <a:ext cx="868680" cy="868680"/>
          </a:xfrm>
          <a:prstGeom prst="ellipse">
            <a:avLst/>
          </a:prstGeom>
          <a:solidFill>
            <a:srgbClr val="0B5E82"/>
          </a:solidFill>
          <a:ln w="12700">
            <a:solidFill>
              <a:srgbClr val="0B5E82"/>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3687318" y="2366010"/>
            <a:ext cx="434340" cy="434340"/>
          </a:xfrm>
          <a:prstGeom prst="rect">
            <a:avLst/>
          </a:prstGeom>
        </p:spPr>
      </p:pic>
      <p:sp>
        <p:nvSpPr>
          <p:cNvPr id="16" name="Text 10"/>
          <p:cNvSpPr txBox="1"/>
          <p:nvPr/>
        </p:nvSpPr>
        <p:spPr>
          <a:xfrm>
            <a:off x="4718304"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17" name="Text 11"/>
          <p:cNvSpPr txBox="1"/>
          <p:nvPr/>
        </p:nvSpPr>
        <p:spPr>
          <a:xfrm>
            <a:off x="2907792" y="3154680"/>
            <a:ext cx="1993392"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Information</a:t>
            </a:r>
            <a:endParaRPr lang="en-US" sz="1600" dirty="0"/>
          </a:p>
        </p:txBody>
      </p:sp>
      <p:sp>
        <p:nvSpPr>
          <p:cNvPr id="18" name="Text 12"/>
          <p:cNvSpPr txBox="1"/>
          <p:nvPr/>
        </p:nvSpPr>
        <p:spPr>
          <a:xfrm>
            <a:off x="2953512" y="3657600"/>
            <a:ext cx="1901952"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Data organised and summarised, with context</a:t>
            </a:r>
            <a:endParaRPr lang="en-US" sz="1250" dirty="0"/>
          </a:p>
        </p:txBody>
      </p:sp>
      <p:sp>
        <p:nvSpPr>
          <p:cNvPr id="19" name="Shape 13"/>
          <p:cNvSpPr/>
          <p:nvPr/>
        </p:nvSpPr>
        <p:spPr>
          <a:xfrm>
            <a:off x="5646420" y="2148840"/>
            <a:ext cx="868680" cy="868680"/>
          </a:xfrm>
          <a:prstGeom prst="ellipse">
            <a:avLst/>
          </a:prstGeom>
          <a:solidFill>
            <a:srgbClr val="D99A2B"/>
          </a:solidFill>
          <a:ln w="12700">
            <a:solidFill>
              <a:srgbClr val="D99A2B"/>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5863590" y="2366010"/>
            <a:ext cx="434340" cy="434340"/>
          </a:xfrm>
          <a:prstGeom prst="rect">
            <a:avLst/>
          </a:prstGeom>
        </p:spPr>
      </p:pic>
      <p:sp>
        <p:nvSpPr>
          <p:cNvPr id="21" name="Text 14"/>
          <p:cNvSpPr txBox="1"/>
          <p:nvPr/>
        </p:nvSpPr>
        <p:spPr>
          <a:xfrm>
            <a:off x="6894576"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22" name="Text 15"/>
          <p:cNvSpPr txBox="1"/>
          <p:nvPr/>
        </p:nvSpPr>
        <p:spPr>
          <a:xfrm>
            <a:off x="5084064" y="3154680"/>
            <a:ext cx="1993392"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Insight</a:t>
            </a:r>
            <a:endParaRPr lang="en-US" sz="1600" dirty="0"/>
          </a:p>
        </p:txBody>
      </p:sp>
      <p:sp>
        <p:nvSpPr>
          <p:cNvPr id="23" name="Text 16"/>
          <p:cNvSpPr txBox="1"/>
          <p:nvPr/>
        </p:nvSpPr>
        <p:spPr>
          <a:xfrm>
            <a:off x="5129784" y="3657600"/>
            <a:ext cx="1901952"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A pattern that explains why something is happening</a:t>
            </a:r>
            <a:endParaRPr lang="en-US" sz="1250" dirty="0"/>
          </a:p>
        </p:txBody>
      </p:sp>
      <p:sp>
        <p:nvSpPr>
          <p:cNvPr id="24" name="Shape 17"/>
          <p:cNvSpPr/>
          <p:nvPr/>
        </p:nvSpPr>
        <p:spPr>
          <a:xfrm>
            <a:off x="7822692" y="2148840"/>
            <a:ext cx="868680" cy="868680"/>
          </a:xfrm>
          <a:prstGeom prst="ellipse">
            <a:avLst/>
          </a:prstGeom>
          <a:solidFill>
            <a:srgbClr val="0B5E82"/>
          </a:solidFill>
          <a:ln w="12700">
            <a:solidFill>
              <a:srgbClr val="0B5E82"/>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8039862" y="2366010"/>
            <a:ext cx="434340" cy="434340"/>
          </a:xfrm>
          <a:prstGeom prst="rect">
            <a:avLst/>
          </a:prstGeom>
        </p:spPr>
      </p:pic>
      <p:sp>
        <p:nvSpPr>
          <p:cNvPr id="26" name="Text 18"/>
          <p:cNvSpPr txBox="1"/>
          <p:nvPr/>
        </p:nvSpPr>
        <p:spPr>
          <a:xfrm>
            <a:off x="9070848" y="2240280"/>
            <a:ext cx="548640" cy="640080"/>
          </a:xfrm>
          <a:prstGeom prst="rect">
            <a:avLst/>
          </a:prstGeom>
          <a:noFill/>
          <a:ln/>
        </p:spPr>
        <p:txBody>
          <a:bodyPr wrap="square" lIns="0" tIns="0" rIns="0" bIns="0" rtlCol="0" anchor="ctr"/>
          <a:lstStyle/>
          <a:p>
            <a:pPr algn="ctr" indent="0" marL="0">
              <a:buNone/>
            </a:pPr>
            <a:r>
              <a:rPr lang="en-US" sz="3400" dirty="0">
                <a:solidFill>
                  <a:srgbClr val="AAB9CC"/>
                </a:solidFill>
                <a:latin typeface="Calibri" pitchFamily="34" charset="0"/>
                <a:ea typeface="Calibri" pitchFamily="34" charset="-122"/>
                <a:cs typeface="Calibri" pitchFamily="34" charset="-120"/>
              </a:rPr>
              <a:t>›</a:t>
            </a:r>
            <a:endParaRPr lang="en-US" sz="3400" dirty="0"/>
          </a:p>
        </p:txBody>
      </p:sp>
      <p:sp>
        <p:nvSpPr>
          <p:cNvPr id="27" name="Text 19"/>
          <p:cNvSpPr txBox="1"/>
          <p:nvPr/>
        </p:nvSpPr>
        <p:spPr>
          <a:xfrm>
            <a:off x="7260336" y="3154680"/>
            <a:ext cx="1993392"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Decision</a:t>
            </a:r>
            <a:endParaRPr lang="en-US" sz="1600" dirty="0"/>
          </a:p>
        </p:txBody>
      </p:sp>
      <p:sp>
        <p:nvSpPr>
          <p:cNvPr id="28" name="Text 20"/>
          <p:cNvSpPr txBox="1"/>
          <p:nvPr/>
        </p:nvSpPr>
        <p:spPr>
          <a:xfrm>
            <a:off x="7306056" y="3657600"/>
            <a:ext cx="1901952"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A choice of action based on the insight</a:t>
            </a:r>
            <a:endParaRPr lang="en-US" sz="1250" dirty="0"/>
          </a:p>
        </p:txBody>
      </p:sp>
      <p:sp>
        <p:nvSpPr>
          <p:cNvPr id="29" name="Shape 21"/>
          <p:cNvSpPr/>
          <p:nvPr/>
        </p:nvSpPr>
        <p:spPr>
          <a:xfrm>
            <a:off x="9998964" y="2148840"/>
            <a:ext cx="868680" cy="868680"/>
          </a:xfrm>
          <a:prstGeom prst="ellipse">
            <a:avLst/>
          </a:prstGeom>
          <a:solidFill>
            <a:srgbClr val="0B5E82"/>
          </a:solidFill>
          <a:ln w="12700">
            <a:solidFill>
              <a:srgbClr val="0B5E82"/>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10216134" y="2366010"/>
            <a:ext cx="434340" cy="434340"/>
          </a:xfrm>
          <a:prstGeom prst="rect">
            <a:avLst/>
          </a:prstGeom>
        </p:spPr>
      </p:pic>
      <p:sp>
        <p:nvSpPr>
          <p:cNvPr id="31" name="Text 22"/>
          <p:cNvSpPr txBox="1"/>
          <p:nvPr/>
        </p:nvSpPr>
        <p:spPr>
          <a:xfrm>
            <a:off x="9436608" y="3154680"/>
            <a:ext cx="1993392" cy="457200"/>
          </a:xfrm>
          <a:prstGeom prst="rect">
            <a:avLst/>
          </a:prstGeom>
          <a:noFill/>
          <a:ln/>
        </p:spPr>
        <p:txBody>
          <a:bodyPr wrap="square" lIns="0" tIns="0" rIns="0" bIns="0" rtlCol="0" anchor="t"/>
          <a:lstStyle/>
          <a:p>
            <a:pPr algn="ctr" indent="0" marL="0">
              <a:buNone/>
            </a:pPr>
            <a:r>
              <a:rPr lang="en-US" sz="1600" b="1" dirty="0">
                <a:solidFill>
                  <a:srgbClr val="141B4D"/>
                </a:solidFill>
                <a:latin typeface="Cambria" pitchFamily="34" charset="0"/>
                <a:ea typeface="Cambria" pitchFamily="34" charset="-122"/>
                <a:cs typeface="Cambria" pitchFamily="34" charset="-120"/>
              </a:rPr>
              <a:t>Value</a:t>
            </a:r>
            <a:endParaRPr lang="en-US" sz="1600" dirty="0"/>
          </a:p>
        </p:txBody>
      </p:sp>
      <p:sp>
        <p:nvSpPr>
          <p:cNvPr id="32" name="Text 23"/>
          <p:cNvSpPr txBox="1"/>
          <p:nvPr/>
        </p:nvSpPr>
        <p:spPr>
          <a:xfrm>
            <a:off x="9482328" y="3657600"/>
            <a:ext cx="1901952" cy="1463040"/>
          </a:xfrm>
          <a:prstGeom prst="rect">
            <a:avLst/>
          </a:prstGeom>
          <a:noFill/>
          <a:ln/>
        </p:spPr>
        <p:txBody>
          <a:bodyPr wrap="square" lIns="0" tIns="0" rIns="0" bIns="0" rtlCol="0" anchor="t"/>
          <a:lstStyle/>
          <a:p>
            <a:pPr algn="ctr" indent="0" marL="0">
              <a:buNone/>
            </a:pPr>
            <a:r>
              <a:rPr lang="en-US" sz="1250" dirty="0">
                <a:solidFill>
                  <a:srgbClr val="5C6B7A"/>
                </a:solidFill>
                <a:latin typeface="Calibri" pitchFamily="34" charset="0"/>
                <a:ea typeface="Calibri" pitchFamily="34" charset="-122"/>
                <a:cs typeface="Calibri" pitchFamily="34" charset="-120"/>
              </a:rPr>
              <a:t>Measurable business improvement: revenue, cost, risk</a:t>
            </a:r>
            <a:endParaRPr lang="en-US" sz="1250" dirty="0"/>
          </a:p>
        </p:txBody>
      </p:sp>
      <p:sp>
        <p:nvSpPr>
          <p:cNvPr id="33" name="Shape 24"/>
          <p:cNvSpPr/>
          <p:nvPr/>
        </p:nvSpPr>
        <p:spPr>
          <a:xfrm>
            <a:off x="640080" y="5349240"/>
            <a:ext cx="10881360" cy="685800"/>
          </a:xfrm>
          <a:prstGeom prst="roundRect">
            <a:avLst>
              <a:gd name="adj" fmla="val 8000"/>
            </a:avLst>
          </a:prstGeom>
          <a:solidFill>
            <a:srgbClr val="F3F6F9"/>
          </a:solidFill>
          <a:ln w="9525">
            <a:solidFill>
              <a:srgbClr val="E1E7EE"/>
            </a:solidFill>
            <a:prstDash val="solid"/>
          </a:ln>
        </p:spPr>
        <p:txBody>
          <a:bodyPr/>
          <a:p/>
        </p:txBody>
      </p:sp>
      <p:sp>
        <p:nvSpPr>
          <p:cNvPr id="34" name="Text 25"/>
          <p:cNvSpPr txBox="1"/>
          <p:nvPr/>
        </p:nvSpPr>
        <p:spPr>
          <a:xfrm>
            <a:off x="868680" y="5349240"/>
            <a:ext cx="10424160" cy="68580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Your job — as analyst and as manager — is to move people up this chain: from raw data to a decision they can act 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WORKED EXAMPLE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Value Chain in Action: A Nigerian Bank Loan Book</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10</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778508"/>
            <a:ext cx="640080" cy="640080"/>
          </a:xfrm>
          <a:prstGeom prst="ellipse">
            <a:avLst/>
          </a:prstGeom>
          <a:solidFill>
            <a:srgbClr val="0B5E82"/>
          </a:solidFill>
          <a:ln w="12700">
            <a:solidFill>
              <a:srgbClr val="0B5E82"/>
            </a:solidFill>
            <a:prstDash val="solid"/>
          </a:ln>
        </p:spPr>
        <p:txBody>
          <a:bodyPr/>
          <a:p/>
        </p:txBody>
      </p:sp>
      <p:pic>
        <p:nvPicPr>
          <p:cNvPr id="9" name="Image 1" descr="preencoded.png">    </p:cNvPr>
          <p:cNvPicPr>
            <a:picLocks noChangeAspect="1"/>
          </p:cNvPicPr>
          <p:nvPr/>
        </p:nvPicPr>
        <p:blipFill>
          <a:blip r:embed="rId2"/>
          <a:stretch>
            <a:fillRect/>
          </a:stretch>
        </p:blipFill>
        <p:spPr>
          <a:xfrm>
            <a:off x="800100" y="1938528"/>
            <a:ext cx="320040" cy="320040"/>
          </a:xfrm>
          <a:prstGeom prst="rect">
            <a:avLst/>
          </a:prstGeom>
        </p:spPr>
      </p:pic>
      <p:sp>
        <p:nvSpPr>
          <p:cNvPr id="10" name="Text 5"/>
          <p:cNvSpPr txBox="1"/>
          <p:nvPr/>
        </p:nvSpPr>
        <p:spPr>
          <a:xfrm>
            <a:off x="1508760" y="1645920"/>
            <a:ext cx="2377440" cy="905256"/>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Data</a:t>
            </a:r>
            <a:endParaRPr lang="en-US" sz="1600" dirty="0"/>
          </a:p>
        </p:txBody>
      </p:sp>
      <p:sp>
        <p:nvSpPr>
          <p:cNvPr id="11" name="Shape 6"/>
          <p:cNvSpPr/>
          <p:nvPr/>
        </p:nvSpPr>
        <p:spPr>
          <a:xfrm>
            <a:off x="3977640" y="1709928"/>
            <a:ext cx="7543800" cy="777240"/>
          </a:xfrm>
          <a:prstGeom prst="roundRect">
            <a:avLst>
              <a:gd name="adj" fmla="val 7059"/>
            </a:avLst>
          </a:prstGeom>
          <a:solidFill>
            <a:srgbClr val="F3F6F9"/>
          </a:solidFill>
          <a:ln w="9525">
            <a:solidFill>
              <a:srgbClr val="E1E7EE"/>
            </a:solidFill>
            <a:prstDash val="solid"/>
          </a:ln>
        </p:spPr>
        <p:txBody>
          <a:bodyPr/>
          <a:p/>
        </p:txBody>
      </p:sp>
      <p:sp>
        <p:nvSpPr>
          <p:cNvPr id="12" name="Text 7"/>
          <p:cNvSpPr txBox="1"/>
          <p:nvPr/>
        </p:nvSpPr>
        <p:spPr>
          <a:xfrm>
            <a:off x="4251960" y="1709928"/>
            <a:ext cx="7086600" cy="777240"/>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10,000 raw loan records sitting in the core banking system.</a:t>
            </a:r>
            <a:endParaRPr lang="en-US" sz="1350" dirty="0"/>
          </a:p>
        </p:txBody>
      </p:sp>
      <p:sp>
        <p:nvSpPr>
          <p:cNvPr id="13" name="Shape 8"/>
          <p:cNvSpPr/>
          <p:nvPr/>
        </p:nvSpPr>
        <p:spPr>
          <a:xfrm>
            <a:off x="640080" y="2683764"/>
            <a:ext cx="640080" cy="640080"/>
          </a:xfrm>
          <a:prstGeom prst="ellipse">
            <a:avLst/>
          </a:prstGeom>
          <a:solidFill>
            <a:srgbClr val="0B5E82"/>
          </a:solidFill>
          <a:ln w="12700">
            <a:solidFill>
              <a:srgbClr val="0B5E82"/>
            </a:solidFill>
            <a:prstDash val="solid"/>
          </a:ln>
        </p:spPr>
        <p:txBody>
          <a:bodyPr/>
          <a:p/>
        </p:txBody>
      </p:sp>
      <p:pic>
        <p:nvPicPr>
          <p:cNvPr id="14" name="Image 2" descr="preencoded.png">    </p:cNvPr>
          <p:cNvPicPr>
            <a:picLocks noChangeAspect="1"/>
          </p:cNvPicPr>
          <p:nvPr/>
        </p:nvPicPr>
        <p:blipFill>
          <a:blip r:embed="rId3"/>
          <a:stretch>
            <a:fillRect/>
          </a:stretch>
        </p:blipFill>
        <p:spPr>
          <a:xfrm>
            <a:off x="800100" y="2843784"/>
            <a:ext cx="320040" cy="320040"/>
          </a:xfrm>
          <a:prstGeom prst="rect">
            <a:avLst/>
          </a:prstGeom>
        </p:spPr>
      </p:pic>
      <p:sp>
        <p:nvSpPr>
          <p:cNvPr id="15" name="Text 9"/>
          <p:cNvSpPr txBox="1"/>
          <p:nvPr/>
        </p:nvSpPr>
        <p:spPr>
          <a:xfrm>
            <a:off x="1508760" y="2551176"/>
            <a:ext cx="2377440" cy="905256"/>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Information</a:t>
            </a:r>
            <a:endParaRPr lang="en-US" sz="1600" dirty="0"/>
          </a:p>
        </p:txBody>
      </p:sp>
      <p:sp>
        <p:nvSpPr>
          <p:cNvPr id="16" name="Shape 10"/>
          <p:cNvSpPr/>
          <p:nvPr/>
        </p:nvSpPr>
        <p:spPr>
          <a:xfrm>
            <a:off x="3977640" y="2615184"/>
            <a:ext cx="7543800" cy="777240"/>
          </a:xfrm>
          <a:prstGeom prst="roundRect">
            <a:avLst>
              <a:gd name="adj" fmla="val 7059"/>
            </a:avLst>
          </a:prstGeom>
          <a:solidFill>
            <a:srgbClr val="F3F6F9"/>
          </a:solidFill>
          <a:ln w="9525">
            <a:solidFill>
              <a:srgbClr val="E1E7EE"/>
            </a:solidFill>
            <a:prstDash val="solid"/>
          </a:ln>
        </p:spPr>
        <p:txBody>
          <a:bodyPr/>
          <a:p/>
        </p:txBody>
      </p:sp>
      <p:sp>
        <p:nvSpPr>
          <p:cNvPr id="17" name="Text 11"/>
          <p:cNvSpPr txBox="1"/>
          <p:nvPr/>
        </p:nvSpPr>
        <p:spPr>
          <a:xfrm>
            <a:off x="4251960" y="2615184"/>
            <a:ext cx="7086600" cy="777240"/>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Default rate is 8% overall — but under-30 borrowers default </a:t>
            </a:r>
            <a:r>
              <a:rPr lang="en-US" sz="1350" b="1" dirty="0">
                <a:solidFill>
                  <a:srgbClr val="1A2233"/>
                </a:solidFill>
                <a:latin typeface="Calibri" pitchFamily="34" charset="0"/>
                <a:ea typeface="Calibri" pitchFamily="34" charset="-122"/>
                <a:cs typeface="Calibri" pitchFamily="34" charset="-120"/>
              </a:rPr>
              <a:t>2.4× more often</a:t>
            </a:r>
            <a:r>
              <a:rPr lang="en-US" sz="1350" dirty="0">
                <a:solidFill>
                  <a:srgbClr val="1A2233"/>
                </a:solidFill>
                <a:latin typeface="Calibri" pitchFamily="34" charset="0"/>
                <a:ea typeface="Calibri" pitchFamily="34" charset="-122"/>
                <a:cs typeface="Calibri" pitchFamily="34" charset="-120"/>
              </a:rPr>
              <a:t>.</a:t>
            </a:r>
            <a:endParaRPr lang="en-US" sz="1350" dirty="0"/>
          </a:p>
        </p:txBody>
      </p:sp>
      <p:sp>
        <p:nvSpPr>
          <p:cNvPr id="18" name="Shape 12"/>
          <p:cNvSpPr/>
          <p:nvPr/>
        </p:nvSpPr>
        <p:spPr>
          <a:xfrm>
            <a:off x="640080" y="3589020"/>
            <a:ext cx="640080" cy="640080"/>
          </a:xfrm>
          <a:prstGeom prst="ellipse">
            <a:avLst/>
          </a:prstGeom>
          <a:solidFill>
            <a:srgbClr val="D99A2B"/>
          </a:solidFill>
          <a:ln w="12700">
            <a:solidFill>
              <a:srgbClr val="D99A2B"/>
            </a:solidFill>
            <a:prstDash val="solid"/>
          </a:ln>
        </p:spPr>
        <p:txBody>
          <a:bodyPr/>
          <a:p/>
        </p:txBody>
      </p:sp>
      <p:pic>
        <p:nvPicPr>
          <p:cNvPr id="19" name="Image 3" descr="preencoded.png">    </p:cNvPr>
          <p:cNvPicPr>
            <a:picLocks noChangeAspect="1"/>
          </p:cNvPicPr>
          <p:nvPr/>
        </p:nvPicPr>
        <p:blipFill>
          <a:blip r:embed="rId4"/>
          <a:stretch>
            <a:fillRect/>
          </a:stretch>
        </p:blipFill>
        <p:spPr>
          <a:xfrm>
            <a:off x="800100" y="3749040"/>
            <a:ext cx="320040" cy="320040"/>
          </a:xfrm>
          <a:prstGeom prst="rect">
            <a:avLst/>
          </a:prstGeom>
        </p:spPr>
      </p:pic>
      <p:sp>
        <p:nvSpPr>
          <p:cNvPr id="20" name="Text 13"/>
          <p:cNvSpPr txBox="1"/>
          <p:nvPr/>
        </p:nvSpPr>
        <p:spPr>
          <a:xfrm>
            <a:off x="1508760" y="3456432"/>
            <a:ext cx="2377440" cy="905256"/>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Insight</a:t>
            </a:r>
            <a:endParaRPr lang="en-US" sz="1600" dirty="0"/>
          </a:p>
        </p:txBody>
      </p:sp>
      <p:sp>
        <p:nvSpPr>
          <p:cNvPr id="21" name="Shape 14"/>
          <p:cNvSpPr/>
          <p:nvPr/>
        </p:nvSpPr>
        <p:spPr>
          <a:xfrm>
            <a:off x="3977640" y="3520440"/>
            <a:ext cx="7543800" cy="777240"/>
          </a:xfrm>
          <a:prstGeom prst="roundRect">
            <a:avLst>
              <a:gd name="adj" fmla="val 7059"/>
            </a:avLst>
          </a:prstGeom>
          <a:solidFill>
            <a:srgbClr val="F3F6F9"/>
          </a:solidFill>
          <a:ln w="9525">
            <a:solidFill>
              <a:srgbClr val="E1E7EE"/>
            </a:solidFill>
            <a:prstDash val="solid"/>
          </a:ln>
        </p:spPr>
        <p:txBody>
          <a:bodyPr/>
          <a:p/>
        </p:txBody>
      </p:sp>
      <p:sp>
        <p:nvSpPr>
          <p:cNvPr id="22" name="Text 15"/>
          <p:cNvSpPr txBox="1"/>
          <p:nvPr/>
        </p:nvSpPr>
        <p:spPr>
          <a:xfrm>
            <a:off x="4251960" y="3520440"/>
            <a:ext cx="7086600" cy="777240"/>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Economic pressure is hitting the under-30 cohort hardest; personal loans are riskier than auto loans.</a:t>
            </a:r>
            <a:endParaRPr lang="en-US" sz="1350" dirty="0"/>
          </a:p>
        </p:txBody>
      </p:sp>
      <p:sp>
        <p:nvSpPr>
          <p:cNvPr id="23" name="Shape 16"/>
          <p:cNvSpPr/>
          <p:nvPr/>
        </p:nvSpPr>
        <p:spPr>
          <a:xfrm>
            <a:off x="640080" y="4494276"/>
            <a:ext cx="640080" cy="640080"/>
          </a:xfrm>
          <a:prstGeom prst="ellipse">
            <a:avLst/>
          </a:prstGeom>
          <a:solidFill>
            <a:srgbClr val="0B5E82"/>
          </a:solidFill>
          <a:ln w="12700">
            <a:solidFill>
              <a:srgbClr val="0B5E82"/>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800100" y="4654296"/>
            <a:ext cx="320040" cy="320040"/>
          </a:xfrm>
          <a:prstGeom prst="rect">
            <a:avLst/>
          </a:prstGeom>
        </p:spPr>
      </p:pic>
      <p:sp>
        <p:nvSpPr>
          <p:cNvPr id="25" name="Text 17"/>
          <p:cNvSpPr txBox="1"/>
          <p:nvPr/>
        </p:nvSpPr>
        <p:spPr>
          <a:xfrm>
            <a:off x="1508760" y="4361688"/>
            <a:ext cx="2377440" cy="905256"/>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Decision</a:t>
            </a:r>
            <a:endParaRPr lang="en-US" sz="1600" dirty="0"/>
          </a:p>
        </p:txBody>
      </p:sp>
      <p:sp>
        <p:nvSpPr>
          <p:cNvPr id="26" name="Shape 18"/>
          <p:cNvSpPr/>
          <p:nvPr/>
        </p:nvSpPr>
        <p:spPr>
          <a:xfrm>
            <a:off x="3977640" y="4425696"/>
            <a:ext cx="7543800" cy="777240"/>
          </a:xfrm>
          <a:prstGeom prst="roundRect">
            <a:avLst>
              <a:gd name="adj" fmla="val 7059"/>
            </a:avLst>
          </a:prstGeom>
          <a:solidFill>
            <a:srgbClr val="F3F6F9"/>
          </a:solidFill>
          <a:ln w="9525">
            <a:solidFill>
              <a:srgbClr val="E1E7EE"/>
            </a:solidFill>
            <a:prstDash val="solid"/>
          </a:ln>
        </p:spPr>
        <p:txBody>
          <a:bodyPr/>
          <a:p/>
        </p:txBody>
      </p:sp>
      <p:sp>
        <p:nvSpPr>
          <p:cNvPr id="27" name="Text 19"/>
          <p:cNvSpPr txBox="1"/>
          <p:nvPr/>
        </p:nvSpPr>
        <p:spPr>
          <a:xfrm>
            <a:off x="4251960" y="4425696"/>
            <a:ext cx="7086600" cy="777240"/>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Tighten approval standards for under-30 personal loans; price risk into interest rates.</a:t>
            </a:r>
            <a:endParaRPr lang="en-US" sz="1350" dirty="0"/>
          </a:p>
        </p:txBody>
      </p:sp>
      <p:sp>
        <p:nvSpPr>
          <p:cNvPr id="28" name="Shape 20"/>
          <p:cNvSpPr/>
          <p:nvPr/>
        </p:nvSpPr>
        <p:spPr>
          <a:xfrm>
            <a:off x="640080" y="5399532"/>
            <a:ext cx="640080" cy="640080"/>
          </a:xfrm>
          <a:prstGeom prst="ellipse">
            <a:avLst/>
          </a:prstGeom>
          <a:solidFill>
            <a:srgbClr val="0B5E82"/>
          </a:solidFill>
          <a:ln w="12700">
            <a:solidFill>
              <a:srgbClr val="0B5E82"/>
            </a:solidFill>
            <a:prstDash val="solid"/>
          </a:ln>
        </p:spPr>
        <p:txBody>
          <a:bodyPr/>
          <a:p/>
        </p:txBody>
      </p:sp>
      <p:pic>
        <p:nvPicPr>
          <p:cNvPr id="29" name="Image 5" descr="preencoded.png">    </p:cNvPr>
          <p:cNvPicPr>
            <a:picLocks noChangeAspect="1"/>
          </p:cNvPicPr>
          <p:nvPr/>
        </p:nvPicPr>
        <p:blipFill>
          <a:blip r:embed="rId6"/>
          <a:stretch>
            <a:fillRect/>
          </a:stretch>
        </p:blipFill>
        <p:spPr>
          <a:xfrm>
            <a:off x="800100" y="5559552"/>
            <a:ext cx="320040" cy="320040"/>
          </a:xfrm>
          <a:prstGeom prst="rect">
            <a:avLst/>
          </a:prstGeom>
        </p:spPr>
      </p:pic>
      <p:sp>
        <p:nvSpPr>
          <p:cNvPr id="30" name="Text 21"/>
          <p:cNvSpPr txBox="1"/>
          <p:nvPr/>
        </p:nvSpPr>
        <p:spPr>
          <a:xfrm>
            <a:off x="1508760" y="5266944"/>
            <a:ext cx="2377440" cy="905256"/>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Value</a:t>
            </a:r>
            <a:endParaRPr lang="en-US" sz="1600" dirty="0"/>
          </a:p>
        </p:txBody>
      </p:sp>
      <p:sp>
        <p:nvSpPr>
          <p:cNvPr id="31" name="Shape 22"/>
          <p:cNvSpPr/>
          <p:nvPr/>
        </p:nvSpPr>
        <p:spPr>
          <a:xfrm>
            <a:off x="3977640" y="5330952"/>
            <a:ext cx="7543800" cy="777240"/>
          </a:xfrm>
          <a:prstGeom prst="roundRect">
            <a:avLst>
              <a:gd name="adj" fmla="val 7059"/>
            </a:avLst>
          </a:prstGeom>
          <a:solidFill>
            <a:srgbClr val="F3F6F9"/>
          </a:solidFill>
          <a:ln w="9525">
            <a:solidFill>
              <a:srgbClr val="E1E7EE"/>
            </a:solidFill>
            <a:prstDash val="solid"/>
          </a:ln>
        </p:spPr>
        <p:txBody>
          <a:bodyPr/>
          <a:p/>
        </p:txBody>
      </p:sp>
      <p:sp>
        <p:nvSpPr>
          <p:cNvPr id="32" name="Text 23"/>
          <p:cNvSpPr txBox="1"/>
          <p:nvPr/>
        </p:nvSpPr>
        <p:spPr>
          <a:xfrm>
            <a:off x="4251960" y="5330952"/>
            <a:ext cx="7086600" cy="777240"/>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Lower defaults, better-priced interest income, lower collection costs.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ANALYTICS SPECTRUM</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Four Questions Every Business Asks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Each question needs a different kind of analytics — and this course covers all four.</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11</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1603629"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759077" y="2286000"/>
            <a:ext cx="310896" cy="310896"/>
          </a:xfrm>
          <a:prstGeom prst="rect">
            <a:avLst/>
          </a:prstGeom>
        </p:spPr>
      </p:pic>
      <p:sp>
        <p:nvSpPr>
          <p:cNvPr id="12" name="Text 7"/>
          <p:cNvSpPr txBox="1"/>
          <p:nvPr/>
        </p:nvSpPr>
        <p:spPr>
          <a:xfrm>
            <a:off x="82296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Descriptive</a:t>
            </a:r>
            <a:endParaRPr lang="en-US" sz="1600" dirty="0"/>
          </a:p>
        </p:txBody>
      </p:sp>
      <p:sp>
        <p:nvSpPr>
          <p:cNvPr id="13" name="Text 8"/>
          <p:cNvSpPr txBox="1"/>
          <p:nvPr/>
        </p:nvSpPr>
        <p:spPr>
          <a:xfrm>
            <a:off x="82296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“What happened?”</a:t>
            </a:r>
            <a:endParaRPr lang="en-US" sz="1250" dirty="0"/>
          </a:p>
        </p:txBody>
      </p:sp>
      <p:sp>
        <p:nvSpPr>
          <p:cNvPr id="14" name="Text 9"/>
          <p:cNvSpPr txBox="1"/>
          <p:nvPr/>
        </p:nvSpPr>
        <p:spPr>
          <a:xfrm>
            <a:off x="868680" y="3822192"/>
            <a:ext cx="2091690" cy="97840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KPIs, dashboards and reports summarising past performance.</a:t>
            </a:r>
            <a:endParaRPr lang="en-US" sz="1300" dirty="0"/>
          </a:p>
        </p:txBody>
      </p:sp>
      <p:sp>
        <p:nvSpPr>
          <p:cNvPr id="15" name="Text 10"/>
          <p:cNvSpPr txBox="1"/>
          <p:nvPr/>
        </p:nvSpPr>
        <p:spPr>
          <a:xfrm>
            <a:off x="868680" y="4892040"/>
            <a:ext cx="209169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e.g. revenue by category, NPS</a:t>
            </a:r>
            <a:endParaRPr lang="en-US" sz="1100" dirty="0"/>
          </a:p>
        </p:txBody>
      </p:sp>
      <p:sp>
        <p:nvSpPr>
          <p:cNvPr id="16" name="Shape 11"/>
          <p:cNvSpPr/>
          <p:nvPr/>
        </p:nvSpPr>
        <p:spPr>
          <a:xfrm>
            <a:off x="341757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7" name="Shape 12"/>
          <p:cNvSpPr/>
          <p:nvPr/>
        </p:nvSpPr>
        <p:spPr>
          <a:xfrm>
            <a:off x="4381119" y="2130552"/>
            <a:ext cx="621792" cy="621792"/>
          </a:xfrm>
          <a:prstGeom prst="ellipse">
            <a:avLst/>
          </a:prstGeom>
          <a:solidFill>
            <a:srgbClr val="0B5E82"/>
          </a:solidFill>
          <a:ln w="12700">
            <a:solidFill>
              <a:srgbClr val="0B5E8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4536567" y="2286000"/>
            <a:ext cx="310896" cy="310896"/>
          </a:xfrm>
          <a:prstGeom prst="rect">
            <a:avLst/>
          </a:prstGeom>
        </p:spPr>
      </p:pic>
      <p:sp>
        <p:nvSpPr>
          <p:cNvPr id="19" name="Text 13"/>
          <p:cNvSpPr txBox="1"/>
          <p:nvPr/>
        </p:nvSpPr>
        <p:spPr>
          <a:xfrm>
            <a:off x="360045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Diagnostic</a:t>
            </a:r>
            <a:endParaRPr lang="en-US" sz="1600" dirty="0"/>
          </a:p>
        </p:txBody>
      </p:sp>
      <p:sp>
        <p:nvSpPr>
          <p:cNvPr id="20" name="Text 14"/>
          <p:cNvSpPr txBox="1"/>
          <p:nvPr/>
        </p:nvSpPr>
        <p:spPr>
          <a:xfrm>
            <a:off x="360045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“Why did it happen?”</a:t>
            </a:r>
            <a:endParaRPr lang="en-US" sz="1250" dirty="0"/>
          </a:p>
        </p:txBody>
      </p:sp>
      <p:sp>
        <p:nvSpPr>
          <p:cNvPr id="21" name="Text 15"/>
          <p:cNvSpPr txBox="1"/>
          <p:nvPr/>
        </p:nvSpPr>
        <p:spPr>
          <a:xfrm>
            <a:off x="3646170" y="3822192"/>
            <a:ext cx="2091690" cy="97840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Drilling down, comparing groups, testing explanations.</a:t>
            </a:r>
            <a:endParaRPr lang="en-US" sz="1300" dirty="0"/>
          </a:p>
        </p:txBody>
      </p:sp>
      <p:sp>
        <p:nvSpPr>
          <p:cNvPr id="22" name="Text 16"/>
          <p:cNvSpPr txBox="1"/>
          <p:nvPr/>
        </p:nvSpPr>
        <p:spPr>
          <a:xfrm>
            <a:off x="3646170" y="4892040"/>
            <a:ext cx="209169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e.g. why did December spike?</a:t>
            </a:r>
            <a:endParaRPr lang="en-US" sz="1100" dirty="0"/>
          </a:p>
        </p:txBody>
      </p:sp>
      <p:sp>
        <p:nvSpPr>
          <p:cNvPr id="23" name="Shape 17"/>
          <p:cNvSpPr/>
          <p:nvPr/>
        </p:nvSpPr>
        <p:spPr>
          <a:xfrm>
            <a:off x="619506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4" name="Shape 18"/>
          <p:cNvSpPr/>
          <p:nvPr/>
        </p:nvSpPr>
        <p:spPr>
          <a:xfrm>
            <a:off x="7158609" y="2130552"/>
            <a:ext cx="621792" cy="621792"/>
          </a:xfrm>
          <a:prstGeom prst="ellipse">
            <a:avLst/>
          </a:prstGeom>
          <a:solidFill>
            <a:srgbClr val="D99A2B"/>
          </a:solidFill>
          <a:ln w="12700">
            <a:solidFill>
              <a:srgbClr val="D99A2B"/>
            </a:solidFill>
            <a:prstDash val="solid"/>
          </a:ln>
        </p:spPr>
        <p:txBody>
          <a:bodyPr/>
          <a:p/>
        </p:txBody>
      </p:sp>
      <p:pic>
        <p:nvPicPr>
          <p:cNvPr id="25" name="Image 3" descr="preencoded.png">    </p:cNvPr>
          <p:cNvPicPr>
            <a:picLocks noChangeAspect="1"/>
          </p:cNvPicPr>
          <p:nvPr/>
        </p:nvPicPr>
        <p:blipFill>
          <a:blip r:embed="rId4"/>
          <a:stretch>
            <a:fillRect/>
          </a:stretch>
        </p:blipFill>
        <p:spPr>
          <a:xfrm>
            <a:off x="7314057" y="2286000"/>
            <a:ext cx="310896" cy="310896"/>
          </a:xfrm>
          <a:prstGeom prst="rect">
            <a:avLst/>
          </a:prstGeom>
        </p:spPr>
      </p:pic>
      <p:sp>
        <p:nvSpPr>
          <p:cNvPr id="26" name="Text 19"/>
          <p:cNvSpPr txBox="1"/>
          <p:nvPr/>
        </p:nvSpPr>
        <p:spPr>
          <a:xfrm>
            <a:off x="637794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Predictive</a:t>
            </a:r>
            <a:endParaRPr lang="en-US" sz="1600" dirty="0"/>
          </a:p>
        </p:txBody>
      </p:sp>
      <p:sp>
        <p:nvSpPr>
          <p:cNvPr id="27" name="Text 20"/>
          <p:cNvSpPr txBox="1"/>
          <p:nvPr/>
        </p:nvSpPr>
        <p:spPr>
          <a:xfrm>
            <a:off x="637794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“What will happen?”</a:t>
            </a:r>
            <a:endParaRPr lang="en-US" sz="1250" dirty="0"/>
          </a:p>
        </p:txBody>
      </p:sp>
      <p:sp>
        <p:nvSpPr>
          <p:cNvPr id="28" name="Text 21"/>
          <p:cNvSpPr txBox="1"/>
          <p:nvPr/>
        </p:nvSpPr>
        <p:spPr>
          <a:xfrm>
            <a:off x="6423660" y="3822192"/>
            <a:ext cx="2091690" cy="97840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Forecasts and risk scores that anticipate what comes next.</a:t>
            </a:r>
            <a:endParaRPr lang="en-US" sz="1300" dirty="0"/>
          </a:p>
        </p:txBody>
      </p:sp>
      <p:sp>
        <p:nvSpPr>
          <p:cNvPr id="29" name="Text 22"/>
          <p:cNvSpPr txBox="1"/>
          <p:nvPr/>
        </p:nvSpPr>
        <p:spPr>
          <a:xfrm>
            <a:off x="6423660" y="4892040"/>
            <a:ext cx="209169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e.g. churn risk, next-month demand</a:t>
            </a:r>
            <a:endParaRPr lang="en-US" sz="1100" dirty="0"/>
          </a:p>
        </p:txBody>
      </p:sp>
      <p:sp>
        <p:nvSpPr>
          <p:cNvPr id="30" name="Shape 23"/>
          <p:cNvSpPr/>
          <p:nvPr/>
        </p:nvSpPr>
        <p:spPr>
          <a:xfrm>
            <a:off x="897255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1" name="Shape 24"/>
          <p:cNvSpPr/>
          <p:nvPr/>
        </p:nvSpPr>
        <p:spPr>
          <a:xfrm>
            <a:off x="9936099" y="2130552"/>
            <a:ext cx="621792" cy="621792"/>
          </a:xfrm>
          <a:prstGeom prst="ellipse">
            <a:avLst/>
          </a:prstGeom>
          <a:solidFill>
            <a:srgbClr val="0B5E82"/>
          </a:solidFill>
          <a:ln w="12700">
            <a:solidFill>
              <a:srgbClr val="0B5E82"/>
            </a:solidFill>
            <a:prstDash val="solid"/>
          </a:ln>
        </p:spPr>
        <p:txBody>
          <a:bodyPr/>
          <a:p/>
        </p:txBody>
      </p:sp>
      <p:pic>
        <p:nvPicPr>
          <p:cNvPr id="32" name="Image 4" descr="preencoded.png">    </p:cNvPr>
          <p:cNvPicPr>
            <a:picLocks noChangeAspect="1"/>
          </p:cNvPicPr>
          <p:nvPr/>
        </p:nvPicPr>
        <p:blipFill>
          <a:blip r:embed="rId5"/>
          <a:stretch>
            <a:fillRect/>
          </a:stretch>
        </p:blipFill>
        <p:spPr>
          <a:xfrm>
            <a:off x="10091547" y="2286000"/>
            <a:ext cx="310896" cy="310896"/>
          </a:xfrm>
          <a:prstGeom prst="rect">
            <a:avLst/>
          </a:prstGeom>
        </p:spPr>
      </p:pic>
      <p:sp>
        <p:nvSpPr>
          <p:cNvPr id="33" name="Text 25"/>
          <p:cNvSpPr txBox="1"/>
          <p:nvPr/>
        </p:nvSpPr>
        <p:spPr>
          <a:xfrm>
            <a:off x="915543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Prescriptive</a:t>
            </a:r>
            <a:endParaRPr lang="en-US" sz="1600" dirty="0"/>
          </a:p>
        </p:txBody>
      </p:sp>
      <p:sp>
        <p:nvSpPr>
          <p:cNvPr id="34" name="Text 26"/>
          <p:cNvSpPr txBox="1"/>
          <p:nvPr/>
        </p:nvSpPr>
        <p:spPr>
          <a:xfrm>
            <a:off x="9155430" y="3429000"/>
            <a:ext cx="2183130" cy="320040"/>
          </a:xfrm>
          <a:prstGeom prst="rect">
            <a:avLst/>
          </a:prstGeom>
          <a:noFill/>
          <a:ln/>
        </p:spPr>
        <p:txBody>
          <a:bodyPr wrap="square" lIns="0" tIns="0" rIns="0" bIns="0" rtlCol="0" anchor="t"/>
          <a:lstStyle/>
          <a:p>
            <a:pPr algn="ctr" indent="0" marL="0">
              <a:buNone/>
            </a:pPr>
            <a:r>
              <a:rPr lang="en-US" sz="1250" i="1" dirty="0">
                <a:solidFill>
                  <a:srgbClr val="D99A2B"/>
                </a:solidFill>
                <a:latin typeface="Calibri" pitchFamily="34" charset="0"/>
                <a:ea typeface="Calibri" pitchFamily="34" charset="-122"/>
                <a:cs typeface="Calibri" pitchFamily="34" charset="-120"/>
              </a:rPr>
              <a:t>“What should we do?”</a:t>
            </a:r>
            <a:endParaRPr lang="en-US" sz="1250" dirty="0"/>
          </a:p>
        </p:txBody>
      </p:sp>
      <p:sp>
        <p:nvSpPr>
          <p:cNvPr id="35" name="Text 27"/>
          <p:cNvSpPr txBox="1"/>
          <p:nvPr/>
        </p:nvSpPr>
        <p:spPr>
          <a:xfrm>
            <a:off x="9201150" y="3822192"/>
            <a:ext cx="2091690" cy="978408"/>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Recommendations and optimisation that turn foresight into action.</a:t>
            </a:r>
            <a:endParaRPr lang="en-US" sz="1300" dirty="0"/>
          </a:p>
        </p:txBody>
      </p:sp>
      <p:sp>
        <p:nvSpPr>
          <p:cNvPr id="36" name="Text 28"/>
          <p:cNvSpPr txBox="1"/>
          <p:nvPr/>
        </p:nvSpPr>
        <p:spPr>
          <a:xfrm>
            <a:off x="9201150" y="4892040"/>
            <a:ext cx="209169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e.g. which customers to target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DESCRIPTIVE ANALYTICS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Descriptive: Where Did Our Revenue Come From?</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12</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01/figures/python/s01_f02.png">    </p:cNvPr>
          <p:cNvPicPr>
            <a:picLocks noChangeAspect="1"/>
          </p:cNvPicPr>
          <p:nvPr/>
        </p:nvPicPr>
        <p:blipFill>
          <a:blip r:embed="rId2"/>
          <a:stretch>
            <a:fillRect/>
          </a:stretch>
        </p:blipFill>
        <p:spPr>
          <a:xfrm>
            <a:off x="640080" y="1600200"/>
            <a:ext cx="7223760" cy="4216796"/>
          </a:xfrm>
          <a:prstGeom prst="rect">
            <a:avLst/>
          </a:prstGeom>
        </p:spPr>
      </p:pic>
      <p:sp>
        <p:nvSpPr>
          <p:cNvPr id="9" name="Text 4"/>
          <p:cNvSpPr txBox="1"/>
          <p:nvPr/>
        </p:nvSpPr>
        <p:spPr>
          <a:xfrm>
            <a:off x="640080" y="5862716"/>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S2.1-F02  ·  replicate: tdbg_2_1_figures.R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Groceries carry the business — about </a:t>
            </a:r>
            <a:r>
              <a:rPr lang="en-US" sz="1300" b="1" dirty="0">
                <a:solidFill>
                  <a:srgbClr val="1A2233"/>
                </a:solidFill>
                <a:latin typeface="Calibri" pitchFamily="34" charset="0"/>
                <a:ea typeface="Calibri" pitchFamily="34" charset="-122"/>
                <a:cs typeface="Calibri" pitchFamily="34" charset="-120"/>
              </a:rPr>
              <a:t>₦7.9m</a:t>
            </a:r>
            <a:r>
              <a:rPr lang="en-US" sz="1300" dirty="0">
                <a:solidFill>
                  <a:srgbClr val="1A2233"/>
                </a:solidFill>
                <a:latin typeface="Calibri" pitchFamily="34" charset="0"/>
                <a:ea typeface="Calibri" pitchFamily="34" charset="-122"/>
                <a:cs typeface="Calibri" pitchFamily="34" charset="-120"/>
              </a:rPr>
              <a:t> of ₦21.5m.</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Electronics is second despite few receipts: </a:t>
            </a:r>
            <a:r>
              <a:rPr lang="en-US" sz="1300" b="1" dirty="0">
                <a:solidFill>
                  <a:srgbClr val="1A2233"/>
                </a:solidFill>
                <a:latin typeface="Calibri" pitchFamily="34" charset="0"/>
                <a:ea typeface="Calibri" pitchFamily="34" charset="-122"/>
                <a:cs typeface="Calibri" pitchFamily="34" charset="-120"/>
              </a:rPr>
              <a:t>few, big tickets</a:t>
            </a:r>
            <a:r>
              <a:rPr lang="en-US" sz="1300" dirty="0">
                <a:solidFill>
                  <a:srgbClr val="1A2233"/>
                </a:solidFill>
                <a:latin typeface="Calibri" pitchFamily="34" charset="0"/>
                <a:ea typeface="Calibri" pitchFamily="34" charset="-122"/>
                <a:cs typeface="Calibri" pitchFamily="34" charset="-120"/>
              </a:rPr>
              <a:t>.</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A descriptive chart answers </a:t>
            </a:r>
            <a:r>
              <a:rPr lang="en-US" sz="1300" i="1" dirty="0">
                <a:solidFill>
                  <a:srgbClr val="1A2233"/>
                </a:solidFill>
                <a:latin typeface="Calibri" pitchFamily="34" charset="0"/>
                <a:ea typeface="Calibri" pitchFamily="34" charset="-122"/>
                <a:cs typeface="Calibri" pitchFamily="34" charset="-120"/>
              </a:rPr>
              <a:t>what</a:t>
            </a:r>
            <a:r>
              <a:rPr lang="en-US" sz="1300" dirty="0">
                <a:solidFill>
                  <a:srgbClr val="1A2233"/>
                </a:solidFill>
                <a:latin typeface="Calibri" pitchFamily="34" charset="0"/>
                <a:ea typeface="Calibri" pitchFamily="34" charset="-122"/>
                <a:cs typeface="Calibri" pitchFamily="34" charset="-120"/>
              </a:rPr>
              <a:t> — it never explains </a:t>
            </a:r>
            <a:r>
              <a:rPr lang="en-US" sz="1300" i="1" dirty="0">
                <a:solidFill>
                  <a:srgbClr val="1A2233"/>
                </a:solidFill>
                <a:latin typeface="Calibri" pitchFamily="34" charset="0"/>
                <a:ea typeface="Calibri" pitchFamily="34" charset="-122"/>
                <a:cs typeface="Calibri" pitchFamily="34" charset="-120"/>
              </a:rPr>
              <a:t>why</a:t>
            </a:r>
            <a:r>
              <a:rPr lang="en-US" sz="1300" dirty="0">
                <a:solidFill>
                  <a:srgbClr val="1A2233"/>
                </a:solidFill>
                <a:latin typeface="Calibri" pitchFamily="34" charset="0"/>
                <a:ea typeface="Calibri" pitchFamily="34" charset="-122"/>
                <a:cs typeface="Calibri" pitchFamily="34" charset="-120"/>
              </a:rPr>
              <a:t>.</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Next question a manager should ask: is this mix changing month to month?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DIAGNOSTIC ANALYTICS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Diagnostic: Why Does December Jump?</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13</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01/figures/python/s01_f03.png">    </p:cNvPr>
          <p:cNvPicPr>
            <a:picLocks noChangeAspect="1"/>
          </p:cNvPicPr>
          <p:nvPr/>
        </p:nvPicPr>
        <p:blipFill>
          <a:blip r:embed="rId2"/>
          <a:stretch>
            <a:fillRect/>
          </a:stretch>
        </p:blipFill>
        <p:spPr>
          <a:xfrm>
            <a:off x="856114" y="1600200"/>
            <a:ext cx="6791691"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S2.1-F03  ·  replicate: tdbg_2_1_figures.R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Revenue in December is roughly </a:t>
            </a:r>
            <a:r>
              <a:rPr lang="en-US" sz="1300" b="1" dirty="0">
                <a:solidFill>
                  <a:srgbClr val="1A2233"/>
                </a:solidFill>
                <a:latin typeface="Calibri" pitchFamily="34" charset="0"/>
                <a:ea typeface="Calibri" pitchFamily="34" charset="-122"/>
                <a:cs typeface="Calibri" pitchFamily="34" charset="-120"/>
              </a:rPr>
              <a:t>25% above</a:t>
            </a:r>
            <a:r>
              <a:rPr lang="en-US" sz="1300" dirty="0">
                <a:solidFill>
                  <a:srgbClr val="1A2233"/>
                </a:solidFill>
                <a:latin typeface="Calibri" pitchFamily="34" charset="0"/>
                <a:ea typeface="Calibri" pitchFamily="34" charset="-122"/>
                <a:cs typeface="Calibri" pitchFamily="34" charset="-120"/>
              </a:rPr>
              <a:t> a typical month.</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Candidate explanations: festive shopping, bonuses, more shoppers or bigger baskets.</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Diagnostics compares: more receipts, or bigger receipts? Which stores?</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We will learn to </a:t>
            </a:r>
            <a:r>
              <a:rPr lang="en-US" sz="1300" b="1" dirty="0">
                <a:solidFill>
                  <a:srgbClr val="1A2233"/>
                </a:solidFill>
                <a:latin typeface="Calibri" pitchFamily="34" charset="0"/>
                <a:ea typeface="Calibri" pitchFamily="34" charset="-122"/>
                <a:cs typeface="Calibri" pitchFamily="34" charset="-120"/>
              </a:rPr>
              <a:t>test</a:t>
            </a:r>
            <a:r>
              <a:rPr lang="en-US" sz="1300" dirty="0">
                <a:solidFill>
                  <a:srgbClr val="1A2233"/>
                </a:solidFill>
                <a:latin typeface="Calibri" pitchFamily="34" charset="0"/>
                <a:ea typeface="Calibri" pitchFamily="34" charset="-122"/>
                <a:cs typeface="Calibri" pitchFamily="34" charset="-120"/>
              </a:rPr>
              <a:t> such explanations in Session 2.5.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QUESTION EVERYONE ASKS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Where Does AI Fit in the Value Chain?</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AI is exceptional at the middle of the chain — but the ends still belong to you.</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14</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1603629"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759077" y="2286000"/>
            <a:ext cx="310896" cy="310896"/>
          </a:xfrm>
          <a:prstGeom prst="rect">
            <a:avLst/>
          </a:prstGeom>
        </p:spPr>
      </p:pic>
      <p:sp>
        <p:nvSpPr>
          <p:cNvPr id="12" name="Text 7"/>
          <p:cNvSpPr txBox="1"/>
          <p:nvPr/>
        </p:nvSpPr>
        <p:spPr>
          <a:xfrm>
            <a:off x="82296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AI accelerates</a:t>
            </a:r>
            <a:endParaRPr lang="en-US" sz="1600" dirty="0"/>
          </a:p>
        </p:txBody>
      </p:sp>
      <p:sp>
        <p:nvSpPr>
          <p:cNvPr id="13" name="Text 8"/>
          <p:cNvSpPr txBox="1"/>
          <p:nvPr/>
        </p:nvSpPr>
        <p:spPr>
          <a:xfrm>
            <a:off x="86868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Finding patterns across huge, messy or fast data — turning information into </a:t>
            </a:r>
            <a:r>
              <a:rPr lang="en-US" sz="1300" b="1" dirty="0">
                <a:solidFill>
                  <a:srgbClr val="1A2233"/>
                </a:solidFill>
                <a:latin typeface="Calibri" pitchFamily="34" charset="0"/>
                <a:ea typeface="Calibri" pitchFamily="34" charset="-122"/>
                <a:cs typeface="Calibri" pitchFamily="34" charset="-120"/>
              </a:rPr>
              <a:t>candidate</a:t>
            </a:r>
            <a:r>
              <a:rPr lang="en-US" sz="1300" dirty="0">
                <a:solidFill>
                  <a:srgbClr val="1A2233"/>
                </a:solidFill>
                <a:latin typeface="Calibri" pitchFamily="34" charset="0"/>
                <a:ea typeface="Calibri" pitchFamily="34" charset="-122"/>
                <a:cs typeface="Calibri" pitchFamily="34" charset="-120"/>
              </a:rPr>
              <a:t> insights in minutes.</a:t>
            </a:r>
            <a:endParaRPr lang="en-US" sz="1300" dirty="0"/>
          </a:p>
        </p:txBody>
      </p:sp>
      <p:sp>
        <p:nvSpPr>
          <p:cNvPr id="14" name="Shape 9"/>
          <p:cNvSpPr/>
          <p:nvPr/>
        </p:nvSpPr>
        <p:spPr>
          <a:xfrm>
            <a:off x="341757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4381119" y="2130552"/>
            <a:ext cx="621792" cy="621792"/>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36567" y="2286000"/>
            <a:ext cx="310896" cy="310896"/>
          </a:xfrm>
          <a:prstGeom prst="rect">
            <a:avLst/>
          </a:prstGeom>
        </p:spPr>
      </p:pic>
      <p:sp>
        <p:nvSpPr>
          <p:cNvPr id="17" name="Text 11"/>
          <p:cNvSpPr txBox="1"/>
          <p:nvPr/>
        </p:nvSpPr>
        <p:spPr>
          <a:xfrm>
            <a:off x="360045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AI assists</a:t>
            </a:r>
            <a:endParaRPr lang="en-US" sz="1600" dirty="0"/>
          </a:p>
        </p:txBody>
      </p:sp>
      <p:sp>
        <p:nvSpPr>
          <p:cNvPr id="18" name="Text 12"/>
          <p:cNvSpPr txBox="1"/>
          <p:nvPr/>
        </p:nvSpPr>
        <p:spPr>
          <a:xfrm>
            <a:off x="364617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Writing and explaining code, cleaning data, drafting summaries — a tireless junior analyst.</a:t>
            </a:r>
            <a:endParaRPr lang="en-US" sz="1300" dirty="0"/>
          </a:p>
        </p:txBody>
      </p:sp>
      <p:sp>
        <p:nvSpPr>
          <p:cNvPr id="19" name="Shape 13"/>
          <p:cNvSpPr/>
          <p:nvPr/>
        </p:nvSpPr>
        <p:spPr>
          <a:xfrm>
            <a:off x="619506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7158609" y="2130552"/>
            <a:ext cx="621792" cy="621792"/>
          </a:xfrm>
          <a:prstGeom prst="ellipse">
            <a:avLst/>
          </a:prstGeom>
          <a:solidFill>
            <a:srgbClr val="D99A2B"/>
          </a:solidFill>
          <a:ln w="12700">
            <a:solidFill>
              <a:srgbClr val="D99A2B"/>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7314057" y="2286000"/>
            <a:ext cx="310896" cy="310896"/>
          </a:xfrm>
          <a:prstGeom prst="rect">
            <a:avLst/>
          </a:prstGeom>
        </p:spPr>
      </p:pic>
      <p:sp>
        <p:nvSpPr>
          <p:cNvPr id="22" name="Text 15"/>
          <p:cNvSpPr txBox="1"/>
          <p:nvPr/>
        </p:nvSpPr>
        <p:spPr>
          <a:xfrm>
            <a:off x="637794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You decide</a:t>
            </a:r>
            <a:endParaRPr lang="en-US" sz="1600" dirty="0"/>
          </a:p>
        </p:txBody>
      </p:sp>
      <p:sp>
        <p:nvSpPr>
          <p:cNvPr id="23" name="Text 16"/>
          <p:cNvSpPr txBox="1"/>
          <p:nvPr/>
        </p:nvSpPr>
        <p:spPr>
          <a:xfrm>
            <a:off x="642366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Framing the question, judging whether the insight is real, and owning the decision and its consequences.</a:t>
            </a:r>
            <a:endParaRPr lang="en-US" sz="1300" dirty="0"/>
          </a:p>
        </p:txBody>
      </p:sp>
      <p:sp>
        <p:nvSpPr>
          <p:cNvPr id="24" name="Shape 17"/>
          <p:cNvSpPr/>
          <p:nvPr/>
        </p:nvSpPr>
        <p:spPr>
          <a:xfrm>
            <a:off x="897255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9936099" y="2130552"/>
            <a:ext cx="621792" cy="621792"/>
          </a:xfrm>
          <a:prstGeom prst="ellipse">
            <a:avLst/>
          </a:prstGeom>
          <a:solidFill>
            <a:srgbClr val="0B5E82"/>
          </a:solidFill>
          <a:ln w="12700">
            <a:solidFill>
              <a:srgbClr val="0B5E82"/>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10091547" y="2286000"/>
            <a:ext cx="310896" cy="310896"/>
          </a:xfrm>
          <a:prstGeom prst="rect">
            <a:avLst/>
          </a:prstGeom>
        </p:spPr>
      </p:pic>
      <p:sp>
        <p:nvSpPr>
          <p:cNvPr id="27" name="Text 19"/>
          <p:cNvSpPr txBox="1"/>
          <p:nvPr/>
        </p:nvSpPr>
        <p:spPr>
          <a:xfrm>
            <a:off x="915543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You safeguard</a:t>
            </a:r>
            <a:endParaRPr lang="en-US" sz="1600" dirty="0"/>
          </a:p>
        </p:txBody>
      </p:sp>
      <p:sp>
        <p:nvSpPr>
          <p:cNvPr id="28" name="Text 20"/>
          <p:cNvSpPr txBox="1"/>
          <p:nvPr/>
        </p:nvSpPr>
        <p:spPr>
          <a:xfrm>
            <a:off x="920115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Bias checks, explainability and fairness — especially in lending, hiring and pricing.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Data Literacy</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What data is, where it comes from, and how to tell good data from bad.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FIRST PRINCIPLES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What Is Data — and Where Does It Come From?</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“Data is recorded information about the world.” Every dataset started as a choice about what to record.</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16</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1603629"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759077" y="2286000"/>
            <a:ext cx="310896" cy="310896"/>
          </a:xfrm>
          <a:prstGeom prst="rect">
            <a:avLst/>
          </a:prstGeom>
        </p:spPr>
      </p:pic>
      <p:sp>
        <p:nvSpPr>
          <p:cNvPr id="12" name="Text 7"/>
          <p:cNvSpPr txBox="1"/>
          <p:nvPr/>
        </p:nvSpPr>
        <p:spPr>
          <a:xfrm>
            <a:off x="82296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Internal / Operational</a:t>
            </a:r>
            <a:endParaRPr lang="en-US" sz="1600" dirty="0"/>
          </a:p>
        </p:txBody>
      </p:sp>
      <p:sp>
        <p:nvSpPr>
          <p:cNvPr id="13" name="Text 8"/>
          <p:cNvSpPr txBox="1"/>
          <p:nvPr/>
        </p:nvSpPr>
        <p:spPr>
          <a:xfrm>
            <a:off x="86868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Transaction systems, CRM, ERP — e.g. a retailer's point-of-sale receipts.</a:t>
            </a:r>
            <a:endParaRPr lang="en-US" sz="1300" dirty="0"/>
          </a:p>
        </p:txBody>
      </p:sp>
      <p:sp>
        <p:nvSpPr>
          <p:cNvPr id="14" name="Shape 9"/>
          <p:cNvSpPr/>
          <p:nvPr/>
        </p:nvSpPr>
        <p:spPr>
          <a:xfrm>
            <a:off x="341757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4381119" y="2130552"/>
            <a:ext cx="621792" cy="621792"/>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36567" y="2286000"/>
            <a:ext cx="310896" cy="310896"/>
          </a:xfrm>
          <a:prstGeom prst="rect">
            <a:avLst/>
          </a:prstGeom>
        </p:spPr>
      </p:pic>
      <p:sp>
        <p:nvSpPr>
          <p:cNvPr id="17" name="Text 11"/>
          <p:cNvSpPr txBox="1"/>
          <p:nvPr/>
        </p:nvSpPr>
        <p:spPr>
          <a:xfrm>
            <a:off x="360045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External / Market</a:t>
            </a:r>
            <a:endParaRPr lang="en-US" sz="1600" dirty="0"/>
          </a:p>
        </p:txBody>
      </p:sp>
      <p:sp>
        <p:nvSpPr>
          <p:cNvPr id="18" name="Text 12"/>
          <p:cNvSpPr txBox="1"/>
          <p:nvPr/>
        </p:nvSpPr>
        <p:spPr>
          <a:xfrm>
            <a:off x="364617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Government and industry data — e.g. the NBS Consumer Price Index, CBN exchange rates.</a:t>
            </a:r>
            <a:endParaRPr lang="en-US" sz="1300" dirty="0"/>
          </a:p>
        </p:txBody>
      </p:sp>
      <p:sp>
        <p:nvSpPr>
          <p:cNvPr id="19" name="Shape 13"/>
          <p:cNvSpPr/>
          <p:nvPr/>
        </p:nvSpPr>
        <p:spPr>
          <a:xfrm>
            <a:off x="619506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7158609" y="2130552"/>
            <a:ext cx="621792" cy="621792"/>
          </a:xfrm>
          <a:prstGeom prst="ellipse">
            <a:avLst/>
          </a:prstGeom>
          <a:solidFill>
            <a:srgbClr val="0B5E82"/>
          </a:solidFill>
          <a:ln w="12700">
            <a:solidFill>
              <a:srgbClr val="0B5E8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7314057" y="2286000"/>
            <a:ext cx="310896" cy="310896"/>
          </a:xfrm>
          <a:prstGeom prst="rect">
            <a:avLst/>
          </a:prstGeom>
        </p:spPr>
      </p:pic>
      <p:sp>
        <p:nvSpPr>
          <p:cNvPr id="22" name="Text 15"/>
          <p:cNvSpPr txBox="1"/>
          <p:nvPr/>
        </p:nvSpPr>
        <p:spPr>
          <a:xfrm>
            <a:off x="637794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Human-Generated</a:t>
            </a:r>
            <a:endParaRPr lang="en-US" sz="1600" dirty="0"/>
          </a:p>
        </p:txBody>
      </p:sp>
      <p:sp>
        <p:nvSpPr>
          <p:cNvPr id="23" name="Text 16"/>
          <p:cNvSpPr txBox="1"/>
          <p:nvPr/>
        </p:nvSpPr>
        <p:spPr>
          <a:xfrm>
            <a:off x="642366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Surveys, reviews, social posts — e.g. customer feedback forms, app-store reviews.</a:t>
            </a:r>
            <a:endParaRPr lang="en-US" sz="1300" dirty="0"/>
          </a:p>
        </p:txBody>
      </p:sp>
      <p:sp>
        <p:nvSpPr>
          <p:cNvPr id="24" name="Shape 17"/>
          <p:cNvSpPr/>
          <p:nvPr/>
        </p:nvSpPr>
        <p:spPr>
          <a:xfrm>
            <a:off x="897255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9936099" y="2130552"/>
            <a:ext cx="621792" cy="621792"/>
          </a:xfrm>
          <a:prstGeom prst="ellipse">
            <a:avLst/>
          </a:prstGeom>
          <a:solidFill>
            <a:srgbClr val="0B5E82"/>
          </a:solidFill>
          <a:ln w="12700">
            <a:solidFill>
              <a:srgbClr val="0B5E82"/>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10091547" y="2286000"/>
            <a:ext cx="310896" cy="310896"/>
          </a:xfrm>
          <a:prstGeom prst="rect">
            <a:avLst/>
          </a:prstGeom>
        </p:spPr>
      </p:pic>
      <p:sp>
        <p:nvSpPr>
          <p:cNvPr id="27" name="Text 19"/>
          <p:cNvSpPr txBox="1"/>
          <p:nvPr/>
        </p:nvSpPr>
        <p:spPr>
          <a:xfrm>
            <a:off x="915543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Machine-Generated</a:t>
            </a:r>
            <a:endParaRPr lang="en-US" sz="1600" dirty="0"/>
          </a:p>
        </p:txBody>
      </p:sp>
      <p:sp>
        <p:nvSpPr>
          <p:cNvPr id="28" name="Text 20"/>
          <p:cNvSpPr txBox="1"/>
          <p:nvPr/>
        </p:nvSpPr>
        <p:spPr>
          <a:xfrm>
            <a:off x="920115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Sensors, logs, event streams — e.g. mobile-money transaction pings, GPS traces.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SHAPE OF A DATASET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Rows, Columns and the Unit of Analysis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17</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557784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5"/>
          <p:cNvSpPr/>
          <p:nvPr/>
        </p:nvSpPr>
        <p:spPr>
          <a:xfrm>
            <a:off x="914400" y="1947672"/>
            <a:ext cx="502920" cy="50292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1040130" y="2073402"/>
            <a:ext cx="251460" cy="251460"/>
          </a:xfrm>
          <a:prstGeom prst="rect">
            <a:avLst/>
          </a:prstGeom>
        </p:spPr>
      </p:pic>
      <p:sp>
        <p:nvSpPr>
          <p:cNvPr id="11" name="Text 6"/>
          <p:cNvSpPr txBox="1"/>
          <p:nvPr/>
        </p:nvSpPr>
        <p:spPr>
          <a:xfrm>
            <a:off x="1554480" y="1965960"/>
            <a:ext cx="4114800" cy="45720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IN PLAIN ENGLISH</a:t>
            </a:r>
            <a:endParaRPr lang="en-US" sz="1200" dirty="0"/>
          </a:p>
        </p:txBody>
      </p:sp>
      <p:sp>
        <p:nvSpPr>
          <p:cNvPr id="12" name="Text 7"/>
          <p:cNvSpPr txBox="1"/>
          <p:nvPr/>
        </p:nvSpPr>
        <p:spPr>
          <a:xfrm>
            <a:off x="960120" y="2606040"/>
            <a:ext cx="4937760" cy="2103120"/>
          </a:xfrm>
          <a:prstGeom prst="rect">
            <a:avLst/>
          </a:prstGeom>
          <a:noFill/>
          <a:ln/>
        </p:spPr>
        <p:txBody>
          <a:bodyPr wrap="square" lIns="0" tIns="0" rIns="0" bIns="0" rtlCol="0" anchor="t"/>
          <a:lstStyle/>
          <a:p>
            <a:pPr indent="0" marL="0">
              <a:buNone/>
            </a:pPr>
            <a:r>
              <a:rPr lang="en-US" sz="1500" dirty="0">
                <a:solidFill>
                  <a:srgbClr val="1A2233"/>
                </a:solidFill>
                <a:latin typeface="Calibri" pitchFamily="34" charset="0"/>
                <a:ea typeface="Calibri" pitchFamily="34" charset="-122"/>
                <a:cs typeface="Calibri" pitchFamily="34" charset="-120"/>
              </a:rPr>
              <a:t>Almost every business dataset is a table. Each </a:t>
            </a:r>
            <a:r>
              <a:rPr lang="en-US" sz="1500" b="1" dirty="0">
                <a:solidFill>
                  <a:srgbClr val="1A2233"/>
                </a:solidFill>
                <a:latin typeface="Calibri" pitchFamily="34" charset="0"/>
                <a:ea typeface="Calibri" pitchFamily="34" charset="-122"/>
                <a:cs typeface="Calibri" pitchFamily="34" charset="-120"/>
              </a:rPr>
              <a:t>row</a:t>
            </a:r>
            <a:r>
              <a:rPr lang="en-US" sz="1500" dirty="0">
                <a:solidFill>
                  <a:srgbClr val="1A2233"/>
                </a:solidFill>
                <a:latin typeface="Calibri" pitchFamily="34" charset="0"/>
                <a:ea typeface="Calibri" pitchFamily="34" charset="-122"/>
                <a:cs typeface="Calibri" pitchFamily="34" charset="-120"/>
              </a:rPr>
              <a:t> is one observation — one receipt, one customer, one loan. Each </a:t>
            </a:r>
            <a:r>
              <a:rPr lang="en-US" sz="1500" b="1" dirty="0">
                <a:solidFill>
                  <a:srgbClr val="1A2233"/>
                </a:solidFill>
                <a:latin typeface="Calibri" pitchFamily="34" charset="0"/>
                <a:ea typeface="Calibri" pitchFamily="34" charset="-122"/>
                <a:cs typeface="Calibri" pitchFamily="34" charset="-120"/>
              </a:rPr>
              <a:t>column</a:t>
            </a:r>
            <a:r>
              <a:rPr lang="en-US" sz="1500" dirty="0">
                <a:solidFill>
                  <a:srgbClr val="1A2233"/>
                </a:solidFill>
                <a:latin typeface="Calibri" pitchFamily="34" charset="0"/>
                <a:ea typeface="Calibri" pitchFamily="34" charset="-122"/>
                <a:cs typeface="Calibri" pitchFamily="34" charset="-120"/>
              </a:rPr>
              <a:t> is a variable — one fact recorded about every row. The first question to ask of any table is: </a:t>
            </a:r>
            <a:r>
              <a:rPr lang="en-US" sz="1500" b="1" dirty="0">
                <a:solidFill>
                  <a:srgbClr val="1A2233"/>
                </a:solidFill>
                <a:latin typeface="Calibri" pitchFamily="34" charset="0"/>
                <a:ea typeface="Calibri" pitchFamily="34" charset="-122"/>
                <a:cs typeface="Calibri" pitchFamily="34" charset="-120"/>
              </a:rPr>
              <a:t>what does one row represent?</a:t>
            </a:r>
            <a:endParaRPr lang="en-US" sz="1500" dirty="0"/>
          </a:p>
        </p:txBody>
      </p:sp>
      <p:sp>
        <p:nvSpPr>
          <p:cNvPr id="13" name="Text 8"/>
          <p:cNvSpPr txBox="1"/>
          <p:nvPr/>
        </p:nvSpPr>
        <p:spPr>
          <a:xfrm>
            <a:off x="960120" y="4754880"/>
            <a:ext cx="36576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EXAMPLE</a:t>
            </a:r>
            <a:endParaRPr lang="en-US" sz="1100" dirty="0"/>
          </a:p>
        </p:txBody>
      </p:sp>
      <p:sp>
        <p:nvSpPr>
          <p:cNvPr id="14" name="Text 9"/>
          <p:cNvSpPr txBox="1"/>
          <p:nvPr/>
        </p:nvSpPr>
        <p:spPr>
          <a:xfrm>
            <a:off x="960120" y="5074920"/>
            <a:ext cx="4937760" cy="822960"/>
          </a:xfrm>
          <a:prstGeom prst="rect">
            <a:avLst/>
          </a:prstGeom>
          <a:noFill/>
          <a:ln/>
        </p:spPr>
        <p:txBody>
          <a:bodyPr wrap="square" lIns="0" tIns="0" rIns="0" bIns="0" rtlCol="0" anchor="t"/>
          <a:lstStyle/>
          <a:p>
            <a:pPr indent="0" marL="0">
              <a:buNone/>
            </a:pPr>
            <a:r>
              <a:rPr lang="en-US" sz="1300" dirty="0">
                <a:solidFill>
                  <a:srgbClr val="5C6B7A"/>
                </a:solidFill>
                <a:latin typeface="Calibri" pitchFamily="34" charset="0"/>
                <a:ea typeface="Calibri" pitchFamily="34" charset="-122"/>
                <a:cs typeface="Calibri" pitchFamily="34" charset="-120"/>
              </a:rPr>
              <a:t>In our retailer file, one row = one receipt. Columns include date, hour, store, category, items, basket_naira, payment_method and loyalty_member. 2,000 rows × 10 columns.</a:t>
            </a:r>
            <a:endParaRPr lang="en-US" sz="1300" dirty="0"/>
          </a:p>
        </p:txBody>
      </p:sp>
      <p:sp>
        <p:nvSpPr>
          <p:cNvPr id="15" name="Shape 10"/>
          <p:cNvSpPr/>
          <p:nvPr/>
        </p:nvSpPr>
        <p:spPr>
          <a:xfrm>
            <a:off x="6446520" y="1691640"/>
            <a:ext cx="5074920" cy="4434840"/>
          </a:xfrm>
          <a:prstGeom prst="roundRect">
            <a:avLst>
              <a:gd name="adj" fmla="val 1649"/>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6720840" y="1920240"/>
            <a:ext cx="457200" cy="457200"/>
          </a:xfrm>
          <a:prstGeom prst="ellipse">
            <a:avLst/>
          </a:prstGeom>
          <a:solidFill>
            <a:srgbClr val="D99A2B"/>
          </a:solidFill>
          <a:ln w="12700">
            <a:solidFill>
              <a:srgbClr val="D99A2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6835140" y="2034540"/>
            <a:ext cx="228600" cy="228600"/>
          </a:xfrm>
          <a:prstGeom prst="rect">
            <a:avLst/>
          </a:prstGeom>
        </p:spPr>
      </p:pic>
      <p:sp>
        <p:nvSpPr>
          <p:cNvPr id="18" name="Text 12"/>
          <p:cNvSpPr txBox="1"/>
          <p:nvPr/>
        </p:nvSpPr>
        <p:spPr>
          <a:xfrm>
            <a:off x="7315200" y="1938528"/>
            <a:ext cx="3657600" cy="411480"/>
          </a:xfrm>
          <a:prstGeom prst="rect">
            <a:avLst/>
          </a:prstGeom>
          <a:noFill/>
          <a:ln/>
        </p:spPr>
        <p:txBody>
          <a:bodyPr wrap="square" lIns="0" tIns="0" rIns="0" bIns="0" rtlCol="0" anchor="ctr"/>
          <a:lstStyle/>
          <a:p>
            <a:pPr indent="0" marL="0">
              <a:buNone/>
            </a:pPr>
            <a:r>
              <a:rPr lang="en-US" sz="1200" b="1" spc="300" kern="0" dirty="0">
                <a:solidFill>
                  <a:srgbClr val="1C7293"/>
                </a:solidFill>
                <a:latin typeface="Calibri" pitchFamily="34" charset="0"/>
                <a:ea typeface="Calibri" pitchFamily="34" charset="-122"/>
                <a:cs typeface="Calibri" pitchFamily="34" charset="-120"/>
              </a:rPr>
              <a:t>WHY A MANAGER CARES</a:t>
            </a:r>
            <a:endParaRPr lang="en-US" sz="1200" dirty="0"/>
          </a:p>
        </p:txBody>
      </p:sp>
      <p:sp>
        <p:nvSpPr>
          <p:cNvPr id="19" name="Text 13"/>
          <p:cNvSpPr txBox="1"/>
          <p:nvPr/>
        </p:nvSpPr>
        <p:spPr>
          <a:xfrm>
            <a:off x="6720840" y="2514600"/>
            <a:ext cx="4526280" cy="347472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Mixing up the unit of analysis is the root of many bad reports. 'Average basket' (per receipt) and 'average customer spend' (per customer, across many receipts) are different numbers that answer different questions. Decide the unit before you calculate anything.</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MEET TODAY'S DATA</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One Row = One Receipt: The Lagos Retailer File</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First five rows of retail_transactions.csv (2,000 rows, 10 columns).</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18</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1209040"/>
                <a:gridCol w="1209040"/>
                <a:gridCol w="1209040"/>
                <a:gridCol w="1209040"/>
                <a:gridCol w="1209040"/>
                <a:gridCol w="1209040"/>
                <a:gridCol w="1209040"/>
                <a:gridCol w="1209040"/>
                <a:gridCol w="12090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txn_id</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hour</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store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items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basket_naira</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payment</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loyalty</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r>
              <a:tr h="45720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T01489</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2025-01-01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Lekki Phase 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Beverages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6,250</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Card</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45720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T00132</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2025-01-01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Yaba</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Personal Care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6,100</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Card</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T00140</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2025-01-01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Yaba</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Groceries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10,570</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POS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45720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T00756</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2025-01-01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Lekki Phase 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Beverages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3,680</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Transfer</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T01997</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2025-01-01</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Ikeja City Mall</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Groceries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12,220</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Cash</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bl>
          </a:graphicData>
        </a:graphic>
      </p:graphicFrame>
      <p:sp>
        <p:nvSpPr>
          <p:cNvPr id="10" name="Shape 5"/>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11" name="Text 6"/>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Ask: which columns are categories, which are quantities — and which could you average meaningfully?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DATA TYPES (1 OF 2)</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Three Structures of Data</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Know whether your data lives in rows and columns — or nowhere near them.</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19</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2066544"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221992" y="2286000"/>
            <a:ext cx="310896" cy="310896"/>
          </a:xfrm>
          <a:prstGeom prst="rect">
            <a:avLst/>
          </a:prstGeom>
        </p:spPr>
      </p:pic>
      <p:sp>
        <p:nvSpPr>
          <p:cNvPr id="12" name="Text 7"/>
          <p:cNvSpPr txBox="1"/>
          <p:nvPr/>
        </p:nvSpPr>
        <p:spPr>
          <a:xfrm>
            <a:off x="82296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Structured</a:t>
            </a:r>
            <a:endParaRPr lang="en-US" sz="1600" dirty="0"/>
          </a:p>
        </p:txBody>
      </p:sp>
      <p:sp>
        <p:nvSpPr>
          <p:cNvPr id="13" name="Text 8"/>
          <p:cNvSpPr txBox="1"/>
          <p:nvPr/>
        </p:nvSpPr>
        <p:spPr>
          <a:xfrm>
            <a:off x="868680" y="3474720"/>
            <a:ext cx="3017520" cy="132588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Organised into predefined tables, rows and columns.</a:t>
            </a:r>
            <a:endParaRPr lang="en-US" sz="1300" dirty="0"/>
          </a:p>
        </p:txBody>
      </p:sp>
      <p:sp>
        <p:nvSpPr>
          <p:cNvPr id="14" name="Text 9"/>
          <p:cNvSpPr txBox="1"/>
          <p:nvPr/>
        </p:nvSpPr>
        <p:spPr>
          <a:xfrm>
            <a:off x="868680" y="4892040"/>
            <a:ext cx="301752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Bank accounts · stock prices · receipts</a:t>
            </a:r>
            <a:endParaRPr lang="en-US" sz="1100" dirty="0"/>
          </a:p>
        </p:txBody>
      </p:sp>
      <p:sp>
        <p:nvSpPr>
          <p:cNvPr id="15" name="Shape 10"/>
          <p:cNvSpPr/>
          <p:nvPr/>
        </p:nvSpPr>
        <p:spPr>
          <a:xfrm>
            <a:off x="434340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5769864" y="2130552"/>
            <a:ext cx="621792" cy="621792"/>
          </a:xfrm>
          <a:prstGeom prst="ellipse">
            <a:avLst/>
          </a:prstGeom>
          <a:solidFill>
            <a:srgbClr val="0B5E82"/>
          </a:solidFill>
          <a:ln w="12700">
            <a:solidFill>
              <a:srgbClr val="0B5E82"/>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5925312" y="2286000"/>
            <a:ext cx="310896" cy="310896"/>
          </a:xfrm>
          <a:prstGeom prst="rect">
            <a:avLst/>
          </a:prstGeom>
        </p:spPr>
      </p:pic>
      <p:sp>
        <p:nvSpPr>
          <p:cNvPr id="18" name="Text 12"/>
          <p:cNvSpPr txBox="1"/>
          <p:nvPr/>
        </p:nvSpPr>
        <p:spPr>
          <a:xfrm>
            <a:off x="452628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Semi-Structured</a:t>
            </a:r>
            <a:endParaRPr lang="en-US" sz="1600" dirty="0"/>
          </a:p>
        </p:txBody>
      </p:sp>
      <p:sp>
        <p:nvSpPr>
          <p:cNvPr id="19" name="Text 13"/>
          <p:cNvSpPr txBox="1"/>
          <p:nvPr/>
        </p:nvSpPr>
        <p:spPr>
          <a:xfrm>
            <a:off x="4572000" y="3474720"/>
            <a:ext cx="3017520" cy="132588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Some organisation — tags or keys — but no rigid table.</a:t>
            </a:r>
            <a:endParaRPr lang="en-US" sz="1300" dirty="0"/>
          </a:p>
        </p:txBody>
      </p:sp>
      <p:sp>
        <p:nvSpPr>
          <p:cNvPr id="20" name="Text 14"/>
          <p:cNvSpPr txBox="1"/>
          <p:nvPr/>
        </p:nvSpPr>
        <p:spPr>
          <a:xfrm>
            <a:off x="4572000" y="4892040"/>
            <a:ext cx="301752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JSON from APIs · email headers · web logs</a:t>
            </a:r>
            <a:endParaRPr lang="en-US" sz="1100" dirty="0"/>
          </a:p>
        </p:txBody>
      </p:sp>
      <p:sp>
        <p:nvSpPr>
          <p:cNvPr id="21" name="Shape 15"/>
          <p:cNvSpPr/>
          <p:nvPr/>
        </p:nvSpPr>
        <p:spPr>
          <a:xfrm>
            <a:off x="804672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2" name="Shape 16"/>
          <p:cNvSpPr/>
          <p:nvPr/>
        </p:nvSpPr>
        <p:spPr>
          <a:xfrm>
            <a:off x="9473184" y="2130552"/>
            <a:ext cx="621792" cy="621792"/>
          </a:xfrm>
          <a:prstGeom prst="ellipse">
            <a:avLst/>
          </a:prstGeom>
          <a:solidFill>
            <a:srgbClr val="D99A2B"/>
          </a:solidFill>
          <a:ln w="12700">
            <a:solidFill>
              <a:srgbClr val="D99A2B"/>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9628632" y="2286000"/>
            <a:ext cx="310896" cy="310896"/>
          </a:xfrm>
          <a:prstGeom prst="rect">
            <a:avLst/>
          </a:prstGeom>
        </p:spPr>
      </p:pic>
      <p:sp>
        <p:nvSpPr>
          <p:cNvPr id="24" name="Text 17"/>
          <p:cNvSpPr txBox="1"/>
          <p:nvPr/>
        </p:nvSpPr>
        <p:spPr>
          <a:xfrm>
            <a:off x="822960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Unstructured</a:t>
            </a:r>
            <a:endParaRPr lang="en-US" sz="1600" dirty="0"/>
          </a:p>
        </p:txBody>
      </p:sp>
      <p:sp>
        <p:nvSpPr>
          <p:cNvPr id="25" name="Text 18"/>
          <p:cNvSpPr txBox="1"/>
          <p:nvPr/>
        </p:nvSpPr>
        <p:spPr>
          <a:xfrm>
            <a:off x="8275320" y="3474720"/>
            <a:ext cx="3017520" cy="132588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No predefined format — the majority of data created today.</a:t>
            </a:r>
            <a:endParaRPr lang="en-US" sz="1300" dirty="0"/>
          </a:p>
        </p:txBody>
      </p:sp>
      <p:sp>
        <p:nvSpPr>
          <p:cNvPr id="26" name="Text 19"/>
          <p:cNvSpPr txBox="1"/>
          <p:nvPr/>
        </p:nvSpPr>
        <p:spPr>
          <a:xfrm>
            <a:off x="8275320" y="4892040"/>
            <a:ext cx="301752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WhatsApp messages · emails · claim photos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DATA TYPES (2 OF 2)</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Not All Numbers Are Equal: Four Measurement Scales</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20</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1645920"/>
                <a:gridCol w="3291840"/>
                <a:gridCol w="2743200"/>
                <a:gridCol w="3200400"/>
              </a:tblGrid>
              <a:tr h="7315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Scale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Valid summaries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Business example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141B4D"/>
                    </a:solidFill>
                  </a:tcPr>
                </a:tc>
              </a:tr>
              <a:tr h="73152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Nominal</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Categories with no order</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Counts, %, mode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Payment method; store; account type</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73152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Ordinal</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Ordered categories, gaps not equal</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Median, ranks, %</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Satisfaction 1–5; credit rating A/B/C</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r h="73152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Interval</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Equal gaps, no true zero</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Mean, standard deviation</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Temperature in °C; calendar year</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3F6F9"/>
                    </a:solidFill>
                  </a:tcPr>
                </a:tc>
              </a:tr>
              <a:tr h="731520">
                <a:tc>
                  <a:txBody>
                    <a:bodyPr/>
                    <a:lstStyle/>
                    <a:p>
                      <a:pPr indent="0" marL="0">
                        <a:buNone/>
                      </a:pPr>
                      <a:r>
                        <a:rPr lang="en-US" sz="1300" b="1" dirty="0">
                          <a:solidFill>
                            <a:srgbClr val="141B4D"/>
                          </a:solidFill>
                          <a:latin typeface="Calibri" pitchFamily="34" charset="0"/>
                          <a:ea typeface="Calibri" pitchFamily="34" charset="-122"/>
                          <a:cs typeface="Calibri" pitchFamily="34" charset="-120"/>
                        </a:rPr>
                        <a:t>Ratio</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Equal gaps and a true zero</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All of the above + ratios</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c>
                  <a:txBody>
                    <a:bodyPr/>
                    <a:lstStyle/>
                    <a:p>
                      <a:pPr indent="0" marL="0">
                        <a:buNone/>
                      </a:pPr>
                      <a:r>
                        <a:rPr lang="en-US" sz="1300" dirty="0">
                          <a:solidFill>
                            <a:srgbClr val="1A2233"/>
                          </a:solidFill>
                          <a:latin typeface="Calibri" pitchFamily="34" charset="0"/>
                          <a:ea typeface="Calibri" pitchFamily="34" charset="-122"/>
                          <a:cs typeface="Calibri" pitchFamily="34" charset="-120"/>
                        </a:rPr>
                        <a:t>Revenue; items; age; loan amount</a:t>
                      </a:r>
                      <a:endParaRPr lang="en-US" sz="1300" dirty="0">
                        <a:latin typeface="Calibri" charset="0"/>
                        <a:ea typeface="Calibri" charset="0"/>
                        <a:cs typeface="Calibri" charset="0"/>
                      </a:endParaRPr>
                    </a:p>
                  </a:txBody>
                  <a:tcPr marL="73152" marR="73152" marT="73152" marB="73152" anchor="ctr">
                    <a:lnL w="9525" cap="flat" cmpd="sng" algn="ctr">
                      <a:solidFill>
                        <a:srgbClr val="E1E7EE"/>
                      </a:solidFill>
                      <a:prstDash val="solid"/>
                      <a:round/>
                      <a:headEnd type="none" w="med" len="med"/>
                      <a:tailEnd type="none" w="med" len="med"/>
                    </a:lnL>
                    <a:lnR w="9525" cap="flat" cmpd="sng" algn="ctr">
                      <a:solidFill>
                        <a:srgbClr val="E1E7EE"/>
                      </a:solidFill>
                      <a:prstDash val="solid"/>
                      <a:round/>
                      <a:headEnd type="none" w="med" len="med"/>
                      <a:tailEnd type="none" w="med" len="med"/>
                    </a:lnR>
                    <a:lnT w="9525" cap="flat" cmpd="sng" algn="ctr">
                      <a:solidFill>
                        <a:srgbClr val="E1E7EE"/>
                      </a:solidFill>
                      <a:prstDash val="solid"/>
                      <a:round/>
                      <a:headEnd type="none" w="med" len="med"/>
                      <a:tailEnd type="none" w="med" len="med"/>
                    </a:lnT>
                    <a:lnB w="9525" cap="flat" cmpd="sng" algn="ctr">
                      <a:solidFill>
                        <a:srgbClr val="E1E7EE"/>
                      </a:solidFill>
                      <a:prstDash val="solid"/>
                      <a:round/>
                      <a:headEnd type="none" w="med" len="med"/>
                      <a:tailEnd type="none" w="med" len="med"/>
                    </a:lnB>
                    <a:solidFill>
                      <a:srgbClr val="FFFFFF"/>
                    </a:solidFill>
                  </a:tcPr>
                </a:tc>
              </a:tr>
            </a:tbl>
          </a:graphicData>
        </a:graphic>
      </p:graphicFrame>
      <p:sp>
        <p:nvSpPr>
          <p:cNvPr id="9" name="Shape 4"/>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10" name="Text 5"/>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Rule of thumb: the scale decides the summary. Averages only make sense for interval and ratio data.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WHERE MANAGERS GO WRONG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Cost of Getting the Scale Wrong</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Real errors seen in Nigerian boardroom reports.</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21</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Text 5"/>
          <p:cNvSpPr txBox="1"/>
          <p:nvPr/>
        </p:nvSpPr>
        <p:spPr>
          <a:xfrm>
            <a:off x="1188720" y="1874520"/>
            <a:ext cx="4572000" cy="274320"/>
          </a:xfrm>
          <a:prstGeom prst="rect">
            <a:avLst/>
          </a:prstGeom>
          <a:noFill/>
          <a:ln/>
        </p:spPr>
        <p:txBody>
          <a:bodyPr wrap="square" lIns="0" tIns="0" rIns="0" bIns="0" rtlCol="0" anchor="t"/>
          <a:lstStyle/>
          <a:p>
            <a:pPr indent="0" marL="0">
              <a:buNone/>
            </a:pPr>
            <a:r>
              <a:rPr lang="en-US" sz="1150" b="1" spc="300" kern="0" dirty="0">
                <a:solidFill>
                  <a:srgbClr val="B5541A"/>
                </a:solidFill>
                <a:latin typeface="Calibri" pitchFamily="34" charset="0"/>
                <a:ea typeface="Calibri" pitchFamily="34" charset="-122"/>
                <a:cs typeface="Calibri" pitchFamily="34" charset="-120"/>
              </a:rPr>
              <a:t>THE TRAP</a:t>
            </a:r>
            <a:endParaRPr lang="en-US" sz="1150" dirty="0"/>
          </a:p>
        </p:txBody>
      </p:sp>
      <p:sp>
        <p:nvSpPr>
          <p:cNvPr id="10" name="Text 6"/>
          <p:cNvSpPr txBox="1"/>
          <p:nvPr/>
        </p:nvSpPr>
        <p:spPr>
          <a:xfrm>
            <a:off x="6400800" y="1874520"/>
            <a:ext cx="4572000" cy="274320"/>
          </a:xfrm>
          <a:prstGeom prst="rect">
            <a:avLst/>
          </a:prstGeom>
          <a:noFill/>
          <a:ln/>
        </p:spPr>
        <p:txBody>
          <a:bodyPr wrap="square" lIns="0" tIns="0" rIns="0" bIns="0" rtlCol="0" anchor="t"/>
          <a:lstStyle/>
          <a:p>
            <a:pPr indent="0" marL="0">
              <a:buNone/>
            </a:pPr>
            <a:r>
              <a:rPr lang="en-US" sz="1150" b="1" spc="300" kern="0" dirty="0">
                <a:solidFill>
                  <a:srgbClr val="2E7D5B"/>
                </a:solidFill>
                <a:latin typeface="Calibri" pitchFamily="34" charset="0"/>
                <a:ea typeface="Calibri" pitchFamily="34" charset="-122"/>
                <a:cs typeface="Calibri" pitchFamily="34" charset="-120"/>
              </a:rPr>
              <a:t>THE BETTER HABIT</a:t>
            </a:r>
            <a:endParaRPr lang="en-US" sz="1150" dirty="0"/>
          </a:p>
        </p:txBody>
      </p:sp>
      <p:sp>
        <p:nvSpPr>
          <p:cNvPr id="11" name="Shape 7"/>
          <p:cNvSpPr/>
          <p:nvPr/>
        </p:nvSpPr>
        <p:spPr>
          <a:xfrm>
            <a:off x="640080" y="2240280"/>
            <a:ext cx="5440680" cy="1170432"/>
          </a:xfrm>
          <a:prstGeom prst="roundRect">
            <a:avLst>
              <a:gd name="adj" fmla="val 4688"/>
            </a:avLst>
          </a:prstGeom>
          <a:solidFill>
            <a:srgbClr val="FBF1EC"/>
          </a:solidFill>
          <a:ln w="9525">
            <a:solidFill>
              <a:srgbClr val="F0D9CC"/>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822960" y="2670048"/>
            <a:ext cx="310896" cy="310896"/>
          </a:xfrm>
          <a:prstGeom prst="rect">
            <a:avLst/>
          </a:prstGeom>
        </p:spPr>
      </p:pic>
      <p:sp>
        <p:nvSpPr>
          <p:cNvPr id="13" name="Text 8"/>
          <p:cNvSpPr txBox="1"/>
          <p:nvPr/>
        </p:nvSpPr>
        <p:spPr>
          <a:xfrm>
            <a:off x="1280160" y="2240280"/>
            <a:ext cx="4663440" cy="117043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Account type coded 1–4 is averaged: “the average account type is </a:t>
            </a:r>
            <a:r>
              <a:rPr lang="en-US" sz="1300" b="1" dirty="0">
                <a:solidFill>
                  <a:srgbClr val="1A2233"/>
                </a:solidFill>
                <a:latin typeface="Calibri" pitchFamily="34" charset="0"/>
                <a:ea typeface="Calibri" pitchFamily="34" charset="-122"/>
                <a:cs typeface="Calibri" pitchFamily="34" charset="-120"/>
              </a:rPr>
              <a:t>2.4</a:t>
            </a:r>
            <a:r>
              <a:rPr lang="en-US" sz="1300" dirty="0">
                <a:solidFill>
                  <a:srgbClr val="1A2233"/>
                </a:solidFill>
                <a:latin typeface="Calibri" pitchFamily="34" charset="0"/>
                <a:ea typeface="Calibri" pitchFamily="34" charset="-122"/>
                <a:cs typeface="Calibri" pitchFamily="34" charset="-120"/>
              </a:rPr>
              <a:t>”.</a:t>
            </a:r>
            <a:endParaRPr lang="en-US" sz="1300" dirty="0"/>
          </a:p>
        </p:txBody>
      </p:sp>
      <p:sp>
        <p:nvSpPr>
          <p:cNvPr id="14" name="Shape 9"/>
          <p:cNvSpPr/>
          <p:nvPr/>
        </p:nvSpPr>
        <p:spPr>
          <a:xfrm>
            <a:off x="6263640" y="2240280"/>
            <a:ext cx="5257800" cy="1170432"/>
          </a:xfrm>
          <a:prstGeom prst="roundRect">
            <a:avLst>
              <a:gd name="adj" fmla="val 4688"/>
            </a:avLst>
          </a:prstGeom>
          <a:solidFill>
            <a:srgbClr val="EEF6F1"/>
          </a:solidFill>
          <a:ln w="9525">
            <a:solidFill>
              <a:srgbClr val="D2E7DA"/>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446520" y="2670048"/>
            <a:ext cx="310896" cy="310896"/>
          </a:xfrm>
          <a:prstGeom prst="rect">
            <a:avLst/>
          </a:prstGeom>
        </p:spPr>
      </p:pic>
      <p:sp>
        <p:nvSpPr>
          <p:cNvPr id="16" name="Text 10"/>
          <p:cNvSpPr txBox="1"/>
          <p:nvPr/>
        </p:nvSpPr>
        <p:spPr>
          <a:xfrm>
            <a:off x="6903720" y="2240280"/>
            <a:ext cx="4480560" cy="117043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Report </a:t>
            </a:r>
            <a:r>
              <a:rPr lang="en-US" sz="1300" b="1" dirty="0">
                <a:solidFill>
                  <a:srgbClr val="1A2233"/>
                </a:solidFill>
                <a:latin typeface="Calibri" pitchFamily="34" charset="0"/>
                <a:ea typeface="Calibri" pitchFamily="34" charset="-122"/>
                <a:cs typeface="Calibri" pitchFamily="34" charset="-120"/>
              </a:rPr>
              <a:t>counts and shares</a:t>
            </a:r>
            <a:r>
              <a:rPr lang="en-US" sz="1300" dirty="0">
                <a:solidFill>
                  <a:srgbClr val="1A2233"/>
                </a:solidFill>
                <a:latin typeface="Calibri" pitchFamily="34" charset="0"/>
                <a:ea typeface="Calibri" pitchFamily="34" charset="-122"/>
                <a:cs typeface="Calibri" pitchFamily="34" charset="-120"/>
              </a:rPr>
              <a:t> for nominal data: 46% savings, 31% current…</a:t>
            </a:r>
            <a:endParaRPr lang="en-US" sz="1300" dirty="0"/>
          </a:p>
        </p:txBody>
      </p:sp>
      <p:sp>
        <p:nvSpPr>
          <p:cNvPr id="17" name="Shape 11"/>
          <p:cNvSpPr/>
          <p:nvPr/>
        </p:nvSpPr>
        <p:spPr>
          <a:xfrm>
            <a:off x="640080" y="3520440"/>
            <a:ext cx="5440680" cy="1170432"/>
          </a:xfrm>
          <a:prstGeom prst="roundRect">
            <a:avLst>
              <a:gd name="adj" fmla="val 4688"/>
            </a:avLst>
          </a:prstGeom>
          <a:solidFill>
            <a:srgbClr val="FBF1EC"/>
          </a:solidFill>
          <a:ln w="9525">
            <a:solidFill>
              <a:srgbClr val="F0D9CC"/>
            </a:solidFill>
            <a:prstDash val="solid"/>
          </a:ln>
        </p:spPr>
        <p:txBody>
          <a:bodyPr/>
          <a:p/>
        </p:txBody>
      </p:sp>
      <p:pic>
        <p:nvPicPr>
          <p:cNvPr id="18" name="Image 3" descr="preencoded.png">    </p:cNvPr>
          <p:cNvPicPr>
            <a:picLocks noChangeAspect="1"/>
          </p:cNvPicPr>
          <p:nvPr/>
        </p:nvPicPr>
        <p:blipFill>
          <a:blip r:embed="rId4"/>
          <a:stretch>
            <a:fillRect/>
          </a:stretch>
        </p:blipFill>
        <p:spPr>
          <a:xfrm>
            <a:off x="822960" y="3950208"/>
            <a:ext cx="310896" cy="310896"/>
          </a:xfrm>
          <a:prstGeom prst="rect">
            <a:avLst/>
          </a:prstGeom>
        </p:spPr>
      </p:pic>
      <p:sp>
        <p:nvSpPr>
          <p:cNvPr id="19" name="Text 12"/>
          <p:cNvSpPr txBox="1"/>
          <p:nvPr/>
        </p:nvSpPr>
        <p:spPr>
          <a:xfrm>
            <a:off x="1280160" y="3520440"/>
            <a:ext cx="4663440" cy="117043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Satisfaction scores 1–5 averaged to 3.7 and compared to 3.6 as a 'real improvement'.</a:t>
            </a:r>
            <a:endParaRPr lang="en-US" sz="1300" dirty="0"/>
          </a:p>
        </p:txBody>
      </p:sp>
      <p:sp>
        <p:nvSpPr>
          <p:cNvPr id="20" name="Shape 13"/>
          <p:cNvSpPr/>
          <p:nvPr/>
        </p:nvSpPr>
        <p:spPr>
          <a:xfrm>
            <a:off x="6263640" y="3520440"/>
            <a:ext cx="5257800" cy="1170432"/>
          </a:xfrm>
          <a:prstGeom prst="roundRect">
            <a:avLst>
              <a:gd name="adj" fmla="val 4688"/>
            </a:avLst>
          </a:prstGeom>
          <a:solidFill>
            <a:srgbClr val="EEF6F1"/>
          </a:solidFill>
          <a:ln w="9525">
            <a:solidFill>
              <a:srgbClr val="D2E7DA"/>
            </a:solidFill>
            <a:prstDash val="solid"/>
          </a:ln>
        </p:spPr>
        <p:txBody>
          <a:bodyPr/>
          <a:p/>
        </p:txBody>
      </p:sp>
      <p:pic>
        <p:nvPicPr>
          <p:cNvPr id="21" name="Image 4" descr="preencoded.png">    </p:cNvPr>
          <p:cNvPicPr>
            <a:picLocks noChangeAspect="1"/>
          </p:cNvPicPr>
          <p:nvPr/>
        </p:nvPicPr>
        <p:blipFill>
          <a:blip r:embed="rId5"/>
          <a:stretch>
            <a:fillRect/>
          </a:stretch>
        </p:blipFill>
        <p:spPr>
          <a:xfrm>
            <a:off x="6446520" y="3950208"/>
            <a:ext cx="310896" cy="310896"/>
          </a:xfrm>
          <a:prstGeom prst="rect">
            <a:avLst/>
          </a:prstGeom>
        </p:spPr>
      </p:pic>
      <p:sp>
        <p:nvSpPr>
          <p:cNvPr id="22" name="Text 14"/>
          <p:cNvSpPr txBox="1"/>
          <p:nvPr/>
        </p:nvSpPr>
        <p:spPr>
          <a:xfrm>
            <a:off x="6903720" y="3520440"/>
            <a:ext cx="4480560" cy="117043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Report the </a:t>
            </a:r>
            <a:r>
              <a:rPr lang="en-US" sz="1300" b="1" dirty="0">
                <a:solidFill>
                  <a:srgbClr val="1A2233"/>
                </a:solidFill>
                <a:latin typeface="Calibri" pitchFamily="34" charset="0"/>
                <a:ea typeface="Calibri" pitchFamily="34" charset="-122"/>
                <a:cs typeface="Calibri" pitchFamily="34" charset="-120"/>
              </a:rPr>
              <a:t>median</a:t>
            </a:r>
            <a:r>
              <a:rPr lang="en-US" sz="1300" dirty="0">
                <a:solidFill>
                  <a:srgbClr val="1A2233"/>
                </a:solidFill>
                <a:latin typeface="Calibri" pitchFamily="34" charset="0"/>
                <a:ea typeface="Calibri" pitchFamily="34" charset="-122"/>
                <a:cs typeface="Calibri" pitchFamily="34" charset="-120"/>
              </a:rPr>
              <a:t> and the % of 4s and 5s (top-two-box).</a:t>
            </a:r>
            <a:endParaRPr lang="en-US" sz="1300" dirty="0"/>
          </a:p>
        </p:txBody>
      </p:sp>
      <p:sp>
        <p:nvSpPr>
          <p:cNvPr id="23" name="Shape 15"/>
          <p:cNvSpPr/>
          <p:nvPr/>
        </p:nvSpPr>
        <p:spPr>
          <a:xfrm>
            <a:off x="640080" y="4800600"/>
            <a:ext cx="5440680" cy="1170432"/>
          </a:xfrm>
          <a:prstGeom prst="roundRect">
            <a:avLst>
              <a:gd name="adj" fmla="val 4688"/>
            </a:avLst>
          </a:prstGeom>
          <a:solidFill>
            <a:srgbClr val="FBF1EC"/>
          </a:solidFill>
          <a:ln w="9525">
            <a:solidFill>
              <a:srgbClr val="F0D9CC"/>
            </a:solidFill>
            <a:prstDash val="solid"/>
          </a:ln>
        </p:spPr>
        <p:txBody>
          <a:bodyPr/>
          <a:p/>
        </p:txBody>
      </p:sp>
      <p:pic>
        <p:nvPicPr>
          <p:cNvPr id="24" name="Image 5" descr="preencoded.png">    </p:cNvPr>
          <p:cNvPicPr>
            <a:picLocks noChangeAspect="1"/>
          </p:cNvPicPr>
          <p:nvPr/>
        </p:nvPicPr>
        <p:blipFill>
          <a:blip r:embed="rId6"/>
          <a:stretch>
            <a:fillRect/>
          </a:stretch>
        </p:blipFill>
        <p:spPr>
          <a:xfrm>
            <a:off x="822960" y="5230368"/>
            <a:ext cx="310896" cy="310896"/>
          </a:xfrm>
          <a:prstGeom prst="rect">
            <a:avLst/>
          </a:prstGeom>
        </p:spPr>
      </p:pic>
      <p:sp>
        <p:nvSpPr>
          <p:cNvPr id="25" name="Text 16"/>
          <p:cNvSpPr txBox="1"/>
          <p:nvPr/>
        </p:nvSpPr>
        <p:spPr>
          <a:xfrm>
            <a:off x="1280160" y="4800600"/>
            <a:ext cx="4663440" cy="117043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Customer IDs or phone numbers summarised with mean and standard deviation.</a:t>
            </a:r>
            <a:endParaRPr lang="en-US" sz="1300" dirty="0"/>
          </a:p>
        </p:txBody>
      </p:sp>
      <p:sp>
        <p:nvSpPr>
          <p:cNvPr id="26" name="Shape 17"/>
          <p:cNvSpPr/>
          <p:nvPr/>
        </p:nvSpPr>
        <p:spPr>
          <a:xfrm>
            <a:off x="6263640" y="4800600"/>
            <a:ext cx="5257800" cy="1170432"/>
          </a:xfrm>
          <a:prstGeom prst="roundRect">
            <a:avLst>
              <a:gd name="adj" fmla="val 4688"/>
            </a:avLst>
          </a:prstGeom>
          <a:solidFill>
            <a:srgbClr val="EEF6F1"/>
          </a:solidFill>
          <a:ln w="9525">
            <a:solidFill>
              <a:srgbClr val="D2E7DA"/>
            </a:solidFill>
            <a:prstDash val="solid"/>
          </a:ln>
        </p:spPr>
        <p:txBody>
          <a:bodyPr/>
          <a:p/>
        </p:txBody>
      </p:sp>
      <p:pic>
        <p:nvPicPr>
          <p:cNvPr id="27" name="Image 6" descr="preencoded.png">    </p:cNvPr>
          <p:cNvPicPr>
            <a:picLocks noChangeAspect="1"/>
          </p:cNvPicPr>
          <p:nvPr/>
        </p:nvPicPr>
        <p:blipFill>
          <a:blip r:embed="rId7"/>
          <a:stretch>
            <a:fillRect/>
          </a:stretch>
        </p:blipFill>
        <p:spPr>
          <a:xfrm>
            <a:off x="6446520" y="5230368"/>
            <a:ext cx="310896" cy="310896"/>
          </a:xfrm>
          <a:prstGeom prst="rect">
            <a:avLst/>
          </a:prstGeom>
        </p:spPr>
      </p:pic>
      <p:sp>
        <p:nvSpPr>
          <p:cNvPr id="28" name="Text 18"/>
          <p:cNvSpPr txBox="1"/>
          <p:nvPr/>
        </p:nvSpPr>
        <p:spPr>
          <a:xfrm>
            <a:off x="6903720" y="4800600"/>
            <a:ext cx="4480560" cy="1170432"/>
          </a:xfrm>
          <a:prstGeom prst="rect">
            <a:avLst/>
          </a:prstGeom>
          <a:noFill/>
          <a:ln/>
        </p:spPr>
        <p:txBody>
          <a:bodyPr wrap="square" lIns="0" tIns="0" rIns="0" bIns="0" rtlCol="0" anchor="ctr"/>
          <a:lstStyle/>
          <a:p>
            <a:pPr indent="0" marL="0">
              <a:buNone/>
            </a:pPr>
            <a:r>
              <a:rPr lang="en-US" sz="1300" dirty="0">
                <a:solidFill>
                  <a:srgbClr val="1A2233"/>
                </a:solidFill>
                <a:latin typeface="Calibri" pitchFamily="34" charset="0"/>
                <a:ea typeface="Calibri" pitchFamily="34" charset="-122"/>
                <a:cs typeface="Calibri" pitchFamily="34" charset="-120"/>
              </a:rPr>
              <a:t>Treat identifiers as </a:t>
            </a:r>
            <a:r>
              <a:rPr lang="en-US" sz="1300" b="1" dirty="0">
                <a:solidFill>
                  <a:srgbClr val="1A2233"/>
                </a:solidFill>
                <a:latin typeface="Calibri" pitchFamily="34" charset="0"/>
                <a:ea typeface="Calibri" pitchFamily="34" charset="-122"/>
                <a:cs typeface="Calibri" pitchFamily="34" charset="-120"/>
              </a:rPr>
              <a:t>labels</a:t>
            </a:r>
            <a:r>
              <a:rPr lang="en-US" sz="1300" dirty="0">
                <a:solidFill>
                  <a:srgbClr val="1A2233"/>
                </a:solidFill>
                <a:latin typeface="Calibri" pitchFamily="34" charset="0"/>
                <a:ea typeface="Calibri" pitchFamily="34" charset="-122"/>
                <a:cs typeface="Calibri" pitchFamily="34" charset="-120"/>
              </a:rPr>
              <a:t>: count them, check for duplicates, never average.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CONCEPT CHECK</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Quick Check: What Would You Say?</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22</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783080"/>
            <a:ext cx="640080" cy="640080"/>
          </a:xfrm>
          <a:prstGeom prst="ellipse">
            <a:avLst/>
          </a:prstGeom>
          <a:solidFill>
            <a:srgbClr val="D99A2B"/>
          </a:solidFill>
          <a:ln w="12700">
            <a:solidFill>
              <a:srgbClr val="D99A2B"/>
            </a:solidFill>
            <a:prstDash val="solid"/>
          </a:ln>
        </p:spPr>
        <p:txBody>
          <a:bodyPr/>
          <a:p/>
        </p:txBody>
      </p:sp>
      <p:pic>
        <p:nvPicPr>
          <p:cNvPr id="9" name="Image 1" descr="preencoded.png">    </p:cNvPr>
          <p:cNvPicPr>
            <a:picLocks noChangeAspect="1"/>
          </p:cNvPicPr>
          <p:nvPr/>
        </p:nvPicPr>
        <p:blipFill>
          <a:blip r:embed="rId2"/>
          <a:stretch>
            <a:fillRect/>
          </a:stretch>
        </p:blipFill>
        <p:spPr>
          <a:xfrm>
            <a:off x="800100" y="1943100"/>
            <a:ext cx="320040" cy="320040"/>
          </a:xfrm>
          <a:prstGeom prst="rect">
            <a:avLst/>
          </a:prstGeom>
        </p:spPr>
      </p:pic>
      <p:sp>
        <p:nvSpPr>
          <p:cNvPr id="10" name="Text 5"/>
          <p:cNvSpPr txBox="1"/>
          <p:nvPr/>
        </p:nvSpPr>
        <p:spPr>
          <a:xfrm>
            <a:off x="1508760" y="1691640"/>
            <a:ext cx="9966960" cy="1097280"/>
          </a:xfrm>
          <a:prstGeom prst="rect">
            <a:avLst/>
          </a:prstGeom>
          <a:noFill/>
          <a:ln/>
        </p:spPr>
        <p:txBody>
          <a:bodyPr wrap="square" lIns="0" tIns="0" rIns="0" bIns="0" rtlCol="0" anchor="ctr"/>
          <a:lstStyle/>
          <a:p>
            <a:pPr indent="0" marL="0">
              <a:buNone/>
            </a:pPr>
            <a:r>
              <a:rPr lang="en-US" sz="1900" dirty="0">
                <a:solidFill>
                  <a:srgbClr val="141B4D"/>
                </a:solidFill>
                <a:latin typeface="Cambria" pitchFamily="34" charset="0"/>
                <a:ea typeface="Cambria" pitchFamily="34" charset="-122"/>
                <a:cs typeface="Cambria" pitchFamily="34" charset="-120"/>
              </a:rPr>
              <a:t>A bank codes branch region as 1 = Lagos, 2 = Abuja, 3 = Port Harcourt, 4 = Kano. Which summary is meaningful?</a:t>
            </a:r>
            <a:endParaRPr lang="en-US" sz="1900" dirty="0"/>
          </a:p>
        </p:txBody>
      </p:sp>
      <p:sp>
        <p:nvSpPr>
          <p:cNvPr id="11" name="Shape 6"/>
          <p:cNvSpPr/>
          <p:nvPr/>
        </p:nvSpPr>
        <p:spPr>
          <a:xfrm>
            <a:off x="1508760" y="3017520"/>
            <a:ext cx="9966960" cy="594360"/>
          </a:xfrm>
          <a:prstGeom prst="roundRect">
            <a:avLst>
              <a:gd name="adj" fmla="val 9231"/>
            </a:avLst>
          </a:prstGeom>
          <a:solidFill>
            <a:srgbClr val="F3F6F9"/>
          </a:solidFill>
          <a:ln w="9525">
            <a:solidFill>
              <a:srgbClr val="E1E7EE"/>
            </a:solidFill>
            <a:prstDash val="solid"/>
          </a:ln>
        </p:spPr>
        <p:txBody>
          <a:bodyPr/>
          <a:p/>
        </p:txBody>
      </p:sp>
      <p:sp>
        <p:nvSpPr>
          <p:cNvPr id="12" name="Shape 7"/>
          <p:cNvSpPr/>
          <p:nvPr/>
        </p:nvSpPr>
        <p:spPr>
          <a:xfrm>
            <a:off x="1691640" y="3122676"/>
            <a:ext cx="384048" cy="384048"/>
          </a:xfrm>
          <a:prstGeom prst="ellipse">
            <a:avLst/>
          </a:prstGeom>
          <a:solidFill>
            <a:srgbClr val="0B5E82"/>
          </a:solidFill>
          <a:ln w="12700">
            <a:solidFill>
              <a:srgbClr val="0B5E82"/>
            </a:solidFill>
            <a:prstDash val="solid"/>
          </a:ln>
        </p:spPr>
        <p:txBody>
          <a:bodyPr/>
          <a:p/>
        </p:txBody>
      </p:sp>
      <p:sp>
        <p:nvSpPr>
          <p:cNvPr id="13" name="Text 8"/>
          <p:cNvSpPr txBox="1"/>
          <p:nvPr/>
        </p:nvSpPr>
        <p:spPr>
          <a:xfrm>
            <a:off x="1691640" y="31226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9"/>
          <p:cNvSpPr txBox="1"/>
          <p:nvPr/>
        </p:nvSpPr>
        <p:spPr>
          <a:xfrm>
            <a:off x="2286000" y="3017520"/>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The mean region code across all customers</a:t>
            </a:r>
            <a:endParaRPr lang="en-US" sz="1450" dirty="0"/>
          </a:p>
        </p:txBody>
      </p:sp>
      <p:sp>
        <p:nvSpPr>
          <p:cNvPr id="15" name="Shape 10"/>
          <p:cNvSpPr/>
          <p:nvPr/>
        </p:nvSpPr>
        <p:spPr>
          <a:xfrm>
            <a:off x="1508760" y="3721608"/>
            <a:ext cx="9966960" cy="594360"/>
          </a:xfrm>
          <a:prstGeom prst="roundRect">
            <a:avLst>
              <a:gd name="adj" fmla="val 9231"/>
            </a:avLst>
          </a:prstGeom>
          <a:solidFill>
            <a:srgbClr val="F3F6F9"/>
          </a:solidFill>
          <a:ln w="9525">
            <a:solidFill>
              <a:srgbClr val="E1E7EE"/>
            </a:solidFill>
            <a:prstDash val="solid"/>
          </a:ln>
        </p:spPr>
        <p:txBody>
          <a:bodyPr/>
          <a:p/>
        </p:txBody>
      </p:sp>
      <p:sp>
        <p:nvSpPr>
          <p:cNvPr id="16" name="Shape 11"/>
          <p:cNvSpPr/>
          <p:nvPr/>
        </p:nvSpPr>
        <p:spPr>
          <a:xfrm>
            <a:off x="1691640" y="3826764"/>
            <a:ext cx="384048" cy="384048"/>
          </a:xfrm>
          <a:prstGeom prst="ellipse">
            <a:avLst/>
          </a:prstGeom>
          <a:solidFill>
            <a:srgbClr val="0B5E82"/>
          </a:solidFill>
          <a:ln w="12700">
            <a:solidFill>
              <a:srgbClr val="0B5E82"/>
            </a:solidFill>
            <a:prstDash val="solid"/>
          </a:ln>
        </p:spPr>
        <p:txBody>
          <a:bodyPr/>
          <a:p/>
        </p:txBody>
      </p:sp>
      <p:sp>
        <p:nvSpPr>
          <p:cNvPr id="17" name="Text 12"/>
          <p:cNvSpPr txBox="1"/>
          <p:nvPr/>
        </p:nvSpPr>
        <p:spPr>
          <a:xfrm>
            <a:off x="1691640" y="38267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3"/>
          <p:cNvSpPr txBox="1"/>
          <p:nvPr/>
        </p:nvSpPr>
        <p:spPr>
          <a:xfrm>
            <a:off x="2286000" y="3721608"/>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The share of customers in each region</a:t>
            </a:r>
            <a:endParaRPr lang="en-US" sz="1450" dirty="0"/>
          </a:p>
        </p:txBody>
      </p:sp>
      <p:sp>
        <p:nvSpPr>
          <p:cNvPr id="19" name="Shape 14"/>
          <p:cNvSpPr/>
          <p:nvPr/>
        </p:nvSpPr>
        <p:spPr>
          <a:xfrm>
            <a:off x="1508760" y="4425696"/>
            <a:ext cx="9966960" cy="594360"/>
          </a:xfrm>
          <a:prstGeom prst="roundRect">
            <a:avLst>
              <a:gd name="adj" fmla="val 9231"/>
            </a:avLst>
          </a:prstGeom>
          <a:solidFill>
            <a:srgbClr val="F3F6F9"/>
          </a:solidFill>
          <a:ln w="9525">
            <a:solidFill>
              <a:srgbClr val="E1E7EE"/>
            </a:solidFill>
            <a:prstDash val="solid"/>
          </a:ln>
        </p:spPr>
        <p:txBody>
          <a:bodyPr/>
          <a:p/>
        </p:txBody>
      </p:sp>
      <p:sp>
        <p:nvSpPr>
          <p:cNvPr id="20" name="Shape 15"/>
          <p:cNvSpPr/>
          <p:nvPr/>
        </p:nvSpPr>
        <p:spPr>
          <a:xfrm>
            <a:off x="1691640" y="4530852"/>
            <a:ext cx="384048" cy="384048"/>
          </a:xfrm>
          <a:prstGeom prst="ellipse">
            <a:avLst/>
          </a:prstGeom>
          <a:solidFill>
            <a:srgbClr val="0B5E82"/>
          </a:solidFill>
          <a:ln w="12700">
            <a:solidFill>
              <a:srgbClr val="0B5E82"/>
            </a:solidFill>
            <a:prstDash val="solid"/>
          </a:ln>
        </p:spPr>
        <p:txBody>
          <a:bodyPr/>
          <a:p/>
        </p:txBody>
      </p:sp>
      <p:sp>
        <p:nvSpPr>
          <p:cNvPr id="21" name="Text 16"/>
          <p:cNvSpPr txBox="1"/>
          <p:nvPr/>
        </p:nvSpPr>
        <p:spPr>
          <a:xfrm>
            <a:off x="1691640" y="45308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7"/>
          <p:cNvSpPr txBox="1"/>
          <p:nvPr/>
        </p:nvSpPr>
        <p:spPr>
          <a:xfrm>
            <a:off x="2286000" y="4425696"/>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The standard deviation of the region code</a:t>
            </a:r>
            <a:endParaRPr lang="en-US" sz="1450" dirty="0"/>
          </a:p>
        </p:txBody>
      </p:sp>
      <p:sp>
        <p:nvSpPr>
          <p:cNvPr id="23" name="Shape 18"/>
          <p:cNvSpPr/>
          <p:nvPr/>
        </p:nvSpPr>
        <p:spPr>
          <a:xfrm>
            <a:off x="1508760" y="5129784"/>
            <a:ext cx="9966960" cy="594360"/>
          </a:xfrm>
          <a:prstGeom prst="roundRect">
            <a:avLst>
              <a:gd name="adj" fmla="val 9231"/>
            </a:avLst>
          </a:prstGeom>
          <a:solidFill>
            <a:srgbClr val="F3F6F9"/>
          </a:solidFill>
          <a:ln w="9525">
            <a:solidFill>
              <a:srgbClr val="E1E7EE"/>
            </a:solidFill>
            <a:prstDash val="solid"/>
          </a:ln>
        </p:spPr>
        <p:txBody>
          <a:bodyPr/>
          <a:p/>
        </p:txBody>
      </p:sp>
      <p:sp>
        <p:nvSpPr>
          <p:cNvPr id="24" name="Shape 19"/>
          <p:cNvSpPr/>
          <p:nvPr/>
        </p:nvSpPr>
        <p:spPr>
          <a:xfrm>
            <a:off x="1691640" y="5234940"/>
            <a:ext cx="384048" cy="384048"/>
          </a:xfrm>
          <a:prstGeom prst="ellipse">
            <a:avLst/>
          </a:prstGeom>
          <a:solidFill>
            <a:srgbClr val="0B5E82"/>
          </a:solidFill>
          <a:ln w="12700">
            <a:solidFill>
              <a:srgbClr val="0B5E82"/>
            </a:solidFill>
            <a:prstDash val="solid"/>
          </a:ln>
        </p:spPr>
        <p:txBody>
          <a:bodyPr/>
          <a:p/>
        </p:txBody>
      </p:sp>
      <p:sp>
        <p:nvSpPr>
          <p:cNvPr id="25" name="Text 20"/>
          <p:cNvSpPr txBox="1"/>
          <p:nvPr/>
        </p:nvSpPr>
        <p:spPr>
          <a:xfrm>
            <a:off x="1691640" y="52349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6" name="Text 21"/>
          <p:cNvSpPr txBox="1"/>
          <p:nvPr/>
        </p:nvSpPr>
        <p:spPr>
          <a:xfrm>
            <a:off x="2286000" y="5129784"/>
            <a:ext cx="9052560" cy="594360"/>
          </a:xfrm>
          <a:prstGeom prst="rect">
            <a:avLst/>
          </a:prstGeom>
          <a:noFill/>
          <a:ln/>
        </p:spPr>
        <p:txBody>
          <a:bodyPr wrap="square" lIns="0" tIns="0" rIns="0" bIns="0" rtlCol="0" anchor="ctr"/>
          <a:lstStyle/>
          <a:p>
            <a:pPr indent="0" marL="0">
              <a:buNone/>
            </a:pPr>
            <a:r>
              <a:rPr lang="en-US" sz="1450" dirty="0">
                <a:solidFill>
                  <a:srgbClr val="1A2233"/>
                </a:solidFill>
                <a:latin typeface="Calibri" pitchFamily="34" charset="0"/>
                <a:ea typeface="Calibri" pitchFamily="34" charset="-122"/>
                <a:cs typeface="Calibri" pitchFamily="34" charset="-120"/>
              </a:rPr>
              <a:t>The median region code</a:t>
            </a:r>
            <a:endParaRPr lang="en-US" sz="1450" dirty="0"/>
          </a:p>
        </p:txBody>
      </p:sp>
      <p:sp>
        <p:nvSpPr>
          <p:cNvPr id="27" name="Text 22"/>
          <p:cNvSpPr txBox="1"/>
          <p:nvPr/>
        </p:nvSpPr>
        <p:spPr>
          <a:xfrm>
            <a:off x="1508760" y="5897880"/>
            <a:ext cx="9966960" cy="274320"/>
          </a:xfrm>
          <a:prstGeom prst="rect">
            <a:avLst/>
          </a:prstGeom>
          <a:noFill/>
          <a:ln/>
        </p:spPr>
        <p:txBody>
          <a:bodyPr wrap="square" lIns="0" tIns="0" rIns="0" bIns="0" rtlCol="0" anchor="t"/>
          <a:lstStyle/>
          <a:p>
            <a:pPr indent="0" marL="0">
              <a:buNone/>
            </a:pPr>
            <a:r>
              <a:rPr lang="en-US" sz="1100" i="1" dirty="0">
                <a:solidFill>
                  <a:srgbClr val="5C6B7A"/>
                </a:solidFill>
                <a:latin typeface="Calibri" pitchFamily="34" charset="0"/>
                <a:ea typeface="Calibri" pitchFamily="34" charset="-122"/>
                <a:cs typeface="Calibri" pitchFamily="34" charset="-120"/>
              </a:rPr>
              <a:t>Discuss with your neighbour for 60 seconds — answer and reasoning in the speaker notes.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SCALING UP</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Five Vs of Big Data</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Five properties that make modern business data harder — and more valuable — to work with.</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23</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868680" y="2075688"/>
            <a:ext cx="457200" cy="457200"/>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982980" y="2189988"/>
            <a:ext cx="228600" cy="228600"/>
          </a:xfrm>
          <a:prstGeom prst="rect">
            <a:avLst/>
          </a:prstGeom>
        </p:spPr>
      </p:pic>
      <p:sp>
        <p:nvSpPr>
          <p:cNvPr id="12" name="Text 7"/>
          <p:cNvSpPr txBox="1"/>
          <p:nvPr/>
        </p:nvSpPr>
        <p:spPr>
          <a:xfrm>
            <a:off x="1463040" y="205740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Volume</a:t>
            </a:r>
            <a:endParaRPr lang="en-US" sz="1500" dirty="0"/>
          </a:p>
        </p:txBody>
      </p:sp>
      <p:sp>
        <p:nvSpPr>
          <p:cNvPr id="13" name="Text 8"/>
          <p:cNvSpPr txBox="1"/>
          <p:nvPr/>
        </p:nvSpPr>
        <p:spPr>
          <a:xfrm>
            <a:off x="868680" y="265176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Sheer quantity — NIBSS processes billions of interbank transfers a year.</a:t>
            </a:r>
            <a:endParaRPr lang="en-US" sz="1250" dirty="0"/>
          </a:p>
        </p:txBody>
      </p:sp>
      <p:sp>
        <p:nvSpPr>
          <p:cNvPr id="14" name="Shape 9"/>
          <p:cNvSpPr/>
          <p:nvPr/>
        </p:nvSpPr>
        <p:spPr>
          <a:xfrm>
            <a:off x="4343400" y="187452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4572000" y="2075688"/>
            <a:ext cx="457200" cy="457200"/>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686300" y="2189988"/>
            <a:ext cx="228600" cy="228600"/>
          </a:xfrm>
          <a:prstGeom prst="rect">
            <a:avLst/>
          </a:prstGeom>
        </p:spPr>
      </p:pic>
      <p:sp>
        <p:nvSpPr>
          <p:cNvPr id="17" name="Text 11"/>
          <p:cNvSpPr txBox="1"/>
          <p:nvPr/>
        </p:nvSpPr>
        <p:spPr>
          <a:xfrm>
            <a:off x="5166360" y="205740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Velocity</a:t>
            </a:r>
            <a:endParaRPr lang="en-US" sz="1500" dirty="0"/>
          </a:p>
        </p:txBody>
      </p:sp>
      <p:sp>
        <p:nvSpPr>
          <p:cNvPr id="18" name="Text 12"/>
          <p:cNvSpPr txBox="1"/>
          <p:nvPr/>
        </p:nvSpPr>
        <p:spPr>
          <a:xfrm>
            <a:off x="4572000" y="265176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Speed — mobile-money pings and stock prices update in real time.</a:t>
            </a:r>
            <a:endParaRPr lang="en-US" sz="1250" dirty="0"/>
          </a:p>
        </p:txBody>
      </p:sp>
      <p:sp>
        <p:nvSpPr>
          <p:cNvPr id="19" name="Shape 13"/>
          <p:cNvSpPr/>
          <p:nvPr/>
        </p:nvSpPr>
        <p:spPr>
          <a:xfrm>
            <a:off x="8046720" y="187452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8275320" y="2075688"/>
            <a:ext cx="457200" cy="457200"/>
          </a:xfrm>
          <a:prstGeom prst="ellipse">
            <a:avLst/>
          </a:prstGeom>
          <a:solidFill>
            <a:srgbClr val="0B5E82"/>
          </a:solidFill>
          <a:ln w="12700">
            <a:solidFill>
              <a:srgbClr val="0B5E8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8389620" y="2189988"/>
            <a:ext cx="228600" cy="228600"/>
          </a:xfrm>
          <a:prstGeom prst="rect">
            <a:avLst/>
          </a:prstGeom>
        </p:spPr>
      </p:pic>
      <p:sp>
        <p:nvSpPr>
          <p:cNvPr id="22" name="Text 15"/>
          <p:cNvSpPr txBox="1"/>
          <p:nvPr/>
        </p:nvSpPr>
        <p:spPr>
          <a:xfrm>
            <a:off x="8869680" y="205740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Variety</a:t>
            </a:r>
            <a:endParaRPr lang="en-US" sz="1500" dirty="0"/>
          </a:p>
        </p:txBody>
      </p:sp>
      <p:sp>
        <p:nvSpPr>
          <p:cNvPr id="23" name="Text 16"/>
          <p:cNvSpPr txBox="1"/>
          <p:nvPr/>
        </p:nvSpPr>
        <p:spPr>
          <a:xfrm>
            <a:off x="8275320" y="265176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Tables, text, images and APIs — all at once.</a:t>
            </a:r>
            <a:endParaRPr lang="en-US" sz="1250" dirty="0"/>
          </a:p>
        </p:txBody>
      </p:sp>
      <p:sp>
        <p:nvSpPr>
          <p:cNvPr id="24" name="Shape 17"/>
          <p:cNvSpPr/>
          <p:nvPr/>
        </p:nvSpPr>
        <p:spPr>
          <a:xfrm>
            <a:off x="640080" y="411480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868680" y="4315968"/>
            <a:ext cx="457200" cy="457200"/>
          </a:xfrm>
          <a:prstGeom prst="ellipse">
            <a:avLst/>
          </a:prstGeom>
          <a:solidFill>
            <a:srgbClr val="D99A2B"/>
          </a:solidFill>
          <a:ln w="12700">
            <a:solidFill>
              <a:srgbClr val="D99A2B"/>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982980" y="4430268"/>
            <a:ext cx="228600" cy="228600"/>
          </a:xfrm>
          <a:prstGeom prst="rect">
            <a:avLst/>
          </a:prstGeom>
        </p:spPr>
      </p:pic>
      <p:sp>
        <p:nvSpPr>
          <p:cNvPr id="27" name="Text 19"/>
          <p:cNvSpPr txBox="1"/>
          <p:nvPr/>
        </p:nvSpPr>
        <p:spPr>
          <a:xfrm>
            <a:off x="1463040" y="429768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Veracity</a:t>
            </a:r>
            <a:endParaRPr lang="en-US" sz="1500" dirty="0"/>
          </a:p>
        </p:txBody>
      </p:sp>
      <p:sp>
        <p:nvSpPr>
          <p:cNvPr id="28" name="Text 20"/>
          <p:cNvSpPr txBox="1"/>
          <p:nvPr/>
        </p:nvSpPr>
        <p:spPr>
          <a:xfrm>
            <a:off x="868680" y="489204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Trust — real data is messy: duplicates, gaps, inconsistent formats.</a:t>
            </a:r>
            <a:endParaRPr lang="en-US" sz="1250" dirty="0"/>
          </a:p>
        </p:txBody>
      </p:sp>
      <p:sp>
        <p:nvSpPr>
          <p:cNvPr id="29" name="Shape 21"/>
          <p:cNvSpPr/>
          <p:nvPr/>
        </p:nvSpPr>
        <p:spPr>
          <a:xfrm>
            <a:off x="4343400" y="411480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0" name="Shape 22"/>
          <p:cNvSpPr/>
          <p:nvPr/>
        </p:nvSpPr>
        <p:spPr>
          <a:xfrm>
            <a:off x="4572000" y="4315968"/>
            <a:ext cx="457200" cy="457200"/>
          </a:xfrm>
          <a:prstGeom prst="ellipse">
            <a:avLst/>
          </a:prstGeom>
          <a:solidFill>
            <a:srgbClr val="0B5E82"/>
          </a:solidFill>
          <a:ln w="12700">
            <a:solidFill>
              <a:srgbClr val="0B5E82"/>
            </a:solidFill>
            <a:prstDash val="solid"/>
          </a:ln>
        </p:spPr>
        <p:txBody>
          <a:bodyPr/>
          <a:p/>
        </p:txBody>
      </p:sp>
      <p:pic>
        <p:nvPicPr>
          <p:cNvPr id="31" name="Image 5" descr="preencoded.png">    </p:cNvPr>
          <p:cNvPicPr>
            <a:picLocks noChangeAspect="1"/>
          </p:cNvPicPr>
          <p:nvPr/>
        </p:nvPicPr>
        <p:blipFill>
          <a:blip r:embed="rId6"/>
          <a:stretch>
            <a:fillRect/>
          </a:stretch>
        </p:blipFill>
        <p:spPr>
          <a:xfrm>
            <a:off x="4686300" y="4430268"/>
            <a:ext cx="228600" cy="228600"/>
          </a:xfrm>
          <a:prstGeom prst="rect">
            <a:avLst/>
          </a:prstGeom>
        </p:spPr>
      </p:pic>
      <p:sp>
        <p:nvSpPr>
          <p:cNvPr id="32" name="Text 23"/>
          <p:cNvSpPr txBox="1"/>
          <p:nvPr/>
        </p:nvSpPr>
        <p:spPr>
          <a:xfrm>
            <a:off x="5166360" y="429768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Value</a:t>
            </a:r>
            <a:endParaRPr lang="en-US" sz="1500" dirty="0"/>
          </a:p>
        </p:txBody>
      </p:sp>
      <p:sp>
        <p:nvSpPr>
          <p:cNvPr id="33" name="Text 24"/>
          <p:cNvSpPr txBox="1"/>
          <p:nvPr/>
        </p:nvSpPr>
        <p:spPr>
          <a:xfrm>
            <a:off x="4572000" y="489204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The point of it all — insight that drives a decision.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TRUST, BUT VERIFY</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Six Dimensions of Data Quality</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The checks every dataset should pass before it drives a decision.</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24</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868680" y="2075688"/>
            <a:ext cx="457200" cy="457200"/>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982980" y="2189988"/>
            <a:ext cx="228600" cy="228600"/>
          </a:xfrm>
          <a:prstGeom prst="rect">
            <a:avLst/>
          </a:prstGeom>
        </p:spPr>
      </p:pic>
      <p:sp>
        <p:nvSpPr>
          <p:cNvPr id="12" name="Text 7"/>
          <p:cNvSpPr txBox="1"/>
          <p:nvPr/>
        </p:nvSpPr>
        <p:spPr>
          <a:xfrm>
            <a:off x="1463040" y="205740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Accuracy</a:t>
            </a:r>
            <a:endParaRPr lang="en-US" sz="1500" dirty="0"/>
          </a:p>
        </p:txBody>
      </p:sp>
      <p:sp>
        <p:nvSpPr>
          <p:cNvPr id="13" name="Text 8"/>
          <p:cNvSpPr txBox="1"/>
          <p:nvPr/>
        </p:nvSpPr>
        <p:spPr>
          <a:xfrm>
            <a:off x="868680" y="265176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Values correctly reflect reality — the ₦12,220 receipt really was ₦12,220.</a:t>
            </a:r>
            <a:endParaRPr lang="en-US" sz="1250" dirty="0"/>
          </a:p>
        </p:txBody>
      </p:sp>
      <p:sp>
        <p:nvSpPr>
          <p:cNvPr id="14" name="Shape 9"/>
          <p:cNvSpPr/>
          <p:nvPr/>
        </p:nvSpPr>
        <p:spPr>
          <a:xfrm>
            <a:off x="4343400" y="187452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4572000" y="2075688"/>
            <a:ext cx="457200" cy="457200"/>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686300" y="2189988"/>
            <a:ext cx="228600" cy="228600"/>
          </a:xfrm>
          <a:prstGeom prst="rect">
            <a:avLst/>
          </a:prstGeom>
        </p:spPr>
      </p:pic>
      <p:sp>
        <p:nvSpPr>
          <p:cNvPr id="17" name="Text 11"/>
          <p:cNvSpPr txBox="1"/>
          <p:nvPr/>
        </p:nvSpPr>
        <p:spPr>
          <a:xfrm>
            <a:off x="5166360" y="205740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Completeness</a:t>
            </a:r>
            <a:endParaRPr lang="en-US" sz="1500" dirty="0"/>
          </a:p>
        </p:txBody>
      </p:sp>
      <p:sp>
        <p:nvSpPr>
          <p:cNvPr id="18" name="Text 12"/>
          <p:cNvSpPr txBox="1"/>
          <p:nvPr/>
        </p:nvSpPr>
        <p:spPr>
          <a:xfrm>
            <a:off x="4572000" y="265176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No critical gaps — income is recorded for every loan applicant.</a:t>
            </a:r>
            <a:endParaRPr lang="en-US" sz="1250" dirty="0"/>
          </a:p>
        </p:txBody>
      </p:sp>
      <p:sp>
        <p:nvSpPr>
          <p:cNvPr id="19" name="Shape 13"/>
          <p:cNvSpPr/>
          <p:nvPr/>
        </p:nvSpPr>
        <p:spPr>
          <a:xfrm>
            <a:off x="8046720" y="187452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8275320" y="2075688"/>
            <a:ext cx="457200" cy="457200"/>
          </a:xfrm>
          <a:prstGeom prst="ellipse">
            <a:avLst/>
          </a:prstGeom>
          <a:solidFill>
            <a:srgbClr val="0B5E82"/>
          </a:solidFill>
          <a:ln w="12700">
            <a:solidFill>
              <a:srgbClr val="0B5E8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8389620" y="2189988"/>
            <a:ext cx="228600" cy="228600"/>
          </a:xfrm>
          <a:prstGeom prst="rect">
            <a:avLst/>
          </a:prstGeom>
        </p:spPr>
      </p:pic>
      <p:sp>
        <p:nvSpPr>
          <p:cNvPr id="22" name="Text 15"/>
          <p:cNvSpPr txBox="1"/>
          <p:nvPr/>
        </p:nvSpPr>
        <p:spPr>
          <a:xfrm>
            <a:off x="8869680" y="205740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Consistency</a:t>
            </a:r>
            <a:endParaRPr lang="en-US" sz="1500" dirty="0"/>
          </a:p>
        </p:txBody>
      </p:sp>
      <p:sp>
        <p:nvSpPr>
          <p:cNvPr id="23" name="Text 16"/>
          <p:cNvSpPr txBox="1"/>
          <p:nvPr/>
        </p:nvSpPr>
        <p:spPr>
          <a:xfrm>
            <a:off x="8275320" y="265176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Same fact, same value — 'Ikeja' is not also 'ikeja ' and 'IKJ'.</a:t>
            </a:r>
            <a:endParaRPr lang="en-US" sz="1250" dirty="0"/>
          </a:p>
        </p:txBody>
      </p:sp>
      <p:sp>
        <p:nvSpPr>
          <p:cNvPr id="24" name="Shape 17"/>
          <p:cNvSpPr/>
          <p:nvPr/>
        </p:nvSpPr>
        <p:spPr>
          <a:xfrm>
            <a:off x="640080" y="411480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868680" y="4315968"/>
            <a:ext cx="457200" cy="457200"/>
          </a:xfrm>
          <a:prstGeom prst="ellipse">
            <a:avLst/>
          </a:prstGeom>
          <a:solidFill>
            <a:srgbClr val="0B5E82"/>
          </a:solidFill>
          <a:ln w="12700">
            <a:solidFill>
              <a:srgbClr val="0B5E82"/>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982980" y="4430268"/>
            <a:ext cx="228600" cy="228600"/>
          </a:xfrm>
          <a:prstGeom prst="rect">
            <a:avLst/>
          </a:prstGeom>
        </p:spPr>
      </p:pic>
      <p:sp>
        <p:nvSpPr>
          <p:cNvPr id="27" name="Text 19"/>
          <p:cNvSpPr txBox="1"/>
          <p:nvPr/>
        </p:nvSpPr>
        <p:spPr>
          <a:xfrm>
            <a:off x="1463040" y="429768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Timeliness</a:t>
            </a:r>
            <a:endParaRPr lang="en-US" sz="1500" dirty="0"/>
          </a:p>
        </p:txBody>
      </p:sp>
      <p:sp>
        <p:nvSpPr>
          <p:cNvPr id="28" name="Text 20"/>
          <p:cNvSpPr txBox="1"/>
          <p:nvPr/>
        </p:nvSpPr>
        <p:spPr>
          <a:xfrm>
            <a:off x="868680" y="489204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Current enough to act on — last week's stock levels, not last year's.</a:t>
            </a:r>
            <a:endParaRPr lang="en-US" sz="1250" dirty="0"/>
          </a:p>
        </p:txBody>
      </p:sp>
      <p:sp>
        <p:nvSpPr>
          <p:cNvPr id="29" name="Shape 21"/>
          <p:cNvSpPr/>
          <p:nvPr/>
        </p:nvSpPr>
        <p:spPr>
          <a:xfrm>
            <a:off x="4343400" y="411480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0" name="Shape 22"/>
          <p:cNvSpPr/>
          <p:nvPr/>
        </p:nvSpPr>
        <p:spPr>
          <a:xfrm>
            <a:off x="4572000" y="4315968"/>
            <a:ext cx="457200" cy="457200"/>
          </a:xfrm>
          <a:prstGeom prst="ellipse">
            <a:avLst/>
          </a:prstGeom>
          <a:solidFill>
            <a:srgbClr val="0B5E82"/>
          </a:solidFill>
          <a:ln w="12700">
            <a:solidFill>
              <a:srgbClr val="0B5E82"/>
            </a:solidFill>
            <a:prstDash val="solid"/>
          </a:ln>
        </p:spPr>
        <p:txBody>
          <a:bodyPr/>
          <a:p/>
        </p:txBody>
      </p:sp>
      <p:pic>
        <p:nvPicPr>
          <p:cNvPr id="31" name="Image 5" descr="preencoded.png">    </p:cNvPr>
          <p:cNvPicPr>
            <a:picLocks noChangeAspect="1"/>
          </p:cNvPicPr>
          <p:nvPr/>
        </p:nvPicPr>
        <p:blipFill>
          <a:blip r:embed="rId6"/>
          <a:stretch>
            <a:fillRect/>
          </a:stretch>
        </p:blipFill>
        <p:spPr>
          <a:xfrm>
            <a:off x="4686300" y="4430268"/>
            <a:ext cx="228600" cy="228600"/>
          </a:xfrm>
          <a:prstGeom prst="rect">
            <a:avLst/>
          </a:prstGeom>
        </p:spPr>
      </p:pic>
      <p:sp>
        <p:nvSpPr>
          <p:cNvPr id="32" name="Text 23"/>
          <p:cNvSpPr txBox="1"/>
          <p:nvPr/>
        </p:nvSpPr>
        <p:spPr>
          <a:xfrm>
            <a:off x="5166360" y="429768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Validity</a:t>
            </a:r>
            <a:endParaRPr lang="en-US" sz="1500" dirty="0"/>
          </a:p>
        </p:txBody>
      </p:sp>
      <p:sp>
        <p:nvSpPr>
          <p:cNvPr id="33" name="Text 24"/>
          <p:cNvSpPr txBox="1"/>
          <p:nvPr/>
        </p:nvSpPr>
        <p:spPr>
          <a:xfrm>
            <a:off x="4572000" y="489204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Fits the expected format and range — no borrower aged 140.</a:t>
            </a:r>
            <a:endParaRPr lang="en-US" sz="1250" dirty="0"/>
          </a:p>
        </p:txBody>
      </p:sp>
      <p:sp>
        <p:nvSpPr>
          <p:cNvPr id="34" name="Shape 25"/>
          <p:cNvSpPr/>
          <p:nvPr/>
        </p:nvSpPr>
        <p:spPr>
          <a:xfrm>
            <a:off x="8046720" y="4114800"/>
            <a:ext cx="347472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35" name="Shape 26"/>
          <p:cNvSpPr/>
          <p:nvPr/>
        </p:nvSpPr>
        <p:spPr>
          <a:xfrm>
            <a:off x="8275320" y="4315968"/>
            <a:ext cx="457200" cy="457200"/>
          </a:xfrm>
          <a:prstGeom prst="ellipse">
            <a:avLst/>
          </a:prstGeom>
          <a:solidFill>
            <a:srgbClr val="0B5E82"/>
          </a:solidFill>
          <a:ln w="12700">
            <a:solidFill>
              <a:srgbClr val="0B5E82"/>
            </a:solidFill>
            <a:prstDash val="solid"/>
          </a:ln>
        </p:spPr>
        <p:txBody>
          <a:bodyPr/>
          <a:p/>
        </p:txBody>
      </p:sp>
      <p:pic>
        <p:nvPicPr>
          <p:cNvPr id="36" name="Image 6" descr="preencoded.png">    </p:cNvPr>
          <p:cNvPicPr>
            <a:picLocks noChangeAspect="1"/>
          </p:cNvPicPr>
          <p:nvPr/>
        </p:nvPicPr>
        <p:blipFill>
          <a:blip r:embed="rId7"/>
          <a:stretch>
            <a:fillRect/>
          </a:stretch>
        </p:blipFill>
        <p:spPr>
          <a:xfrm>
            <a:off x="8389620" y="4430268"/>
            <a:ext cx="228600" cy="228600"/>
          </a:xfrm>
          <a:prstGeom prst="rect">
            <a:avLst/>
          </a:prstGeom>
        </p:spPr>
      </p:pic>
      <p:sp>
        <p:nvSpPr>
          <p:cNvPr id="37" name="Text 27"/>
          <p:cNvSpPr txBox="1"/>
          <p:nvPr/>
        </p:nvSpPr>
        <p:spPr>
          <a:xfrm>
            <a:off x="8869680" y="4297680"/>
            <a:ext cx="251460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Uniqueness</a:t>
            </a:r>
            <a:endParaRPr lang="en-US" sz="1500" dirty="0"/>
          </a:p>
        </p:txBody>
      </p:sp>
      <p:sp>
        <p:nvSpPr>
          <p:cNvPr id="38" name="Text 28"/>
          <p:cNvSpPr txBox="1"/>
          <p:nvPr/>
        </p:nvSpPr>
        <p:spPr>
          <a:xfrm>
            <a:off x="8275320" y="4892040"/>
            <a:ext cx="301752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No duplicate records inflating counts — each receipt appears once.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TWO KINDS OF METRIC</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KPIs vs. Predictive Indicators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One tells you how you did. The other tells you what to do next.</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25</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5303520" cy="3566160"/>
          </a:xfrm>
          <a:prstGeom prst="roundRect">
            <a:avLst>
              <a:gd name="adj" fmla="val 2051"/>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914400" y="2130552"/>
            <a:ext cx="594360" cy="594360"/>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062990" y="2279142"/>
            <a:ext cx="297180" cy="297180"/>
          </a:xfrm>
          <a:prstGeom prst="rect">
            <a:avLst/>
          </a:prstGeom>
        </p:spPr>
      </p:pic>
      <p:sp>
        <p:nvSpPr>
          <p:cNvPr id="12" name="Text 7"/>
          <p:cNvSpPr txBox="1"/>
          <p:nvPr/>
        </p:nvSpPr>
        <p:spPr>
          <a:xfrm>
            <a:off x="1691640" y="2103120"/>
            <a:ext cx="4023360" cy="411480"/>
          </a:xfrm>
          <a:prstGeom prst="rect">
            <a:avLst/>
          </a:prstGeom>
          <a:noFill/>
          <a:ln/>
        </p:spPr>
        <p:txBody>
          <a:bodyPr wrap="square" lIns="0" tIns="0" rIns="0" bIns="0" rtlCol="0" anchor="t"/>
          <a:lstStyle/>
          <a:p>
            <a:pPr indent="0" marL="0">
              <a:buNone/>
            </a:pPr>
            <a:r>
              <a:rPr lang="en-US" sz="1800" b="1" dirty="0">
                <a:solidFill>
                  <a:srgbClr val="141B4D"/>
                </a:solidFill>
                <a:latin typeface="Cambria" pitchFamily="34" charset="0"/>
                <a:ea typeface="Cambria" pitchFamily="34" charset="-122"/>
                <a:cs typeface="Cambria" pitchFamily="34" charset="-120"/>
              </a:rPr>
              <a:t>KPIs — Lagging</a:t>
            </a:r>
            <a:endParaRPr lang="en-US" sz="1800" dirty="0"/>
          </a:p>
        </p:txBody>
      </p:sp>
      <p:sp>
        <p:nvSpPr>
          <p:cNvPr id="13" name="Text 8"/>
          <p:cNvSpPr txBox="1"/>
          <p:nvPr/>
        </p:nvSpPr>
        <p:spPr>
          <a:xfrm>
            <a:off x="1691640" y="2496312"/>
            <a:ext cx="4023360" cy="320040"/>
          </a:xfrm>
          <a:prstGeom prst="rect">
            <a:avLst/>
          </a:prstGeom>
          <a:noFill/>
          <a:ln/>
        </p:spPr>
        <p:txBody>
          <a:bodyPr wrap="square" lIns="0" tIns="0" rIns="0" bIns="0" rtlCol="0" anchor="t"/>
          <a:lstStyle/>
          <a:p>
            <a:pPr indent="0" marL="0">
              <a:buNone/>
            </a:pPr>
            <a:r>
              <a:rPr lang="en-US" sz="1250" i="1" dirty="0">
                <a:solidFill>
                  <a:srgbClr val="5C6B7A"/>
                </a:solidFill>
                <a:latin typeface="Calibri" pitchFamily="34" charset="0"/>
                <a:ea typeface="Calibri" pitchFamily="34" charset="-122"/>
                <a:cs typeface="Calibri" pitchFamily="34" charset="-120"/>
              </a:rPr>
              <a:t>The scoreboard: confirm what already happened</a:t>
            </a:r>
            <a:endParaRPr lang="en-US" sz="1250" dirty="0"/>
          </a:p>
        </p:txBody>
      </p:sp>
      <p:sp>
        <p:nvSpPr>
          <p:cNvPr id="14" name="Text 9"/>
          <p:cNvSpPr txBox="1"/>
          <p:nvPr/>
        </p:nvSpPr>
        <p:spPr>
          <a:xfrm>
            <a:off x="960120" y="3017520"/>
            <a:ext cx="4663440" cy="22860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Monthly revenue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Customer NPS</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Employee turnover rate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Loan default rate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Hold teams accountable for results</a:t>
            </a:r>
            <a:endParaRPr lang="en-US" sz="1350" dirty="0"/>
          </a:p>
        </p:txBody>
      </p:sp>
      <p:sp>
        <p:nvSpPr>
          <p:cNvPr id="15" name="Shape 10"/>
          <p:cNvSpPr/>
          <p:nvPr/>
        </p:nvSpPr>
        <p:spPr>
          <a:xfrm>
            <a:off x="6217920" y="1874520"/>
            <a:ext cx="5303520" cy="3566160"/>
          </a:xfrm>
          <a:prstGeom prst="roundRect">
            <a:avLst>
              <a:gd name="adj" fmla="val 2051"/>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6492240" y="2130552"/>
            <a:ext cx="594360" cy="594360"/>
          </a:xfrm>
          <a:prstGeom prst="ellipse">
            <a:avLst/>
          </a:prstGeom>
          <a:solidFill>
            <a:srgbClr val="D99A2B"/>
          </a:solidFill>
          <a:ln w="12700">
            <a:solidFill>
              <a:srgbClr val="D99A2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6640830" y="2279142"/>
            <a:ext cx="297180" cy="297180"/>
          </a:xfrm>
          <a:prstGeom prst="rect">
            <a:avLst/>
          </a:prstGeom>
        </p:spPr>
      </p:pic>
      <p:sp>
        <p:nvSpPr>
          <p:cNvPr id="18" name="Text 12"/>
          <p:cNvSpPr txBox="1"/>
          <p:nvPr/>
        </p:nvSpPr>
        <p:spPr>
          <a:xfrm>
            <a:off x="7269480" y="2103120"/>
            <a:ext cx="4023360" cy="411480"/>
          </a:xfrm>
          <a:prstGeom prst="rect">
            <a:avLst/>
          </a:prstGeom>
          <a:noFill/>
          <a:ln/>
        </p:spPr>
        <p:txBody>
          <a:bodyPr wrap="square" lIns="0" tIns="0" rIns="0" bIns="0" rtlCol="0" anchor="t"/>
          <a:lstStyle/>
          <a:p>
            <a:pPr indent="0" marL="0">
              <a:buNone/>
            </a:pPr>
            <a:r>
              <a:rPr lang="en-US" sz="1800" b="1" dirty="0">
                <a:solidFill>
                  <a:srgbClr val="141B4D"/>
                </a:solidFill>
                <a:latin typeface="Cambria" pitchFamily="34" charset="0"/>
                <a:ea typeface="Cambria" pitchFamily="34" charset="-122"/>
                <a:cs typeface="Cambria" pitchFamily="34" charset="-120"/>
              </a:rPr>
              <a:t>Predictive — Leading</a:t>
            </a:r>
            <a:endParaRPr lang="en-US" sz="1800" dirty="0"/>
          </a:p>
        </p:txBody>
      </p:sp>
      <p:sp>
        <p:nvSpPr>
          <p:cNvPr id="19" name="Text 13"/>
          <p:cNvSpPr txBox="1"/>
          <p:nvPr/>
        </p:nvSpPr>
        <p:spPr>
          <a:xfrm>
            <a:off x="7269480" y="2496312"/>
            <a:ext cx="4023360" cy="320040"/>
          </a:xfrm>
          <a:prstGeom prst="rect">
            <a:avLst/>
          </a:prstGeom>
          <a:noFill/>
          <a:ln/>
        </p:spPr>
        <p:txBody>
          <a:bodyPr wrap="square" lIns="0" tIns="0" rIns="0" bIns="0" rtlCol="0" anchor="t"/>
          <a:lstStyle/>
          <a:p>
            <a:pPr indent="0" marL="0">
              <a:buNone/>
            </a:pPr>
            <a:r>
              <a:rPr lang="en-US" sz="1250" i="1" dirty="0">
                <a:solidFill>
                  <a:srgbClr val="5C6B7A"/>
                </a:solidFill>
                <a:latin typeface="Calibri" pitchFamily="34" charset="0"/>
                <a:ea typeface="Calibri" pitchFamily="34" charset="-122"/>
                <a:cs typeface="Calibri" pitchFamily="34" charset="-120"/>
              </a:rPr>
              <a:t>The early-warning system: time to intervene</a:t>
            </a:r>
            <a:endParaRPr lang="en-US" sz="1250" dirty="0"/>
          </a:p>
        </p:txBody>
      </p:sp>
      <p:sp>
        <p:nvSpPr>
          <p:cNvPr id="20" name="Text 14"/>
          <p:cNvSpPr txBox="1"/>
          <p:nvPr/>
        </p:nvSpPr>
        <p:spPr>
          <a:xfrm>
            <a:off x="6537960" y="3017520"/>
            <a:ext cx="4663440" cy="22860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Sales pipeline value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Website and app traffic trend</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Employee engagement score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Days-past-due in month one</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Give managers time to act before results land</a:t>
            </a:r>
            <a:endParaRPr lang="en-US" sz="1350" dirty="0"/>
          </a:p>
        </p:txBody>
      </p:sp>
      <p:sp>
        <p:nvSpPr>
          <p:cNvPr id="21" name="Shape 15"/>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22" name="Text 16"/>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Excellent managers watch both: KPIs for accountability, leading indicators for early intervention.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DATA HAS ETHICAL WEIGHT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Responsible Data Use in Nigeria</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The Nigeria Data Protection Act (2023) shapes what responsible analytics looks like here.</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26</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1603629"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759077" y="2286000"/>
            <a:ext cx="310896" cy="310896"/>
          </a:xfrm>
          <a:prstGeom prst="rect">
            <a:avLst/>
          </a:prstGeom>
        </p:spPr>
      </p:pic>
      <p:sp>
        <p:nvSpPr>
          <p:cNvPr id="12" name="Text 7"/>
          <p:cNvSpPr txBox="1"/>
          <p:nvPr/>
        </p:nvSpPr>
        <p:spPr>
          <a:xfrm>
            <a:off x="82296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Privacy &amp; Consent</a:t>
            </a:r>
            <a:endParaRPr lang="en-US" sz="1600" dirty="0"/>
          </a:p>
        </p:txBody>
      </p:sp>
      <p:sp>
        <p:nvSpPr>
          <p:cNvPr id="13" name="Text 8"/>
          <p:cNvSpPr txBox="1"/>
          <p:nvPr/>
        </p:nvSpPr>
        <p:spPr>
          <a:xfrm>
            <a:off x="86868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Collect only what you need, with a lawful basis; people can ask to see or delete their data.</a:t>
            </a:r>
            <a:endParaRPr lang="en-US" sz="1300" dirty="0"/>
          </a:p>
        </p:txBody>
      </p:sp>
      <p:sp>
        <p:nvSpPr>
          <p:cNvPr id="14" name="Shape 9"/>
          <p:cNvSpPr/>
          <p:nvPr/>
        </p:nvSpPr>
        <p:spPr>
          <a:xfrm>
            <a:off x="341757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4381119" y="2130552"/>
            <a:ext cx="621792" cy="621792"/>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36567" y="2286000"/>
            <a:ext cx="310896" cy="310896"/>
          </a:xfrm>
          <a:prstGeom prst="rect">
            <a:avLst/>
          </a:prstGeom>
        </p:spPr>
      </p:pic>
      <p:sp>
        <p:nvSpPr>
          <p:cNvPr id="17" name="Text 11"/>
          <p:cNvSpPr txBox="1"/>
          <p:nvPr/>
        </p:nvSpPr>
        <p:spPr>
          <a:xfrm>
            <a:off x="360045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Bias &amp; Fairness</a:t>
            </a:r>
            <a:endParaRPr lang="en-US" sz="1600" dirty="0"/>
          </a:p>
        </p:txBody>
      </p:sp>
      <p:sp>
        <p:nvSpPr>
          <p:cNvPr id="18" name="Text 12"/>
          <p:cNvSpPr txBox="1"/>
          <p:nvPr/>
        </p:nvSpPr>
        <p:spPr>
          <a:xfrm>
            <a:off x="364617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Historic bias in data can be copied by models — audit outcomes across groups.</a:t>
            </a:r>
            <a:endParaRPr lang="en-US" sz="1300" dirty="0"/>
          </a:p>
        </p:txBody>
      </p:sp>
      <p:sp>
        <p:nvSpPr>
          <p:cNvPr id="19" name="Shape 13"/>
          <p:cNvSpPr/>
          <p:nvPr/>
        </p:nvSpPr>
        <p:spPr>
          <a:xfrm>
            <a:off x="619506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7158609" y="2130552"/>
            <a:ext cx="621792" cy="621792"/>
          </a:xfrm>
          <a:prstGeom prst="ellipse">
            <a:avLst/>
          </a:prstGeom>
          <a:solidFill>
            <a:srgbClr val="0B5E82"/>
          </a:solidFill>
          <a:ln w="12700">
            <a:solidFill>
              <a:srgbClr val="0B5E8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7314057" y="2286000"/>
            <a:ext cx="310896" cy="310896"/>
          </a:xfrm>
          <a:prstGeom prst="rect">
            <a:avLst/>
          </a:prstGeom>
        </p:spPr>
      </p:pic>
      <p:sp>
        <p:nvSpPr>
          <p:cNvPr id="22" name="Text 15"/>
          <p:cNvSpPr txBox="1"/>
          <p:nvPr/>
        </p:nvSpPr>
        <p:spPr>
          <a:xfrm>
            <a:off x="637794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Data Sovereignty</a:t>
            </a:r>
            <a:endParaRPr lang="en-US" sz="1600" dirty="0"/>
          </a:p>
        </p:txBody>
      </p:sp>
      <p:sp>
        <p:nvSpPr>
          <p:cNvPr id="23" name="Text 16"/>
          <p:cNvSpPr txBox="1"/>
          <p:nvPr/>
        </p:nvSpPr>
        <p:spPr>
          <a:xfrm>
            <a:off x="642366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Know where your data is stored and processed, and who can access it.</a:t>
            </a:r>
            <a:endParaRPr lang="en-US" sz="1300" dirty="0"/>
          </a:p>
        </p:txBody>
      </p:sp>
      <p:sp>
        <p:nvSpPr>
          <p:cNvPr id="24" name="Shape 17"/>
          <p:cNvSpPr/>
          <p:nvPr/>
        </p:nvSpPr>
        <p:spPr>
          <a:xfrm>
            <a:off x="8972550" y="1874520"/>
            <a:ext cx="2548890" cy="3566160"/>
          </a:xfrm>
          <a:prstGeom prst="roundRect">
            <a:avLst>
              <a:gd name="adj" fmla="val 287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9936099" y="2130552"/>
            <a:ext cx="621792" cy="621792"/>
          </a:xfrm>
          <a:prstGeom prst="ellipse">
            <a:avLst/>
          </a:prstGeom>
          <a:solidFill>
            <a:srgbClr val="0B5E82"/>
          </a:solidFill>
          <a:ln w="12700">
            <a:solidFill>
              <a:srgbClr val="0B5E82"/>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10091547" y="2286000"/>
            <a:ext cx="310896" cy="310896"/>
          </a:xfrm>
          <a:prstGeom prst="rect">
            <a:avLst/>
          </a:prstGeom>
        </p:spPr>
      </p:pic>
      <p:sp>
        <p:nvSpPr>
          <p:cNvPr id="27" name="Text 19"/>
          <p:cNvSpPr txBox="1"/>
          <p:nvPr/>
        </p:nvSpPr>
        <p:spPr>
          <a:xfrm>
            <a:off x="9155430" y="2880360"/>
            <a:ext cx="218313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Transparency</a:t>
            </a:r>
            <a:endParaRPr lang="en-US" sz="1600" dirty="0"/>
          </a:p>
        </p:txBody>
      </p:sp>
      <p:sp>
        <p:nvSpPr>
          <p:cNvPr id="28" name="Text 20"/>
          <p:cNvSpPr txBox="1"/>
          <p:nvPr/>
        </p:nvSpPr>
        <p:spPr>
          <a:xfrm>
            <a:off x="9201150" y="3474720"/>
            <a:ext cx="209169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People affected by algorithmic decisions deserve an explanation they can understand.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WHO IS MISSING?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The African Data Gap</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Good analytics starts by asking who is missing from the data before trusting what it says.</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27</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2066544"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221992" y="2286000"/>
            <a:ext cx="310896" cy="310896"/>
          </a:xfrm>
          <a:prstGeom prst="rect">
            <a:avLst/>
          </a:prstGeom>
        </p:spPr>
      </p:pic>
      <p:sp>
        <p:nvSpPr>
          <p:cNvPr id="12" name="Text 7"/>
          <p:cNvSpPr txBox="1"/>
          <p:nvPr/>
        </p:nvSpPr>
        <p:spPr>
          <a:xfrm>
            <a:off x="82296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Rural vs. Urban</a:t>
            </a:r>
            <a:endParaRPr lang="en-US" sz="1600" dirty="0"/>
          </a:p>
        </p:txBody>
      </p:sp>
      <p:sp>
        <p:nvSpPr>
          <p:cNvPr id="13" name="Text 8"/>
          <p:cNvSpPr txBox="1"/>
          <p:nvPr/>
        </p:nvSpPr>
        <p:spPr>
          <a:xfrm>
            <a:off x="868680" y="3474720"/>
            <a:ext cx="301752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Digital and transaction data over-represents Lagos and big cities; rural livelihoods are under-counted.</a:t>
            </a:r>
            <a:endParaRPr lang="en-US" sz="1300" dirty="0"/>
          </a:p>
        </p:txBody>
      </p:sp>
      <p:sp>
        <p:nvSpPr>
          <p:cNvPr id="14" name="Shape 9"/>
          <p:cNvSpPr/>
          <p:nvPr/>
        </p:nvSpPr>
        <p:spPr>
          <a:xfrm>
            <a:off x="434340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5769864" y="2130552"/>
            <a:ext cx="621792" cy="621792"/>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5925312" y="2286000"/>
            <a:ext cx="310896" cy="310896"/>
          </a:xfrm>
          <a:prstGeom prst="rect">
            <a:avLst/>
          </a:prstGeom>
        </p:spPr>
      </p:pic>
      <p:sp>
        <p:nvSpPr>
          <p:cNvPr id="17" name="Text 11"/>
          <p:cNvSpPr txBox="1"/>
          <p:nvPr/>
        </p:nvSpPr>
        <p:spPr>
          <a:xfrm>
            <a:off x="452628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Language Bias</a:t>
            </a:r>
            <a:endParaRPr lang="en-US" sz="1600" dirty="0"/>
          </a:p>
        </p:txBody>
      </p:sp>
      <p:sp>
        <p:nvSpPr>
          <p:cNvPr id="18" name="Text 12"/>
          <p:cNvSpPr txBox="1"/>
          <p:nvPr/>
        </p:nvSpPr>
        <p:spPr>
          <a:xfrm>
            <a:off x="4572000" y="3474720"/>
            <a:ext cx="301752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Text models trained mostly on English underserve Pidgin, Yoruba, Hausa and Igbo speakers.</a:t>
            </a:r>
            <a:endParaRPr lang="en-US" sz="1300" dirty="0"/>
          </a:p>
        </p:txBody>
      </p:sp>
      <p:sp>
        <p:nvSpPr>
          <p:cNvPr id="19" name="Shape 13"/>
          <p:cNvSpPr/>
          <p:nvPr/>
        </p:nvSpPr>
        <p:spPr>
          <a:xfrm>
            <a:off x="804672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9473184" y="2130552"/>
            <a:ext cx="621792" cy="621792"/>
          </a:xfrm>
          <a:prstGeom prst="ellipse">
            <a:avLst/>
          </a:prstGeom>
          <a:solidFill>
            <a:srgbClr val="D99A2B"/>
          </a:solidFill>
          <a:ln w="12700">
            <a:solidFill>
              <a:srgbClr val="D99A2B"/>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9628632" y="2286000"/>
            <a:ext cx="310896" cy="310896"/>
          </a:xfrm>
          <a:prstGeom prst="rect">
            <a:avLst/>
          </a:prstGeom>
        </p:spPr>
      </p:pic>
      <p:sp>
        <p:nvSpPr>
          <p:cNvPr id="22" name="Text 15"/>
          <p:cNvSpPr txBox="1"/>
          <p:nvPr/>
        </p:nvSpPr>
        <p:spPr>
          <a:xfrm>
            <a:off x="822960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Representation Gaps</a:t>
            </a:r>
            <a:endParaRPr lang="en-US" sz="1600" dirty="0"/>
          </a:p>
        </p:txBody>
      </p:sp>
      <p:sp>
        <p:nvSpPr>
          <p:cNvPr id="23" name="Text 16"/>
          <p:cNvSpPr txBox="1"/>
          <p:nvPr/>
        </p:nvSpPr>
        <p:spPr>
          <a:xfrm>
            <a:off x="8275320" y="3474720"/>
            <a:ext cx="3017520" cy="182880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The unbanked and informal sector leave few digital traces — models can miss whole segments.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1828800"/>
            <a:ext cx="5486400" cy="320040"/>
          </a:xfrm>
          <a:prstGeom prst="rect">
            <a:avLst/>
          </a:prstGeom>
          <a:noFill/>
          <a:ln/>
        </p:spPr>
        <p:txBody>
          <a:bodyPr wrap="square" lIns="0" tIns="0" rIns="0" bIns="0" rtlCol="0" anchor="t"/>
          <a:lstStyle/>
          <a:p>
            <a:pPr indent="0" marL="0">
              <a:buNone/>
            </a:pPr>
            <a:r>
              <a:rPr lang="en-US" sz="1300" b="1" spc="400" kern="0" dirty="0">
                <a:solidFill>
                  <a:srgbClr val="D99A2B"/>
                </a:solidFill>
                <a:latin typeface="Calibri" pitchFamily="34" charset="0"/>
                <a:ea typeface="Calibri" pitchFamily="34" charset="-122"/>
                <a:cs typeface="Calibri" pitchFamily="34" charset="-120"/>
              </a:rPr>
              <a:t>PART</a:t>
            </a:r>
            <a:endParaRPr lang="en-US" sz="1300" dirty="0"/>
          </a:p>
        </p:txBody>
      </p:sp>
      <p:sp>
        <p:nvSpPr>
          <p:cNvPr id="5" name="Text 3"/>
          <p:cNvSpPr txBox="1"/>
          <p:nvPr/>
        </p:nvSpPr>
        <p:spPr>
          <a:xfrm>
            <a:off x="822960" y="2148840"/>
            <a:ext cx="2743200" cy="1097280"/>
          </a:xfrm>
          <a:prstGeom prst="rect">
            <a:avLst/>
          </a:prstGeom>
          <a:noFill/>
          <a:ln/>
        </p:spPr>
        <p:txBody>
          <a:bodyPr wrap="square" lIns="0" tIns="0" rIns="0" bIns="0" rtlCol="0" anchor="t"/>
          <a:lstStyle/>
          <a:p>
            <a:pPr indent="0" marL="0">
              <a:buNone/>
            </a:pPr>
            <a:r>
              <a:rPr lang="en-US" sz="7200" b="1" dirty="0">
                <a:solidFill>
                  <a:srgbClr val="AAB9CC"/>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822960" y="3291840"/>
            <a:ext cx="8686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Your Toolkit</a:t>
            </a:r>
            <a:endParaRPr lang="en-US" sz="3600" dirty="0"/>
          </a:p>
        </p:txBody>
      </p:sp>
      <p:sp>
        <p:nvSpPr>
          <p:cNvPr id="7" name="Text 5"/>
          <p:cNvSpPr txBox="1"/>
          <p:nvPr/>
        </p:nvSpPr>
        <p:spPr>
          <a:xfrm>
            <a:off x="822960" y="4251960"/>
            <a:ext cx="8229600" cy="731520"/>
          </a:xfrm>
          <a:prstGeom prst="rect">
            <a:avLst/>
          </a:prstGeom>
          <a:noFill/>
          <a:ln/>
        </p:spPr>
        <p:txBody>
          <a:bodyPr wrap="square" lIns="0" tIns="0" rIns="0" bIns="0" rtlCol="0" anchor="t"/>
          <a:lstStyle/>
          <a:p>
            <a:pPr indent="0" marL="0">
              <a:buNone/>
            </a:pPr>
            <a:r>
              <a:rPr lang="en-US" sz="1600" i="1" dirty="0">
                <a:solidFill>
                  <a:srgbClr val="C7D3E3"/>
                </a:solidFill>
                <a:latin typeface="Calibri" pitchFamily="34" charset="0"/>
                <a:ea typeface="Calibri" pitchFamily="34" charset="-122"/>
                <a:cs typeface="Calibri" pitchFamily="34" charset="-120"/>
              </a:rPr>
              <a:t>R and Python, side by side, inside RStudio.</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15 MINUTES · UNGRADED</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Quick Diagnostic: Where Are You Starting From?</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No grades — just a starting point. Answer honestly; there is no wrong baseline.</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29</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2066544" y="2130552"/>
            <a:ext cx="621792" cy="621792"/>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221992" y="2286000"/>
            <a:ext cx="310896" cy="310896"/>
          </a:xfrm>
          <a:prstGeom prst="rect">
            <a:avLst/>
          </a:prstGeom>
        </p:spPr>
      </p:pic>
      <p:sp>
        <p:nvSpPr>
          <p:cNvPr id="12" name="Text 7"/>
          <p:cNvSpPr txBox="1"/>
          <p:nvPr/>
        </p:nvSpPr>
        <p:spPr>
          <a:xfrm>
            <a:off x="82296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Statement 1</a:t>
            </a:r>
            <a:endParaRPr lang="en-US" sz="1600" dirty="0"/>
          </a:p>
        </p:txBody>
      </p:sp>
      <p:sp>
        <p:nvSpPr>
          <p:cNvPr id="13" name="Text 8"/>
          <p:cNvSpPr txBox="1"/>
          <p:nvPr/>
        </p:nvSpPr>
        <p:spPr>
          <a:xfrm>
            <a:off x="868680" y="3474720"/>
            <a:ext cx="3017520" cy="132588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I can explain the difference between a mean and a median.</a:t>
            </a:r>
            <a:endParaRPr lang="en-US" sz="1300" dirty="0"/>
          </a:p>
        </p:txBody>
      </p:sp>
      <p:sp>
        <p:nvSpPr>
          <p:cNvPr id="14" name="Text 9"/>
          <p:cNvSpPr txBox="1"/>
          <p:nvPr/>
        </p:nvSpPr>
        <p:spPr>
          <a:xfrm>
            <a:off x="868680" y="4892040"/>
            <a:ext cx="301752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Agree · Unsure · Disagree</a:t>
            </a:r>
            <a:endParaRPr lang="en-US" sz="1100" dirty="0"/>
          </a:p>
        </p:txBody>
      </p:sp>
      <p:sp>
        <p:nvSpPr>
          <p:cNvPr id="15" name="Shape 10"/>
          <p:cNvSpPr/>
          <p:nvPr/>
        </p:nvSpPr>
        <p:spPr>
          <a:xfrm>
            <a:off x="434340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5769864" y="2130552"/>
            <a:ext cx="621792" cy="621792"/>
          </a:xfrm>
          <a:prstGeom prst="ellipse">
            <a:avLst/>
          </a:prstGeom>
          <a:solidFill>
            <a:srgbClr val="0B5E82"/>
          </a:solidFill>
          <a:ln w="12700">
            <a:solidFill>
              <a:srgbClr val="0B5E82"/>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5925312" y="2286000"/>
            <a:ext cx="310896" cy="310896"/>
          </a:xfrm>
          <a:prstGeom prst="rect">
            <a:avLst/>
          </a:prstGeom>
        </p:spPr>
      </p:pic>
      <p:sp>
        <p:nvSpPr>
          <p:cNvPr id="18" name="Text 12"/>
          <p:cNvSpPr txBox="1"/>
          <p:nvPr/>
        </p:nvSpPr>
        <p:spPr>
          <a:xfrm>
            <a:off x="452628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Statement 2</a:t>
            </a:r>
            <a:endParaRPr lang="en-US" sz="1600" dirty="0"/>
          </a:p>
        </p:txBody>
      </p:sp>
      <p:sp>
        <p:nvSpPr>
          <p:cNvPr id="19" name="Text 13"/>
          <p:cNvSpPr txBox="1"/>
          <p:nvPr/>
        </p:nvSpPr>
        <p:spPr>
          <a:xfrm>
            <a:off x="4572000" y="3474720"/>
            <a:ext cx="3017520" cy="132588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I have written at least one line of R or Python code before.</a:t>
            </a:r>
            <a:endParaRPr lang="en-US" sz="1300" dirty="0"/>
          </a:p>
        </p:txBody>
      </p:sp>
      <p:sp>
        <p:nvSpPr>
          <p:cNvPr id="20" name="Text 14"/>
          <p:cNvSpPr txBox="1"/>
          <p:nvPr/>
        </p:nvSpPr>
        <p:spPr>
          <a:xfrm>
            <a:off x="4572000" y="4892040"/>
            <a:ext cx="301752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Agree · Unsure · Disagree</a:t>
            </a:r>
            <a:endParaRPr lang="en-US" sz="1100" dirty="0"/>
          </a:p>
        </p:txBody>
      </p:sp>
      <p:sp>
        <p:nvSpPr>
          <p:cNvPr id="21" name="Shape 15"/>
          <p:cNvSpPr/>
          <p:nvPr/>
        </p:nvSpPr>
        <p:spPr>
          <a:xfrm>
            <a:off x="8046720" y="1874520"/>
            <a:ext cx="3474720" cy="3566160"/>
          </a:xfrm>
          <a:prstGeom prst="roundRect">
            <a:avLst>
              <a:gd name="adj" fmla="val 2105"/>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2" name="Shape 16"/>
          <p:cNvSpPr/>
          <p:nvPr/>
        </p:nvSpPr>
        <p:spPr>
          <a:xfrm>
            <a:off x="9473184" y="2130552"/>
            <a:ext cx="621792" cy="621792"/>
          </a:xfrm>
          <a:prstGeom prst="ellipse">
            <a:avLst/>
          </a:prstGeom>
          <a:solidFill>
            <a:srgbClr val="0B5E82"/>
          </a:solidFill>
          <a:ln w="12700">
            <a:solidFill>
              <a:srgbClr val="0B5E82"/>
            </a:solidFill>
            <a:prstDash val="solid"/>
          </a:ln>
        </p:spPr>
        <p:txBody>
          <a:bodyPr/>
          <a:p/>
        </p:txBody>
      </p:sp>
      <p:pic>
        <p:nvPicPr>
          <p:cNvPr id="23" name="Image 3" descr="preencoded.png">    </p:cNvPr>
          <p:cNvPicPr>
            <a:picLocks noChangeAspect="1"/>
          </p:cNvPicPr>
          <p:nvPr/>
        </p:nvPicPr>
        <p:blipFill>
          <a:blip r:embed="rId4"/>
          <a:stretch>
            <a:fillRect/>
          </a:stretch>
        </p:blipFill>
        <p:spPr>
          <a:xfrm>
            <a:off x="9628632" y="2286000"/>
            <a:ext cx="310896" cy="310896"/>
          </a:xfrm>
          <a:prstGeom prst="rect">
            <a:avLst/>
          </a:prstGeom>
        </p:spPr>
      </p:pic>
      <p:sp>
        <p:nvSpPr>
          <p:cNvPr id="24" name="Text 17"/>
          <p:cNvSpPr txBox="1"/>
          <p:nvPr/>
        </p:nvSpPr>
        <p:spPr>
          <a:xfrm>
            <a:off x="8229600" y="2880360"/>
            <a:ext cx="3108960" cy="548640"/>
          </a:xfrm>
          <a:prstGeom prst="rect">
            <a:avLst/>
          </a:prstGeom>
          <a:noFill/>
          <a:ln/>
        </p:spPr>
        <p:txBody>
          <a:bodyPr wrap="square" lIns="0" tIns="0" rIns="0" bIns="0" rtlCol="0" anchor="ctr"/>
          <a:lstStyle/>
          <a:p>
            <a:pPr algn="ctr" indent="0" marL="0">
              <a:buNone/>
            </a:pPr>
            <a:r>
              <a:rPr lang="en-US" sz="1600" b="1" dirty="0">
                <a:solidFill>
                  <a:srgbClr val="141B4D"/>
                </a:solidFill>
                <a:latin typeface="Cambria" pitchFamily="34" charset="0"/>
                <a:ea typeface="Cambria" pitchFamily="34" charset="-122"/>
                <a:cs typeface="Cambria" pitchFamily="34" charset="-120"/>
              </a:rPr>
              <a:t>Statement 3</a:t>
            </a:r>
            <a:endParaRPr lang="en-US" sz="1600" dirty="0"/>
          </a:p>
        </p:txBody>
      </p:sp>
      <p:sp>
        <p:nvSpPr>
          <p:cNvPr id="25" name="Text 18"/>
          <p:cNvSpPr txBox="1"/>
          <p:nvPr/>
        </p:nvSpPr>
        <p:spPr>
          <a:xfrm>
            <a:off x="8275320" y="3474720"/>
            <a:ext cx="3017520" cy="1325880"/>
          </a:xfrm>
          <a:prstGeom prst="rect">
            <a:avLst/>
          </a:prstGeom>
          <a:noFill/>
          <a:ln/>
        </p:spPr>
        <p:txBody>
          <a:bodyPr wrap="square" lIns="0" tIns="0" rIns="0" bIns="0" rtlCol="0" anchor="t"/>
          <a:lstStyle/>
          <a:p>
            <a:pPr algn="ctr" indent="0" marL="0">
              <a:buNone/>
            </a:pPr>
            <a:r>
              <a:rPr lang="en-US" sz="1300" dirty="0">
                <a:solidFill>
                  <a:srgbClr val="1A2233"/>
                </a:solidFill>
                <a:latin typeface="Calibri" pitchFamily="34" charset="0"/>
                <a:ea typeface="Calibri" pitchFamily="34" charset="-122"/>
                <a:cs typeface="Calibri" pitchFamily="34" charset="-120"/>
              </a:rPr>
              <a:t>I can read a bar chart and state what decision it supports.</a:t>
            </a:r>
            <a:endParaRPr lang="en-US" sz="1300" dirty="0"/>
          </a:p>
        </p:txBody>
      </p:sp>
      <p:sp>
        <p:nvSpPr>
          <p:cNvPr id="26" name="Text 19"/>
          <p:cNvSpPr txBox="1"/>
          <p:nvPr/>
        </p:nvSpPr>
        <p:spPr>
          <a:xfrm>
            <a:off x="8275320" y="4892040"/>
            <a:ext cx="3017520" cy="411480"/>
          </a:xfrm>
          <a:prstGeom prst="rect">
            <a:avLst/>
          </a:prstGeom>
          <a:noFill/>
          <a:ln/>
        </p:spPr>
        <p:txBody>
          <a:bodyPr wrap="square" lIns="0" tIns="0" rIns="0" bIns="0" rtlCol="0" anchor="t"/>
          <a:lstStyle/>
          <a:p>
            <a:pPr algn="ctr" indent="0" marL="0">
              <a:buNone/>
            </a:pPr>
            <a:r>
              <a:rPr lang="en-US" sz="1100" i="1" dirty="0">
                <a:solidFill>
                  <a:srgbClr val="5C6B7A"/>
                </a:solidFill>
                <a:latin typeface="Calibri" pitchFamily="34" charset="0"/>
                <a:ea typeface="Calibri" pitchFamily="34" charset="-122"/>
                <a:cs typeface="Calibri" pitchFamily="34" charset="-120"/>
              </a:rPr>
              <a:t>Agree · Unsure · Disagree</a:t>
            </a:r>
            <a:endParaRPr lang="en-US" sz="1100" dirty="0"/>
          </a:p>
        </p:txBody>
      </p:sp>
      <p:sp>
        <p:nvSpPr>
          <p:cNvPr id="27" name="Shape 20"/>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28" name="Text 21"/>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Results shape how we pace labs and clinics for the rest of the course — not your grade.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MEET THE TOOLKIT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Your Toolkit: R and Python, Not R vs. Python</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This course is dual-language on purpose — real analytics teams use both.</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30</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5303520" cy="3566160"/>
          </a:xfrm>
          <a:prstGeom prst="roundRect">
            <a:avLst>
              <a:gd name="adj" fmla="val 2051"/>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914400" y="2130552"/>
            <a:ext cx="594360" cy="594360"/>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1062990" y="2279142"/>
            <a:ext cx="297180" cy="297180"/>
          </a:xfrm>
          <a:prstGeom prst="rect">
            <a:avLst/>
          </a:prstGeom>
        </p:spPr>
      </p:pic>
      <p:sp>
        <p:nvSpPr>
          <p:cNvPr id="12" name="Text 7"/>
          <p:cNvSpPr txBox="1"/>
          <p:nvPr/>
        </p:nvSpPr>
        <p:spPr>
          <a:xfrm>
            <a:off x="1691640" y="2103120"/>
            <a:ext cx="4023360" cy="411480"/>
          </a:xfrm>
          <a:prstGeom prst="rect">
            <a:avLst/>
          </a:prstGeom>
          <a:noFill/>
          <a:ln/>
        </p:spPr>
        <p:txBody>
          <a:bodyPr wrap="square" lIns="0" tIns="0" rIns="0" bIns="0" rtlCol="0" anchor="t"/>
          <a:lstStyle/>
          <a:p>
            <a:pPr indent="0" marL="0">
              <a:buNone/>
            </a:pPr>
            <a:r>
              <a:rPr lang="en-US" sz="1800" b="1" dirty="0">
                <a:solidFill>
                  <a:srgbClr val="141B4D"/>
                </a:solidFill>
                <a:latin typeface="Cambria" pitchFamily="34" charset="0"/>
                <a:ea typeface="Cambria" pitchFamily="34" charset="-122"/>
                <a:cs typeface="Cambria" pitchFamily="34" charset="-120"/>
              </a:rPr>
              <a:t>R</a:t>
            </a:r>
            <a:endParaRPr lang="en-US" sz="1800" dirty="0"/>
          </a:p>
        </p:txBody>
      </p:sp>
      <p:sp>
        <p:nvSpPr>
          <p:cNvPr id="13" name="Text 8"/>
          <p:cNvSpPr txBox="1"/>
          <p:nvPr/>
        </p:nvSpPr>
        <p:spPr>
          <a:xfrm>
            <a:off x="1691640" y="2496312"/>
            <a:ext cx="4023360" cy="320040"/>
          </a:xfrm>
          <a:prstGeom prst="rect">
            <a:avLst/>
          </a:prstGeom>
          <a:noFill/>
          <a:ln/>
        </p:spPr>
        <p:txBody>
          <a:bodyPr wrap="square" lIns="0" tIns="0" rIns="0" bIns="0" rtlCol="0" anchor="t"/>
          <a:lstStyle/>
          <a:p>
            <a:pPr indent="0" marL="0">
              <a:buNone/>
            </a:pPr>
            <a:r>
              <a:rPr lang="en-US" sz="1250" i="1" dirty="0">
                <a:solidFill>
                  <a:srgbClr val="5C6B7A"/>
                </a:solidFill>
                <a:latin typeface="Calibri" pitchFamily="34" charset="0"/>
                <a:ea typeface="Calibri" pitchFamily="34" charset="-122"/>
                <a:cs typeface="Calibri" pitchFamily="34" charset="-120"/>
              </a:rPr>
              <a:t>Built by statisticians for data analysis</a:t>
            </a:r>
            <a:endParaRPr lang="en-US" sz="1250" dirty="0"/>
          </a:p>
        </p:txBody>
      </p:sp>
      <p:sp>
        <p:nvSpPr>
          <p:cNvPr id="14" name="Text 9"/>
          <p:cNvSpPr txBox="1"/>
          <p:nvPr/>
        </p:nvSpPr>
        <p:spPr>
          <a:xfrm>
            <a:off x="960120" y="3017520"/>
            <a:ext cx="4663440" cy="2286000"/>
          </a:xfrm>
          <a:prstGeom prst="rect">
            <a:avLst/>
          </a:prstGeom>
          <a:noFill/>
          <a:ln/>
        </p:spPr>
        <p:txBody>
          <a:bodyPr wrap="square" lIns="0" tIns="0" rIns="0" bIns="0" rtlCol="0" anchor="t"/>
          <a:lstStyle/>
          <a:p>
            <a:pPr marL="177800" indent="-177800">
              <a:spcAft>
                <a:spcPts val="800"/>
              </a:spcAft>
              <a:buSzPct val="100000"/>
              <a:buChar char="•"/>
            </a:pPr>
            <a:r>
              <a:rPr lang="en-US" sz="1350" b="1" dirty="0">
                <a:solidFill>
                  <a:srgbClr val="1A2233"/>
                </a:solidFill>
                <a:latin typeface="Calibri" pitchFamily="34" charset="0"/>
                <a:ea typeface="Calibri" pitchFamily="34" charset="-122"/>
                <a:cs typeface="Calibri" pitchFamily="34" charset="-120"/>
              </a:rPr>
              <a:t>tidyverse</a:t>
            </a:r>
            <a:r>
              <a:rPr lang="en-US" sz="1350" dirty="0">
                <a:solidFill>
                  <a:srgbClr val="1A2233"/>
                </a:solidFill>
                <a:latin typeface="Calibri" pitchFamily="34" charset="0"/>
                <a:ea typeface="Calibri" pitchFamily="34" charset="-122"/>
                <a:cs typeface="Calibri" pitchFamily="34" charset="-120"/>
              </a:rPr>
              <a:t>: dplyr for data, ggplot2 for charts</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Excellent for statistics and reporting</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Quarto / R Markdown for reproducible reports</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Every course chart has an R script</a:t>
            </a:r>
            <a:endParaRPr lang="en-US" sz="1350" dirty="0"/>
          </a:p>
        </p:txBody>
      </p:sp>
      <p:sp>
        <p:nvSpPr>
          <p:cNvPr id="15" name="Shape 10"/>
          <p:cNvSpPr/>
          <p:nvPr/>
        </p:nvSpPr>
        <p:spPr>
          <a:xfrm>
            <a:off x="6217920" y="1874520"/>
            <a:ext cx="5303520" cy="3566160"/>
          </a:xfrm>
          <a:prstGeom prst="roundRect">
            <a:avLst>
              <a:gd name="adj" fmla="val 2051"/>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6" name="Shape 11"/>
          <p:cNvSpPr/>
          <p:nvPr/>
        </p:nvSpPr>
        <p:spPr>
          <a:xfrm>
            <a:off x="6492240" y="2130552"/>
            <a:ext cx="594360" cy="594360"/>
          </a:xfrm>
          <a:prstGeom prst="ellipse">
            <a:avLst/>
          </a:prstGeom>
          <a:solidFill>
            <a:srgbClr val="D99A2B"/>
          </a:solidFill>
          <a:ln w="12700">
            <a:solidFill>
              <a:srgbClr val="D99A2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6640830" y="2279142"/>
            <a:ext cx="297180" cy="297180"/>
          </a:xfrm>
          <a:prstGeom prst="rect">
            <a:avLst/>
          </a:prstGeom>
        </p:spPr>
      </p:pic>
      <p:sp>
        <p:nvSpPr>
          <p:cNvPr id="18" name="Text 12"/>
          <p:cNvSpPr txBox="1"/>
          <p:nvPr/>
        </p:nvSpPr>
        <p:spPr>
          <a:xfrm>
            <a:off x="7269480" y="2103120"/>
            <a:ext cx="4023360" cy="411480"/>
          </a:xfrm>
          <a:prstGeom prst="rect">
            <a:avLst/>
          </a:prstGeom>
          <a:noFill/>
          <a:ln/>
        </p:spPr>
        <p:txBody>
          <a:bodyPr wrap="square" lIns="0" tIns="0" rIns="0" bIns="0" rtlCol="0" anchor="t"/>
          <a:lstStyle/>
          <a:p>
            <a:pPr indent="0" marL="0">
              <a:buNone/>
            </a:pPr>
            <a:r>
              <a:rPr lang="en-US" sz="1800" b="1" dirty="0">
                <a:solidFill>
                  <a:srgbClr val="141B4D"/>
                </a:solidFill>
                <a:latin typeface="Cambria" pitchFamily="34" charset="0"/>
                <a:ea typeface="Cambria" pitchFamily="34" charset="-122"/>
                <a:cs typeface="Cambria" pitchFamily="34" charset="-120"/>
              </a:rPr>
              <a:t>Python</a:t>
            </a:r>
            <a:endParaRPr lang="en-US" sz="1800" dirty="0"/>
          </a:p>
        </p:txBody>
      </p:sp>
      <p:sp>
        <p:nvSpPr>
          <p:cNvPr id="19" name="Text 13"/>
          <p:cNvSpPr txBox="1"/>
          <p:nvPr/>
        </p:nvSpPr>
        <p:spPr>
          <a:xfrm>
            <a:off x="7269480" y="2496312"/>
            <a:ext cx="4023360" cy="320040"/>
          </a:xfrm>
          <a:prstGeom prst="rect">
            <a:avLst/>
          </a:prstGeom>
          <a:noFill/>
          <a:ln/>
        </p:spPr>
        <p:txBody>
          <a:bodyPr wrap="square" lIns="0" tIns="0" rIns="0" bIns="0" rtlCol="0" anchor="t"/>
          <a:lstStyle/>
          <a:p>
            <a:pPr indent="0" marL="0">
              <a:buNone/>
            </a:pPr>
            <a:r>
              <a:rPr lang="en-US" sz="1250" i="1" dirty="0">
                <a:solidFill>
                  <a:srgbClr val="5C6B7A"/>
                </a:solidFill>
                <a:latin typeface="Calibri" pitchFamily="34" charset="0"/>
                <a:ea typeface="Calibri" pitchFamily="34" charset="-122"/>
                <a:cs typeface="Calibri" pitchFamily="34" charset="-120"/>
              </a:rPr>
              <a:t>A general-purpose language that took over data science</a:t>
            </a:r>
            <a:endParaRPr lang="en-US" sz="1250" dirty="0"/>
          </a:p>
        </p:txBody>
      </p:sp>
      <p:sp>
        <p:nvSpPr>
          <p:cNvPr id="20" name="Text 14"/>
          <p:cNvSpPr txBox="1"/>
          <p:nvPr/>
        </p:nvSpPr>
        <p:spPr>
          <a:xfrm>
            <a:off x="6537960" y="3017520"/>
            <a:ext cx="4663440" cy="2286000"/>
          </a:xfrm>
          <a:prstGeom prst="rect">
            <a:avLst/>
          </a:prstGeom>
          <a:noFill/>
          <a:ln/>
        </p:spPr>
        <p:txBody>
          <a:bodyPr wrap="square" lIns="0" tIns="0" rIns="0" bIns="0" rtlCol="0" anchor="t"/>
          <a:lstStyle/>
          <a:p>
            <a:pPr marL="177800" indent="-177800">
              <a:spcAft>
                <a:spcPts val="800"/>
              </a:spcAft>
              <a:buSzPct val="100000"/>
              <a:buChar char="•"/>
            </a:pPr>
            <a:r>
              <a:rPr lang="en-US" sz="1350" b="1" dirty="0">
                <a:solidFill>
                  <a:srgbClr val="1A2233"/>
                </a:solidFill>
                <a:latin typeface="Calibri" pitchFamily="34" charset="0"/>
                <a:ea typeface="Calibri" pitchFamily="34" charset="-122"/>
                <a:cs typeface="Calibri" pitchFamily="34" charset="-120"/>
              </a:rPr>
              <a:t>pandas</a:t>
            </a:r>
            <a:r>
              <a:rPr lang="en-US" sz="1350" dirty="0">
                <a:solidFill>
                  <a:srgbClr val="1A2233"/>
                </a:solidFill>
                <a:latin typeface="Calibri" pitchFamily="34" charset="0"/>
                <a:ea typeface="Calibri" pitchFamily="34" charset="-122"/>
                <a:cs typeface="Calibri" pitchFamily="34" charset="-120"/>
              </a:rPr>
              <a:t> for data, </a:t>
            </a:r>
            <a:r>
              <a:rPr lang="en-US" sz="1350" b="1" dirty="0">
                <a:solidFill>
                  <a:srgbClr val="1A2233"/>
                </a:solidFill>
                <a:latin typeface="Calibri" pitchFamily="34" charset="0"/>
                <a:ea typeface="Calibri" pitchFamily="34" charset="-122"/>
                <a:cs typeface="Calibri" pitchFamily="34" charset="-120"/>
              </a:rPr>
              <a:t>matplotlib</a:t>
            </a:r>
            <a:r>
              <a:rPr lang="en-US" sz="1350" dirty="0">
                <a:solidFill>
                  <a:srgbClr val="1A2233"/>
                </a:solidFill>
                <a:latin typeface="Calibri" pitchFamily="34" charset="0"/>
                <a:ea typeface="Calibri" pitchFamily="34" charset="-122"/>
                <a:cs typeface="Calibri" pitchFamily="34" charset="-120"/>
              </a:rPr>
              <a:t> for charts</a:t>
            </a:r>
            <a:endParaRPr lang="en-US" sz="1350" dirty="0"/>
          </a:p>
          <a:p>
            <a:pPr marL="177800" indent="-177800">
              <a:spcAft>
                <a:spcPts val="800"/>
              </a:spcAft>
              <a:buSzPct val="100000"/>
              <a:buChar char="•"/>
            </a:pPr>
            <a:r>
              <a:rPr lang="en-US" sz="1350" b="1" dirty="0">
                <a:solidFill>
                  <a:srgbClr val="1A2233"/>
                </a:solidFill>
                <a:latin typeface="Calibri" pitchFamily="34" charset="0"/>
                <a:ea typeface="Calibri" pitchFamily="34" charset="-122"/>
                <a:cs typeface="Calibri" pitchFamily="34" charset="-120"/>
              </a:rPr>
              <a:t>scikit-learn</a:t>
            </a:r>
            <a:r>
              <a:rPr lang="en-US" sz="1350" dirty="0">
                <a:solidFill>
                  <a:srgbClr val="1A2233"/>
                </a:solidFill>
                <a:latin typeface="Calibri" pitchFamily="34" charset="0"/>
                <a:ea typeface="Calibri" pitchFamily="34" charset="-122"/>
                <a:cs typeface="Calibri" pitchFamily="34" charset="-120"/>
              </a:rPr>
              <a:t> for machine learning</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Dominant in AI, deep learning and production systems</a:t>
            </a:r>
            <a:endParaRPr lang="en-US" sz="1350" dirty="0"/>
          </a:p>
          <a:p>
            <a:pPr marL="177800" indent="-177800">
              <a:spcAft>
                <a:spcPts val="800"/>
              </a:spcAft>
              <a:buSzPct val="100000"/>
              <a:buChar char="•"/>
            </a:pPr>
            <a:r>
              <a:rPr lang="en-US" sz="1350" dirty="0">
                <a:solidFill>
                  <a:srgbClr val="1A2233"/>
                </a:solidFill>
                <a:latin typeface="Calibri" pitchFamily="34" charset="0"/>
                <a:ea typeface="Calibri" pitchFamily="34" charset="-122"/>
                <a:cs typeface="Calibri" pitchFamily="34" charset="-120"/>
              </a:rPr>
              <a:t>Every course chart has a Python script</a:t>
            </a:r>
            <a:endParaRPr lang="en-US" sz="1350" dirty="0"/>
          </a:p>
        </p:txBody>
      </p:sp>
      <p:sp>
        <p:nvSpPr>
          <p:cNvPr id="21" name="Shape 15"/>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22" name="Text 16"/>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RStudio runs both. The </a:t>
            </a:r>
            <a:r>
              <a:rPr lang="en-US" sz="1300" b="1" i="1" dirty="0">
                <a:solidFill>
                  <a:srgbClr val="141B4D"/>
                </a:solidFill>
                <a:latin typeface="Calibri" pitchFamily="34" charset="0"/>
                <a:ea typeface="Calibri" pitchFamily="34" charset="-122"/>
                <a:cs typeface="Calibri" pitchFamily="34" charset="-120"/>
              </a:rPr>
              <a:t>reticulate</a:t>
            </a:r>
            <a:r>
              <a:rPr lang="en-US" sz="1300" i="1" dirty="0">
                <a:solidFill>
                  <a:srgbClr val="141B4D"/>
                </a:solidFill>
                <a:latin typeface="Calibri" pitchFamily="34" charset="0"/>
                <a:ea typeface="Calibri" pitchFamily="34" charset="-122"/>
                <a:cs typeface="Calibri" pitchFamily="34" charset="-120"/>
              </a:rPr>
              <a:t> package lets R and Python share the same session — you choose the language per task.</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WHERE YOU WILL WORK</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Inside RStudio: Four Panes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Everything in this course happens in one window.</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31</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0" name="Shape 6"/>
          <p:cNvSpPr/>
          <p:nvPr/>
        </p:nvSpPr>
        <p:spPr>
          <a:xfrm>
            <a:off x="868680" y="2075688"/>
            <a:ext cx="457200" cy="457200"/>
          </a:xfrm>
          <a:prstGeom prst="ellipse">
            <a:avLst/>
          </a:prstGeom>
          <a:solidFill>
            <a:srgbClr val="0B5E82"/>
          </a:solidFill>
          <a:ln w="12700">
            <a:solidFill>
              <a:srgbClr val="0B5E82"/>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982980" y="2189988"/>
            <a:ext cx="228600" cy="228600"/>
          </a:xfrm>
          <a:prstGeom prst="rect">
            <a:avLst/>
          </a:prstGeom>
        </p:spPr>
      </p:pic>
      <p:sp>
        <p:nvSpPr>
          <p:cNvPr id="12" name="Text 7"/>
          <p:cNvSpPr txBox="1"/>
          <p:nvPr/>
        </p:nvSpPr>
        <p:spPr>
          <a:xfrm>
            <a:off x="1463040" y="205740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Source (top-left)</a:t>
            </a:r>
            <a:endParaRPr lang="en-US" sz="1500" dirty="0"/>
          </a:p>
        </p:txBody>
      </p:sp>
      <p:sp>
        <p:nvSpPr>
          <p:cNvPr id="13" name="Text 8"/>
          <p:cNvSpPr txBox="1"/>
          <p:nvPr/>
        </p:nvSpPr>
        <p:spPr>
          <a:xfrm>
            <a:off x="868680" y="265176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Where scripts live. Write code here, save it, and run lines with </a:t>
            </a:r>
            <a:r>
              <a:rPr lang="en-US" sz="1250" b="1" dirty="0">
                <a:solidFill>
                  <a:srgbClr val="1A2233"/>
                </a:solidFill>
                <a:latin typeface="Calibri" pitchFamily="34" charset="0"/>
                <a:ea typeface="Calibri" pitchFamily="34" charset="-122"/>
                <a:cs typeface="Calibri" pitchFamily="34" charset="-120"/>
              </a:rPr>
              <a:t>Ctrl/Cmd + Enter</a:t>
            </a:r>
            <a:r>
              <a:rPr lang="en-US" sz="1250" dirty="0">
                <a:solidFill>
                  <a:srgbClr val="1A2233"/>
                </a:solidFill>
                <a:latin typeface="Calibri" pitchFamily="34" charset="0"/>
                <a:ea typeface="Calibri" pitchFamily="34" charset="-122"/>
                <a:cs typeface="Calibri" pitchFamily="34" charset="-120"/>
              </a:rPr>
              <a:t>.</a:t>
            </a:r>
            <a:endParaRPr lang="en-US" sz="1250" dirty="0"/>
          </a:p>
        </p:txBody>
      </p:sp>
      <p:sp>
        <p:nvSpPr>
          <p:cNvPr id="14" name="Shape 9"/>
          <p:cNvSpPr/>
          <p:nvPr/>
        </p:nvSpPr>
        <p:spPr>
          <a:xfrm>
            <a:off x="6195060" y="187452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5" name="Shape 10"/>
          <p:cNvSpPr/>
          <p:nvPr/>
        </p:nvSpPr>
        <p:spPr>
          <a:xfrm>
            <a:off x="6423660" y="2075688"/>
            <a:ext cx="457200" cy="457200"/>
          </a:xfrm>
          <a:prstGeom prst="ellipse">
            <a:avLst/>
          </a:prstGeom>
          <a:solidFill>
            <a:srgbClr val="0B5E82"/>
          </a:solidFill>
          <a:ln w="12700">
            <a:solidFill>
              <a:srgbClr val="0B5E82"/>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6537960" y="2189988"/>
            <a:ext cx="228600" cy="228600"/>
          </a:xfrm>
          <a:prstGeom prst="rect">
            <a:avLst/>
          </a:prstGeom>
        </p:spPr>
      </p:pic>
      <p:sp>
        <p:nvSpPr>
          <p:cNvPr id="17" name="Text 11"/>
          <p:cNvSpPr txBox="1"/>
          <p:nvPr/>
        </p:nvSpPr>
        <p:spPr>
          <a:xfrm>
            <a:off x="7018020" y="205740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Environment (top-right)</a:t>
            </a:r>
            <a:endParaRPr lang="en-US" sz="1500" dirty="0"/>
          </a:p>
        </p:txBody>
      </p:sp>
      <p:sp>
        <p:nvSpPr>
          <p:cNvPr id="18" name="Text 12"/>
          <p:cNvSpPr txBox="1"/>
          <p:nvPr/>
        </p:nvSpPr>
        <p:spPr>
          <a:xfrm>
            <a:off x="6423660" y="265176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Every object you have created — your data frames, numbers and models.</a:t>
            </a:r>
            <a:endParaRPr lang="en-US" sz="1250" dirty="0"/>
          </a:p>
        </p:txBody>
      </p:sp>
      <p:sp>
        <p:nvSpPr>
          <p:cNvPr id="19" name="Shape 13"/>
          <p:cNvSpPr/>
          <p:nvPr/>
        </p:nvSpPr>
        <p:spPr>
          <a:xfrm>
            <a:off x="640080" y="411480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0" name="Shape 14"/>
          <p:cNvSpPr/>
          <p:nvPr/>
        </p:nvSpPr>
        <p:spPr>
          <a:xfrm>
            <a:off x="868680" y="4315968"/>
            <a:ext cx="457200" cy="457200"/>
          </a:xfrm>
          <a:prstGeom prst="ellipse">
            <a:avLst/>
          </a:prstGeom>
          <a:solidFill>
            <a:srgbClr val="0B5E82"/>
          </a:solidFill>
          <a:ln w="12700">
            <a:solidFill>
              <a:srgbClr val="0B5E82"/>
            </a:solidFill>
            <a:prstDash val="solid"/>
          </a:ln>
        </p:spPr>
        <p:txBody>
          <a:bodyPr/>
          <a:p/>
        </p:txBody>
      </p:sp>
      <p:pic>
        <p:nvPicPr>
          <p:cNvPr id="21" name="Image 3" descr="preencoded.png">    </p:cNvPr>
          <p:cNvPicPr>
            <a:picLocks noChangeAspect="1"/>
          </p:cNvPicPr>
          <p:nvPr/>
        </p:nvPicPr>
        <p:blipFill>
          <a:blip r:embed="rId4"/>
          <a:stretch>
            <a:fillRect/>
          </a:stretch>
        </p:blipFill>
        <p:spPr>
          <a:xfrm>
            <a:off x="982980" y="4430268"/>
            <a:ext cx="228600" cy="228600"/>
          </a:xfrm>
          <a:prstGeom prst="rect">
            <a:avLst/>
          </a:prstGeom>
        </p:spPr>
      </p:pic>
      <p:sp>
        <p:nvSpPr>
          <p:cNvPr id="22" name="Text 15"/>
          <p:cNvSpPr txBox="1"/>
          <p:nvPr/>
        </p:nvSpPr>
        <p:spPr>
          <a:xfrm>
            <a:off x="1463040" y="429768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Console (bottom-left)</a:t>
            </a:r>
            <a:endParaRPr lang="en-US" sz="1500" dirty="0"/>
          </a:p>
        </p:txBody>
      </p:sp>
      <p:sp>
        <p:nvSpPr>
          <p:cNvPr id="23" name="Text 16"/>
          <p:cNvSpPr txBox="1"/>
          <p:nvPr/>
        </p:nvSpPr>
        <p:spPr>
          <a:xfrm>
            <a:off x="868680" y="489204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Where code actually runs and results print. Try typing 2 + 2.</a:t>
            </a:r>
            <a:endParaRPr lang="en-US" sz="1250" dirty="0"/>
          </a:p>
        </p:txBody>
      </p:sp>
      <p:sp>
        <p:nvSpPr>
          <p:cNvPr id="24" name="Shape 17"/>
          <p:cNvSpPr/>
          <p:nvPr/>
        </p:nvSpPr>
        <p:spPr>
          <a:xfrm>
            <a:off x="6195060" y="4114800"/>
            <a:ext cx="5326380" cy="2011680"/>
          </a:xfrm>
          <a:prstGeom prst="roundRect">
            <a:avLst>
              <a:gd name="adj" fmla="val 3636"/>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5" name="Shape 18"/>
          <p:cNvSpPr/>
          <p:nvPr/>
        </p:nvSpPr>
        <p:spPr>
          <a:xfrm>
            <a:off x="6423660" y="4315968"/>
            <a:ext cx="457200" cy="457200"/>
          </a:xfrm>
          <a:prstGeom prst="ellipse">
            <a:avLst/>
          </a:prstGeom>
          <a:solidFill>
            <a:srgbClr val="0B5E82"/>
          </a:solidFill>
          <a:ln w="12700">
            <a:solidFill>
              <a:srgbClr val="0B5E82"/>
            </a:solidFill>
            <a:prstDash val="solid"/>
          </a:ln>
        </p:spPr>
        <p:txBody>
          <a:bodyPr/>
          <a:p/>
        </p:txBody>
      </p:sp>
      <p:pic>
        <p:nvPicPr>
          <p:cNvPr id="26" name="Image 4" descr="preencoded.png">    </p:cNvPr>
          <p:cNvPicPr>
            <a:picLocks noChangeAspect="1"/>
          </p:cNvPicPr>
          <p:nvPr/>
        </p:nvPicPr>
        <p:blipFill>
          <a:blip r:embed="rId5"/>
          <a:stretch>
            <a:fillRect/>
          </a:stretch>
        </p:blipFill>
        <p:spPr>
          <a:xfrm>
            <a:off x="6537960" y="4430268"/>
            <a:ext cx="228600" cy="228600"/>
          </a:xfrm>
          <a:prstGeom prst="rect">
            <a:avLst/>
          </a:prstGeom>
        </p:spPr>
      </p:pic>
      <p:sp>
        <p:nvSpPr>
          <p:cNvPr id="27" name="Text 19"/>
          <p:cNvSpPr txBox="1"/>
          <p:nvPr/>
        </p:nvSpPr>
        <p:spPr>
          <a:xfrm>
            <a:off x="7018020" y="4297680"/>
            <a:ext cx="4366260" cy="502920"/>
          </a:xfrm>
          <a:prstGeom prst="rect">
            <a:avLst/>
          </a:prstGeom>
          <a:noFill/>
          <a:ln/>
        </p:spPr>
        <p:txBody>
          <a:bodyPr wrap="square" lIns="0" tIns="0" rIns="0" bIns="0" rtlCol="0" anchor="ctr"/>
          <a:lstStyle/>
          <a:p>
            <a:pPr indent="0" marL="0">
              <a:buNone/>
            </a:pPr>
            <a:r>
              <a:rPr lang="en-US" sz="1500" b="1" dirty="0">
                <a:solidFill>
                  <a:srgbClr val="141B4D"/>
                </a:solidFill>
                <a:latin typeface="Cambria" pitchFamily="34" charset="0"/>
                <a:ea typeface="Cambria" pitchFamily="34" charset="-122"/>
                <a:cs typeface="Cambria" pitchFamily="34" charset="-120"/>
              </a:rPr>
              <a:t>Files / Plots / Help (bottom-right)</a:t>
            </a:r>
            <a:endParaRPr lang="en-US" sz="1500" dirty="0"/>
          </a:p>
        </p:txBody>
      </p:sp>
      <p:sp>
        <p:nvSpPr>
          <p:cNvPr id="28" name="Text 20"/>
          <p:cNvSpPr txBox="1"/>
          <p:nvPr/>
        </p:nvSpPr>
        <p:spPr>
          <a:xfrm>
            <a:off x="6423660" y="4892040"/>
            <a:ext cx="4869180" cy="1097280"/>
          </a:xfrm>
          <a:prstGeom prst="rect">
            <a:avLst/>
          </a:prstGeom>
          <a:noFill/>
          <a:ln/>
        </p:spPr>
        <p:txBody>
          <a:bodyPr wrap="square" lIns="0" tIns="0" rIns="0" bIns="0" rtlCol="0" anchor="t"/>
          <a:lstStyle/>
          <a:p>
            <a:pPr algn="l" indent="0" marL="0">
              <a:buNone/>
            </a:pPr>
            <a:r>
              <a:rPr lang="en-US" sz="1250" dirty="0">
                <a:solidFill>
                  <a:srgbClr val="1A2233"/>
                </a:solidFill>
                <a:latin typeface="Calibri" pitchFamily="34" charset="0"/>
                <a:ea typeface="Calibri" pitchFamily="34" charset="-122"/>
                <a:cs typeface="Calibri" pitchFamily="34" charset="-120"/>
              </a:rPr>
              <a:t>Browse the project folder, see charts, and read documentation.</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THE COURSE PROJECT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How the Course Folder Is Organised</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Download it once from GitHub; every script expects this layout.</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32</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943100"/>
            <a:ext cx="640080" cy="64008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800100" y="2103120"/>
            <a:ext cx="320040" cy="320040"/>
          </a:xfrm>
          <a:prstGeom prst="rect">
            <a:avLst/>
          </a:prstGeom>
        </p:spPr>
      </p:pic>
      <p:sp>
        <p:nvSpPr>
          <p:cNvPr id="11" name="Text 6"/>
          <p:cNvSpPr txBox="1"/>
          <p:nvPr/>
        </p:nvSpPr>
        <p:spPr>
          <a:xfrm>
            <a:off x="1508760" y="1828800"/>
            <a:ext cx="2377440" cy="8686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tdbg-labs.Rproj</a:t>
            </a:r>
            <a:endParaRPr lang="en-US" sz="1600" dirty="0"/>
          </a:p>
        </p:txBody>
      </p:sp>
      <p:sp>
        <p:nvSpPr>
          <p:cNvPr id="12" name="Shape 7"/>
          <p:cNvSpPr/>
          <p:nvPr/>
        </p:nvSpPr>
        <p:spPr>
          <a:xfrm>
            <a:off x="3977640" y="1892808"/>
            <a:ext cx="7543800" cy="740664"/>
          </a:xfrm>
          <a:prstGeom prst="roundRect">
            <a:avLst>
              <a:gd name="adj" fmla="val 7407"/>
            </a:avLst>
          </a:prstGeom>
          <a:solidFill>
            <a:srgbClr val="F3F6F9"/>
          </a:solidFill>
          <a:ln w="9525">
            <a:solidFill>
              <a:srgbClr val="E1E7EE"/>
            </a:solidFill>
            <a:prstDash val="solid"/>
          </a:ln>
        </p:spPr>
        <p:txBody>
          <a:bodyPr/>
          <a:p/>
        </p:txBody>
      </p:sp>
      <p:sp>
        <p:nvSpPr>
          <p:cNvPr id="13" name="Text 8"/>
          <p:cNvSpPr txBox="1"/>
          <p:nvPr/>
        </p:nvSpPr>
        <p:spPr>
          <a:xfrm>
            <a:off x="4251960" y="1892808"/>
            <a:ext cx="7086600" cy="7406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Double-click to open the project in RStudio. All file paths start from here.</a:t>
            </a:r>
            <a:endParaRPr lang="en-US" sz="1350" dirty="0"/>
          </a:p>
        </p:txBody>
      </p:sp>
      <p:sp>
        <p:nvSpPr>
          <p:cNvPr id="14" name="Shape 9"/>
          <p:cNvSpPr/>
          <p:nvPr/>
        </p:nvSpPr>
        <p:spPr>
          <a:xfrm>
            <a:off x="640080" y="2811780"/>
            <a:ext cx="640080" cy="640080"/>
          </a:xfrm>
          <a:prstGeom prst="ellipse">
            <a:avLst/>
          </a:prstGeom>
          <a:solidFill>
            <a:srgbClr val="0B5E82"/>
          </a:solidFill>
          <a:ln w="12700">
            <a:solidFill>
              <a:srgbClr val="0B5E82"/>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00100" y="2971800"/>
            <a:ext cx="320040" cy="320040"/>
          </a:xfrm>
          <a:prstGeom prst="rect">
            <a:avLst/>
          </a:prstGeom>
        </p:spPr>
      </p:pic>
      <p:sp>
        <p:nvSpPr>
          <p:cNvPr id="16" name="Text 10"/>
          <p:cNvSpPr txBox="1"/>
          <p:nvPr/>
        </p:nvSpPr>
        <p:spPr>
          <a:xfrm>
            <a:off x="1508760" y="2697480"/>
            <a:ext cx="2377440" cy="8686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data/</a:t>
            </a:r>
            <a:endParaRPr lang="en-US" sz="1600" dirty="0"/>
          </a:p>
        </p:txBody>
      </p:sp>
      <p:sp>
        <p:nvSpPr>
          <p:cNvPr id="17" name="Shape 11"/>
          <p:cNvSpPr/>
          <p:nvPr/>
        </p:nvSpPr>
        <p:spPr>
          <a:xfrm>
            <a:off x="3977640" y="2761488"/>
            <a:ext cx="7543800" cy="740664"/>
          </a:xfrm>
          <a:prstGeom prst="roundRect">
            <a:avLst>
              <a:gd name="adj" fmla="val 7407"/>
            </a:avLst>
          </a:prstGeom>
          <a:solidFill>
            <a:srgbClr val="F3F6F9"/>
          </a:solidFill>
          <a:ln w="9525">
            <a:solidFill>
              <a:srgbClr val="E1E7EE"/>
            </a:solidFill>
            <a:prstDash val="solid"/>
          </a:ln>
        </p:spPr>
        <p:txBody>
          <a:bodyPr/>
          <a:p/>
        </p:txBody>
      </p:sp>
      <p:sp>
        <p:nvSpPr>
          <p:cNvPr id="18" name="Text 12"/>
          <p:cNvSpPr txBox="1"/>
          <p:nvPr/>
        </p:nvSpPr>
        <p:spPr>
          <a:xfrm>
            <a:off x="4251960" y="2761488"/>
            <a:ext cx="7086600" cy="7406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Every course dataset as a CSV — the same files for R and Python, so both give identical answers.</a:t>
            </a:r>
            <a:endParaRPr lang="en-US" sz="1350" dirty="0"/>
          </a:p>
        </p:txBody>
      </p:sp>
      <p:sp>
        <p:nvSpPr>
          <p:cNvPr id="19" name="Shape 13"/>
          <p:cNvSpPr/>
          <p:nvPr/>
        </p:nvSpPr>
        <p:spPr>
          <a:xfrm>
            <a:off x="640080" y="3680460"/>
            <a:ext cx="640080" cy="640080"/>
          </a:xfrm>
          <a:prstGeom prst="ellipse">
            <a:avLst/>
          </a:prstGeom>
          <a:solidFill>
            <a:srgbClr val="0B5E82"/>
          </a:solidFill>
          <a:ln w="12700">
            <a:solidFill>
              <a:srgbClr val="0B5E82"/>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800100" y="3840480"/>
            <a:ext cx="320040" cy="320040"/>
          </a:xfrm>
          <a:prstGeom prst="rect">
            <a:avLst/>
          </a:prstGeom>
        </p:spPr>
      </p:pic>
      <p:sp>
        <p:nvSpPr>
          <p:cNvPr id="21" name="Text 14"/>
          <p:cNvSpPr txBox="1"/>
          <p:nvPr/>
        </p:nvSpPr>
        <p:spPr>
          <a:xfrm>
            <a:off x="1508760" y="3566160"/>
            <a:ext cx="2377440" cy="8686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sessions/2-1 … s22</a:t>
            </a:r>
            <a:endParaRPr lang="en-US" sz="1600" dirty="0"/>
          </a:p>
        </p:txBody>
      </p:sp>
      <p:sp>
        <p:nvSpPr>
          <p:cNvPr id="22" name="Shape 15"/>
          <p:cNvSpPr/>
          <p:nvPr/>
        </p:nvSpPr>
        <p:spPr>
          <a:xfrm>
            <a:off x="3977640" y="3630168"/>
            <a:ext cx="7543800" cy="740664"/>
          </a:xfrm>
          <a:prstGeom prst="roundRect">
            <a:avLst>
              <a:gd name="adj" fmla="val 7407"/>
            </a:avLst>
          </a:prstGeom>
          <a:solidFill>
            <a:srgbClr val="F3F6F9"/>
          </a:solidFill>
          <a:ln w="9525">
            <a:solidFill>
              <a:srgbClr val="E1E7EE"/>
            </a:solidFill>
            <a:prstDash val="solid"/>
          </a:ln>
        </p:spPr>
        <p:txBody>
          <a:bodyPr/>
          <a:p/>
        </p:txBody>
      </p:sp>
      <p:sp>
        <p:nvSpPr>
          <p:cNvPr id="23" name="Text 16"/>
          <p:cNvSpPr txBox="1"/>
          <p:nvPr/>
        </p:nvSpPr>
        <p:spPr>
          <a:xfrm>
            <a:off x="4251960" y="3630168"/>
            <a:ext cx="7086600" cy="7406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Per session: </a:t>
            </a:r>
            <a:r>
              <a:rPr lang="en-US" sz="1350" b="1" dirty="0">
                <a:solidFill>
                  <a:srgbClr val="1A2233"/>
                </a:solidFill>
                <a:latin typeface="Calibri" pitchFamily="34" charset="0"/>
                <a:ea typeface="Calibri" pitchFamily="34" charset="-122"/>
                <a:cs typeface="Calibri" pitchFamily="34" charset="-120"/>
              </a:rPr>
              <a:t>slides/</a:t>
            </a:r>
            <a:r>
              <a:rPr lang="en-US" sz="1350" dirty="0">
                <a:solidFill>
                  <a:srgbClr val="1A2233"/>
                </a:solidFill>
                <a:latin typeface="Calibri" pitchFamily="34" charset="0"/>
                <a:ea typeface="Calibri" pitchFamily="34" charset="-122"/>
                <a:cs typeface="Calibri" pitchFamily="34" charset="-120"/>
              </a:rPr>
              <a:t> (this deck), </a:t>
            </a:r>
            <a:r>
              <a:rPr lang="en-US" sz="1350" b="1" dirty="0">
                <a:solidFill>
                  <a:srgbClr val="1A2233"/>
                </a:solidFill>
                <a:latin typeface="Calibri" pitchFamily="34" charset="0"/>
                <a:ea typeface="Calibri" pitchFamily="34" charset="-122"/>
                <a:cs typeface="Calibri" pitchFamily="34" charset="-120"/>
              </a:rPr>
              <a:t>R/</a:t>
            </a:r>
            <a:r>
              <a:rPr lang="en-US" sz="1350" dirty="0">
                <a:solidFill>
                  <a:srgbClr val="1A2233"/>
                </a:solidFill>
                <a:latin typeface="Calibri" pitchFamily="34" charset="0"/>
                <a:ea typeface="Calibri" pitchFamily="34" charset="-122"/>
                <a:cs typeface="Calibri" pitchFamily="34" charset="-120"/>
              </a:rPr>
              <a:t> and </a:t>
            </a:r>
            <a:r>
              <a:rPr lang="en-US" sz="1350" b="1" dirty="0">
                <a:solidFill>
                  <a:srgbClr val="1A2233"/>
                </a:solidFill>
                <a:latin typeface="Calibri" pitchFamily="34" charset="0"/>
                <a:ea typeface="Calibri" pitchFamily="34" charset="-122"/>
                <a:cs typeface="Calibri" pitchFamily="34" charset="-120"/>
              </a:rPr>
              <a:t>python/</a:t>
            </a:r>
            <a:r>
              <a:rPr lang="en-US" sz="1350" dirty="0">
                <a:solidFill>
                  <a:srgbClr val="1A2233"/>
                </a:solidFill>
                <a:latin typeface="Calibri" pitchFamily="34" charset="0"/>
                <a:ea typeface="Calibri" pitchFamily="34" charset="-122"/>
                <a:cs typeface="Calibri" pitchFamily="34" charset="-120"/>
              </a:rPr>
              <a:t> scripts, and </a:t>
            </a:r>
            <a:r>
              <a:rPr lang="en-US" sz="1350" b="1" dirty="0">
                <a:solidFill>
                  <a:srgbClr val="1A2233"/>
                </a:solidFill>
                <a:latin typeface="Calibri" pitchFamily="34" charset="0"/>
                <a:ea typeface="Calibri" pitchFamily="34" charset="-122"/>
                <a:cs typeface="Calibri" pitchFamily="34" charset="-120"/>
              </a:rPr>
              <a:t>figures/</a:t>
            </a:r>
            <a:r>
              <a:rPr lang="en-US" sz="1350" dirty="0">
                <a:solidFill>
                  <a:srgbClr val="1A2233"/>
                </a:solidFill>
                <a:latin typeface="Calibri" pitchFamily="34" charset="0"/>
                <a:ea typeface="Calibri" pitchFamily="34" charset="-122"/>
                <a:cs typeface="Calibri" pitchFamily="34" charset="-120"/>
              </a:rPr>
              <a:t> they produce.</a:t>
            </a:r>
            <a:endParaRPr lang="en-US" sz="1350" dirty="0"/>
          </a:p>
        </p:txBody>
      </p:sp>
      <p:sp>
        <p:nvSpPr>
          <p:cNvPr id="24" name="Shape 17"/>
          <p:cNvSpPr/>
          <p:nvPr/>
        </p:nvSpPr>
        <p:spPr>
          <a:xfrm>
            <a:off x="640080" y="4549140"/>
            <a:ext cx="640080" cy="640080"/>
          </a:xfrm>
          <a:prstGeom prst="ellipse">
            <a:avLst/>
          </a:prstGeom>
          <a:solidFill>
            <a:srgbClr val="0B5E82"/>
          </a:solidFill>
          <a:ln w="12700">
            <a:solidFill>
              <a:srgbClr val="0B5E82"/>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800100" y="4709160"/>
            <a:ext cx="320040" cy="320040"/>
          </a:xfrm>
          <a:prstGeom prst="rect">
            <a:avLst/>
          </a:prstGeom>
        </p:spPr>
      </p:pic>
      <p:sp>
        <p:nvSpPr>
          <p:cNvPr id="26" name="Text 18"/>
          <p:cNvSpPr txBox="1"/>
          <p:nvPr/>
        </p:nvSpPr>
        <p:spPr>
          <a:xfrm>
            <a:off x="1508760" y="4434840"/>
            <a:ext cx="2377440" cy="8686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R/ and python/</a:t>
            </a:r>
            <a:endParaRPr lang="en-US" sz="1600" dirty="0"/>
          </a:p>
        </p:txBody>
      </p:sp>
      <p:sp>
        <p:nvSpPr>
          <p:cNvPr id="27" name="Shape 19"/>
          <p:cNvSpPr/>
          <p:nvPr/>
        </p:nvSpPr>
        <p:spPr>
          <a:xfrm>
            <a:off x="3977640" y="4498848"/>
            <a:ext cx="7543800" cy="740664"/>
          </a:xfrm>
          <a:prstGeom prst="roundRect">
            <a:avLst>
              <a:gd name="adj" fmla="val 7407"/>
            </a:avLst>
          </a:prstGeom>
          <a:solidFill>
            <a:srgbClr val="F3F6F9"/>
          </a:solidFill>
          <a:ln w="9525">
            <a:solidFill>
              <a:srgbClr val="E1E7EE"/>
            </a:solidFill>
            <a:prstDash val="solid"/>
          </a:ln>
        </p:spPr>
        <p:txBody>
          <a:bodyPr/>
          <a:p/>
        </p:txBody>
      </p:sp>
      <p:sp>
        <p:nvSpPr>
          <p:cNvPr id="28" name="Text 20"/>
          <p:cNvSpPr txBox="1"/>
          <p:nvPr/>
        </p:nvSpPr>
        <p:spPr>
          <a:xfrm>
            <a:off x="4251960" y="4498848"/>
            <a:ext cx="7086600" cy="7406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Shared chart style so every figure matches the slides: theme_tdbg.R and tdbg_style.py.</a:t>
            </a:r>
            <a:endParaRPr lang="en-US" sz="1350" dirty="0"/>
          </a:p>
        </p:txBody>
      </p:sp>
      <p:sp>
        <p:nvSpPr>
          <p:cNvPr id="29" name="Shape 21"/>
          <p:cNvSpPr/>
          <p:nvPr/>
        </p:nvSpPr>
        <p:spPr>
          <a:xfrm>
            <a:off x="640080" y="5417820"/>
            <a:ext cx="640080" cy="640080"/>
          </a:xfrm>
          <a:prstGeom prst="ellipse">
            <a:avLst/>
          </a:prstGeom>
          <a:solidFill>
            <a:srgbClr val="D99A2B"/>
          </a:solidFill>
          <a:ln w="12700">
            <a:solidFill>
              <a:srgbClr val="D99A2B"/>
            </a:solidFill>
            <a:prstDash val="solid"/>
          </a:ln>
        </p:spPr>
        <p:txBody>
          <a:bodyPr/>
          <a:p/>
        </p:txBody>
      </p:sp>
      <p:pic>
        <p:nvPicPr>
          <p:cNvPr id="30" name="Image 5" descr="preencoded.png">    </p:cNvPr>
          <p:cNvPicPr>
            <a:picLocks noChangeAspect="1"/>
          </p:cNvPicPr>
          <p:nvPr/>
        </p:nvPicPr>
        <p:blipFill>
          <a:blip r:embed="rId6"/>
          <a:stretch>
            <a:fillRect/>
          </a:stretch>
        </p:blipFill>
        <p:spPr>
          <a:xfrm>
            <a:off x="800100" y="5577840"/>
            <a:ext cx="320040" cy="320040"/>
          </a:xfrm>
          <a:prstGeom prst="rect">
            <a:avLst/>
          </a:prstGeom>
        </p:spPr>
      </p:pic>
      <p:sp>
        <p:nvSpPr>
          <p:cNvPr id="31" name="Text 22"/>
          <p:cNvSpPr txBox="1"/>
          <p:nvPr/>
        </p:nvSpPr>
        <p:spPr>
          <a:xfrm>
            <a:off x="1508760" y="5303520"/>
            <a:ext cx="2377440" cy="868680"/>
          </a:xfrm>
          <a:prstGeom prst="rect">
            <a:avLst/>
          </a:prstGeom>
          <a:noFill/>
          <a:ln/>
        </p:spPr>
        <p:txBody>
          <a:bodyPr wrap="square" lIns="0" tIns="0" rIns="0" bIns="0" rtlCol="0" anchor="ctr"/>
          <a:lstStyle/>
          <a:p>
            <a:pPr indent="0" marL="0">
              <a:buNone/>
            </a:pPr>
            <a:r>
              <a:rPr lang="en-US" sz="1600" b="1" dirty="0">
                <a:solidFill>
                  <a:srgbClr val="141B4D"/>
                </a:solidFill>
                <a:latin typeface="Cambria" pitchFamily="34" charset="0"/>
                <a:ea typeface="Cambria" pitchFamily="34" charset="-122"/>
                <a:cs typeface="Cambria" pitchFamily="34" charset="-120"/>
              </a:rPr>
              <a:t>Course website</a:t>
            </a:r>
            <a:endParaRPr lang="en-US" sz="1600" dirty="0"/>
          </a:p>
        </p:txBody>
      </p:sp>
      <p:sp>
        <p:nvSpPr>
          <p:cNvPr id="32" name="Shape 23"/>
          <p:cNvSpPr/>
          <p:nvPr/>
        </p:nvSpPr>
        <p:spPr>
          <a:xfrm>
            <a:off x="3977640" y="5367528"/>
            <a:ext cx="7543800" cy="740664"/>
          </a:xfrm>
          <a:prstGeom prst="roundRect">
            <a:avLst>
              <a:gd name="adj" fmla="val 7407"/>
            </a:avLst>
          </a:prstGeom>
          <a:solidFill>
            <a:srgbClr val="F3F6F9"/>
          </a:solidFill>
          <a:ln w="9525">
            <a:solidFill>
              <a:srgbClr val="E1E7EE"/>
            </a:solidFill>
            <a:prstDash val="solid"/>
          </a:ln>
        </p:spPr>
        <p:txBody>
          <a:bodyPr/>
          <a:p/>
        </p:txBody>
      </p:sp>
      <p:sp>
        <p:nvSpPr>
          <p:cNvPr id="33" name="Text 24"/>
          <p:cNvSpPr txBox="1"/>
          <p:nvPr/>
        </p:nvSpPr>
        <p:spPr>
          <a:xfrm>
            <a:off x="4251960" y="5367528"/>
            <a:ext cx="7086600" cy="740664"/>
          </a:xfrm>
          <a:prstGeom prst="rect">
            <a:avLst/>
          </a:prstGeom>
          <a:noFill/>
          <a:ln/>
        </p:spPr>
        <p:txBody>
          <a:bodyPr wrap="square" lIns="0" tIns="0" rIns="0" bIns="0" rtlCol="0" anchor="ctr"/>
          <a:lstStyle/>
          <a:p>
            <a:pPr indent="0" marL="0">
              <a:buNone/>
            </a:pPr>
            <a:r>
              <a:rPr lang="en-US" sz="1350" dirty="0">
                <a:solidFill>
                  <a:srgbClr val="1A2233"/>
                </a:solidFill>
                <a:latin typeface="Calibri" pitchFamily="34" charset="0"/>
                <a:ea typeface="Calibri" pitchFamily="34" charset="-122"/>
                <a:cs typeface="Calibri" pitchFamily="34" charset="-120"/>
              </a:rPr>
              <a:t>the TDBG course website — sessions, downloads, code in R and Python tabs.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YOUR FIRST SCRIPT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Load and Inspect a Dataset — in Both Languages</a:t>
            </a:r>
            <a:endParaRPr lang="en-US" sz="2800" dirty="0"/>
          </a:p>
        </p:txBody>
      </p:sp>
      <p:sp>
        <p:nvSpPr>
          <p:cNvPr id="4" name="Text 2"/>
          <p:cNvSpPr txBox="1"/>
          <p:nvPr/>
        </p:nvSpPr>
        <p:spPr>
          <a:xfrm>
            <a:off x="640080" y="1316736"/>
            <a:ext cx="10607040" cy="320040"/>
          </a:xfrm>
          <a:prstGeom prst="rect">
            <a:avLst/>
          </a:prstGeom>
          <a:noFill/>
          <a:ln/>
        </p:spPr>
        <p:txBody>
          <a:bodyPr wrap="square" lIns="0" tIns="0" rIns="0" bIns="0" rtlCol="0" anchor="t"/>
          <a:lstStyle/>
          <a:p>
            <a:pPr indent="0" marL="0">
              <a:buNone/>
            </a:pPr>
            <a:r>
              <a:rPr lang="en-US" sz="1300" i="1" dirty="0">
                <a:solidFill>
                  <a:srgbClr val="5C6B7A"/>
                </a:solidFill>
                <a:latin typeface="Calibri" pitchFamily="34" charset="0"/>
                <a:ea typeface="Calibri" pitchFamily="34" charset="-122"/>
                <a:cs typeface="Calibri" pitchFamily="34" charset="-120"/>
              </a:rPr>
              <a:t>Same four moves, two spellings.</a:t>
            </a:r>
            <a:endParaRPr lang="en-US" sz="1300" dirty="0"/>
          </a:p>
        </p:txBody>
      </p:sp>
      <p:sp>
        <p:nvSpPr>
          <p:cNvPr id="5" name="Text 3"/>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6" name="Text 4"/>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33</a:t>
            </a:r>
            <a:endParaRPr lang="en-US" sz="800" dirty="0"/>
          </a:p>
        </p:txBody>
      </p:sp>
      <p:pic>
        <p:nvPicPr>
          <p:cNvPr id="7"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9" name="Shape 5"/>
          <p:cNvSpPr/>
          <p:nvPr/>
        </p:nvSpPr>
        <p:spPr>
          <a:xfrm>
            <a:off x="640080" y="1874520"/>
            <a:ext cx="5349240" cy="3566160"/>
          </a:xfrm>
          <a:prstGeom prst="roundRect">
            <a:avLst>
              <a:gd name="adj" fmla="val 1538"/>
            </a:avLst>
          </a:prstGeom>
          <a:solidFill>
            <a:srgbClr val="0F1535"/>
          </a:solidFill>
          <a:ln w="12700">
            <a:solidFill>
              <a:srgbClr val="0F1535"/>
            </a:solidFill>
            <a:prstDash val="solid"/>
          </a:ln>
        </p:spPr>
        <p:txBody>
          <a:bodyPr/>
          <a:p/>
        </p:txBody>
      </p:sp>
      <p:sp>
        <p:nvSpPr>
          <p:cNvPr id="10" name="Shape 6"/>
          <p:cNvSpPr/>
          <p:nvPr/>
        </p:nvSpPr>
        <p:spPr>
          <a:xfrm>
            <a:off x="822960" y="2011680"/>
            <a:ext cx="1005840" cy="292608"/>
          </a:xfrm>
          <a:prstGeom prst="roundRect">
            <a:avLst>
              <a:gd name="adj" fmla="val 15625"/>
            </a:avLst>
          </a:prstGeom>
          <a:solidFill>
            <a:srgbClr val="0B5E82"/>
          </a:solidFill>
          <a:ln w="12700">
            <a:solidFill>
              <a:srgbClr val="0B5E82"/>
            </a:solidFill>
            <a:prstDash val="solid"/>
          </a:ln>
        </p:spPr>
        <p:txBody>
          <a:bodyPr/>
          <a:p/>
        </p:txBody>
      </p:sp>
      <p:sp>
        <p:nvSpPr>
          <p:cNvPr id="11" name="Text 7"/>
          <p:cNvSpPr txBox="1"/>
          <p:nvPr/>
        </p:nvSpPr>
        <p:spPr>
          <a:xfrm>
            <a:off x="822960" y="2011680"/>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
            </a:r>
            <a:endParaRPr lang="en-US" sz="1100" dirty="0"/>
          </a:p>
        </p:txBody>
      </p:sp>
      <p:sp>
        <p:nvSpPr>
          <p:cNvPr id="12" name="Text 8"/>
          <p:cNvSpPr txBox="1"/>
          <p:nvPr/>
        </p:nvSpPr>
        <p:spPr>
          <a:xfrm>
            <a:off x="868680" y="2423160"/>
            <a:ext cx="4937760" cy="2926080"/>
          </a:xfrm>
          <a:prstGeom prst="rect">
            <a:avLst/>
          </a:prstGeom>
          <a:noFill/>
          <a:ln/>
        </p:spPr>
        <p:txBody>
          <a:bodyPr wrap="square" lIns="0" tIns="0" rIns="0" bIns="0" rtlCol="0" anchor="t"/>
          <a:lstStyle/>
          <a:p>
            <a:pPr indent="0" marL="0">
              <a:buNone/>
            </a:pPr>
            <a:r>
              <a:rPr lang="en-US" sz="1250" dirty="0">
                <a:solidFill>
                  <a:srgbClr val="E6EDF5"/>
                </a:solidFill>
                <a:latin typeface="Courier New" pitchFamily="34" charset="0"/>
                <a:ea typeface="Courier New" pitchFamily="34" charset="-122"/>
                <a:cs typeface="Courier New" pitchFamily="34" charset="-120"/>
              </a:rPr>
              <a:t>library(readr); library(dplyr)</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1. load</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 &lt;- read_csv("data/retail_transactions.csv")</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2. look</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dim(tx)          # rows, columns</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glimpse(tx)      # column types</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3. check quality</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colSums(is.na(tx))</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sum(duplicated(tx$txn_id))</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4. summarise</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summary(tx$basket_naira)</a:t>
            </a:r>
            <a:endParaRPr lang="en-US" sz="1250" dirty="0"/>
          </a:p>
        </p:txBody>
      </p:sp>
      <p:sp>
        <p:nvSpPr>
          <p:cNvPr id="13" name="Shape 9"/>
          <p:cNvSpPr/>
          <p:nvPr/>
        </p:nvSpPr>
        <p:spPr>
          <a:xfrm>
            <a:off x="6172200" y="1874520"/>
            <a:ext cx="5349240" cy="3566160"/>
          </a:xfrm>
          <a:prstGeom prst="roundRect">
            <a:avLst>
              <a:gd name="adj" fmla="val 1538"/>
            </a:avLst>
          </a:prstGeom>
          <a:solidFill>
            <a:srgbClr val="0F1535"/>
          </a:solidFill>
          <a:ln w="12700">
            <a:solidFill>
              <a:srgbClr val="0F1535"/>
            </a:solidFill>
            <a:prstDash val="solid"/>
          </a:ln>
        </p:spPr>
        <p:txBody>
          <a:bodyPr/>
          <a:p/>
        </p:txBody>
      </p:sp>
      <p:sp>
        <p:nvSpPr>
          <p:cNvPr id="14" name="Shape 10"/>
          <p:cNvSpPr/>
          <p:nvPr/>
        </p:nvSpPr>
        <p:spPr>
          <a:xfrm>
            <a:off x="6355080" y="2011680"/>
            <a:ext cx="1005840" cy="292608"/>
          </a:xfrm>
          <a:prstGeom prst="roundRect">
            <a:avLst>
              <a:gd name="adj" fmla="val 15625"/>
            </a:avLst>
          </a:prstGeom>
          <a:solidFill>
            <a:srgbClr val="D99A2B"/>
          </a:solidFill>
          <a:ln w="12700">
            <a:solidFill>
              <a:srgbClr val="D99A2B"/>
            </a:solidFill>
            <a:prstDash val="solid"/>
          </a:ln>
        </p:spPr>
        <p:txBody>
          <a:bodyPr/>
          <a:p/>
        </p:txBody>
      </p:sp>
      <p:sp>
        <p:nvSpPr>
          <p:cNvPr id="15" name="Text 11"/>
          <p:cNvSpPr txBox="1"/>
          <p:nvPr/>
        </p:nvSpPr>
        <p:spPr>
          <a:xfrm>
            <a:off x="6355080" y="2011680"/>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Python</a:t>
            </a:r>
            <a:endParaRPr lang="en-US" sz="1100" dirty="0"/>
          </a:p>
        </p:txBody>
      </p:sp>
      <p:sp>
        <p:nvSpPr>
          <p:cNvPr id="16" name="Text 12"/>
          <p:cNvSpPr txBox="1"/>
          <p:nvPr/>
        </p:nvSpPr>
        <p:spPr>
          <a:xfrm>
            <a:off x="6400800" y="2423160"/>
            <a:ext cx="4937760" cy="2926080"/>
          </a:xfrm>
          <a:prstGeom prst="rect">
            <a:avLst/>
          </a:prstGeom>
          <a:noFill/>
          <a:ln/>
        </p:spPr>
        <p:txBody>
          <a:bodyPr wrap="square" lIns="0" tIns="0" rIns="0" bIns="0" rtlCol="0" anchor="t"/>
          <a:lstStyle/>
          <a:p>
            <a:pPr indent="0" marL="0">
              <a:buNone/>
            </a:pPr>
            <a:r>
              <a:rPr lang="en-US" sz="1250" dirty="0">
                <a:solidFill>
                  <a:srgbClr val="E6EDF5"/>
                </a:solidFill>
                <a:latin typeface="Courier New" pitchFamily="34" charset="0"/>
                <a:ea typeface="Courier New" pitchFamily="34" charset="-122"/>
                <a:cs typeface="Courier New" pitchFamily="34" charset="-120"/>
              </a:rPr>
              <a:t>import pandas as pd</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1. load</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 = pd.read_csv("data/retail_transactions.csv")</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2. look</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tx.shape          # (rows, columns)</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tx.info()         # column types</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3. check quality</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tx.isna().sum()</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tx["txn_id"].duplicated().sum()</a:t>
            </a:r>
            <a:endParaRPr lang="en-US" sz="1250" dirty="0"/>
          </a:p>
          <a:p>
            <a:pPr indent="0" marL="0">
              <a:buNone/>
            </a:pP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 4. summarise</a:t>
            </a:r>
            <a:endParaRPr lang="en-US" sz="1250" dirty="0"/>
          </a:p>
          <a:p>
            <a:pPr indent="0" marL="0">
              <a:buNone/>
            </a:pPr>
            <a:r>
              <a:rPr lang="en-US" sz="1250" dirty="0">
                <a:solidFill>
                  <a:srgbClr val="E6EDF5"/>
                </a:solidFill>
                <a:latin typeface="Courier New" pitchFamily="34" charset="0"/>
                <a:ea typeface="Courier New" pitchFamily="34" charset="-122"/>
                <a:cs typeface="Courier New" pitchFamily="34" charset="-120"/>
              </a:rPr>
              <a:t>tx["basket_naira"].describe()</a:t>
            </a:r>
            <a:endParaRPr lang="en-US" sz="1250" dirty="0"/>
          </a:p>
        </p:txBody>
      </p:sp>
      <p:sp>
        <p:nvSpPr>
          <p:cNvPr id="17" name="Shape 13"/>
          <p:cNvSpPr/>
          <p:nvPr/>
        </p:nvSpPr>
        <p:spPr>
          <a:xfrm>
            <a:off x="640080" y="5623560"/>
            <a:ext cx="10881360" cy="548640"/>
          </a:xfrm>
          <a:prstGeom prst="roundRect">
            <a:avLst>
              <a:gd name="adj" fmla="val 10000"/>
            </a:avLst>
          </a:prstGeom>
          <a:solidFill>
            <a:srgbClr val="F3F6F9"/>
          </a:solidFill>
          <a:ln w="9525">
            <a:solidFill>
              <a:srgbClr val="E1E7EE"/>
            </a:solidFill>
            <a:prstDash val="solid"/>
          </a:ln>
        </p:spPr>
        <p:txBody>
          <a:bodyPr/>
          <a:p/>
        </p:txBody>
      </p:sp>
      <p:sp>
        <p:nvSpPr>
          <p:cNvPr id="18" name="Text 14"/>
          <p:cNvSpPr txBox="1"/>
          <p:nvPr/>
        </p:nvSpPr>
        <p:spPr>
          <a:xfrm>
            <a:off x="868680" y="5623560"/>
            <a:ext cx="10424160" cy="548640"/>
          </a:xfrm>
          <a:prstGeom prst="rect">
            <a:avLst/>
          </a:prstGeom>
          <a:noFill/>
          <a:ln/>
        </p:spPr>
        <p:txBody>
          <a:bodyPr wrap="square" lIns="0" tIns="0" rIns="0" bIns="0" rtlCol="0" anchor="ctr"/>
          <a:lstStyle/>
          <a:p>
            <a:pPr indent="0" marL="0">
              <a:buNone/>
            </a:pPr>
            <a:r>
              <a:rPr lang="en-US" sz="1300" i="1" dirty="0">
                <a:solidFill>
                  <a:srgbClr val="141B4D"/>
                </a:solidFill>
                <a:latin typeface="Calibri" pitchFamily="34" charset="0"/>
                <a:ea typeface="Calibri" pitchFamily="34" charset="-122"/>
                <a:cs typeface="Calibri" pitchFamily="34" charset="-120"/>
              </a:rPr>
              <a:t>Full, commented versions: sessions/2-1/R/tdbg_2_1_lab.R and sessions/2-1/python/tdbg_2_1_lab.py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HOW TO READ THIS OUTPUT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Reading Your First Summary</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34</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6035040" cy="4480560"/>
          </a:xfrm>
          <a:prstGeom prst="roundRect">
            <a:avLst>
              <a:gd name="adj" fmla="val 1224"/>
            </a:avLst>
          </a:prstGeom>
          <a:solidFill>
            <a:srgbClr val="0F1535"/>
          </a:solidFill>
          <a:ln w="12700">
            <a:solidFill>
              <a:srgbClr val="0F1535"/>
            </a:solidFill>
            <a:prstDash val="solid"/>
          </a:ln>
        </p:spPr>
        <p:txBody>
          <a:bodyPr/>
          <a:p/>
        </p:txBody>
      </p:sp>
      <p:sp>
        <p:nvSpPr>
          <p:cNvPr id="9" name="Text 5"/>
          <p:cNvSpPr txBox="1"/>
          <p:nvPr/>
        </p:nvSpPr>
        <p:spPr>
          <a:xfrm>
            <a:off x="868680" y="1828800"/>
            <a:ext cx="2743200" cy="274320"/>
          </a:xfrm>
          <a:prstGeom prst="rect">
            <a:avLst/>
          </a:prstGeom>
          <a:noFill/>
          <a:ln/>
        </p:spPr>
        <p:txBody>
          <a:bodyPr wrap="square" lIns="0" tIns="0" rIns="0" bIns="0" rtlCol="0" anchor="t"/>
          <a:lstStyle/>
          <a:p>
            <a:pPr indent="0" marL="0">
              <a:buNone/>
            </a:pPr>
            <a:r>
              <a:rPr lang="en-US" sz="1050" b="1" spc="300" kern="0" dirty="0">
                <a:solidFill>
                  <a:srgbClr val="D99A2B"/>
                </a:solidFill>
                <a:latin typeface="Calibri" pitchFamily="34" charset="0"/>
                <a:ea typeface="Calibri" pitchFamily="34" charset="-122"/>
                <a:cs typeface="Calibri" pitchFamily="34" charset="-120"/>
              </a:rPr>
              <a:t>R OUTPUT</a:t>
            </a:r>
            <a:endParaRPr lang="en-US" sz="1050" dirty="0"/>
          </a:p>
        </p:txBody>
      </p:sp>
      <p:sp>
        <p:nvSpPr>
          <p:cNvPr id="10" name="Text 6"/>
          <p:cNvSpPr txBox="1"/>
          <p:nvPr/>
        </p:nvSpPr>
        <p:spPr>
          <a:xfrm>
            <a:off x="868680" y="2148840"/>
            <a:ext cx="5623560" cy="3931920"/>
          </a:xfrm>
          <a:prstGeom prst="rect">
            <a:avLst/>
          </a:prstGeom>
          <a:noFill/>
          <a:ln/>
        </p:spPr>
        <p:txBody>
          <a:bodyPr wrap="square" lIns="0" tIns="0" rIns="0" bIns="0" rtlCol="0" anchor="t"/>
          <a:lstStyle/>
          <a:p>
            <a:pPr indent="0" marL="0">
              <a:buNone/>
            </a:pPr>
            <a:r>
              <a:rPr lang="en-US" sz="1100" dirty="0">
                <a:solidFill>
                  <a:srgbClr val="E6EDF5"/>
                </a:solidFill>
                <a:latin typeface="Courier New" pitchFamily="34" charset="0"/>
                <a:ea typeface="Courier New" pitchFamily="34" charset="-122"/>
                <a:cs typeface="Courier New" pitchFamily="34" charset="-120"/>
              </a:rPr>
              <a:t>&gt; summary(tx$basket_naira)</a:t>
            </a: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   Min. 1st Qu.  Median    Mean 3rd Qu.    Max.</a:t>
            </a: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    730    5088    7840   10760   12410  132060</a:t>
            </a:r>
            <a:endParaRPr lang="en-US" sz="1100" dirty="0"/>
          </a:p>
          <a:p>
            <a:pPr indent="0" marL="0">
              <a:buNone/>
            </a:pP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&gt; colSums(is.na(tx))</a:t>
            </a: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txn_id date hour store region category</a:t>
            </a: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     0    0    0     0      0        0</a:t>
            </a: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items basket_naira payment_method loyalty_member</a:t>
            </a:r>
            <a:endParaRPr lang="en-US" sz="1100" dirty="0"/>
          </a:p>
          <a:p>
            <a:pPr indent="0" marL="0">
              <a:buNone/>
            </a:pPr>
            <a:r>
              <a:rPr lang="en-US" sz="1100" dirty="0">
                <a:solidFill>
                  <a:srgbClr val="E6EDF5"/>
                </a:solidFill>
                <a:latin typeface="Courier New" pitchFamily="34" charset="0"/>
                <a:ea typeface="Courier New" pitchFamily="34" charset="-122"/>
                <a:cs typeface="Courier New" pitchFamily="34" charset="-120"/>
              </a:rPr>
              <a:t>    0            0              0              0</a:t>
            </a:r>
            <a:endParaRPr lang="en-US" sz="1100" dirty="0"/>
          </a:p>
        </p:txBody>
      </p:sp>
      <p:sp>
        <p:nvSpPr>
          <p:cNvPr id="11" name="Shape 7"/>
          <p:cNvSpPr/>
          <p:nvPr/>
        </p:nvSpPr>
        <p:spPr>
          <a:xfrm>
            <a:off x="6949440" y="1691640"/>
            <a:ext cx="4572000" cy="1010412"/>
          </a:xfrm>
          <a:prstGeom prst="roundRect">
            <a:avLst>
              <a:gd name="adj" fmla="val 724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2" name="Shape 8"/>
          <p:cNvSpPr/>
          <p:nvPr/>
        </p:nvSpPr>
        <p:spPr>
          <a:xfrm>
            <a:off x="7132320" y="1856232"/>
            <a:ext cx="365760" cy="365760"/>
          </a:xfrm>
          <a:prstGeom prst="ellipse">
            <a:avLst/>
          </a:prstGeom>
          <a:solidFill>
            <a:srgbClr val="D99A2B"/>
          </a:solidFill>
          <a:ln w="12700">
            <a:solidFill>
              <a:srgbClr val="D99A2B"/>
            </a:solidFill>
            <a:prstDash val="solid"/>
          </a:ln>
        </p:spPr>
        <p:txBody>
          <a:bodyPr/>
          <a:p/>
        </p:txBody>
      </p:sp>
      <p:sp>
        <p:nvSpPr>
          <p:cNvPr id="13" name="Text 9"/>
          <p:cNvSpPr txBox="1"/>
          <p:nvPr/>
        </p:nvSpPr>
        <p:spPr>
          <a:xfrm>
            <a:off x="7132320" y="18562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7635240" y="1810512"/>
            <a:ext cx="3749040" cy="457200"/>
          </a:xfrm>
          <a:prstGeom prst="rect">
            <a:avLst/>
          </a:prstGeom>
          <a:noFill/>
          <a:ln/>
        </p:spPr>
        <p:txBody>
          <a:bodyPr wrap="square" lIns="0" tIns="0" rIns="0" bIns="0" rtlCol="0" anchor="ctr"/>
          <a:lstStyle/>
          <a:p>
            <a:pPr indent="0" marL="0">
              <a:buNone/>
            </a:pPr>
            <a:r>
              <a:rPr lang="en-US" sz="1350" b="1" dirty="0">
                <a:solidFill>
                  <a:srgbClr val="141B4D"/>
                </a:solidFill>
                <a:latin typeface="Calibri" pitchFamily="34" charset="0"/>
                <a:ea typeface="Calibri" pitchFamily="34" charset="-122"/>
                <a:cs typeface="Calibri" pitchFamily="34" charset="-120"/>
              </a:rPr>
              <a:t>Median ₦7,840</a:t>
            </a:r>
            <a:endParaRPr lang="en-US" sz="1350" dirty="0"/>
          </a:p>
        </p:txBody>
      </p:sp>
      <p:sp>
        <p:nvSpPr>
          <p:cNvPr id="15" name="Text 11"/>
          <p:cNvSpPr txBox="1"/>
          <p:nvPr/>
        </p:nvSpPr>
        <p:spPr>
          <a:xfrm>
            <a:off x="7178040" y="2286000"/>
            <a:ext cx="4160520" cy="342900"/>
          </a:xfrm>
          <a:prstGeom prst="rect">
            <a:avLst/>
          </a:prstGeom>
          <a:noFill/>
          <a:ln/>
        </p:spPr>
        <p:txBody>
          <a:bodyPr wrap="square" lIns="0" tIns="0" rIns="0" bIns="0" rtlCol="0" anchor="t"/>
          <a:lstStyle/>
          <a:p>
            <a:pPr indent="0" marL="0">
              <a:buNone/>
            </a:pPr>
            <a:r>
              <a:rPr lang="en-US" sz="1250" dirty="0">
                <a:solidFill>
                  <a:srgbClr val="1A2233"/>
                </a:solidFill>
                <a:latin typeface="Calibri" pitchFamily="34" charset="0"/>
                <a:ea typeface="Calibri" pitchFamily="34" charset="-122"/>
                <a:cs typeface="Calibri" pitchFamily="34" charset="-120"/>
              </a:rPr>
              <a:t>Half the receipts are below ₦7,840 — the 'typical' basket.</a:t>
            </a:r>
            <a:endParaRPr lang="en-US" sz="1250" dirty="0"/>
          </a:p>
        </p:txBody>
      </p:sp>
      <p:sp>
        <p:nvSpPr>
          <p:cNvPr id="16" name="Shape 12"/>
          <p:cNvSpPr/>
          <p:nvPr/>
        </p:nvSpPr>
        <p:spPr>
          <a:xfrm>
            <a:off x="6949440" y="2811780"/>
            <a:ext cx="4572000" cy="1010412"/>
          </a:xfrm>
          <a:prstGeom prst="roundRect">
            <a:avLst>
              <a:gd name="adj" fmla="val 724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7" name="Shape 13"/>
          <p:cNvSpPr/>
          <p:nvPr/>
        </p:nvSpPr>
        <p:spPr>
          <a:xfrm>
            <a:off x="7132320" y="2976372"/>
            <a:ext cx="365760" cy="365760"/>
          </a:xfrm>
          <a:prstGeom prst="ellipse">
            <a:avLst/>
          </a:prstGeom>
          <a:solidFill>
            <a:srgbClr val="D99A2B"/>
          </a:solidFill>
          <a:ln w="12700">
            <a:solidFill>
              <a:srgbClr val="D99A2B"/>
            </a:solidFill>
            <a:prstDash val="solid"/>
          </a:ln>
        </p:spPr>
        <p:txBody>
          <a:bodyPr/>
          <a:p/>
        </p:txBody>
      </p:sp>
      <p:sp>
        <p:nvSpPr>
          <p:cNvPr id="18" name="Text 14"/>
          <p:cNvSpPr txBox="1"/>
          <p:nvPr/>
        </p:nvSpPr>
        <p:spPr>
          <a:xfrm>
            <a:off x="7132320" y="29763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Text 15"/>
          <p:cNvSpPr txBox="1"/>
          <p:nvPr/>
        </p:nvSpPr>
        <p:spPr>
          <a:xfrm>
            <a:off x="7635240" y="2930652"/>
            <a:ext cx="3749040" cy="457200"/>
          </a:xfrm>
          <a:prstGeom prst="rect">
            <a:avLst/>
          </a:prstGeom>
          <a:noFill/>
          <a:ln/>
        </p:spPr>
        <p:txBody>
          <a:bodyPr wrap="square" lIns="0" tIns="0" rIns="0" bIns="0" rtlCol="0" anchor="ctr"/>
          <a:lstStyle/>
          <a:p>
            <a:pPr indent="0" marL="0">
              <a:buNone/>
            </a:pPr>
            <a:r>
              <a:rPr lang="en-US" sz="1350" b="1" dirty="0">
                <a:solidFill>
                  <a:srgbClr val="141B4D"/>
                </a:solidFill>
                <a:latin typeface="Calibri" pitchFamily="34" charset="0"/>
                <a:ea typeface="Calibri" pitchFamily="34" charset="-122"/>
                <a:cs typeface="Calibri" pitchFamily="34" charset="-120"/>
              </a:rPr>
              <a:t>Mean ₦10,760 &gt; median</a:t>
            </a:r>
            <a:endParaRPr lang="en-US" sz="1350" dirty="0"/>
          </a:p>
        </p:txBody>
      </p:sp>
      <p:sp>
        <p:nvSpPr>
          <p:cNvPr id="20" name="Text 16"/>
          <p:cNvSpPr txBox="1"/>
          <p:nvPr/>
        </p:nvSpPr>
        <p:spPr>
          <a:xfrm>
            <a:off x="7178040" y="3406140"/>
            <a:ext cx="4160520" cy="342900"/>
          </a:xfrm>
          <a:prstGeom prst="rect">
            <a:avLst/>
          </a:prstGeom>
          <a:noFill/>
          <a:ln/>
        </p:spPr>
        <p:txBody>
          <a:bodyPr wrap="square" lIns="0" tIns="0" rIns="0" bIns="0" rtlCol="0" anchor="t"/>
          <a:lstStyle/>
          <a:p>
            <a:pPr indent="0" marL="0">
              <a:buNone/>
            </a:pPr>
            <a:r>
              <a:rPr lang="en-US" sz="1250" dirty="0">
                <a:solidFill>
                  <a:srgbClr val="1A2233"/>
                </a:solidFill>
                <a:latin typeface="Calibri" pitchFamily="34" charset="0"/>
                <a:ea typeface="Calibri" pitchFamily="34" charset="-122"/>
                <a:cs typeface="Calibri" pitchFamily="34" charset="-120"/>
              </a:rPr>
              <a:t>A few big baskets pull the average up. Data is </a:t>
            </a:r>
            <a:r>
              <a:rPr lang="en-US" sz="1250" b="1" dirty="0">
                <a:solidFill>
                  <a:srgbClr val="1A2233"/>
                </a:solidFill>
                <a:latin typeface="Calibri" pitchFamily="34" charset="0"/>
                <a:ea typeface="Calibri" pitchFamily="34" charset="-122"/>
                <a:cs typeface="Calibri" pitchFamily="34" charset="-120"/>
              </a:rPr>
              <a:t>right-skewed</a:t>
            </a:r>
            <a:r>
              <a:rPr lang="en-US" sz="1250" dirty="0">
                <a:solidFill>
                  <a:srgbClr val="1A2233"/>
                </a:solidFill>
                <a:latin typeface="Calibri" pitchFamily="34" charset="0"/>
                <a:ea typeface="Calibri" pitchFamily="34" charset="-122"/>
                <a:cs typeface="Calibri" pitchFamily="34" charset="-120"/>
              </a:rPr>
              <a:t> (Session 2.2).</a:t>
            </a:r>
            <a:endParaRPr lang="en-US" sz="1250" dirty="0"/>
          </a:p>
        </p:txBody>
      </p:sp>
      <p:sp>
        <p:nvSpPr>
          <p:cNvPr id="21" name="Shape 17"/>
          <p:cNvSpPr/>
          <p:nvPr/>
        </p:nvSpPr>
        <p:spPr>
          <a:xfrm>
            <a:off x="6949440" y="3931920"/>
            <a:ext cx="4572000" cy="1010412"/>
          </a:xfrm>
          <a:prstGeom prst="roundRect">
            <a:avLst>
              <a:gd name="adj" fmla="val 724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2" name="Shape 18"/>
          <p:cNvSpPr/>
          <p:nvPr/>
        </p:nvSpPr>
        <p:spPr>
          <a:xfrm>
            <a:off x="7132320" y="4096512"/>
            <a:ext cx="365760" cy="365760"/>
          </a:xfrm>
          <a:prstGeom prst="ellipse">
            <a:avLst/>
          </a:prstGeom>
          <a:solidFill>
            <a:srgbClr val="D99A2B"/>
          </a:solidFill>
          <a:ln w="12700">
            <a:solidFill>
              <a:srgbClr val="D99A2B"/>
            </a:solidFill>
            <a:prstDash val="solid"/>
          </a:ln>
        </p:spPr>
        <p:txBody>
          <a:bodyPr/>
          <a:p/>
        </p:txBody>
      </p:sp>
      <p:sp>
        <p:nvSpPr>
          <p:cNvPr id="23" name="Text 19"/>
          <p:cNvSpPr txBox="1"/>
          <p:nvPr/>
        </p:nvSpPr>
        <p:spPr>
          <a:xfrm>
            <a:off x="7132320" y="40965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0"/>
          <p:cNvSpPr txBox="1"/>
          <p:nvPr/>
        </p:nvSpPr>
        <p:spPr>
          <a:xfrm>
            <a:off x="7635240" y="4050792"/>
            <a:ext cx="3749040" cy="457200"/>
          </a:xfrm>
          <a:prstGeom prst="rect">
            <a:avLst/>
          </a:prstGeom>
          <a:noFill/>
          <a:ln/>
        </p:spPr>
        <p:txBody>
          <a:bodyPr wrap="square" lIns="0" tIns="0" rIns="0" bIns="0" rtlCol="0" anchor="ctr"/>
          <a:lstStyle/>
          <a:p>
            <a:pPr indent="0" marL="0">
              <a:buNone/>
            </a:pPr>
            <a:r>
              <a:rPr lang="en-US" sz="1350" b="1" dirty="0">
                <a:solidFill>
                  <a:srgbClr val="141B4D"/>
                </a:solidFill>
                <a:latin typeface="Calibri" pitchFamily="34" charset="0"/>
                <a:ea typeface="Calibri" pitchFamily="34" charset="-122"/>
                <a:cs typeface="Calibri" pitchFamily="34" charset="-120"/>
              </a:rPr>
              <a:t>Max ₦132,060</a:t>
            </a:r>
            <a:endParaRPr lang="en-US" sz="1350" dirty="0"/>
          </a:p>
        </p:txBody>
      </p:sp>
      <p:sp>
        <p:nvSpPr>
          <p:cNvPr id="25" name="Text 21"/>
          <p:cNvSpPr txBox="1"/>
          <p:nvPr/>
        </p:nvSpPr>
        <p:spPr>
          <a:xfrm>
            <a:off x="7178040" y="4526280"/>
            <a:ext cx="4160520" cy="342900"/>
          </a:xfrm>
          <a:prstGeom prst="rect">
            <a:avLst/>
          </a:prstGeom>
          <a:noFill/>
          <a:ln/>
        </p:spPr>
        <p:txBody>
          <a:bodyPr wrap="square" lIns="0" tIns="0" rIns="0" bIns="0" rtlCol="0" anchor="t"/>
          <a:lstStyle/>
          <a:p>
            <a:pPr indent="0" marL="0">
              <a:buNone/>
            </a:pPr>
            <a:r>
              <a:rPr lang="en-US" sz="1250" dirty="0">
                <a:solidFill>
                  <a:srgbClr val="1A2233"/>
                </a:solidFill>
                <a:latin typeface="Calibri" pitchFamily="34" charset="0"/>
                <a:ea typeface="Calibri" pitchFamily="34" charset="-122"/>
                <a:cs typeface="Calibri" pitchFamily="34" charset="-120"/>
              </a:rPr>
              <a:t>Real stock-up shop or data error? Always investigate extreme values (Session 2.3).</a:t>
            </a:r>
            <a:endParaRPr lang="en-US" sz="1250" dirty="0"/>
          </a:p>
        </p:txBody>
      </p:sp>
      <p:sp>
        <p:nvSpPr>
          <p:cNvPr id="26" name="Shape 22"/>
          <p:cNvSpPr/>
          <p:nvPr/>
        </p:nvSpPr>
        <p:spPr>
          <a:xfrm>
            <a:off x="6949440" y="5052060"/>
            <a:ext cx="4572000" cy="1010412"/>
          </a:xfrm>
          <a:prstGeom prst="roundRect">
            <a:avLst>
              <a:gd name="adj" fmla="val 7240"/>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7" name="Shape 23"/>
          <p:cNvSpPr/>
          <p:nvPr/>
        </p:nvSpPr>
        <p:spPr>
          <a:xfrm>
            <a:off x="7132320" y="5216652"/>
            <a:ext cx="365760" cy="365760"/>
          </a:xfrm>
          <a:prstGeom prst="ellipse">
            <a:avLst/>
          </a:prstGeom>
          <a:solidFill>
            <a:srgbClr val="D99A2B"/>
          </a:solidFill>
          <a:ln w="12700">
            <a:solidFill>
              <a:srgbClr val="D99A2B"/>
            </a:solidFill>
            <a:prstDash val="solid"/>
          </a:ln>
        </p:spPr>
        <p:txBody>
          <a:bodyPr/>
          <a:p/>
        </p:txBody>
      </p:sp>
      <p:sp>
        <p:nvSpPr>
          <p:cNvPr id="28" name="Text 24"/>
          <p:cNvSpPr txBox="1"/>
          <p:nvPr/>
        </p:nvSpPr>
        <p:spPr>
          <a:xfrm>
            <a:off x="7132320" y="52166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5"/>
          <p:cNvSpPr txBox="1"/>
          <p:nvPr/>
        </p:nvSpPr>
        <p:spPr>
          <a:xfrm>
            <a:off x="7635240" y="5170932"/>
            <a:ext cx="3749040" cy="457200"/>
          </a:xfrm>
          <a:prstGeom prst="rect">
            <a:avLst/>
          </a:prstGeom>
          <a:noFill/>
          <a:ln/>
        </p:spPr>
        <p:txBody>
          <a:bodyPr wrap="square" lIns="0" tIns="0" rIns="0" bIns="0" rtlCol="0" anchor="ctr"/>
          <a:lstStyle/>
          <a:p>
            <a:pPr indent="0" marL="0">
              <a:buNone/>
            </a:pPr>
            <a:r>
              <a:rPr lang="en-US" sz="1350" b="1" dirty="0">
                <a:solidFill>
                  <a:srgbClr val="141B4D"/>
                </a:solidFill>
                <a:latin typeface="Calibri" pitchFamily="34" charset="0"/>
                <a:ea typeface="Calibri" pitchFamily="34" charset="-122"/>
                <a:cs typeface="Calibri" pitchFamily="34" charset="-120"/>
              </a:rPr>
              <a:t>No missing values</a:t>
            </a:r>
            <a:endParaRPr lang="en-US" sz="1350" dirty="0"/>
          </a:p>
        </p:txBody>
      </p:sp>
      <p:sp>
        <p:nvSpPr>
          <p:cNvPr id="30" name="Text 26"/>
          <p:cNvSpPr txBox="1"/>
          <p:nvPr/>
        </p:nvSpPr>
        <p:spPr>
          <a:xfrm>
            <a:off x="7178040" y="5646420"/>
            <a:ext cx="4160520" cy="342900"/>
          </a:xfrm>
          <a:prstGeom prst="rect">
            <a:avLst/>
          </a:prstGeom>
          <a:noFill/>
          <a:ln/>
        </p:spPr>
        <p:txBody>
          <a:bodyPr wrap="square" lIns="0" tIns="0" rIns="0" bIns="0" rtlCol="0" anchor="t"/>
          <a:lstStyle/>
          <a:p>
            <a:pPr indent="0" marL="0">
              <a:buNone/>
            </a:pPr>
            <a:r>
              <a:rPr lang="en-US" sz="1250" dirty="0">
                <a:solidFill>
                  <a:srgbClr val="1A2233"/>
                </a:solidFill>
                <a:latin typeface="Calibri" pitchFamily="34" charset="0"/>
                <a:ea typeface="Calibri" pitchFamily="34" charset="-122"/>
                <a:cs typeface="Calibri" pitchFamily="34" charset="-120"/>
              </a:rPr>
              <a:t>Completeness check passed for this file — rare in real life!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A FIRST CHART</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What the Summary Looks Like as a Picture</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35</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01/figures/python/s01_f01.png">    </p:cNvPr>
          <p:cNvPicPr>
            <a:picLocks noChangeAspect="1"/>
          </p:cNvPicPr>
          <p:nvPr/>
        </p:nvPicPr>
        <p:blipFill>
          <a:blip r:embed="rId2"/>
          <a:stretch>
            <a:fillRect/>
          </a:stretch>
        </p:blipFill>
        <p:spPr>
          <a:xfrm>
            <a:off x="838158" y="1600200"/>
            <a:ext cx="6827605"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S2.1-F01  ·  replicate: tdbg_2_1_figures.R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Most receipts sit between ₦3k and ₦15k.</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A long tail to the right: a few very large baskets.</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The </a:t>
            </a:r>
            <a:r>
              <a:rPr lang="en-US" sz="1300" b="1" dirty="0">
                <a:solidFill>
                  <a:srgbClr val="1A2233"/>
                </a:solidFill>
                <a:latin typeface="Calibri" pitchFamily="34" charset="0"/>
                <a:ea typeface="Calibri" pitchFamily="34" charset="-122"/>
                <a:cs typeface="Calibri" pitchFamily="34" charset="-120"/>
              </a:rPr>
              <a:t>mean</a:t>
            </a:r>
            <a:r>
              <a:rPr lang="en-US" sz="1300" dirty="0">
                <a:solidFill>
                  <a:srgbClr val="1A2233"/>
                </a:solidFill>
                <a:latin typeface="Calibri" pitchFamily="34" charset="0"/>
                <a:ea typeface="Calibri" pitchFamily="34" charset="-122"/>
                <a:cs typeface="Calibri" pitchFamily="34" charset="-120"/>
              </a:rPr>
              <a:t> (dashed) sits right of the </a:t>
            </a:r>
            <a:r>
              <a:rPr lang="en-US" sz="1300" b="1" dirty="0">
                <a:solidFill>
                  <a:srgbClr val="1A2233"/>
                </a:solidFill>
                <a:latin typeface="Calibri" pitchFamily="34" charset="0"/>
                <a:ea typeface="Calibri" pitchFamily="34" charset="-122"/>
                <a:cs typeface="Calibri" pitchFamily="34" charset="-120"/>
              </a:rPr>
              <a:t>median</a:t>
            </a:r>
            <a:r>
              <a:rPr lang="en-US" sz="1300" dirty="0">
                <a:solidFill>
                  <a:srgbClr val="1A2233"/>
                </a:solidFill>
                <a:latin typeface="Calibri" pitchFamily="34" charset="0"/>
                <a:ea typeface="Calibri" pitchFamily="34" charset="-122"/>
                <a:cs typeface="Calibri" pitchFamily="34" charset="-120"/>
              </a:rPr>
              <a:t> — the tail drags it.</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For a 'typical customer' figure, report the median.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NIGERIAN BUSINESS CASE</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Tour of a Lagos Retailer's Transaction Data</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36</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9" name="Shape 5"/>
          <p:cNvSpPr/>
          <p:nvPr/>
        </p:nvSpPr>
        <p:spPr>
          <a:xfrm>
            <a:off x="868680" y="1892808"/>
            <a:ext cx="457200" cy="457200"/>
          </a:xfrm>
          <a:prstGeom prst="ellipse">
            <a:avLst/>
          </a:prstGeom>
          <a:solidFill>
            <a:srgbClr val="0B5E82"/>
          </a:solidFill>
          <a:ln w="12700">
            <a:solidFill>
              <a:srgbClr val="0B5E82"/>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982980" y="2007108"/>
            <a:ext cx="228600" cy="228600"/>
          </a:xfrm>
          <a:prstGeom prst="rect">
            <a:avLst/>
          </a:prstGeom>
        </p:spPr>
      </p:pic>
      <p:sp>
        <p:nvSpPr>
          <p:cNvPr id="11" name="Text 6"/>
          <p:cNvSpPr txBox="1"/>
          <p:nvPr/>
        </p:nvSpPr>
        <p:spPr>
          <a:xfrm>
            <a:off x="1463040" y="189280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situation</a:t>
            </a:r>
            <a:endParaRPr lang="en-US" sz="1550" dirty="0"/>
          </a:p>
        </p:txBody>
      </p:sp>
      <p:sp>
        <p:nvSpPr>
          <p:cNvPr id="12" name="Text 7"/>
          <p:cNvSpPr txBox="1"/>
          <p:nvPr/>
        </p:nvSpPr>
        <p:spPr>
          <a:xfrm>
            <a:off x="914400" y="246888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A six-store Lagos supermarket group has one year of point-of-sale receipts (2,000 sampled) and a new CEO who wants to 'use data better'.</a:t>
            </a:r>
            <a:endParaRPr lang="en-US" sz="1300" dirty="0"/>
          </a:p>
        </p:txBody>
      </p:sp>
      <p:sp>
        <p:nvSpPr>
          <p:cNvPr id="13" name="Shape 8"/>
          <p:cNvSpPr/>
          <p:nvPr/>
        </p:nvSpPr>
        <p:spPr>
          <a:xfrm>
            <a:off x="6217920" y="169164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4" name="Shape 9"/>
          <p:cNvSpPr/>
          <p:nvPr/>
        </p:nvSpPr>
        <p:spPr>
          <a:xfrm>
            <a:off x="6446520" y="1892808"/>
            <a:ext cx="457200" cy="457200"/>
          </a:xfrm>
          <a:prstGeom prst="ellipse">
            <a:avLst/>
          </a:prstGeom>
          <a:solidFill>
            <a:srgbClr val="D99A2B"/>
          </a:solidFill>
          <a:ln w="12700">
            <a:solidFill>
              <a:srgbClr val="D99A2B"/>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560820" y="2007108"/>
            <a:ext cx="228600" cy="228600"/>
          </a:xfrm>
          <a:prstGeom prst="rect">
            <a:avLst/>
          </a:prstGeom>
        </p:spPr>
      </p:pic>
      <p:sp>
        <p:nvSpPr>
          <p:cNvPr id="16" name="Text 10"/>
          <p:cNvSpPr txBox="1"/>
          <p:nvPr/>
        </p:nvSpPr>
        <p:spPr>
          <a:xfrm>
            <a:off x="7040880" y="189280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decision question</a:t>
            </a:r>
            <a:endParaRPr lang="en-US" sz="1550" dirty="0"/>
          </a:p>
        </p:txBody>
      </p:sp>
      <p:sp>
        <p:nvSpPr>
          <p:cNvPr id="17" name="Text 11"/>
          <p:cNvSpPr txBox="1"/>
          <p:nvPr/>
        </p:nvSpPr>
        <p:spPr>
          <a:xfrm>
            <a:off x="6492240" y="246888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What business questions could this dataset answer — and which kind of analytics (descriptive, diagnostic, predictive, prescriptive) does each need?</a:t>
            </a:r>
            <a:endParaRPr lang="en-US" sz="1300" dirty="0"/>
          </a:p>
        </p:txBody>
      </p:sp>
      <p:sp>
        <p:nvSpPr>
          <p:cNvPr id="18" name="Shape 12"/>
          <p:cNvSpPr/>
          <p:nvPr/>
        </p:nvSpPr>
        <p:spPr>
          <a:xfrm>
            <a:off x="640080" y="402336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9" name="Shape 13"/>
          <p:cNvSpPr/>
          <p:nvPr/>
        </p:nvSpPr>
        <p:spPr>
          <a:xfrm>
            <a:off x="868680" y="4224528"/>
            <a:ext cx="457200" cy="457200"/>
          </a:xfrm>
          <a:prstGeom prst="ellipse">
            <a:avLst/>
          </a:prstGeom>
          <a:solidFill>
            <a:srgbClr val="0B5E82"/>
          </a:solidFill>
          <a:ln w="12700">
            <a:solidFill>
              <a:srgbClr val="0B5E82"/>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982980" y="4338828"/>
            <a:ext cx="228600" cy="228600"/>
          </a:xfrm>
          <a:prstGeom prst="rect">
            <a:avLst/>
          </a:prstGeom>
        </p:spPr>
      </p:pic>
      <p:sp>
        <p:nvSpPr>
          <p:cNvPr id="21" name="Text 14"/>
          <p:cNvSpPr txBox="1"/>
          <p:nvPr/>
        </p:nvSpPr>
        <p:spPr>
          <a:xfrm>
            <a:off x="1463040" y="422452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The data we have</a:t>
            </a:r>
            <a:endParaRPr lang="en-US" sz="1550" dirty="0"/>
          </a:p>
        </p:txBody>
      </p:sp>
      <p:sp>
        <p:nvSpPr>
          <p:cNvPr id="22" name="Text 15"/>
          <p:cNvSpPr txBox="1"/>
          <p:nvPr/>
        </p:nvSpPr>
        <p:spPr>
          <a:xfrm>
            <a:off x="914400" y="480060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retail_transactions.csv: date, hour, store, region, category, items, basket value, payment method, loyalty membership.</a:t>
            </a:r>
            <a:endParaRPr lang="en-US" sz="1300" dirty="0"/>
          </a:p>
        </p:txBody>
      </p:sp>
      <p:sp>
        <p:nvSpPr>
          <p:cNvPr id="23" name="Shape 16"/>
          <p:cNvSpPr/>
          <p:nvPr/>
        </p:nvSpPr>
        <p:spPr>
          <a:xfrm>
            <a:off x="6217920" y="4023360"/>
            <a:ext cx="5303520" cy="2103120"/>
          </a:xfrm>
          <a:prstGeom prst="roundRect">
            <a:avLst>
              <a:gd name="adj" fmla="val 3478"/>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24" name="Shape 17"/>
          <p:cNvSpPr/>
          <p:nvPr/>
        </p:nvSpPr>
        <p:spPr>
          <a:xfrm>
            <a:off x="6446520" y="4224528"/>
            <a:ext cx="457200" cy="457200"/>
          </a:xfrm>
          <a:prstGeom prst="ellipse">
            <a:avLst/>
          </a:prstGeom>
          <a:solidFill>
            <a:srgbClr val="0B5E82"/>
          </a:solidFill>
          <a:ln w="12700">
            <a:solidFill>
              <a:srgbClr val="0B5E82"/>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6560820" y="4338828"/>
            <a:ext cx="228600" cy="228600"/>
          </a:xfrm>
          <a:prstGeom prst="rect">
            <a:avLst/>
          </a:prstGeom>
        </p:spPr>
      </p:pic>
      <p:sp>
        <p:nvSpPr>
          <p:cNvPr id="26" name="Text 18"/>
          <p:cNvSpPr txBox="1"/>
          <p:nvPr/>
        </p:nvSpPr>
        <p:spPr>
          <a:xfrm>
            <a:off x="7040880" y="4224528"/>
            <a:ext cx="4297680" cy="457200"/>
          </a:xfrm>
          <a:prstGeom prst="rect">
            <a:avLst/>
          </a:prstGeom>
          <a:noFill/>
          <a:ln/>
        </p:spPr>
        <p:txBody>
          <a:bodyPr wrap="square" lIns="0" tIns="0" rIns="0" bIns="0" rtlCol="0" anchor="ctr"/>
          <a:lstStyle/>
          <a:p>
            <a:pPr indent="0" marL="0">
              <a:buNone/>
            </a:pPr>
            <a:r>
              <a:rPr lang="en-US" sz="1550" b="1" dirty="0">
                <a:solidFill>
                  <a:srgbClr val="141B4D"/>
                </a:solidFill>
                <a:latin typeface="Cambria" pitchFamily="34" charset="0"/>
                <a:ea typeface="Cambria" pitchFamily="34" charset="-122"/>
                <a:cs typeface="Cambria" pitchFamily="34" charset="-120"/>
              </a:rPr>
              <a:t>What a good answer looks like</a:t>
            </a:r>
            <a:endParaRPr lang="en-US" sz="1550" dirty="0"/>
          </a:p>
        </p:txBody>
      </p:sp>
      <p:sp>
        <p:nvSpPr>
          <p:cNvPr id="27" name="Text 19"/>
          <p:cNvSpPr txBox="1"/>
          <p:nvPr/>
        </p:nvSpPr>
        <p:spPr>
          <a:xfrm>
            <a:off x="6492240" y="4800600"/>
            <a:ext cx="4754880" cy="1188720"/>
          </a:xfrm>
          <a:prstGeom prst="rect">
            <a:avLst/>
          </a:prstGeom>
          <a:noFill/>
          <a:ln/>
        </p:spPr>
        <p:txBody>
          <a:bodyPr wrap="square" lIns="0" tIns="0" rIns="0" bIns="0" rtlCol="0" anchor="t"/>
          <a:lstStyle/>
          <a:p>
            <a:pPr indent="0" marL="0">
              <a:buNone/>
            </a:pPr>
            <a:r>
              <a:rPr lang="en-US" sz="1300" dirty="0">
                <a:solidFill>
                  <a:srgbClr val="1A2233"/>
                </a:solidFill>
                <a:latin typeface="Calibri" pitchFamily="34" charset="0"/>
                <a:ea typeface="Calibri" pitchFamily="34" charset="-122"/>
                <a:cs typeface="Calibri" pitchFamily="34" charset="-120"/>
              </a:rPr>
              <a:t>A short list of </a:t>
            </a:r>
            <a:r>
              <a:rPr lang="en-US" sz="1300" b="1" dirty="0">
                <a:solidFill>
                  <a:srgbClr val="1A2233"/>
                </a:solidFill>
                <a:latin typeface="Calibri" pitchFamily="34" charset="0"/>
                <a:ea typeface="Calibri" pitchFamily="34" charset="-122"/>
                <a:cs typeface="Calibri" pitchFamily="34" charset="-120"/>
              </a:rPr>
              <a:t>3 questions</a:t>
            </a:r>
            <a:r>
              <a:rPr lang="en-US" sz="1300" dirty="0">
                <a:solidFill>
                  <a:srgbClr val="1A2233"/>
                </a:solidFill>
                <a:latin typeface="Calibri" pitchFamily="34" charset="0"/>
                <a:ea typeface="Calibri" pitchFamily="34" charset="-122"/>
                <a:cs typeface="Calibri" pitchFamily="34" charset="-120"/>
              </a:rPr>
              <a:t>, one per analytics type, each tied to a decision the CEO could actually make (staffing, promotions, loyalty scheme, stock).</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CASE · OPERATIONS</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A Question With a Decision Attached: Cashier Rostering</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37</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01/figures/python/s01_f04.png">    </p:cNvPr>
          <p:cNvPicPr>
            <a:picLocks noChangeAspect="1"/>
          </p:cNvPicPr>
          <p:nvPr/>
        </p:nvPicPr>
        <p:blipFill>
          <a:blip r:embed="rId2"/>
          <a:stretch>
            <a:fillRect/>
          </a:stretch>
        </p:blipFill>
        <p:spPr>
          <a:xfrm>
            <a:off x="838158" y="1600200"/>
            <a:ext cx="6827605"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S2.1-F04  ·  replicate: tdbg_2_1_figures.R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Receipts peak at </a:t>
            </a:r>
            <a:r>
              <a:rPr lang="en-US" sz="1300" b="1" dirty="0">
                <a:solidFill>
                  <a:srgbClr val="1A2233"/>
                </a:solidFill>
                <a:latin typeface="Calibri" pitchFamily="34" charset="0"/>
                <a:ea typeface="Calibri" pitchFamily="34" charset="-122"/>
                <a:cs typeface="Calibri" pitchFamily="34" charset="-120"/>
              </a:rPr>
              <a:t>4–5 pm</a:t>
            </a:r>
            <a:r>
              <a:rPr lang="en-US" sz="1300" dirty="0">
                <a:solidFill>
                  <a:srgbClr val="1A2233"/>
                </a:solidFill>
                <a:latin typeface="Calibri" pitchFamily="34" charset="0"/>
                <a:ea typeface="Calibri" pitchFamily="34" charset="-122"/>
                <a:cs typeface="Calibri" pitchFamily="34" charset="-120"/>
              </a:rPr>
              <a:t>.</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Decision: shift cashier hours toward late afternoon.</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Caveat: this is receipts, not queue length — what data would confirm the need?</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Good analytics question = data + decision + caveat.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CASE · MARKETING</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Loyalty Members Spend More — Does Loyalty Cause It?</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38</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pic>
        <p:nvPicPr>
          <p:cNvPr id="8" name="Image 1" descr="/home/claude/da1/sessions/s01/figures/python/s01_f05.png">    </p:cNvPr>
          <p:cNvPicPr>
            <a:picLocks noChangeAspect="1"/>
          </p:cNvPicPr>
          <p:nvPr/>
        </p:nvPicPr>
        <p:blipFill>
          <a:blip r:embed="rId2"/>
          <a:stretch>
            <a:fillRect/>
          </a:stretch>
        </p:blipFill>
        <p:spPr>
          <a:xfrm>
            <a:off x="676123" y="1600200"/>
            <a:ext cx="7151673" cy="4297680"/>
          </a:xfrm>
          <a:prstGeom prst="rect">
            <a:avLst/>
          </a:prstGeom>
        </p:spPr>
      </p:pic>
      <p:sp>
        <p:nvSpPr>
          <p:cNvPr id="9" name="Text 4"/>
          <p:cNvSpPr txBox="1"/>
          <p:nvPr/>
        </p:nvSpPr>
        <p:spPr>
          <a:xfrm>
            <a:off x="640080" y="5943600"/>
            <a:ext cx="7223760" cy="228600"/>
          </a:xfrm>
          <a:prstGeom prst="rect">
            <a:avLst/>
          </a:prstGeom>
          <a:noFill/>
          <a:ln/>
        </p:spPr>
        <p:txBody>
          <a:bodyPr wrap="square" lIns="0" tIns="0" rIns="0" bIns="0" rtlCol="0" anchor="t"/>
          <a:lstStyle/>
          <a:p>
            <a:pPr algn="ctr" indent="0" marL="0">
              <a:buNone/>
            </a:pPr>
            <a:r>
              <a:rPr lang="en-US" sz="900" i="1" dirty="0">
                <a:solidFill>
                  <a:srgbClr val="5C6B7A"/>
                </a:solidFill>
                <a:latin typeface="Calibri" pitchFamily="34" charset="0"/>
                <a:ea typeface="Calibri" pitchFamily="34" charset="-122"/>
                <a:cs typeface="Calibri" pitchFamily="34" charset="-120"/>
              </a:rPr>
              <a:t>Fig S2.1-F05  ·  replicate: tdbg_2_1_figures.R / .py</a:t>
            </a:r>
            <a:endParaRPr lang="en-US" sz="900" dirty="0"/>
          </a:p>
        </p:txBody>
      </p:sp>
      <p:sp>
        <p:nvSpPr>
          <p:cNvPr id="10" name="Shape 5"/>
          <p:cNvSpPr/>
          <p:nvPr/>
        </p:nvSpPr>
        <p:spPr>
          <a:xfrm>
            <a:off x="8092440" y="1600200"/>
            <a:ext cx="3429000" cy="4526280"/>
          </a:xfrm>
          <a:prstGeom prst="roundRect">
            <a:avLst>
              <a:gd name="adj" fmla="val 2133"/>
            </a:avLst>
          </a:prstGeom>
          <a:solidFill>
            <a:srgbClr val="F3F6F9"/>
          </a:solidFill>
          <a:ln w="9525">
            <a:solidFill>
              <a:srgbClr val="E1E7EE"/>
            </a:solidFill>
            <a:prstDash val="solid"/>
          </a:ln>
          <a:effectLst>
            <a:outerShdw sx="100000" sy="100000" kx="0" ky="0" algn="bl" rotWithShape="0" blurRad="76200" dist="25400" dir="5400000">
              <a:srgbClr val="000000">
                <a:alpha val="8000"/>
              </a:srgbClr>
            </a:outerShdw>
          </a:effectLst>
        </p:spPr>
        <p:txBody>
          <a:bodyPr/>
          <a:p/>
        </p:txBody>
      </p:sp>
      <p:sp>
        <p:nvSpPr>
          <p:cNvPr id="11" name="Text 6"/>
          <p:cNvSpPr txBox="1"/>
          <p:nvPr/>
        </p:nvSpPr>
        <p:spPr>
          <a:xfrm>
            <a:off x="8366760" y="1828800"/>
            <a:ext cx="288036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WHAT TO SEE</a:t>
            </a:r>
            <a:endParaRPr lang="en-US" sz="1150" dirty="0"/>
          </a:p>
        </p:txBody>
      </p:sp>
      <p:sp>
        <p:nvSpPr>
          <p:cNvPr id="12" name="Text 7"/>
          <p:cNvSpPr txBox="1"/>
          <p:nvPr/>
        </p:nvSpPr>
        <p:spPr>
          <a:xfrm>
            <a:off x="8321040" y="2240280"/>
            <a:ext cx="2971800" cy="370332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Median basket: ₦8,430 for members vs ₦7,460 for others.</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Tempting conclusion:</a:t>
            </a:r>
            <a:r>
              <a:rPr lang="en-US" sz="1300" dirty="0">
                <a:solidFill>
                  <a:srgbClr val="1A2233"/>
                </a:solidFill>
                <a:latin typeface="Calibri" pitchFamily="34" charset="0"/>
                <a:ea typeface="Calibri" pitchFamily="34" charset="-122"/>
                <a:cs typeface="Calibri" pitchFamily="34" charset="-120"/>
              </a:rPr>
              <a:t> the loyalty scheme makes people spend more.</a:t>
            </a:r>
            <a:endParaRPr lang="en-US" sz="1300" dirty="0"/>
          </a:p>
          <a:p>
            <a:pPr marL="177800" indent="-177800">
              <a:spcAft>
                <a:spcPts val="900"/>
              </a:spcAft>
              <a:buSzPct val="100000"/>
              <a:buChar char="•"/>
            </a:pPr>
            <a:r>
              <a:rPr lang="en-US" sz="1300" b="1" dirty="0">
                <a:solidFill>
                  <a:srgbClr val="1A2233"/>
                </a:solidFill>
                <a:latin typeface="Calibri" pitchFamily="34" charset="0"/>
                <a:ea typeface="Calibri" pitchFamily="34" charset="-122"/>
                <a:cs typeface="Calibri" pitchFamily="34" charset="-120"/>
              </a:rPr>
              <a:t>Alternative:</a:t>
            </a:r>
            <a:r>
              <a:rPr lang="en-US" sz="1300" dirty="0">
                <a:solidFill>
                  <a:srgbClr val="1A2233"/>
                </a:solidFill>
                <a:latin typeface="Calibri" pitchFamily="34" charset="0"/>
                <a:ea typeface="Calibri" pitchFamily="34" charset="-122"/>
                <a:cs typeface="Calibri" pitchFamily="34" charset="-120"/>
              </a:rPr>
              <a:t> big spenders are more likely to join in the first place.</a:t>
            </a:r>
            <a:endParaRPr lang="en-US" sz="1300" dirty="0"/>
          </a:p>
          <a:p>
            <a:pPr marL="177800" indent="-177800">
              <a:spcAft>
                <a:spcPts val="900"/>
              </a:spcAft>
              <a:buSzPct val="100000"/>
              <a:buChar char="•"/>
            </a:pPr>
            <a:r>
              <a:rPr lang="en-US" sz="1300" dirty="0">
                <a:solidFill>
                  <a:srgbClr val="1A2233"/>
                </a:solidFill>
                <a:latin typeface="Calibri" pitchFamily="34" charset="0"/>
                <a:ea typeface="Calibri" pitchFamily="34" charset="-122"/>
                <a:cs typeface="Calibri" pitchFamily="34" charset="-120"/>
              </a:rPr>
              <a:t>Separating these needs an experiment — Session 3.1.</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HANDS-ON LAB</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Guided Lab: Load, Inspect, Question</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39</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8" name="Shape 4"/>
          <p:cNvSpPr/>
          <p:nvPr/>
        </p:nvSpPr>
        <p:spPr>
          <a:xfrm>
            <a:off x="640080" y="1691640"/>
            <a:ext cx="3749040" cy="4434840"/>
          </a:xfrm>
          <a:prstGeom prst="roundRect">
            <a:avLst>
              <a:gd name="adj" fmla="val 1951"/>
            </a:avLst>
          </a:prstGeom>
          <a:solidFill>
            <a:srgbClr val="141B4D"/>
          </a:solidFill>
          <a:ln w="12700">
            <a:solidFill>
              <a:srgbClr val="141B4D"/>
            </a:solidFill>
            <a:prstDash val="solid"/>
          </a:ln>
        </p:spPr>
        <p:txBody>
          <a:bodyPr/>
          <a:p/>
        </p:txBody>
      </p:sp>
      <p:sp>
        <p:nvSpPr>
          <p:cNvPr id="9" name="Text 5"/>
          <p:cNvSpPr txBox="1"/>
          <p:nvPr/>
        </p:nvSpPr>
        <p:spPr>
          <a:xfrm>
            <a:off x="914400" y="1920240"/>
            <a:ext cx="3200400" cy="274320"/>
          </a:xfrm>
          <a:prstGeom prst="rect">
            <a:avLst/>
          </a:prstGeom>
          <a:noFill/>
          <a:ln/>
        </p:spPr>
        <p:txBody>
          <a:bodyPr wrap="square" lIns="0" tIns="0" rIns="0" bIns="0" rtlCol="0" anchor="t"/>
          <a:lstStyle/>
          <a:p>
            <a:pPr indent="0" marL="0">
              <a:buNone/>
            </a:pPr>
            <a:r>
              <a:rPr lang="en-US" sz="1100" b="1" spc="300" kern="0" dirty="0">
                <a:solidFill>
                  <a:srgbClr val="D99A2B"/>
                </a:solidFill>
                <a:latin typeface="Calibri" pitchFamily="34" charset="0"/>
                <a:ea typeface="Calibri" pitchFamily="34" charset="-122"/>
                <a:cs typeface="Calibri" pitchFamily="34" charset="-120"/>
              </a:rPr>
              <a:t>YOU WILL NEED</a:t>
            </a:r>
            <a:endParaRPr lang="en-US" sz="1100" dirty="0"/>
          </a:p>
        </p:txBody>
      </p:sp>
      <p:pic>
        <p:nvPicPr>
          <p:cNvPr id="10" name="Image 1" descr="preencoded.png">    </p:cNvPr>
          <p:cNvPicPr>
            <a:picLocks noChangeAspect="1"/>
          </p:cNvPicPr>
          <p:nvPr/>
        </p:nvPicPr>
        <p:blipFill>
          <a:blip r:embed="rId2"/>
          <a:stretch>
            <a:fillRect/>
          </a:stretch>
        </p:blipFill>
        <p:spPr>
          <a:xfrm>
            <a:off x="914400" y="2423160"/>
            <a:ext cx="365760" cy="365760"/>
          </a:xfrm>
          <a:prstGeom prst="rect">
            <a:avLst/>
          </a:prstGeom>
        </p:spPr>
      </p:pic>
      <p:sp>
        <p:nvSpPr>
          <p:cNvPr id="11" name="Text 6"/>
          <p:cNvSpPr txBox="1"/>
          <p:nvPr/>
        </p:nvSpPr>
        <p:spPr>
          <a:xfrm>
            <a:off x="1417320" y="237744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p:txBody>
      </p:sp>
      <p:sp>
        <p:nvSpPr>
          <p:cNvPr id="12" name="Text 7"/>
          <p:cNvSpPr txBox="1"/>
          <p:nvPr/>
        </p:nvSpPr>
        <p:spPr>
          <a:xfrm>
            <a:off x="1417320" y="267004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data/retail_transactions.csv</a:t>
            </a:r>
            <a:endParaRPr lang="en-US" sz="1050" dirty="0"/>
          </a:p>
        </p:txBody>
      </p:sp>
      <p:pic>
        <p:nvPicPr>
          <p:cNvPr id="13" name="Image 2" descr="preencoded.png">    </p:cNvPr>
          <p:cNvPicPr>
            <a:picLocks noChangeAspect="1"/>
          </p:cNvPicPr>
          <p:nvPr/>
        </p:nvPicPr>
        <p:blipFill>
          <a:blip r:embed="rId3"/>
          <a:stretch>
            <a:fillRect/>
          </a:stretch>
        </p:blipFill>
        <p:spPr>
          <a:xfrm>
            <a:off x="914400" y="3474720"/>
            <a:ext cx="365760" cy="365760"/>
          </a:xfrm>
          <a:prstGeom prst="rect">
            <a:avLst/>
          </a:prstGeom>
        </p:spPr>
      </p:pic>
      <p:sp>
        <p:nvSpPr>
          <p:cNvPr id="14" name="Text 8"/>
          <p:cNvSpPr txBox="1"/>
          <p:nvPr/>
        </p:nvSpPr>
        <p:spPr>
          <a:xfrm>
            <a:off x="1417320" y="342900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 script</a:t>
            </a:r>
            <a:endParaRPr lang="en-US" sz="1200" dirty="0"/>
          </a:p>
        </p:txBody>
      </p:sp>
      <p:sp>
        <p:nvSpPr>
          <p:cNvPr id="15" name="Text 9"/>
          <p:cNvSpPr txBox="1"/>
          <p:nvPr/>
        </p:nvSpPr>
        <p:spPr>
          <a:xfrm>
            <a:off x="1417320" y="372160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sessions/2-1/R/tdbg_2_1_lab.R</a:t>
            </a:r>
            <a:endParaRPr lang="en-US" sz="1050" dirty="0"/>
          </a:p>
        </p:txBody>
      </p:sp>
      <p:pic>
        <p:nvPicPr>
          <p:cNvPr id="16" name="Image 3" descr="preencoded.png">    </p:cNvPr>
          <p:cNvPicPr>
            <a:picLocks noChangeAspect="1"/>
          </p:cNvPicPr>
          <p:nvPr/>
        </p:nvPicPr>
        <p:blipFill>
          <a:blip r:embed="rId4"/>
          <a:stretch>
            <a:fillRect/>
          </a:stretch>
        </p:blipFill>
        <p:spPr>
          <a:xfrm>
            <a:off x="914400" y="4526280"/>
            <a:ext cx="365760" cy="365760"/>
          </a:xfrm>
          <a:prstGeom prst="rect">
            <a:avLst/>
          </a:prstGeom>
        </p:spPr>
      </p:pic>
      <p:sp>
        <p:nvSpPr>
          <p:cNvPr id="17" name="Text 10"/>
          <p:cNvSpPr txBox="1"/>
          <p:nvPr/>
        </p:nvSpPr>
        <p:spPr>
          <a:xfrm>
            <a:off x="1417320" y="4480560"/>
            <a:ext cx="274320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Python script</a:t>
            </a:r>
            <a:endParaRPr lang="en-US" sz="1200" dirty="0"/>
          </a:p>
        </p:txBody>
      </p:sp>
      <p:sp>
        <p:nvSpPr>
          <p:cNvPr id="18" name="Text 11"/>
          <p:cNvSpPr txBox="1"/>
          <p:nvPr/>
        </p:nvSpPr>
        <p:spPr>
          <a:xfrm>
            <a:off x="1417320" y="4773168"/>
            <a:ext cx="2834640" cy="640080"/>
          </a:xfrm>
          <a:prstGeom prst="rect">
            <a:avLst/>
          </a:prstGeom>
          <a:noFill/>
          <a:ln/>
        </p:spPr>
        <p:txBody>
          <a:bodyPr wrap="square" lIns="0" tIns="0" rIns="0" bIns="0" rtlCol="0" anchor="t"/>
          <a:lstStyle/>
          <a:p>
            <a:pPr indent="0" marL="0">
              <a:buNone/>
            </a:pPr>
            <a:r>
              <a:rPr lang="en-US" sz="1050" dirty="0">
                <a:solidFill>
                  <a:srgbClr val="C7D3E3"/>
                </a:solidFill>
                <a:latin typeface="Courier New" pitchFamily="34" charset="0"/>
                <a:ea typeface="Courier New" pitchFamily="34" charset="-122"/>
                <a:cs typeface="Courier New" pitchFamily="34" charset="-120"/>
              </a:rPr>
              <a:t>sessions/2-1/python/tdbg_2_1_lab.py</a:t>
            </a:r>
            <a:endParaRPr lang="en-US" sz="1050" dirty="0"/>
          </a:p>
        </p:txBody>
      </p:sp>
      <p:sp>
        <p:nvSpPr>
          <p:cNvPr id="19" name="Text 12"/>
          <p:cNvSpPr txBox="1"/>
          <p:nvPr/>
        </p:nvSpPr>
        <p:spPr>
          <a:xfrm>
            <a:off x="914400" y="5623560"/>
            <a:ext cx="3200400" cy="3200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  25 minutes</a:t>
            </a:r>
            <a:endParaRPr lang="en-US" sz="1300" dirty="0"/>
          </a:p>
        </p:txBody>
      </p:sp>
      <p:sp>
        <p:nvSpPr>
          <p:cNvPr id="20" name="Shape 13"/>
          <p:cNvSpPr/>
          <p:nvPr/>
        </p:nvSpPr>
        <p:spPr>
          <a:xfrm>
            <a:off x="4663440" y="1737360"/>
            <a:ext cx="384048" cy="384048"/>
          </a:xfrm>
          <a:prstGeom prst="ellipse">
            <a:avLst/>
          </a:prstGeom>
          <a:solidFill>
            <a:srgbClr val="0B5E82"/>
          </a:solidFill>
          <a:ln w="12700">
            <a:solidFill>
              <a:srgbClr val="0B5E82"/>
            </a:solidFill>
            <a:prstDash val="solid"/>
          </a:ln>
        </p:spPr>
        <p:txBody>
          <a:bodyPr/>
          <a:p/>
        </p:txBody>
      </p:sp>
      <p:sp>
        <p:nvSpPr>
          <p:cNvPr id="21" name="Text 14"/>
          <p:cNvSpPr txBox="1"/>
          <p:nvPr/>
        </p:nvSpPr>
        <p:spPr>
          <a:xfrm>
            <a:off x="46634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 15"/>
          <p:cNvSpPr txBox="1"/>
          <p:nvPr/>
        </p:nvSpPr>
        <p:spPr>
          <a:xfrm>
            <a:off x="5212080" y="169164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Open </a:t>
            </a:r>
            <a:r>
              <a:rPr lang="en-US" sz="1350" b="1" dirty="0">
                <a:solidFill>
                  <a:srgbClr val="1A2233"/>
                </a:solidFill>
                <a:latin typeface="Calibri" pitchFamily="34" charset="0"/>
                <a:ea typeface="Calibri" pitchFamily="34" charset="-122"/>
                <a:cs typeface="Calibri" pitchFamily="34" charset="-120"/>
              </a:rPr>
              <a:t>tdbg-labs.Rproj</a:t>
            </a:r>
            <a:r>
              <a:rPr lang="en-US" sz="1350" dirty="0">
                <a:solidFill>
                  <a:srgbClr val="1A2233"/>
                </a:solidFill>
                <a:latin typeface="Calibri" pitchFamily="34" charset="0"/>
                <a:ea typeface="Calibri" pitchFamily="34" charset="-122"/>
                <a:cs typeface="Calibri" pitchFamily="34" charset="-120"/>
              </a:rPr>
              <a:t> in RStudio. Open the lab script in your language.</a:t>
            </a:r>
            <a:endParaRPr lang="en-US" sz="1350" dirty="0"/>
          </a:p>
        </p:txBody>
      </p:sp>
      <p:sp>
        <p:nvSpPr>
          <p:cNvPr id="23" name="Shape 16"/>
          <p:cNvSpPr/>
          <p:nvPr/>
        </p:nvSpPr>
        <p:spPr>
          <a:xfrm>
            <a:off x="4663440" y="2468880"/>
            <a:ext cx="384048" cy="384048"/>
          </a:xfrm>
          <a:prstGeom prst="ellipse">
            <a:avLst/>
          </a:prstGeom>
          <a:solidFill>
            <a:srgbClr val="0B5E82"/>
          </a:solidFill>
          <a:ln w="12700">
            <a:solidFill>
              <a:srgbClr val="0B5E82"/>
            </a:solidFill>
            <a:prstDash val="solid"/>
          </a:ln>
        </p:spPr>
        <p:txBody>
          <a:bodyPr/>
          <a:p/>
        </p:txBody>
      </p:sp>
      <p:sp>
        <p:nvSpPr>
          <p:cNvPr id="24" name="Text 17"/>
          <p:cNvSpPr txBox="1"/>
          <p:nvPr/>
        </p:nvSpPr>
        <p:spPr>
          <a:xfrm>
            <a:off x="466344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18"/>
          <p:cNvSpPr txBox="1"/>
          <p:nvPr/>
        </p:nvSpPr>
        <p:spPr>
          <a:xfrm>
            <a:off x="5212080" y="242316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Run section 1–2: load the file and inspect it. What does one row represent?</a:t>
            </a:r>
            <a:endParaRPr lang="en-US" sz="1350" dirty="0"/>
          </a:p>
        </p:txBody>
      </p:sp>
      <p:sp>
        <p:nvSpPr>
          <p:cNvPr id="26" name="Shape 19"/>
          <p:cNvSpPr/>
          <p:nvPr/>
        </p:nvSpPr>
        <p:spPr>
          <a:xfrm>
            <a:off x="4663440" y="3200400"/>
            <a:ext cx="384048" cy="384048"/>
          </a:xfrm>
          <a:prstGeom prst="ellipse">
            <a:avLst/>
          </a:prstGeom>
          <a:solidFill>
            <a:srgbClr val="0B5E82"/>
          </a:solidFill>
          <a:ln w="12700">
            <a:solidFill>
              <a:srgbClr val="0B5E82"/>
            </a:solidFill>
            <a:prstDash val="solid"/>
          </a:ln>
        </p:spPr>
        <p:txBody>
          <a:bodyPr/>
          <a:p/>
        </p:txBody>
      </p:sp>
      <p:sp>
        <p:nvSpPr>
          <p:cNvPr id="27" name="Text 20"/>
          <p:cNvSpPr txBox="1"/>
          <p:nvPr/>
        </p:nvSpPr>
        <p:spPr>
          <a:xfrm>
            <a:off x="466344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1"/>
          <p:cNvSpPr txBox="1"/>
          <p:nvPr/>
        </p:nvSpPr>
        <p:spPr>
          <a:xfrm>
            <a:off x="5212080" y="315468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Run section 3: check missing values, duplicate IDs and the range of basket values.</a:t>
            </a:r>
            <a:endParaRPr lang="en-US" sz="1350" dirty="0"/>
          </a:p>
        </p:txBody>
      </p:sp>
      <p:sp>
        <p:nvSpPr>
          <p:cNvPr id="29" name="Shape 22"/>
          <p:cNvSpPr/>
          <p:nvPr/>
        </p:nvSpPr>
        <p:spPr>
          <a:xfrm>
            <a:off x="4663440" y="3931920"/>
            <a:ext cx="384048" cy="384048"/>
          </a:xfrm>
          <a:prstGeom prst="ellipse">
            <a:avLst/>
          </a:prstGeom>
          <a:solidFill>
            <a:srgbClr val="0B5E82"/>
          </a:solidFill>
          <a:ln w="12700">
            <a:solidFill>
              <a:srgbClr val="0B5E82"/>
            </a:solidFill>
            <a:prstDash val="solid"/>
          </a:ln>
        </p:spPr>
        <p:txBody>
          <a:bodyPr/>
          <a:p/>
        </p:txBody>
      </p:sp>
      <p:sp>
        <p:nvSpPr>
          <p:cNvPr id="30" name="Text 23"/>
          <p:cNvSpPr txBox="1"/>
          <p:nvPr/>
        </p:nvSpPr>
        <p:spPr>
          <a:xfrm>
            <a:off x="4663440"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1" name="Text 24"/>
          <p:cNvSpPr txBox="1"/>
          <p:nvPr/>
        </p:nvSpPr>
        <p:spPr>
          <a:xfrm>
            <a:off x="5212080" y="388620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Run section 4–5: summarise revenue by category and draw the histogram.</a:t>
            </a:r>
            <a:endParaRPr lang="en-US" sz="1350" dirty="0"/>
          </a:p>
        </p:txBody>
      </p:sp>
      <p:sp>
        <p:nvSpPr>
          <p:cNvPr id="32" name="Shape 25"/>
          <p:cNvSpPr/>
          <p:nvPr/>
        </p:nvSpPr>
        <p:spPr>
          <a:xfrm>
            <a:off x="4663440" y="4663440"/>
            <a:ext cx="384048" cy="384048"/>
          </a:xfrm>
          <a:prstGeom prst="ellipse">
            <a:avLst/>
          </a:prstGeom>
          <a:solidFill>
            <a:srgbClr val="0B5E82"/>
          </a:solidFill>
          <a:ln w="12700">
            <a:solidFill>
              <a:srgbClr val="0B5E82"/>
            </a:solidFill>
            <a:prstDash val="solid"/>
          </a:ln>
        </p:spPr>
        <p:txBody>
          <a:bodyPr/>
          <a:p/>
        </p:txBody>
      </p:sp>
      <p:sp>
        <p:nvSpPr>
          <p:cNvPr id="33" name="Text 26"/>
          <p:cNvSpPr txBox="1"/>
          <p:nvPr/>
        </p:nvSpPr>
        <p:spPr>
          <a:xfrm>
            <a:off x="4663440" y="4663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27"/>
          <p:cNvSpPr txBox="1"/>
          <p:nvPr/>
        </p:nvSpPr>
        <p:spPr>
          <a:xfrm>
            <a:off x="5212080" y="4617720"/>
            <a:ext cx="6309360" cy="685800"/>
          </a:xfrm>
          <a:prstGeom prst="rect">
            <a:avLst/>
          </a:prstGeom>
          <a:noFill/>
          <a:ln/>
        </p:spPr>
        <p:txBody>
          <a:bodyPr wrap="square" lIns="0" tIns="0" rIns="0" bIns="0" rtlCol="0" anchor="t"/>
          <a:lstStyle/>
          <a:p>
            <a:pPr indent="0" marL="0">
              <a:buNone/>
            </a:pPr>
            <a:r>
              <a:rPr lang="en-US" sz="1350" dirty="0">
                <a:solidFill>
                  <a:srgbClr val="1A2233"/>
                </a:solidFill>
                <a:latin typeface="Calibri" pitchFamily="34" charset="0"/>
                <a:ea typeface="Calibri" pitchFamily="34" charset="-122"/>
                <a:cs typeface="Calibri" pitchFamily="34" charset="-120"/>
              </a:rPr>
              <a:t>Section 6 — your turn: top store by revenue, share of loyalty receipts, one predictive question.</a:t>
            </a:r>
            <a:endParaRPr lang="en-US" sz="1350" dirty="0"/>
          </a:p>
        </p:txBody>
      </p:sp>
      <p:sp>
        <p:nvSpPr>
          <p:cNvPr id="35" name="Shape 28"/>
          <p:cNvSpPr/>
          <p:nvPr/>
        </p:nvSpPr>
        <p:spPr>
          <a:xfrm>
            <a:off x="4663440" y="5394960"/>
            <a:ext cx="6858000" cy="731520"/>
          </a:xfrm>
          <a:prstGeom prst="roundRect">
            <a:avLst>
              <a:gd name="adj" fmla="val 7500"/>
            </a:avLst>
          </a:prstGeom>
          <a:solidFill>
            <a:srgbClr val="F3F6F9"/>
          </a:solidFill>
          <a:ln w="12700">
            <a:solidFill>
              <a:srgbClr val="D99A2B"/>
            </a:solidFill>
            <a:prstDash val="solid"/>
          </a:ln>
        </p:spPr>
        <p:txBody>
          <a:bodyPr/>
          <a:p/>
        </p:txBody>
      </p:sp>
      <p:sp>
        <p:nvSpPr>
          <p:cNvPr id="36" name="Text 29"/>
          <p:cNvSpPr txBox="1"/>
          <p:nvPr/>
        </p:nvSpPr>
        <p:spPr>
          <a:xfrm>
            <a:off x="4892040" y="5394960"/>
            <a:ext cx="6400800" cy="731520"/>
          </a:xfrm>
          <a:prstGeom prst="rect">
            <a:avLst/>
          </a:prstGeom>
          <a:noFill/>
          <a:ln/>
        </p:spPr>
        <p:txBody>
          <a:bodyPr wrap="square" lIns="0" tIns="0" rIns="0" bIns="0" rtlCol="0" anchor="ctr"/>
          <a:lstStyle/>
          <a:p>
            <a:pPr indent="0" marL="0">
              <a:buNone/>
            </a:pPr>
            <a:r>
              <a:rPr lang="en-US" sz="1300" b="1" dirty="0">
                <a:solidFill>
                  <a:srgbClr val="141B4D"/>
                </a:solidFill>
                <a:latin typeface="Calibri" pitchFamily="34" charset="0"/>
                <a:ea typeface="Calibri" pitchFamily="34" charset="-122"/>
                <a:cs typeface="Calibri" pitchFamily="34" charset="-120"/>
              </a:rPr>
              <a:t>Deliverable:</a:t>
            </a:r>
            <a:r>
              <a:rPr lang="en-US" sz="1300" dirty="0">
                <a:solidFill>
                  <a:srgbClr val="141B4D"/>
                </a:solidFill>
                <a:latin typeface="Calibri" pitchFamily="34" charset="0"/>
                <a:ea typeface="Calibri" pitchFamily="34" charset="-122"/>
                <a:cs typeface="Calibri" pitchFamily="34" charset="-120"/>
              </a:rPr>
              <a:t> post your predictive question and the top store's revenue in the class channel.</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9601200" cy="274320"/>
          </a:xfrm>
          <a:prstGeom prst="rect">
            <a:avLst/>
          </a:prstGeom>
          <a:noFill/>
          <a:ln/>
        </p:spPr>
        <p:txBody>
          <a:bodyPr wrap="square" lIns="0" tIns="0" rIns="0" bIns="0" rtlCol="0" anchor="t"/>
          <a:lstStyle/>
          <a:p>
            <a:pPr indent="0" marL="0">
              <a:buNone/>
            </a:pPr>
            <a:r>
              <a:rPr lang="en-US" sz="1150" b="1" spc="300" kern="0" dirty="0">
                <a:solidFill>
                  <a:srgbClr val="1C7293"/>
                </a:solidFill>
                <a:latin typeface="Calibri" pitchFamily="34" charset="0"/>
                <a:ea typeface="Calibri" pitchFamily="34" charset="-122"/>
                <a:cs typeface="Calibri" pitchFamily="34" charset="-120"/>
              </a:rPr>
              <a:t>WORDS TO OWN</a:t>
            </a:r>
            <a:endParaRPr lang="en-US" sz="1150" dirty="0"/>
          </a:p>
        </p:txBody>
      </p:sp>
      <p:sp>
        <p:nvSpPr>
          <p:cNvPr id="3" name="Text 1"/>
          <p:cNvSpPr txBox="1"/>
          <p:nvPr/>
        </p:nvSpPr>
        <p:spPr>
          <a:xfrm>
            <a:off x="640080" y="676656"/>
            <a:ext cx="10607040" cy="640080"/>
          </a:xfrm>
          <a:prstGeom prst="rect">
            <a:avLst/>
          </a:prstGeom>
          <a:noFill/>
          <a:ln/>
        </p:spPr>
        <p:txBody>
          <a:bodyPr wrap="square" lIns="0" tIns="0" rIns="0" bIns="0" rtlCol="0" anchor="ctr">
            <a:normAutofit/>
          </a:bodyPr>
          <a:lstStyle/>
          <a:p>
            <a:pPr indent="0" marL="0">
              <a:buNone/>
            </a:pPr>
            <a:r>
              <a:rPr lang="en-US" sz="2800" b="1" dirty="0">
                <a:solidFill>
                  <a:srgbClr val="141B4D"/>
                </a:solidFill>
                <a:latin typeface="Cambria" pitchFamily="34" charset="0"/>
                <a:ea typeface="Cambria" pitchFamily="34" charset="-122"/>
                <a:cs typeface="Cambria" pitchFamily="34" charset="-120"/>
              </a:rPr>
              <a:t>Today's Vocabulary in Plain English</a:t>
            </a:r>
            <a:endParaRPr lang="en-US" sz="2800" dirty="0"/>
          </a:p>
        </p:txBody>
      </p:sp>
      <p:sp>
        <p:nvSpPr>
          <p:cNvPr id="4" name="Text 2"/>
          <p:cNvSpPr txBox="1"/>
          <p:nvPr/>
        </p:nvSpPr>
        <p:spPr>
          <a:xfrm>
            <a:off x="640080" y="6419088"/>
            <a:ext cx="8229600" cy="228600"/>
          </a:xfrm>
          <a:prstGeom prst="rect">
            <a:avLst/>
          </a:prstGeom>
          <a:noFill/>
          <a:ln/>
        </p:spPr>
        <p:txBody>
          <a:bodyPr wrap="square" lIns="0" tIns="0" rIns="0" bIns="0" rtlCol="0" anchor="t"/>
          <a:lstStyle/>
          <a:p>
            <a:pPr indent="0" marL="0">
              <a:buNone/>
            </a:pPr>
            <a:r>
              <a:rPr lang="en-US" sz="800" spc="200" kern="0" dirty="0">
                <a:solidFill>
                  <a:srgbClr val="5C6B7A"/>
                </a:solidFill>
                <a:latin typeface="Calibri" pitchFamily="34" charset="0"/>
                <a:ea typeface="Calibri" pitchFamily="34" charset="-122"/>
                <a:cs typeface="Calibri" pitchFamily="34" charset="-120"/>
              </a:rPr>
              <a:t>SESSION 2.1  ·  THE ANALYTICS MINDSET</a:t>
            </a:r>
            <a:endParaRPr lang="en-US" sz="800" dirty="0"/>
          </a:p>
        </p:txBody>
      </p:sp>
      <p:sp>
        <p:nvSpPr>
          <p:cNvPr id="5" name="Text 3"/>
          <p:cNvSpPr txBox="1"/>
          <p:nvPr/>
        </p:nvSpPr>
        <p:spPr>
          <a:xfrm>
            <a:off x="11155680" y="6419088"/>
            <a:ext cx="411480" cy="228600"/>
          </a:xfrm>
          <a:prstGeom prst="rect">
            <a:avLst/>
          </a:prstGeom>
          <a:noFill/>
          <a:ln/>
        </p:spPr>
        <p:txBody>
          <a:bodyPr wrap="square" lIns="0" tIns="0" rIns="0" bIns="0" rtlCol="0" anchor="t"/>
          <a:lstStyle/>
          <a:p>
            <a:pPr algn="r" indent="0" marL="0">
              <a:buNone/>
            </a:pPr>
            <a:r>
              <a:rPr lang="en-US" sz="800" dirty="0">
                <a:solidFill>
                  <a:srgbClr val="5C6B7A"/>
                </a:solidFill>
                <a:latin typeface="Calibri" pitchFamily="34" charset="0"/>
                <a:ea typeface="Calibri" pitchFamily="34" charset="-122"/>
                <a:cs typeface="Calibri" pitchFamily="34" charset="-120"/>
              </a:rPr>
              <a:t>40</a:t>
            </a:r>
            <a:endParaRPr lang="en-US" sz="800" dirty="0"/>
          </a:p>
        </p:txBody>
      </p:sp>
      <p:pic>
        <p:nvPicPr>
          <p:cNvPr id="6" name="Image 0" descr="/home/claude/da1/assets/logos/da1_hex_256.png">    </p:cNvPr>
          <p:cNvPicPr>
            <a:picLocks noChangeAspect="1"/>
          </p:cNvPicPr>
          <p:nvPr/>
        </p:nvPicPr>
        <p:blipFill>
          <a:blip r:embed="rId1"/>
          <a:stretch>
            <a:fillRect/>
          </a:stretch>
        </p:blipFill>
        <p:spPr>
          <a:xfrm>
            <a:off x="11631168" y="6336792"/>
            <a:ext cx="347472" cy="347472"/>
          </a:xfrm>
          <a:prstGeom prst="rect">
            <a:avLst/>
          </a:prstGeom>
        </p:spPr>
      </p:pic>
      <p:sp>
        <p:nvSpPr>
          <p:cNvPr id="7" name="Shape 4"/>
          <p:cNvSpPr/>
          <p:nvPr/>
        </p:nvSpPr>
        <p:spPr>
          <a:xfrm>
            <a:off x="640080" y="1728216"/>
            <a:ext cx="5349240" cy="795528"/>
          </a:xfrm>
          <a:prstGeom prst="roundRect">
            <a:avLst>
              <a:gd name="adj" fmla="val 5747"/>
            </a:avLst>
          </a:prstGeom>
          <a:solidFill>
            <a:srgbClr val="F3F6F9"/>
          </a:solidFill>
          <a:ln w="9525">
            <a:solidFill>
              <a:srgbClr val="E1E7EE"/>
            </a:solidFill>
            <a:prstDash val="solid"/>
          </a:ln>
        </p:spPr>
        <p:txBody>
          <a:bodyPr/>
          <a:p/>
        </p:txBody>
      </p:sp>
      <p:sp>
        <p:nvSpPr>
          <p:cNvPr id="8" name="Text 5"/>
          <p:cNvSpPr txBox="1"/>
          <p:nvPr/>
        </p:nvSpPr>
        <p:spPr>
          <a:xfrm>
            <a:off x="822960" y="1728216"/>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Dataset</a:t>
            </a:r>
            <a:endParaRPr lang="en-US" sz="1300" dirty="0"/>
          </a:p>
        </p:txBody>
      </p:sp>
      <p:sp>
        <p:nvSpPr>
          <p:cNvPr id="9" name="Text 6"/>
          <p:cNvSpPr txBox="1"/>
          <p:nvPr/>
        </p:nvSpPr>
        <p:spPr>
          <a:xfrm>
            <a:off x="2468880" y="1728216"/>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table of observations (rows) and variables (columns).</a:t>
            </a:r>
            <a:endParaRPr lang="en-US" sz="1150" dirty="0"/>
          </a:p>
        </p:txBody>
      </p:sp>
      <p:sp>
        <p:nvSpPr>
          <p:cNvPr id="10" name="Shape 7"/>
          <p:cNvSpPr/>
          <p:nvPr/>
        </p:nvSpPr>
        <p:spPr>
          <a:xfrm>
            <a:off x="640080" y="2615184"/>
            <a:ext cx="5349240" cy="795528"/>
          </a:xfrm>
          <a:prstGeom prst="roundRect">
            <a:avLst>
              <a:gd name="adj" fmla="val 5747"/>
            </a:avLst>
          </a:prstGeom>
          <a:solidFill>
            <a:srgbClr val="F3F6F9"/>
          </a:solidFill>
          <a:ln w="9525">
            <a:solidFill>
              <a:srgbClr val="E1E7EE"/>
            </a:solidFill>
            <a:prstDash val="solid"/>
          </a:ln>
        </p:spPr>
        <p:txBody>
          <a:bodyPr/>
          <a:p/>
        </p:txBody>
      </p:sp>
      <p:sp>
        <p:nvSpPr>
          <p:cNvPr id="11" name="Text 8"/>
          <p:cNvSpPr txBox="1"/>
          <p:nvPr/>
        </p:nvSpPr>
        <p:spPr>
          <a:xfrm>
            <a:off x="822960" y="2615184"/>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Observation</a:t>
            </a:r>
            <a:endParaRPr lang="en-US" sz="1300" dirty="0"/>
          </a:p>
        </p:txBody>
      </p:sp>
      <p:sp>
        <p:nvSpPr>
          <p:cNvPr id="12" name="Text 9"/>
          <p:cNvSpPr txBox="1"/>
          <p:nvPr/>
        </p:nvSpPr>
        <p:spPr>
          <a:xfrm>
            <a:off x="2468880" y="2615184"/>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One row — one receipt, customer or loan.</a:t>
            </a:r>
            <a:endParaRPr lang="en-US" sz="1150" dirty="0"/>
          </a:p>
        </p:txBody>
      </p:sp>
      <p:sp>
        <p:nvSpPr>
          <p:cNvPr id="13" name="Shape 10"/>
          <p:cNvSpPr/>
          <p:nvPr/>
        </p:nvSpPr>
        <p:spPr>
          <a:xfrm>
            <a:off x="640080" y="3502152"/>
            <a:ext cx="5349240" cy="795528"/>
          </a:xfrm>
          <a:prstGeom prst="roundRect">
            <a:avLst>
              <a:gd name="adj" fmla="val 5747"/>
            </a:avLst>
          </a:prstGeom>
          <a:solidFill>
            <a:srgbClr val="F3F6F9"/>
          </a:solidFill>
          <a:ln w="9525">
            <a:solidFill>
              <a:srgbClr val="E1E7EE"/>
            </a:solidFill>
            <a:prstDash val="solid"/>
          </a:ln>
        </p:spPr>
        <p:txBody>
          <a:bodyPr/>
          <a:p/>
        </p:txBody>
      </p:sp>
      <p:sp>
        <p:nvSpPr>
          <p:cNvPr id="14" name="Text 11"/>
          <p:cNvSpPr txBox="1"/>
          <p:nvPr/>
        </p:nvSpPr>
        <p:spPr>
          <a:xfrm>
            <a:off x="822960" y="3502152"/>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Variable</a:t>
            </a:r>
            <a:endParaRPr lang="en-US" sz="1300" dirty="0"/>
          </a:p>
        </p:txBody>
      </p:sp>
      <p:sp>
        <p:nvSpPr>
          <p:cNvPr id="15" name="Text 12"/>
          <p:cNvSpPr txBox="1"/>
          <p:nvPr/>
        </p:nvSpPr>
        <p:spPr>
          <a:xfrm>
            <a:off x="2468880" y="3502152"/>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One column — a fact recorded for every row.</a:t>
            </a:r>
            <a:endParaRPr lang="en-US" sz="1150" dirty="0"/>
          </a:p>
        </p:txBody>
      </p:sp>
      <p:sp>
        <p:nvSpPr>
          <p:cNvPr id="16" name="Shape 13"/>
          <p:cNvSpPr/>
          <p:nvPr/>
        </p:nvSpPr>
        <p:spPr>
          <a:xfrm>
            <a:off x="640080" y="4389120"/>
            <a:ext cx="5349240" cy="795528"/>
          </a:xfrm>
          <a:prstGeom prst="roundRect">
            <a:avLst>
              <a:gd name="adj" fmla="val 5747"/>
            </a:avLst>
          </a:prstGeom>
          <a:solidFill>
            <a:srgbClr val="F3F6F9"/>
          </a:solidFill>
          <a:ln w="9525">
            <a:solidFill>
              <a:srgbClr val="E1E7EE"/>
            </a:solidFill>
            <a:prstDash val="solid"/>
          </a:ln>
        </p:spPr>
        <p:txBody>
          <a:bodyPr/>
          <a:p/>
        </p:txBody>
      </p:sp>
      <p:sp>
        <p:nvSpPr>
          <p:cNvPr id="17" name="Text 14"/>
          <p:cNvSpPr txBox="1"/>
          <p:nvPr/>
        </p:nvSpPr>
        <p:spPr>
          <a:xfrm>
            <a:off x="822960" y="4389120"/>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Unit of analysis</a:t>
            </a:r>
            <a:endParaRPr lang="en-US" sz="1300" dirty="0"/>
          </a:p>
        </p:txBody>
      </p:sp>
      <p:sp>
        <p:nvSpPr>
          <p:cNvPr id="18" name="Text 15"/>
          <p:cNvSpPr txBox="1"/>
          <p:nvPr/>
        </p:nvSpPr>
        <p:spPr>
          <a:xfrm>
            <a:off x="2468880" y="4389120"/>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What one row represents; decide it before calculating.</a:t>
            </a:r>
            <a:endParaRPr lang="en-US" sz="1150" dirty="0"/>
          </a:p>
        </p:txBody>
      </p:sp>
      <p:sp>
        <p:nvSpPr>
          <p:cNvPr id="19" name="Shape 16"/>
          <p:cNvSpPr/>
          <p:nvPr/>
        </p:nvSpPr>
        <p:spPr>
          <a:xfrm>
            <a:off x="640080" y="5276088"/>
            <a:ext cx="5349240" cy="795528"/>
          </a:xfrm>
          <a:prstGeom prst="roundRect">
            <a:avLst>
              <a:gd name="adj" fmla="val 5747"/>
            </a:avLst>
          </a:prstGeom>
          <a:solidFill>
            <a:srgbClr val="F3F6F9"/>
          </a:solidFill>
          <a:ln w="9525">
            <a:solidFill>
              <a:srgbClr val="E1E7EE"/>
            </a:solidFill>
            <a:prstDash val="solid"/>
          </a:ln>
        </p:spPr>
        <p:txBody>
          <a:bodyPr/>
          <a:p/>
        </p:txBody>
      </p:sp>
      <p:sp>
        <p:nvSpPr>
          <p:cNvPr id="20" name="Text 17"/>
          <p:cNvSpPr txBox="1"/>
          <p:nvPr/>
        </p:nvSpPr>
        <p:spPr>
          <a:xfrm>
            <a:off x="822960" y="5276088"/>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Nominal / Ordinal</a:t>
            </a:r>
            <a:endParaRPr lang="en-US" sz="1300" dirty="0"/>
          </a:p>
        </p:txBody>
      </p:sp>
      <p:sp>
        <p:nvSpPr>
          <p:cNvPr id="21" name="Text 18"/>
          <p:cNvSpPr txBox="1"/>
          <p:nvPr/>
        </p:nvSpPr>
        <p:spPr>
          <a:xfrm>
            <a:off x="2468880" y="5276088"/>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Categories without / with a natural order.</a:t>
            </a:r>
            <a:endParaRPr lang="en-US" sz="1150" dirty="0"/>
          </a:p>
        </p:txBody>
      </p:sp>
      <p:sp>
        <p:nvSpPr>
          <p:cNvPr id="22" name="Shape 19"/>
          <p:cNvSpPr/>
          <p:nvPr/>
        </p:nvSpPr>
        <p:spPr>
          <a:xfrm>
            <a:off x="6172200" y="1728216"/>
            <a:ext cx="5349240" cy="795528"/>
          </a:xfrm>
          <a:prstGeom prst="roundRect">
            <a:avLst>
              <a:gd name="adj" fmla="val 5747"/>
            </a:avLst>
          </a:prstGeom>
          <a:solidFill>
            <a:srgbClr val="F3F6F9"/>
          </a:solidFill>
          <a:ln w="9525">
            <a:solidFill>
              <a:srgbClr val="E1E7EE"/>
            </a:solidFill>
            <a:prstDash val="solid"/>
          </a:ln>
        </p:spPr>
        <p:txBody>
          <a:bodyPr/>
          <a:p/>
        </p:txBody>
      </p:sp>
      <p:sp>
        <p:nvSpPr>
          <p:cNvPr id="23" name="Text 20"/>
          <p:cNvSpPr txBox="1"/>
          <p:nvPr/>
        </p:nvSpPr>
        <p:spPr>
          <a:xfrm>
            <a:off x="6355080" y="1728216"/>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Interval / Ratio</a:t>
            </a:r>
            <a:endParaRPr lang="en-US" sz="1300" dirty="0"/>
          </a:p>
        </p:txBody>
      </p:sp>
      <p:sp>
        <p:nvSpPr>
          <p:cNvPr id="24" name="Text 21"/>
          <p:cNvSpPr txBox="1"/>
          <p:nvPr/>
        </p:nvSpPr>
        <p:spPr>
          <a:xfrm>
            <a:off x="8001000" y="1728216"/>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Numbers with equal gaps; ratio also has a true zero.</a:t>
            </a:r>
            <a:endParaRPr lang="en-US" sz="1150" dirty="0"/>
          </a:p>
        </p:txBody>
      </p:sp>
      <p:sp>
        <p:nvSpPr>
          <p:cNvPr id="25" name="Shape 22"/>
          <p:cNvSpPr/>
          <p:nvPr/>
        </p:nvSpPr>
        <p:spPr>
          <a:xfrm>
            <a:off x="6172200" y="2615184"/>
            <a:ext cx="5349240" cy="795528"/>
          </a:xfrm>
          <a:prstGeom prst="roundRect">
            <a:avLst>
              <a:gd name="adj" fmla="val 5747"/>
            </a:avLst>
          </a:prstGeom>
          <a:solidFill>
            <a:srgbClr val="F3F6F9"/>
          </a:solidFill>
          <a:ln w="9525">
            <a:solidFill>
              <a:srgbClr val="E1E7EE"/>
            </a:solidFill>
            <a:prstDash val="solid"/>
          </a:ln>
        </p:spPr>
        <p:txBody>
          <a:bodyPr/>
          <a:p/>
        </p:txBody>
      </p:sp>
      <p:sp>
        <p:nvSpPr>
          <p:cNvPr id="26" name="Text 23"/>
          <p:cNvSpPr txBox="1"/>
          <p:nvPr/>
        </p:nvSpPr>
        <p:spPr>
          <a:xfrm>
            <a:off x="6355080" y="2615184"/>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KPI</a:t>
            </a:r>
            <a:endParaRPr lang="en-US" sz="1300" dirty="0"/>
          </a:p>
        </p:txBody>
      </p:sp>
      <p:sp>
        <p:nvSpPr>
          <p:cNvPr id="27" name="Text 24"/>
          <p:cNvSpPr txBox="1"/>
          <p:nvPr/>
        </p:nvSpPr>
        <p:spPr>
          <a:xfrm>
            <a:off x="8001000" y="2615184"/>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lagging metric that scores past performance.</a:t>
            </a:r>
            <a:endParaRPr lang="en-US" sz="1150" dirty="0"/>
          </a:p>
        </p:txBody>
      </p:sp>
      <p:sp>
        <p:nvSpPr>
          <p:cNvPr id="28" name="Shape 25"/>
          <p:cNvSpPr/>
          <p:nvPr/>
        </p:nvSpPr>
        <p:spPr>
          <a:xfrm>
            <a:off x="6172200" y="3502152"/>
            <a:ext cx="5349240" cy="795528"/>
          </a:xfrm>
          <a:prstGeom prst="roundRect">
            <a:avLst>
              <a:gd name="adj" fmla="val 5747"/>
            </a:avLst>
          </a:prstGeom>
          <a:solidFill>
            <a:srgbClr val="F3F6F9"/>
          </a:solidFill>
          <a:ln w="9525">
            <a:solidFill>
              <a:srgbClr val="E1E7EE"/>
            </a:solidFill>
            <a:prstDash val="solid"/>
          </a:ln>
        </p:spPr>
        <p:txBody>
          <a:bodyPr/>
          <a:p/>
        </p:txBody>
      </p:sp>
      <p:sp>
        <p:nvSpPr>
          <p:cNvPr id="29" name="Text 26"/>
          <p:cNvSpPr txBox="1"/>
          <p:nvPr/>
        </p:nvSpPr>
        <p:spPr>
          <a:xfrm>
            <a:off x="6355080" y="3502152"/>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Leading indicator</a:t>
            </a:r>
            <a:endParaRPr lang="en-US" sz="1300" dirty="0"/>
          </a:p>
        </p:txBody>
      </p:sp>
      <p:sp>
        <p:nvSpPr>
          <p:cNvPr id="30" name="Text 27"/>
          <p:cNvSpPr txBox="1"/>
          <p:nvPr/>
        </p:nvSpPr>
        <p:spPr>
          <a:xfrm>
            <a:off x="8001000" y="3502152"/>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metric that signals future performance early.</a:t>
            </a:r>
            <a:endParaRPr lang="en-US" sz="1150" dirty="0"/>
          </a:p>
        </p:txBody>
      </p:sp>
      <p:sp>
        <p:nvSpPr>
          <p:cNvPr id="31" name="Shape 28"/>
          <p:cNvSpPr/>
          <p:nvPr/>
        </p:nvSpPr>
        <p:spPr>
          <a:xfrm>
            <a:off x="6172200" y="4389120"/>
            <a:ext cx="5349240" cy="795528"/>
          </a:xfrm>
          <a:prstGeom prst="roundRect">
            <a:avLst>
              <a:gd name="adj" fmla="val 5747"/>
            </a:avLst>
          </a:prstGeom>
          <a:solidFill>
            <a:srgbClr val="F3F6F9"/>
          </a:solidFill>
          <a:ln w="9525">
            <a:solidFill>
              <a:srgbClr val="E1E7EE"/>
            </a:solidFill>
            <a:prstDash val="solid"/>
          </a:ln>
        </p:spPr>
        <p:txBody>
          <a:bodyPr/>
          <a:p/>
        </p:txBody>
      </p:sp>
      <p:sp>
        <p:nvSpPr>
          <p:cNvPr id="32" name="Text 29"/>
          <p:cNvSpPr txBox="1"/>
          <p:nvPr/>
        </p:nvSpPr>
        <p:spPr>
          <a:xfrm>
            <a:off x="6355080" y="4389120"/>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Data quality</a:t>
            </a:r>
            <a:endParaRPr lang="en-US" sz="1300" dirty="0"/>
          </a:p>
        </p:txBody>
      </p:sp>
      <p:sp>
        <p:nvSpPr>
          <p:cNvPr id="33" name="Text 30"/>
          <p:cNvSpPr txBox="1"/>
          <p:nvPr/>
        </p:nvSpPr>
        <p:spPr>
          <a:xfrm>
            <a:off x="8001000" y="4389120"/>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Accuracy, completeness, consistency, timeliness, validity, uniqueness.</a:t>
            </a:r>
            <a:endParaRPr lang="en-US" sz="1150" dirty="0"/>
          </a:p>
        </p:txBody>
      </p:sp>
      <p:sp>
        <p:nvSpPr>
          <p:cNvPr id="34" name="Shape 31"/>
          <p:cNvSpPr/>
          <p:nvPr/>
        </p:nvSpPr>
        <p:spPr>
          <a:xfrm>
            <a:off x="6172200" y="5276088"/>
            <a:ext cx="5349240" cy="795528"/>
          </a:xfrm>
          <a:prstGeom prst="roundRect">
            <a:avLst>
              <a:gd name="adj" fmla="val 5747"/>
            </a:avLst>
          </a:prstGeom>
          <a:solidFill>
            <a:srgbClr val="F3F6F9"/>
          </a:solidFill>
          <a:ln w="9525">
            <a:solidFill>
              <a:srgbClr val="E1E7EE"/>
            </a:solidFill>
            <a:prstDash val="solid"/>
          </a:ln>
        </p:spPr>
        <p:txBody>
          <a:bodyPr/>
          <a:p/>
        </p:txBody>
      </p:sp>
      <p:sp>
        <p:nvSpPr>
          <p:cNvPr id="35" name="Text 32"/>
          <p:cNvSpPr txBox="1"/>
          <p:nvPr/>
        </p:nvSpPr>
        <p:spPr>
          <a:xfrm>
            <a:off x="6355080" y="5276088"/>
            <a:ext cx="1600200" cy="795528"/>
          </a:xfrm>
          <a:prstGeom prst="rect">
            <a:avLst/>
          </a:prstGeom>
          <a:noFill/>
          <a:ln/>
        </p:spPr>
        <p:txBody>
          <a:bodyPr wrap="square" lIns="0" tIns="0" rIns="0" bIns="0" rtlCol="0" anchor="ctr"/>
          <a:lstStyle/>
          <a:p>
            <a:pPr indent="0" marL="0">
              <a:buNone/>
            </a:pPr>
            <a:r>
              <a:rPr lang="en-US" sz="1300" b="1" dirty="0">
                <a:solidFill>
                  <a:srgbClr val="141B4D"/>
                </a:solidFill>
                <a:latin typeface="Cambria" pitchFamily="34" charset="0"/>
                <a:ea typeface="Cambria" pitchFamily="34" charset="-122"/>
                <a:cs typeface="Cambria" pitchFamily="34" charset="-120"/>
              </a:rPr>
              <a:t>Script</a:t>
            </a:r>
            <a:endParaRPr lang="en-US" sz="1300" dirty="0"/>
          </a:p>
        </p:txBody>
      </p:sp>
      <p:sp>
        <p:nvSpPr>
          <p:cNvPr id="36" name="Text 33"/>
          <p:cNvSpPr txBox="1"/>
          <p:nvPr/>
        </p:nvSpPr>
        <p:spPr>
          <a:xfrm>
            <a:off x="8001000" y="5276088"/>
            <a:ext cx="3383280" cy="795528"/>
          </a:xfrm>
          <a:prstGeom prst="rect">
            <a:avLst/>
          </a:prstGeom>
          <a:noFill/>
          <a:ln/>
        </p:spPr>
        <p:txBody>
          <a:bodyPr wrap="square" lIns="0" tIns="0" rIns="0" bIns="0" rtlCol="0" anchor="ctr"/>
          <a:lstStyle/>
          <a:p>
            <a:pPr indent="0" marL="0">
              <a:buNone/>
            </a:pPr>
            <a:r>
              <a:rPr lang="en-US" sz="1150" dirty="0">
                <a:solidFill>
                  <a:srgbClr val="1A2233"/>
                </a:solidFill>
                <a:latin typeface="Calibri" pitchFamily="34" charset="0"/>
                <a:ea typeface="Calibri" pitchFamily="34" charset="-122"/>
                <a:cs typeface="Calibri" pitchFamily="34" charset="-120"/>
              </a:rPr>
              <a:t>A saved file of code you can rerun — the basis of reproducible work.</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377440"/>
            <a:ext cx="5852160" cy="5852160"/>
          </a:xfrm>
          <a:prstGeom prst="ellipse">
            <a:avLst/>
          </a:prstGeom>
          <a:solidFill>
            <a:srgbClr val="2C2C4E"/>
          </a:solidFill>
          <a:ln w="12700">
            <a:solidFill>
              <a:srgbClr val="2C2C4E"/>
            </a:solidFill>
            <a:prstDash val="solid"/>
          </a:ln>
        </p:spPr>
        <p:txBody>
          <a:bodyPr/>
          <a:p/>
        </p:txBody>
      </p:sp>
      <p:sp>
        <p:nvSpPr>
          <p:cNvPr id="3" name="Shape 1"/>
          <p:cNvSpPr/>
          <p:nvPr/>
        </p:nvSpPr>
        <p:spPr>
          <a:xfrm>
            <a:off x="-2011680" y="4206240"/>
            <a:ext cx="4754880" cy="4754880"/>
          </a:xfrm>
          <a:prstGeom prst="ellipse">
            <a:avLst/>
          </a:prstGeom>
          <a:solidFill>
            <a:srgbClr val="17305C"/>
          </a:solidFill>
          <a:ln w="12700">
            <a:solidFill>
              <a:srgbClr val="17305C"/>
            </a:solidFill>
            <a:prstDash val="solid"/>
          </a:ln>
        </p:spPr>
        <p:txBody>
          <a:bodyPr/>
          <a:p/>
        </p:txBody>
      </p:sp>
      <p:sp>
        <p:nvSpPr>
          <p:cNvPr id="4" name="Text 2"/>
          <p:cNvSpPr txBox="1"/>
          <p:nvPr/>
        </p:nvSpPr>
        <p:spPr>
          <a:xfrm>
            <a:off x="822960" y="548640"/>
            <a:ext cx="7315200" cy="274320"/>
          </a:xfrm>
          <a:prstGeom prst="rect">
            <a:avLst/>
          </a:prstGeom>
          <a:noFill/>
          <a:ln/>
        </p:spPr>
        <p:txBody>
          <a:bodyPr wrap="square" lIns="0" tIns="0" rIns="0" bIns="0" rtlCol="0" anchor="t"/>
          <a:lstStyle/>
          <a:p>
            <a:pPr indent="0" marL="0">
              <a:buNone/>
            </a:pPr>
            <a:r>
              <a:rPr lang="en-US" sz="1200" b="1" spc="400" kern="0" dirty="0">
                <a:solidFill>
                  <a:srgbClr val="D99A2B"/>
                </a:solidFill>
                <a:latin typeface="Calibri" pitchFamily="34" charset="0"/>
                <a:ea typeface="Calibri" pitchFamily="34" charset="-122"/>
                <a:cs typeface="Calibri" pitchFamily="34" charset="-120"/>
              </a:rPr>
              <a:t>KEY TAKEAWAYS</a:t>
            </a:r>
            <a:endParaRPr lang="en-US" sz="1200" dirty="0"/>
          </a:p>
        </p:txBody>
      </p:sp>
      <p:sp>
        <p:nvSpPr>
          <p:cNvPr id="5" name="Text 3"/>
          <p:cNvSpPr txBox="1"/>
          <p:nvPr/>
        </p:nvSpPr>
        <p:spPr>
          <a:xfrm>
            <a:off x="822960" y="822960"/>
            <a:ext cx="8229600" cy="6400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Session 2.1 in 5 Ideas</a:t>
            </a:r>
            <a:endParaRPr lang="en-US" sz="3000" dirty="0"/>
          </a:p>
        </p:txBody>
      </p:sp>
      <p:sp>
        <p:nvSpPr>
          <p:cNvPr id="6" name="Text 4"/>
          <p:cNvSpPr txBox="1"/>
          <p:nvPr/>
        </p:nvSpPr>
        <p:spPr>
          <a:xfrm>
            <a:off x="822960" y="1691640"/>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01</a:t>
            </a:r>
            <a:endParaRPr lang="en-US" sz="2200" dirty="0"/>
          </a:p>
        </p:txBody>
      </p:sp>
      <p:sp>
        <p:nvSpPr>
          <p:cNvPr id="7" name="Text 5"/>
          <p:cNvSpPr txBox="1"/>
          <p:nvPr/>
        </p:nvSpPr>
        <p:spPr>
          <a:xfrm>
            <a:off x="1600200" y="1691640"/>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Analytics creates value only when data travels the whole chain to a </a:t>
            </a:r>
            <a:r>
              <a:rPr lang="en-US" sz="1500" b="1" dirty="0">
                <a:solidFill>
                  <a:srgbClr val="FFFFFF"/>
                </a:solidFill>
                <a:latin typeface="Calibri" pitchFamily="34" charset="0"/>
                <a:ea typeface="Calibri" pitchFamily="34" charset="-122"/>
                <a:cs typeface="Calibri" pitchFamily="34" charset="-120"/>
              </a:rPr>
              <a:t>decision</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822960" y="2340864"/>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1600200" y="2340864"/>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Ask four questions: what happened, why, what will happen, what should we do?</a:t>
            </a:r>
            <a:endParaRPr lang="en-US" sz="1500" dirty="0"/>
          </a:p>
        </p:txBody>
      </p:sp>
      <p:sp>
        <p:nvSpPr>
          <p:cNvPr id="10" name="Text 8"/>
          <p:cNvSpPr txBox="1"/>
          <p:nvPr/>
        </p:nvSpPr>
        <p:spPr>
          <a:xfrm>
            <a:off x="822960" y="2990088"/>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03</a:t>
            </a:r>
            <a:endParaRPr lang="en-US" sz="2200" dirty="0"/>
          </a:p>
        </p:txBody>
      </p:sp>
      <p:sp>
        <p:nvSpPr>
          <p:cNvPr id="11" name="Text 9"/>
          <p:cNvSpPr txBox="1"/>
          <p:nvPr/>
        </p:nvSpPr>
        <p:spPr>
          <a:xfrm>
            <a:off x="1600200" y="2990088"/>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First ask of any table: </a:t>
            </a:r>
            <a:r>
              <a:rPr lang="en-US" sz="1500" b="1" dirty="0">
                <a:solidFill>
                  <a:srgbClr val="FFFFFF"/>
                </a:solidFill>
                <a:latin typeface="Calibri" pitchFamily="34" charset="0"/>
                <a:ea typeface="Calibri" pitchFamily="34" charset="-122"/>
                <a:cs typeface="Calibri" pitchFamily="34" charset="-120"/>
              </a:rPr>
              <a:t>what does one row represent?</a:t>
            </a:r>
            <a:r>
              <a:rPr lang="en-US" sz="1500" dirty="0">
                <a:solidFill>
                  <a:srgbClr val="FFFFFF"/>
                </a:solidFill>
                <a:latin typeface="Calibri" pitchFamily="34" charset="0"/>
                <a:ea typeface="Calibri" pitchFamily="34" charset="-122"/>
                <a:cs typeface="Calibri" pitchFamily="34" charset="-120"/>
              </a:rPr>
              <a:t> Then check its scale.</a:t>
            </a:r>
            <a:endParaRPr lang="en-US" sz="1500" dirty="0"/>
          </a:p>
        </p:txBody>
      </p:sp>
      <p:sp>
        <p:nvSpPr>
          <p:cNvPr id="12" name="Text 10"/>
          <p:cNvSpPr txBox="1"/>
          <p:nvPr/>
        </p:nvSpPr>
        <p:spPr>
          <a:xfrm>
            <a:off x="822960" y="3639312"/>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04</a:t>
            </a:r>
            <a:endParaRPr lang="en-US" sz="2200" dirty="0"/>
          </a:p>
        </p:txBody>
      </p:sp>
      <p:sp>
        <p:nvSpPr>
          <p:cNvPr id="13" name="Text 11"/>
          <p:cNvSpPr txBox="1"/>
          <p:nvPr/>
        </p:nvSpPr>
        <p:spPr>
          <a:xfrm>
            <a:off x="1600200" y="3639312"/>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Trust data only after checking quality — and asking who is missing from it.</a:t>
            </a:r>
            <a:endParaRPr lang="en-US" sz="1500" dirty="0"/>
          </a:p>
        </p:txBody>
      </p:sp>
      <p:sp>
        <p:nvSpPr>
          <p:cNvPr id="14" name="Text 12"/>
          <p:cNvSpPr txBox="1"/>
          <p:nvPr/>
        </p:nvSpPr>
        <p:spPr>
          <a:xfrm>
            <a:off x="822960" y="4288536"/>
            <a:ext cx="731520" cy="649224"/>
          </a:xfrm>
          <a:prstGeom prst="rect">
            <a:avLst/>
          </a:prstGeom>
          <a:noFill/>
          <a:ln/>
        </p:spPr>
        <p:txBody>
          <a:bodyPr wrap="square" lIns="0" tIns="0" rIns="0" bIns="0" rtlCol="0" anchor="ctr"/>
          <a:lstStyle/>
          <a:p>
            <a:pPr indent="0" marL="0">
              <a:buNone/>
            </a:pPr>
            <a:r>
              <a:rPr lang="en-US" sz="2200" b="1" dirty="0">
                <a:solidFill>
                  <a:srgbClr val="D99A2B"/>
                </a:solidFill>
                <a:latin typeface="Cambria" pitchFamily="34" charset="0"/>
                <a:ea typeface="Cambria" pitchFamily="34" charset="-122"/>
                <a:cs typeface="Cambria" pitchFamily="34" charset="-120"/>
              </a:rPr>
              <a:t>05</a:t>
            </a:r>
            <a:endParaRPr lang="en-US" sz="2200" dirty="0"/>
          </a:p>
        </p:txBody>
      </p:sp>
      <p:sp>
        <p:nvSpPr>
          <p:cNvPr id="15" name="Text 13"/>
          <p:cNvSpPr txBox="1"/>
          <p:nvPr/>
        </p:nvSpPr>
        <p:spPr>
          <a:xfrm>
            <a:off x="1600200" y="4288536"/>
            <a:ext cx="7315200" cy="649224"/>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 and Python are two spellings of the same logic; RStudio runs both.</a:t>
            </a:r>
            <a:endParaRPr lang="en-US" sz="1500" dirty="0"/>
          </a:p>
        </p:txBody>
      </p:sp>
      <p:sp>
        <p:nvSpPr>
          <p:cNvPr id="16" name="Shape 14"/>
          <p:cNvSpPr/>
          <p:nvPr/>
        </p:nvSpPr>
        <p:spPr>
          <a:xfrm>
            <a:off x="822960" y="5120640"/>
            <a:ext cx="8092440" cy="1051560"/>
          </a:xfrm>
          <a:prstGeom prst="roundRect">
            <a:avLst>
              <a:gd name="adj" fmla="val 6957"/>
            </a:avLst>
          </a:prstGeom>
          <a:solidFill>
            <a:srgbClr val="17305C"/>
          </a:solidFill>
          <a:ln w="12700">
            <a:solidFill>
              <a:srgbClr val="1C7293"/>
            </a:solidFill>
            <a:prstDash val="solid"/>
          </a:ln>
        </p:spPr>
        <p:txBody>
          <a:bodyPr/>
          <a:p/>
        </p:txBody>
      </p:sp>
      <p:sp>
        <p:nvSpPr>
          <p:cNvPr id="17" name="Text 15"/>
          <p:cNvSpPr txBox="1"/>
          <p:nvPr/>
        </p:nvSpPr>
        <p:spPr>
          <a:xfrm>
            <a:off x="1051560" y="5120640"/>
            <a:ext cx="7680960" cy="1051560"/>
          </a:xfrm>
          <a:prstGeom prst="rect">
            <a:avLst/>
          </a:prstGeom>
          <a:noFill/>
          <a:ln/>
        </p:spPr>
        <p:txBody>
          <a:bodyPr wrap="square" lIns="0" tIns="0" rIns="0" bIns="0" rtlCol="0" anchor="ctr"/>
          <a:lstStyle/>
          <a:p>
            <a:pPr indent="0" marL="0">
              <a:buNone/>
            </a:pPr>
            <a:r>
              <a:rPr lang="en-US" sz="1300" b="1" dirty="0">
                <a:solidFill>
                  <a:srgbClr val="C7D3E3"/>
                </a:solidFill>
                <a:latin typeface="Calibri" pitchFamily="34" charset="0"/>
                <a:ea typeface="Calibri" pitchFamily="34" charset="-122"/>
                <a:cs typeface="Calibri" pitchFamily="34" charset="-120"/>
              </a:rPr>
              <a:t>Before next session:</a:t>
            </a:r>
            <a:r>
              <a:rPr lang="en-US" sz="1300" dirty="0">
                <a:solidFill>
                  <a:srgbClr val="C7D3E3"/>
                </a:solidFill>
                <a:latin typeface="Calibri" pitchFamily="34" charset="0"/>
                <a:ea typeface="Calibri" pitchFamily="34" charset="-122"/>
                <a:cs typeface="Calibri" pitchFamily="34" charset="-120"/>
              </a:rPr>
              <a:t> Install R, RStudio and Python (see the Setup page on the course website). Read Chapter 8, sections 8.1–8.4, and rerun today's lab in the language you did NOT use.</a:t>
            </a:r>
            <a:endParaRPr lang="en-US" sz="1300" dirty="0"/>
          </a:p>
        </p:txBody>
      </p:sp>
      <p:pic>
        <p:nvPicPr>
          <p:cNvPr id="18" name="Image 0" descr="/home/claude/da1/assets/logos/da1_hex_m1.png">    </p:cNvPr>
          <p:cNvPicPr>
            <a:picLocks noChangeAspect="1"/>
          </p:cNvPicPr>
          <p:nvPr/>
        </p:nvPicPr>
        <p:blipFill>
          <a:blip r:embed="rId1"/>
          <a:stretch>
            <a:fillRect/>
          </a:stretch>
        </p:blipFill>
        <p:spPr>
          <a:xfrm>
            <a:off x="9326880" y="2103120"/>
            <a:ext cx="2286000" cy="2286000"/>
          </a:xfrm>
          <a:prstGeom prst="rect">
            <a:avLst/>
          </a:prstGeom>
        </p:spPr>
      </p:pic>
      <p:sp>
        <p:nvSpPr>
          <p:cNvPr id="19" name="Text 16"/>
          <p:cNvSpPr txBox="1"/>
          <p:nvPr/>
        </p:nvSpPr>
        <p:spPr>
          <a:xfrm>
            <a:off x="9052560" y="4572000"/>
            <a:ext cx="2834640" cy="822960"/>
          </a:xfrm>
          <a:prstGeom prst="rect">
            <a:avLst/>
          </a:prstGeom>
          <a:noFill/>
          <a:ln/>
        </p:spPr>
        <p:txBody>
          <a:bodyPr wrap="square" lIns="0" tIns="0" rIns="0" bIns="0" rtlCol="0" anchor="ctr"/>
          <a:lstStyle/>
          <a:p>
            <a:pPr algn="ctr" indent="0" marL="0">
              <a:buNone/>
            </a:pPr>
            <a:r>
              <a:rPr lang="en-US" sz="1250" b="1" dirty="0">
                <a:solidFill>
                  <a:srgbClr val="D99A2B"/>
                </a:solidFill>
                <a:latin typeface="Calibri" pitchFamily="34" charset="0"/>
                <a:ea typeface="Calibri" pitchFamily="34" charset="-122"/>
                <a:cs typeface="Calibri" pitchFamily="34" charset="-120"/>
              </a:rPr>
              <a:t>NEXT  ›  Session 2.2: The Statistics a Manager Actually Needs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Lagos Business School, Pan-Atlantic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 Session 1: The Analytics Mindset, Data Literacy &amp; Your Toolkit</dc:title>
  <dc:subject>PptxGenJS Presentation</dc:subject>
  <dc:creator>Prof. Bongo Adi — Lagos Business School</dc:creator>
  <cp:lastModifiedBy>Prof. Bongo Adi — Lagos Business School</cp:lastModifiedBy>
  <cp:revision>1</cp:revision>
  <dcterms:created xsi:type="dcterms:W3CDTF">2026-10-01T21:51:18Z</dcterms:created>
  <dcterms:modified xsi:type="dcterms:W3CDTF">2026-10-01T21:51:18Z</dcterms:modified>
</cp:coreProperties>
</file>