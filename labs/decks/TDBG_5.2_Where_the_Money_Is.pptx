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notesMasterIdLst>
    <p:notesMasterId r:id="rId2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image" Target="../media/image-22-3.png"/><Relationship Id="rId4" Type="http://schemas.openxmlformats.org/officeDocument/2006/relationships/image" Target="../media/image-22-4.png"/><Relationship Id="rId5" Type="http://schemas.openxmlformats.org/officeDocument/2006/relationships/image" Target="../media/image-22-5.png"/><Relationship Id="rId6" Type="http://schemas.openxmlformats.org/officeDocument/2006/relationships/image" Target="../media/image-22-6.png"/><Relationship Id="rId7" Type="http://schemas.openxmlformats.org/officeDocument/2006/relationships/image" Target="../media/image-22-7.png"/><Relationship Id="rId8" Type="http://schemas.openxmlformats.org/officeDocument/2006/relationships/image" Target="../media/image-22-8.png"/><Relationship Id="rId9" Type="http://schemas.openxmlformats.org/officeDocument/2006/relationships/image" Target="../media/image-22-9.png"/><Relationship Id="rId10" Type="http://schemas.openxmlformats.org/officeDocument/2006/relationships/image" Target="../media/image-22-10.png"/><Relationship Id="rId11" Type="http://schemas.openxmlformats.org/officeDocument/2006/relationships/image" Target="../media/image-22-11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image" Target="../media/image-24-3.png"/><Relationship Id="rId4" Type="http://schemas.openxmlformats.org/officeDocument/2006/relationships/image" Target="../media/image-2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B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377440"/>
            <a:ext cx="5852160" cy="5852160"/>
          </a:xfrm>
          <a:prstGeom prst="ellipse">
            <a:avLst/>
          </a:prstGeom>
          <a:solidFill>
            <a:srgbClr val="2C2C4E"/>
          </a:solidFill>
          <a:ln w="12700">
            <a:solidFill>
              <a:srgbClr val="2C2C4E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-2011680" y="4206240"/>
            <a:ext cx="4754880" cy="4754880"/>
          </a:xfrm>
          <a:prstGeom prst="ellipse">
            <a:avLst/>
          </a:prstGeom>
          <a:solidFill>
            <a:srgbClr val="17305C"/>
          </a:solidFill>
          <a:ln w="12700">
            <a:solidFill>
              <a:srgbClr val="17305C"/>
            </a:solidFill>
            <a:prstDash val="solid"/>
          </a:ln>
        </p:spPr>
        <p:txBody>
          <a:bodyPr/>
          <a:p/>
        </p:txBody>
      </p:sp>
      <p:sp>
        <p:nvSpPr>
          <p:cNvPr id="5" name="Text 2"/>
          <p:cNvSpPr txBox="1"/>
          <p:nvPr/>
        </p:nvSpPr>
        <p:spPr>
          <a:xfrm>
            <a:off x="822960" y="100584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spc="400" kern="0" dirty="0">
                <a:solidFill>
                  <a:srgbClr val="D99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LAGOS BUSINESS SCHOOL  ·  TURNING DATA INTO BUSINESS GROWTH  ·  DAY 5</a:t>
            </a:r>
            <a:endParaRPr lang="en-US" sz="1250" dirty="0"/>
          </a:p>
        </p:txBody>
      </p:sp>
      <p:sp>
        <p:nvSpPr>
          <p:cNvPr id="6" name="Text 3"/>
          <p:cNvSpPr txBox="1"/>
          <p:nvPr/>
        </p:nvSpPr>
        <p:spPr>
          <a:xfrm>
            <a:off x="822960" y="164592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AAB9C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SESSION 5.2</a:t>
            </a:r>
            <a:endParaRPr lang="en-US" sz="28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240280"/>
            <a:ext cx="78638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the Money Is</a:t>
            </a:r>
            <a:endParaRPr lang="en-US" sz="40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4114800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rgbClr val="C7D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&amp; Financial Analytics: CLV, Churn, Credit &amp; Fraud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777240" y="4846320"/>
            <a:ext cx="502920" cy="50292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p/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2970" y="4972050"/>
            <a:ext cx="251460" cy="25146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463040" y="4919472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Chapters 40–46 — Credit Risk · Fraud · CLV · Segmentation · Churn</a:t>
            </a:r>
            <a:endParaRPr lang="en-US" sz="1250" dirty="0"/>
          </a:p>
        </p:txBody>
      </p:sp>
      <p:sp>
        <p:nvSpPr>
          <p:cNvPr id="12" name="Text 8"/>
          <p:cNvSpPr txBox="1"/>
          <p:nvPr/>
        </p:nvSpPr>
        <p:spPr>
          <a:xfrm>
            <a:off x="822960" y="6035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AA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Business Analytics: A Practical Textbook for Data-Driven Decision Making  ·  Prof. Bongo Adi</a:t>
            </a:r>
            <a:endParaRPr lang="en-US" sz="1050" dirty="0"/>
          </a:p>
        </p:txBody>
      </p:sp>
      <p:pic>
        <p:nvPicPr>
          <p:cNvPr id="13" name="Image 1" descr="/home/claude/da1/assets/logos/da1_hex_m3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15400" y="1554480"/>
            <a:ext cx="274320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Session 5.1 in Three Ideas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41908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5.2  ·  WHERE THE MONEY IS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11155680" y="641908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 dirty="0"/>
          </a:p>
        </p:txBody>
      </p:sp>
      <p:pic>
        <p:nvPicPr>
          <p:cNvPr id="6" name="Image 0" descr="/home/claude/da1/assets/logos/da1_hex_25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31168" y="6336792"/>
            <a:ext cx="347472" cy="34747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40080" y="2080260"/>
            <a:ext cx="640080" cy="640080"/>
          </a:xfrm>
          <a:prstGeom prst="ellipse">
            <a:avLst/>
          </a:prstGeom>
          <a:solidFill>
            <a:srgbClr val="0B5E82"/>
          </a:solidFill>
          <a:ln w="12700">
            <a:solidFill>
              <a:srgbClr val="0B5E82"/>
            </a:solidFill>
            <a:prstDash val="solid"/>
          </a:ln>
        </p:spPr>
        <p:txBody>
          <a:bodyPr/>
          <a:p/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" y="2240280"/>
            <a:ext cx="320040" cy="32004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508760" y="1645920"/>
            <a:ext cx="23774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Neural nets</a:t>
            </a:r>
            <a:endParaRPr lang="en-US" sz="1600" dirty="0"/>
          </a:p>
        </p:txBody>
      </p:sp>
      <p:sp>
        <p:nvSpPr>
          <p:cNvPr id="10" name="Shape 6"/>
          <p:cNvSpPr/>
          <p:nvPr/>
        </p:nvSpPr>
        <p:spPr>
          <a:xfrm>
            <a:off x="3977640" y="1709928"/>
            <a:ext cx="7543800" cy="1380744"/>
          </a:xfrm>
          <a:prstGeom prst="roundRect">
            <a:avLst>
              <a:gd name="adj" fmla="val 3974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</p:spPr>
        <p:txBody>
          <a:bodyPr/>
          <a:p/>
        </p:txBody>
      </p:sp>
      <p:sp>
        <p:nvSpPr>
          <p:cNvPr id="11" name="Text 7"/>
          <p:cNvSpPr txBox="1"/>
          <p:nvPr/>
        </p:nvSpPr>
        <p:spPr>
          <a:xfrm>
            <a:off x="4251960" y="1709928"/>
            <a:ext cx="7086600" cy="1380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Stacked logistic regressions with a bend; big ones memorise unless regularised.</a:t>
            </a:r>
            <a:endParaRPr lang="en-US" sz="1350" dirty="0"/>
          </a:p>
        </p:txBody>
      </p:sp>
      <p:sp>
        <p:nvSpPr>
          <p:cNvPr id="12" name="Shape 8"/>
          <p:cNvSpPr/>
          <p:nvPr/>
        </p:nvSpPr>
        <p:spPr>
          <a:xfrm>
            <a:off x="640080" y="3589020"/>
            <a:ext cx="640080" cy="640080"/>
          </a:xfrm>
          <a:prstGeom prst="ellipse">
            <a:avLst/>
          </a:prstGeom>
          <a:solidFill>
            <a:srgbClr val="0B5E82"/>
          </a:solidFill>
          <a:ln w="12700">
            <a:solidFill>
              <a:srgbClr val="0B5E82"/>
            </a:solidFill>
            <a:prstDash val="solid"/>
          </a:ln>
        </p:spPr>
        <p:txBody>
          <a:bodyPr/>
          <a:p/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" y="3749040"/>
            <a:ext cx="320040" cy="32004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508760" y="3154680"/>
            <a:ext cx="23774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Fair contest</a:t>
            </a:r>
            <a:endParaRPr lang="en-US" sz="1600" dirty="0"/>
          </a:p>
        </p:txBody>
      </p:sp>
      <p:sp>
        <p:nvSpPr>
          <p:cNvPr id="15" name="Shape 10"/>
          <p:cNvSpPr/>
          <p:nvPr/>
        </p:nvSpPr>
        <p:spPr>
          <a:xfrm>
            <a:off x="3977640" y="3218688"/>
            <a:ext cx="7543800" cy="1380744"/>
          </a:xfrm>
          <a:prstGeom prst="roundRect">
            <a:avLst>
              <a:gd name="adj" fmla="val 3974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</p:spPr>
        <p:txBody>
          <a:bodyPr/>
          <a:p/>
        </p:txBody>
      </p:sp>
      <p:sp>
        <p:nvSpPr>
          <p:cNvPr id="16" name="Text 11"/>
          <p:cNvSpPr txBox="1"/>
          <p:nvPr/>
        </p:nvSpPr>
        <p:spPr>
          <a:xfrm>
            <a:off x="4251960" y="3218688"/>
            <a:ext cx="7086600" cy="1380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the churn table, the neural net only tied logistic regression (AUC 0.76).</a:t>
            </a:r>
            <a:endParaRPr lang="en-US" sz="1350" dirty="0"/>
          </a:p>
        </p:txBody>
      </p:sp>
      <p:sp>
        <p:nvSpPr>
          <p:cNvPr id="17" name="Shape 12"/>
          <p:cNvSpPr/>
          <p:nvPr/>
        </p:nvSpPr>
        <p:spPr>
          <a:xfrm>
            <a:off x="640080" y="5097780"/>
            <a:ext cx="640080" cy="640080"/>
          </a:xfrm>
          <a:prstGeom prst="ellipse">
            <a:avLst/>
          </a:prstGeom>
          <a:solidFill>
            <a:srgbClr val="0B5E82"/>
          </a:solidFill>
          <a:ln w="12700">
            <a:solidFill>
              <a:srgbClr val="0B5E82"/>
            </a:solidFill>
            <a:prstDash val="solid"/>
          </a:ln>
        </p:spPr>
        <p:txBody>
          <a:bodyPr/>
          <a:p/>
        </p:txBody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0100" y="5257800"/>
            <a:ext cx="320040" cy="320040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1508760" y="4663440"/>
            <a:ext cx="23774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GenAI</a:t>
            </a:r>
            <a:endParaRPr lang="en-US" sz="1600" dirty="0"/>
          </a:p>
        </p:txBody>
      </p:sp>
      <p:sp>
        <p:nvSpPr>
          <p:cNvPr id="20" name="Shape 14"/>
          <p:cNvSpPr/>
          <p:nvPr/>
        </p:nvSpPr>
        <p:spPr>
          <a:xfrm>
            <a:off x="3977640" y="4727448"/>
            <a:ext cx="7543800" cy="1380744"/>
          </a:xfrm>
          <a:prstGeom prst="roundRect">
            <a:avLst>
              <a:gd name="adj" fmla="val 3974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</p:spPr>
        <p:txBody>
          <a:bodyPr/>
          <a:p/>
        </p:txBody>
      </p:sp>
      <p:sp>
        <p:nvSpPr>
          <p:cNvPr id="21" name="Text 15"/>
          <p:cNvSpPr txBox="1"/>
          <p:nvPr/>
        </p:nvSpPr>
        <p:spPr>
          <a:xfrm>
            <a:off x="4251960" y="4727448"/>
            <a:ext cx="7086600" cy="1380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it where value is high and the cost of error is low; verify and own the decision.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PLAN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Session 5.2 at a Glance — 75 Minutes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316736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Putting the whole toolkit to work on money: customers, credit and fraud.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641908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5.2  ·  WHERE THE MONEY IS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11155680" y="641908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00" dirty="0"/>
          </a:p>
        </p:txBody>
      </p:sp>
      <p:pic>
        <p:nvPicPr>
          <p:cNvPr id="7" name="Image 0" descr="/home/claude/da1/assets/logos/da1_hex_25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31168" y="6336792"/>
            <a:ext cx="347472" cy="347472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40080" y="1874520"/>
            <a:ext cx="1414272" cy="384048"/>
          </a:xfrm>
          <a:prstGeom prst="rect">
            <a:avLst/>
          </a:prstGeom>
          <a:solidFill>
            <a:srgbClr val="0B5E82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9" name="Text 6"/>
          <p:cNvSpPr txBox="1"/>
          <p:nvPr/>
        </p:nvSpPr>
        <p:spPr>
          <a:xfrm>
            <a:off x="640080" y="1874520"/>
            <a:ext cx="14142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10'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2090928" y="1874520"/>
            <a:ext cx="5041392" cy="384048"/>
          </a:xfrm>
          <a:prstGeom prst="rect">
            <a:avLst/>
          </a:prstGeom>
          <a:solidFill>
            <a:srgbClr val="1C7293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 txBox="1"/>
          <p:nvPr/>
        </p:nvSpPr>
        <p:spPr>
          <a:xfrm>
            <a:off x="2090928" y="1874520"/>
            <a:ext cx="50413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35'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7168896" y="1874520"/>
            <a:ext cx="3590544" cy="384048"/>
          </a:xfrm>
          <a:prstGeom prst="rect">
            <a:avLst/>
          </a:prstGeom>
          <a:solidFill>
            <a:srgbClr val="D99A2B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3" name="Text 10"/>
          <p:cNvSpPr txBox="1"/>
          <p:nvPr/>
        </p:nvSpPr>
        <p:spPr>
          <a:xfrm>
            <a:off x="7168896" y="1874520"/>
            <a:ext cx="35905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25'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10796016" y="1874520"/>
            <a:ext cx="688848" cy="384048"/>
          </a:xfrm>
          <a:prstGeom prst="rect">
            <a:avLst/>
          </a:prstGeom>
          <a:solidFill>
            <a:srgbClr val="0B5E82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5" name="Text 12"/>
          <p:cNvSpPr txBox="1"/>
          <p:nvPr/>
        </p:nvSpPr>
        <p:spPr>
          <a:xfrm>
            <a:off x="10796016" y="1874520"/>
            <a:ext cx="6888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5'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640080" y="2560320"/>
            <a:ext cx="2569464" cy="3383280"/>
          </a:xfrm>
          <a:prstGeom prst="roundRect">
            <a:avLst>
              <a:gd name="adj" fmla="val 2847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7" name="Shape 14"/>
          <p:cNvSpPr/>
          <p:nvPr/>
        </p:nvSpPr>
        <p:spPr>
          <a:xfrm>
            <a:off x="1604772" y="2788920"/>
            <a:ext cx="640080" cy="640080"/>
          </a:xfrm>
          <a:prstGeom prst="ellipse">
            <a:avLst/>
          </a:prstGeom>
          <a:solidFill>
            <a:srgbClr val="0B5E82"/>
          </a:solidFill>
          <a:ln w="12700">
            <a:solidFill>
              <a:srgbClr val="0B5E82"/>
            </a:solidFill>
            <a:prstDash val="solid"/>
          </a:ln>
        </p:spPr>
        <p:txBody>
          <a:bodyPr/>
          <a:p/>
        </p:txBody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4792" y="2948940"/>
            <a:ext cx="320040" cy="320040"/>
          </a:xfrm>
          <a:prstGeom prst="rect">
            <a:avLst/>
          </a:prstGeom>
        </p:spPr>
      </p:pic>
      <p:sp>
        <p:nvSpPr>
          <p:cNvPr id="19" name="Text 15"/>
          <p:cNvSpPr txBox="1"/>
          <p:nvPr/>
        </p:nvSpPr>
        <p:spPr>
          <a:xfrm>
            <a:off x="777240" y="3611880"/>
            <a:ext cx="22951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Recap &amp; Hook</a:t>
            </a:r>
            <a:endParaRPr lang="en-US" sz="1450" dirty="0"/>
          </a:p>
        </p:txBody>
      </p:sp>
      <p:sp>
        <p:nvSpPr>
          <p:cNvPr id="20" name="Text 16"/>
          <p:cNvSpPr txBox="1"/>
          <p:nvPr/>
        </p:nvSpPr>
        <p:spPr>
          <a:xfrm>
            <a:off x="822960" y="4206240"/>
            <a:ext cx="220370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all customers are equal</a:t>
            </a:r>
            <a:endParaRPr lang="en-US" sz="1200" dirty="0"/>
          </a:p>
        </p:txBody>
      </p:sp>
      <p:sp>
        <p:nvSpPr>
          <p:cNvPr id="21" name="Shape 17"/>
          <p:cNvSpPr/>
          <p:nvPr/>
        </p:nvSpPr>
        <p:spPr>
          <a:xfrm>
            <a:off x="3410712" y="2560320"/>
            <a:ext cx="2569464" cy="3383280"/>
          </a:xfrm>
          <a:prstGeom prst="roundRect">
            <a:avLst>
              <a:gd name="adj" fmla="val 2847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22" name="Shape 18"/>
          <p:cNvSpPr/>
          <p:nvPr/>
        </p:nvSpPr>
        <p:spPr>
          <a:xfrm>
            <a:off x="4375404" y="2788920"/>
            <a:ext cx="640080" cy="640080"/>
          </a:xfrm>
          <a:prstGeom prst="ellipse">
            <a:avLst/>
          </a:prstGeom>
          <a:solidFill>
            <a:srgbClr val="0B5E82"/>
          </a:solidFill>
          <a:ln w="12700">
            <a:solidFill>
              <a:srgbClr val="0B5E82"/>
            </a:solidFill>
            <a:prstDash val="solid"/>
          </a:ln>
        </p:spPr>
        <p:txBody>
          <a:bodyPr/>
          <a:p/>
        </p:txBody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35424" y="2948940"/>
            <a:ext cx="320040" cy="320040"/>
          </a:xfrm>
          <a:prstGeom prst="rect">
            <a:avLst/>
          </a:prstGeom>
        </p:spPr>
      </p:pic>
      <p:sp>
        <p:nvSpPr>
          <p:cNvPr id="24" name="Text 19"/>
          <p:cNvSpPr txBox="1"/>
          <p:nvPr/>
        </p:nvSpPr>
        <p:spPr>
          <a:xfrm>
            <a:off x="3547872" y="3611880"/>
            <a:ext cx="22951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 &amp; Financial Analytics</a:t>
            </a:r>
            <a:endParaRPr lang="en-US" sz="1450" dirty="0"/>
          </a:p>
        </p:txBody>
      </p:sp>
      <p:sp>
        <p:nvSpPr>
          <p:cNvPr id="25" name="Text 20"/>
          <p:cNvSpPr txBox="1"/>
          <p:nvPr/>
        </p:nvSpPr>
        <p:spPr>
          <a:xfrm>
            <a:off x="3593592" y="4206240"/>
            <a:ext cx="220370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RFM, CLV, churn economics, credit loss, fraud</a:t>
            </a:r>
            <a:endParaRPr lang="en-US" sz="1200" dirty="0"/>
          </a:p>
        </p:txBody>
      </p:sp>
      <p:sp>
        <p:nvSpPr>
          <p:cNvPr id="26" name="Shape 21"/>
          <p:cNvSpPr/>
          <p:nvPr/>
        </p:nvSpPr>
        <p:spPr>
          <a:xfrm>
            <a:off x="6181344" y="2560320"/>
            <a:ext cx="2569464" cy="3383280"/>
          </a:xfrm>
          <a:prstGeom prst="roundRect">
            <a:avLst>
              <a:gd name="adj" fmla="val 2847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27" name="Shape 22"/>
          <p:cNvSpPr/>
          <p:nvPr/>
        </p:nvSpPr>
        <p:spPr>
          <a:xfrm>
            <a:off x="7146036" y="2788920"/>
            <a:ext cx="640080" cy="640080"/>
          </a:xfrm>
          <a:prstGeom prst="ellipse">
            <a:avLst/>
          </a:prstGeom>
          <a:solidFill>
            <a:srgbClr val="D99A2B"/>
          </a:solidFill>
          <a:ln w="12700">
            <a:solidFill>
              <a:srgbClr val="D99A2B"/>
            </a:solidFill>
            <a:prstDash val="solid"/>
          </a:ln>
        </p:spPr>
        <p:txBody>
          <a:bodyPr/>
          <a:p/>
        </p:txBody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06056" y="2948940"/>
            <a:ext cx="320040" cy="320040"/>
          </a:xfrm>
          <a:prstGeom prst="rect">
            <a:avLst/>
          </a:prstGeom>
        </p:spPr>
      </p:pic>
      <p:sp>
        <p:nvSpPr>
          <p:cNvPr id="29" name="Text 23"/>
          <p:cNvSpPr txBox="1"/>
          <p:nvPr/>
        </p:nvSpPr>
        <p:spPr>
          <a:xfrm>
            <a:off x="6318504" y="3611880"/>
            <a:ext cx="22951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Lab: Retailer &amp; Mobile Money</a:t>
            </a:r>
            <a:endParaRPr lang="en-US" sz="1450" dirty="0"/>
          </a:p>
        </p:txBody>
      </p:sp>
      <p:sp>
        <p:nvSpPr>
          <p:cNvPr id="30" name="Text 24"/>
          <p:cNvSpPr txBox="1"/>
          <p:nvPr/>
        </p:nvSpPr>
        <p:spPr>
          <a:xfrm>
            <a:off x="6364224" y="4206240"/>
            <a:ext cx="220370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 customers; tune a fraud alert</a:t>
            </a:r>
            <a:endParaRPr lang="en-US" sz="1200" dirty="0"/>
          </a:p>
        </p:txBody>
      </p:sp>
      <p:sp>
        <p:nvSpPr>
          <p:cNvPr id="31" name="Shape 25"/>
          <p:cNvSpPr/>
          <p:nvPr/>
        </p:nvSpPr>
        <p:spPr>
          <a:xfrm>
            <a:off x="8951976" y="2560320"/>
            <a:ext cx="2569464" cy="3383280"/>
          </a:xfrm>
          <a:prstGeom prst="roundRect">
            <a:avLst>
              <a:gd name="adj" fmla="val 2847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32" name="Shape 26"/>
          <p:cNvSpPr/>
          <p:nvPr/>
        </p:nvSpPr>
        <p:spPr>
          <a:xfrm>
            <a:off x="9916668" y="2788920"/>
            <a:ext cx="640080" cy="640080"/>
          </a:xfrm>
          <a:prstGeom prst="ellipse">
            <a:avLst/>
          </a:prstGeom>
          <a:solidFill>
            <a:srgbClr val="0B5E82"/>
          </a:solidFill>
          <a:ln w="12700">
            <a:solidFill>
              <a:srgbClr val="0B5E82"/>
            </a:solidFill>
            <a:prstDash val="solid"/>
          </a:ln>
        </p:spPr>
        <p:txBody>
          <a:bodyPr/>
          <a:p/>
        </p:txBody>
      </p:sp>
      <p:pic>
        <p:nvPicPr>
          <p:cNvPr id="3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76688" y="2948940"/>
            <a:ext cx="320040" cy="320040"/>
          </a:xfrm>
          <a:prstGeom prst="rect">
            <a:avLst/>
          </a:prstGeom>
        </p:spPr>
      </p:pic>
      <p:sp>
        <p:nvSpPr>
          <p:cNvPr id="34" name="Text 27"/>
          <p:cNvSpPr txBox="1"/>
          <p:nvPr/>
        </p:nvSpPr>
        <p:spPr>
          <a:xfrm>
            <a:off x="9089136" y="3611880"/>
            <a:ext cx="22951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Wrap-Up</a:t>
            </a:r>
            <a:endParaRPr lang="en-US" sz="1450" dirty="0"/>
          </a:p>
        </p:txBody>
      </p:sp>
      <p:sp>
        <p:nvSpPr>
          <p:cNvPr id="35" name="Text 28"/>
          <p:cNvSpPr txBox="1"/>
          <p:nvPr/>
        </p:nvSpPr>
        <p:spPr>
          <a:xfrm>
            <a:off x="9134856" y="4206240"/>
            <a:ext cx="220370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 &amp; people next (Session 5.3)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END OF TODAY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Session 5.2 Learning Objectives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316736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will be able to: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641908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5.2  ·  WHERE THE MONEY IS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11155680" y="641908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00" dirty="0"/>
          </a:p>
        </p:txBody>
      </p:sp>
      <p:pic>
        <p:nvPicPr>
          <p:cNvPr id="7" name="Image 0" descr="/home/claude/da1/assets/logos/da1_hex_25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31168" y="6336792"/>
            <a:ext cx="347472" cy="347472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40080" y="1920240"/>
            <a:ext cx="3444240" cy="3931920"/>
          </a:xfrm>
          <a:prstGeom prst="roundRect">
            <a:avLst>
              <a:gd name="adj" fmla="val 2124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9" name="Text 6"/>
          <p:cNvSpPr txBox="1"/>
          <p:nvPr/>
        </p:nvSpPr>
        <p:spPr>
          <a:xfrm>
            <a:off x="914400" y="214884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C7D3E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3000" dirty="0"/>
          </a:p>
        </p:txBody>
      </p:sp>
      <p:sp>
        <p:nvSpPr>
          <p:cNvPr id="10" name="Shape 7"/>
          <p:cNvSpPr/>
          <p:nvPr/>
        </p:nvSpPr>
        <p:spPr>
          <a:xfrm>
            <a:off x="3215640" y="2148840"/>
            <a:ext cx="566928" cy="566928"/>
          </a:xfrm>
          <a:prstGeom prst="ellipse">
            <a:avLst/>
          </a:prstGeom>
          <a:solidFill>
            <a:srgbClr val="0B5E82"/>
          </a:solidFill>
          <a:ln w="12700">
            <a:solidFill>
              <a:srgbClr val="0B5E82"/>
            </a:solidFill>
            <a:prstDash val="solid"/>
          </a:ln>
        </p:spPr>
        <p:txBody>
          <a:bodyPr/>
          <a:p/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7372" y="2290572"/>
            <a:ext cx="283464" cy="283464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914400" y="2971800"/>
            <a:ext cx="289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Value Your Customers</a:t>
            </a:r>
            <a:endParaRPr lang="en-US" sz="1700" dirty="0"/>
          </a:p>
        </p:txBody>
      </p:sp>
      <p:sp>
        <p:nvSpPr>
          <p:cNvPr id="13" name="Text 9"/>
          <p:cNvSpPr txBox="1"/>
          <p:nvPr/>
        </p:nvSpPr>
        <p:spPr>
          <a:xfrm>
            <a:off x="914400" y="3749040"/>
            <a:ext cx="28956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 customers with RFM and estimate customer lifetime value (CLV).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4358640" y="1920240"/>
            <a:ext cx="3444240" cy="3931920"/>
          </a:xfrm>
          <a:prstGeom prst="roundRect">
            <a:avLst>
              <a:gd name="adj" fmla="val 2124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5" name="Text 11"/>
          <p:cNvSpPr txBox="1"/>
          <p:nvPr/>
        </p:nvSpPr>
        <p:spPr>
          <a:xfrm>
            <a:off x="4632960" y="214884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C7D3E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3000" dirty="0"/>
          </a:p>
        </p:txBody>
      </p:sp>
      <p:sp>
        <p:nvSpPr>
          <p:cNvPr id="16" name="Shape 12"/>
          <p:cNvSpPr/>
          <p:nvPr/>
        </p:nvSpPr>
        <p:spPr>
          <a:xfrm>
            <a:off x="6934200" y="2148840"/>
            <a:ext cx="566928" cy="566928"/>
          </a:xfrm>
          <a:prstGeom prst="ellipse">
            <a:avLst/>
          </a:prstGeom>
          <a:solidFill>
            <a:srgbClr val="0B5E82"/>
          </a:solidFill>
          <a:ln w="12700">
            <a:solidFill>
              <a:srgbClr val="0B5E82"/>
            </a:solidFill>
            <a:prstDash val="solid"/>
          </a:ln>
        </p:spPr>
        <p:txBody>
          <a:bodyPr/>
          <a:p/>
        </p:txBody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75932" y="2290572"/>
            <a:ext cx="283464" cy="283464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4632960" y="2971800"/>
            <a:ext cx="289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Price Risk</a:t>
            </a:r>
            <a:endParaRPr lang="en-US" sz="1700" dirty="0"/>
          </a:p>
        </p:txBody>
      </p:sp>
      <p:sp>
        <p:nvSpPr>
          <p:cNvPr id="19" name="Text 14"/>
          <p:cNvSpPr txBox="1"/>
          <p:nvPr/>
        </p:nvSpPr>
        <p:spPr>
          <a:xfrm>
            <a:off x="4632960" y="3749040"/>
            <a:ext cx="28956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 the expected loss on a loan and the payback of a churn campaign.</a:t>
            </a:r>
            <a:endParaRPr lang="en-US" sz="1350" dirty="0"/>
          </a:p>
        </p:txBody>
      </p:sp>
      <p:sp>
        <p:nvSpPr>
          <p:cNvPr id="20" name="Shape 15"/>
          <p:cNvSpPr/>
          <p:nvPr/>
        </p:nvSpPr>
        <p:spPr>
          <a:xfrm>
            <a:off x="8077200" y="1920240"/>
            <a:ext cx="3444240" cy="3931920"/>
          </a:xfrm>
          <a:prstGeom prst="roundRect">
            <a:avLst>
              <a:gd name="adj" fmla="val 2124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21" name="Text 16"/>
          <p:cNvSpPr txBox="1"/>
          <p:nvPr/>
        </p:nvSpPr>
        <p:spPr>
          <a:xfrm>
            <a:off x="8351520" y="214884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C7D3E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3000" dirty="0"/>
          </a:p>
        </p:txBody>
      </p:sp>
      <p:sp>
        <p:nvSpPr>
          <p:cNvPr id="22" name="Shape 17"/>
          <p:cNvSpPr/>
          <p:nvPr/>
        </p:nvSpPr>
        <p:spPr>
          <a:xfrm>
            <a:off x="10652760" y="2148840"/>
            <a:ext cx="566928" cy="566928"/>
          </a:xfrm>
          <a:prstGeom prst="ellipse">
            <a:avLst/>
          </a:prstGeom>
          <a:solidFill>
            <a:srgbClr val="0B5E82"/>
          </a:solidFill>
          <a:ln w="12700">
            <a:solidFill>
              <a:srgbClr val="0B5E82"/>
            </a:solidFill>
            <a:prstDash val="solid"/>
          </a:ln>
        </p:spPr>
        <p:txBody>
          <a:bodyPr/>
          <a:p/>
        </p:txBody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94492" y="2290572"/>
            <a:ext cx="283464" cy="283464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8351520" y="2971800"/>
            <a:ext cx="289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Detect Rare Events</a:t>
            </a:r>
            <a:endParaRPr lang="en-US" sz="1700" dirty="0"/>
          </a:p>
        </p:txBody>
      </p:sp>
      <p:sp>
        <p:nvSpPr>
          <p:cNvPr id="25" name="Text 19"/>
          <p:cNvSpPr txBox="1"/>
          <p:nvPr/>
        </p:nvSpPr>
        <p:spPr>
          <a:xfrm>
            <a:off x="8351520" y="3749040"/>
            <a:ext cx="28956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Judge fraud models with precision and recall, and set alert thresholds by cost.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1B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377440"/>
            <a:ext cx="5852160" cy="5852160"/>
          </a:xfrm>
          <a:prstGeom prst="ellipse">
            <a:avLst/>
          </a:prstGeom>
          <a:solidFill>
            <a:srgbClr val="2C2C4E"/>
          </a:solidFill>
          <a:ln w="12700">
            <a:solidFill>
              <a:srgbClr val="2C2C4E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-2011680" y="4206240"/>
            <a:ext cx="4754880" cy="4754880"/>
          </a:xfrm>
          <a:prstGeom prst="ellipse">
            <a:avLst/>
          </a:prstGeom>
          <a:solidFill>
            <a:srgbClr val="17305C"/>
          </a:solidFill>
          <a:ln w="12700">
            <a:solidFill>
              <a:srgbClr val="17305C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 txBox="1"/>
          <p:nvPr/>
        </p:nvSpPr>
        <p:spPr>
          <a:xfrm>
            <a:off x="82296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D99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HOOK</a:t>
            </a:r>
            <a:endParaRPr lang="en-US" sz="115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77724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 All Customers Are Equal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822960" y="1783080"/>
            <a:ext cx="685800" cy="685800"/>
          </a:xfrm>
          <a:prstGeom prst="ellipse">
            <a:avLst/>
          </a:prstGeom>
          <a:solidFill>
            <a:srgbClr val="D99A2B"/>
          </a:solidFill>
          <a:ln w="12700">
            <a:solidFill>
              <a:srgbClr val="D99A2B"/>
            </a:solidFill>
            <a:prstDash val="solid"/>
          </a:ln>
        </p:spPr>
        <p:txBody>
          <a:bodyPr/>
          <a:p/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4410" y="1954530"/>
            <a:ext cx="342900" cy="34290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737360" y="1691640"/>
            <a:ext cx="9326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“The customer is king” — but some kings bring 50 times more revenue than others, and a few are not customers at all, but fraudsters.</a:t>
            </a:r>
            <a:endParaRPr lang="en-US" sz="20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297180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C7D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financial decision about customers comes down to three questions: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822960" y="3703320"/>
            <a:ext cx="457200" cy="45720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p/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7260" y="3817620"/>
            <a:ext cx="228600" cy="22860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417320" y="3730752"/>
            <a:ext cx="280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is valuable?</a:t>
            </a:r>
            <a:endParaRPr lang="en-US" sz="1600" dirty="0"/>
          </a:p>
        </p:txBody>
      </p:sp>
      <p:sp>
        <p:nvSpPr>
          <p:cNvPr id="13" name="Text 9"/>
          <p:cNvSpPr txBox="1"/>
          <p:nvPr/>
        </p:nvSpPr>
        <p:spPr>
          <a:xfrm>
            <a:off x="822960" y="4343400"/>
            <a:ext cx="3215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C7D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customers to reward, keep and grow: RFM and CLV.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4358640" y="3703320"/>
            <a:ext cx="457200" cy="45720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p/>
        </p:txBody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72940" y="3817620"/>
            <a:ext cx="228600" cy="22860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4953000" y="3730752"/>
            <a:ext cx="280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will leave or default?</a:t>
            </a:r>
            <a:endParaRPr lang="en-US" sz="1600" dirty="0"/>
          </a:p>
        </p:txBody>
      </p:sp>
      <p:sp>
        <p:nvSpPr>
          <p:cNvPr id="17" name="Text 12"/>
          <p:cNvSpPr txBox="1"/>
          <p:nvPr/>
        </p:nvSpPr>
        <p:spPr>
          <a:xfrm>
            <a:off x="4358640" y="4343400"/>
            <a:ext cx="3215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C7D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and credit models from Sessions 3.4–4.1 and 5.1, priced in naira.</a:t>
            </a:r>
            <a:endParaRPr lang="en-US" sz="1350" dirty="0"/>
          </a:p>
        </p:txBody>
      </p:sp>
      <p:sp>
        <p:nvSpPr>
          <p:cNvPr id="18" name="Shape 13"/>
          <p:cNvSpPr/>
          <p:nvPr/>
        </p:nvSpPr>
        <p:spPr>
          <a:xfrm>
            <a:off x="7894320" y="3703320"/>
            <a:ext cx="457200" cy="45720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p/>
        </p:txBody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08620" y="3817620"/>
            <a:ext cx="228600" cy="228600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8488680" y="3730752"/>
            <a:ext cx="280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is lying?</a:t>
            </a:r>
            <a:endParaRPr lang="en-US" sz="1600" dirty="0"/>
          </a:p>
        </p:txBody>
      </p:sp>
      <p:sp>
        <p:nvSpPr>
          <p:cNvPr id="21" name="Text 15"/>
          <p:cNvSpPr txBox="1"/>
          <p:nvPr/>
        </p:nvSpPr>
        <p:spPr>
          <a:xfrm>
            <a:off x="7894320" y="4343400"/>
            <a:ext cx="3215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C7D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detection: finding 1 bad transfer in 100 without blocking honest customers.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NIGERIAN BUSINESS CASE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 Online Retailer and a Mobile-Money Operator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41908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5.2  ·  WHERE THE MONEY IS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11155680" y="641908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00" dirty="0"/>
          </a:p>
        </p:txBody>
      </p:sp>
      <p:pic>
        <p:nvPicPr>
          <p:cNvPr id="6" name="Image 0" descr="/home/claude/da1/assets/logos/da1_hex_25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31168" y="6336792"/>
            <a:ext cx="347472" cy="34747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40080" y="1691640"/>
            <a:ext cx="5303520" cy="2103120"/>
          </a:xfrm>
          <a:prstGeom prst="roundRect">
            <a:avLst>
              <a:gd name="adj" fmla="val 3478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8" name="Shape 5"/>
          <p:cNvSpPr/>
          <p:nvPr/>
        </p:nvSpPr>
        <p:spPr>
          <a:xfrm>
            <a:off x="868680" y="1892808"/>
            <a:ext cx="457200" cy="457200"/>
          </a:xfrm>
          <a:prstGeom prst="ellipse">
            <a:avLst/>
          </a:prstGeom>
          <a:solidFill>
            <a:srgbClr val="0B5E82"/>
          </a:solidFill>
          <a:ln w="12700">
            <a:solidFill>
              <a:srgbClr val="0B5E82"/>
            </a:solidFill>
            <a:prstDash val="solid"/>
          </a:ln>
        </p:spPr>
        <p:txBody>
          <a:bodyPr/>
          <a:p/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2980" y="2007108"/>
            <a:ext cx="228600" cy="22860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463040" y="1892808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situation</a:t>
            </a:r>
            <a:endParaRPr lang="en-US" sz="1550" dirty="0"/>
          </a:p>
        </p:txBody>
      </p:sp>
      <p:sp>
        <p:nvSpPr>
          <p:cNvPr id="11" name="Text 7"/>
          <p:cNvSpPr txBox="1"/>
          <p:nvPr/>
        </p:nvSpPr>
        <p:spPr>
          <a:xfrm>
            <a:off x="914400" y="2468880"/>
            <a:ext cx="4754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Lagos online retailer wants to know which customers to invest in. A mobile-money operator is losing money to account-takeover fraud and its call centre is drowning in false alerts.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6217920" y="1691640"/>
            <a:ext cx="5303520" cy="2103120"/>
          </a:xfrm>
          <a:prstGeom prst="roundRect">
            <a:avLst>
              <a:gd name="adj" fmla="val 3478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3" name="Shape 9"/>
          <p:cNvSpPr/>
          <p:nvPr/>
        </p:nvSpPr>
        <p:spPr>
          <a:xfrm>
            <a:off x="6446520" y="1892808"/>
            <a:ext cx="457200" cy="457200"/>
          </a:xfrm>
          <a:prstGeom prst="ellipse">
            <a:avLst/>
          </a:prstGeom>
          <a:solidFill>
            <a:srgbClr val="D99A2B"/>
          </a:solidFill>
          <a:ln w="12700">
            <a:solidFill>
              <a:srgbClr val="D99A2B"/>
            </a:solidFill>
            <a:prstDash val="solid"/>
          </a:ln>
        </p:spPr>
        <p:txBody>
          <a:bodyPr/>
          <a:p/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0820" y="2007108"/>
            <a:ext cx="228600" cy="228600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7040880" y="1892808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decision question</a:t>
            </a:r>
            <a:endParaRPr lang="en-US" sz="1550" dirty="0"/>
          </a:p>
        </p:txBody>
      </p:sp>
      <p:sp>
        <p:nvSpPr>
          <p:cNvPr id="16" name="Text 11"/>
          <p:cNvSpPr txBox="1"/>
          <p:nvPr/>
        </p:nvSpPr>
        <p:spPr>
          <a:xfrm>
            <a:off x="6492240" y="2468880"/>
            <a:ext cx="4754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customer segments drive revenue, what is a customer worth, and how many transfers should the fraud team review each day?</a:t>
            </a:r>
            <a:endParaRPr lang="en-US" sz="1300" dirty="0"/>
          </a:p>
        </p:txBody>
      </p:sp>
      <p:sp>
        <p:nvSpPr>
          <p:cNvPr id="17" name="Shape 12"/>
          <p:cNvSpPr/>
          <p:nvPr/>
        </p:nvSpPr>
        <p:spPr>
          <a:xfrm>
            <a:off x="640080" y="4023360"/>
            <a:ext cx="5303520" cy="2103120"/>
          </a:xfrm>
          <a:prstGeom prst="roundRect">
            <a:avLst>
              <a:gd name="adj" fmla="val 3478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8" name="Shape 13"/>
          <p:cNvSpPr/>
          <p:nvPr/>
        </p:nvSpPr>
        <p:spPr>
          <a:xfrm>
            <a:off x="868680" y="4224528"/>
            <a:ext cx="457200" cy="457200"/>
          </a:xfrm>
          <a:prstGeom prst="ellipse">
            <a:avLst/>
          </a:prstGeom>
          <a:solidFill>
            <a:srgbClr val="0B5E82"/>
          </a:solidFill>
          <a:ln w="12700">
            <a:solidFill>
              <a:srgbClr val="0B5E82"/>
            </a:solidFill>
            <a:prstDash val="solid"/>
          </a:ln>
        </p:spPr>
        <p:txBody>
          <a:bodyPr/>
          <a:p/>
        </p:txBody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2980" y="4338828"/>
            <a:ext cx="228600" cy="228600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1463040" y="4224528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data we have</a:t>
            </a:r>
            <a:endParaRPr lang="en-US" sz="1550" dirty="0"/>
          </a:p>
        </p:txBody>
      </p:sp>
      <p:sp>
        <p:nvSpPr>
          <p:cNvPr id="21" name="Text 15"/>
          <p:cNvSpPr txBox="1"/>
          <p:nvPr/>
        </p:nvSpPr>
        <p:spPr>
          <a:xfrm>
            <a:off x="914400" y="4800600"/>
            <a:ext cx="4754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customer_orders.csv — </a:t>
            </a:r>
            <a:r>
              <a:rPr lang="en-US" sz="13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12,121 orders</a:t>
            </a: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from 1,200 customers (2024–2025). mobile_money_txns.csv — </a:t>
            </a:r>
            <a:r>
              <a:rPr lang="en-US" sz="13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20,000 transfers</a:t>
            </a: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with device, payee, time, velocity and distance flags; </a:t>
            </a:r>
            <a:r>
              <a:rPr lang="en-US" sz="13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1.2% fraud</a:t>
            </a: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300" dirty="0"/>
          </a:p>
        </p:txBody>
      </p:sp>
      <p:sp>
        <p:nvSpPr>
          <p:cNvPr id="22" name="Shape 16"/>
          <p:cNvSpPr/>
          <p:nvPr/>
        </p:nvSpPr>
        <p:spPr>
          <a:xfrm>
            <a:off x="6217920" y="4023360"/>
            <a:ext cx="5303520" cy="2103120"/>
          </a:xfrm>
          <a:prstGeom prst="roundRect">
            <a:avLst>
              <a:gd name="adj" fmla="val 3478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23" name="Shape 17"/>
          <p:cNvSpPr/>
          <p:nvPr/>
        </p:nvSpPr>
        <p:spPr>
          <a:xfrm>
            <a:off x="6446520" y="4224528"/>
            <a:ext cx="457200" cy="457200"/>
          </a:xfrm>
          <a:prstGeom prst="ellipse">
            <a:avLst/>
          </a:prstGeom>
          <a:solidFill>
            <a:srgbClr val="0B5E82"/>
          </a:solidFill>
          <a:ln w="12700">
            <a:solidFill>
              <a:srgbClr val="0B5E82"/>
            </a:solidFill>
            <a:prstDash val="solid"/>
          </a:ln>
        </p:spPr>
        <p:txBody>
          <a:bodyPr/>
          <a:p/>
        </p:txBody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60820" y="4338828"/>
            <a:ext cx="228600" cy="228600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7040880" y="4224528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a good answer looks like</a:t>
            </a:r>
            <a:endParaRPr lang="en-US" sz="1550" dirty="0"/>
          </a:p>
        </p:txBody>
      </p:sp>
      <p:sp>
        <p:nvSpPr>
          <p:cNvPr id="26" name="Text 19"/>
          <p:cNvSpPr txBox="1"/>
          <p:nvPr/>
        </p:nvSpPr>
        <p:spPr>
          <a:xfrm>
            <a:off x="6492240" y="4800600"/>
            <a:ext cx="4754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segment-by-segment action plan with a </a:t>
            </a:r>
            <a:r>
              <a:rPr lang="en-US" sz="13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CLV</a:t>
            </a: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figure, and a fraud alert threshold chosen to </a:t>
            </a:r>
            <a:r>
              <a:rPr lang="en-US" sz="13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minimise total cost</a:t>
            </a: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1B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377440"/>
            <a:ext cx="5852160" cy="5852160"/>
          </a:xfrm>
          <a:prstGeom prst="ellipse">
            <a:avLst/>
          </a:prstGeom>
          <a:solidFill>
            <a:srgbClr val="2C2C4E"/>
          </a:solidFill>
          <a:ln w="12700">
            <a:solidFill>
              <a:srgbClr val="2C2C4E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-2011680" y="4206240"/>
            <a:ext cx="4754880" cy="4754880"/>
          </a:xfrm>
          <a:prstGeom prst="ellipse">
            <a:avLst/>
          </a:prstGeom>
          <a:solidFill>
            <a:srgbClr val="17305C"/>
          </a:solidFill>
          <a:ln w="12700">
            <a:solidFill>
              <a:srgbClr val="17305C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 txBox="1"/>
          <p:nvPr/>
        </p:nvSpPr>
        <p:spPr>
          <a:xfrm>
            <a:off x="822960" y="18288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D99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14884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200" b="1" dirty="0">
                <a:solidFill>
                  <a:srgbClr val="AAB9C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72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291840"/>
            <a:ext cx="8686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 Value</a:t>
            </a:r>
            <a:endParaRPr lang="en-US" sz="36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42519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rgbClr val="C7D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RFM, Pareto and lifetime value.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RFM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Questions About Every Customer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41908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5.2  ·  WHERE THE MONEY IS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11155680" y="641908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800" dirty="0"/>
          </a:p>
        </p:txBody>
      </p:sp>
      <p:pic>
        <p:nvPicPr>
          <p:cNvPr id="6" name="Image 0" descr="/home/claude/da1/assets/logos/da1_hex_25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31168" y="6336792"/>
            <a:ext cx="347472" cy="34747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40080" y="1691640"/>
            <a:ext cx="3474720" cy="3566160"/>
          </a:xfrm>
          <a:prstGeom prst="roundRect">
            <a:avLst>
              <a:gd name="adj" fmla="val 2105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8" name="Shape 5"/>
          <p:cNvSpPr/>
          <p:nvPr/>
        </p:nvSpPr>
        <p:spPr>
          <a:xfrm>
            <a:off x="2066544" y="1947672"/>
            <a:ext cx="621792" cy="621792"/>
          </a:xfrm>
          <a:prstGeom prst="ellipse">
            <a:avLst/>
          </a:prstGeom>
          <a:solidFill>
            <a:srgbClr val="0B5E82"/>
          </a:solidFill>
          <a:ln w="12700">
            <a:solidFill>
              <a:srgbClr val="0B5E82"/>
            </a:solidFill>
            <a:prstDash val="solid"/>
          </a:ln>
        </p:spPr>
        <p:txBody>
          <a:bodyPr/>
          <a:p/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1992" y="2103120"/>
            <a:ext cx="310896" cy="310896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822960" y="269748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Recency</a:t>
            </a:r>
            <a:endParaRPr lang="en-US" sz="1600" dirty="0"/>
          </a:p>
        </p:txBody>
      </p:sp>
      <p:sp>
        <p:nvSpPr>
          <p:cNvPr id="11" name="Text 7"/>
          <p:cNvSpPr txBox="1"/>
          <p:nvPr/>
        </p:nvSpPr>
        <p:spPr>
          <a:xfrm>
            <a:off x="868680" y="3291840"/>
            <a:ext cx="30175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many days since their last purchase? </a:t>
            </a:r>
            <a:r>
              <a:rPr lang="en-US" sz="13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Recent</a:t>
            </a: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customers are most likely to buy again.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4343400" y="1691640"/>
            <a:ext cx="3474720" cy="3566160"/>
          </a:xfrm>
          <a:prstGeom prst="roundRect">
            <a:avLst>
              <a:gd name="adj" fmla="val 2105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3" name="Shape 9"/>
          <p:cNvSpPr/>
          <p:nvPr/>
        </p:nvSpPr>
        <p:spPr>
          <a:xfrm>
            <a:off x="5769864" y="1947672"/>
            <a:ext cx="621792" cy="621792"/>
          </a:xfrm>
          <a:prstGeom prst="ellipse">
            <a:avLst/>
          </a:prstGeom>
          <a:solidFill>
            <a:srgbClr val="D99A2B"/>
          </a:solidFill>
          <a:ln w="12700">
            <a:solidFill>
              <a:srgbClr val="D99A2B"/>
            </a:solidFill>
            <a:prstDash val="solid"/>
          </a:ln>
        </p:spPr>
        <p:txBody>
          <a:bodyPr/>
          <a:p/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25312" y="2103120"/>
            <a:ext cx="310896" cy="310896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4526280" y="269748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Frequency</a:t>
            </a:r>
            <a:endParaRPr lang="en-US" sz="1600" dirty="0"/>
          </a:p>
        </p:txBody>
      </p:sp>
      <p:sp>
        <p:nvSpPr>
          <p:cNvPr id="16" name="Text 11"/>
          <p:cNvSpPr txBox="1"/>
          <p:nvPr/>
        </p:nvSpPr>
        <p:spPr>
          <a:xfrm>
            <a:off x="4572000" y="3291840"/>
            <a:ext cx="30175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many orders have they placed? </a:t>
            </a:r>
            <a:r>
              <a:rPr lang="en-US" sz="13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Frequent</a:t>
            </a: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buyers have formed a habit.</a:t>
            </a:r>
            <a:endParaRPr lang="en-US" sz="1300" dirty="0"/>
          </a:p>
        </p:txBody>
      </p:sp>
      <p:sp>
        <p:nvSpPr>
          <p:cNvPr id="17" name="Shape 12"/>
          <p:cNvSpPr/>
          <p:nvPr/>
        </p:nvSpPr>
        <p:spPr>
          <a:xfrm>
            <a:off x="8046720" y="1691640"/>
            <a:ext cx="3474720" cy="3566160"/>
          </a:xfrm>
          <a:prstGeom prst="roundRect">
            <a:avLst>
              <a:gd name="adj" fmla="val 2105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8" name="Shape 13"/>
          <p:cNvSpPr/>
          <p:nvPr/>
        </p:nvSpPr>
        <p:spPr>
          <a:xfrm>
            <a:off x="9473184" y="1947672"/>
            <a:ext cx="621792" cy="621792"/>
          </a:xfrm>
          <a:prstGeom prst="ellipse">
            <a:avLst/>
          </a:prstGeom>
          <a:solidFill>
            <a:srgbClr val="0B5E82"/>
          </a:solidFill>
          <a:ln w="12700">
            <a:solidFill>
              <a:srgbClr val="0B5E82"/>
            </a:solidFill>
            <a:prstDash val="solid"/>
          </a:ln>
        </p:spPr>
        <p:txBody>
          <a:bodyPr/>
          <a:p/>
        </p:txBody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28632" y="2103120"/>
            <a:ext cx="310896" cy="310896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8229600" y="269748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Monetary</a:t>
            </a:r>
            <a:endParaRPr lang="en-US" sz="1600" dirty="0"/>
          </a:p>
        </p:txBody>
      </p:sp>
      <p:sp>
        <p:nvSpPr>
          <p:cNvPr id="21" name="Text 15"/>
          <p:cNvSpPr txBox="1"/>
          <p:nvPr/>
        </p:nvSpPr>
        <p:spPr>
          <a:xfrm>
            <a:off x="8275320" y="3291840"/>
            <a:ext cx="30175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much have they spent in total? </a:t>
            </a:r>
            <a:r>
              <a:rPr lang="en-US" sz="13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spenders</a:t>
            </a: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matter most to revenue.</a:t>
            </a:r>
            <a:endParaRPr lang="en-US" sz="1300" dirty="0"/>
          </a:p>
        </p:txBody>
      </p:sp>
      <p:sp>
        <p:nvSpPr>
          <p:cNvPr id="22" name="Shape 16"/>
          <p:cNvSpPr/>
          <p:nvPr/>
        </p:nvSpPr>
        <p:spPr>
          <a:xfrm>
            <a:off x="640080" y="5532120"/>
            <a:ext cx="10881360" cy="548640"/>
          </a:xfrm>
          <a:prstGeom prst="roundRect">
            <a:avLst>
              <a:gd name="adj" fmla="val 10000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</p:spPr>
        <p:txBody>
          <a:bodyPr/>
          <a:p/>
        </p:txBody>
      </p:sp>
      <p:sp>
        <p:nvSpPr>
          <p:cNvPr id="23" name="Text 17"/>
          <p:cNvSpPr txBox="1"/>
          <p:nvPr/>
        </p:nvSpPr>
        <p:spPr>
          <a:xfrm>
            <a:off x="868680" y="5532120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each from 1 to 5 by quintile (5 = best), then combine the scores into named segments. No model needed; it works in Excel.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INGREDIENTS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Recency, Frequency and Money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41908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5.2  ·  WHERE THE MONEY IS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11155680" y="641908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800" dirty="0"/>
          </a:p>
        </p:txBody>
      </p:sp>
      <p:pic>
        <p:nvPicPr>
          <p:cNvPr id="6" name="Image 0" descr="/home/claude/da1/assets/logos/da1_hex_25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31168" y="6336792"/>
            <a:ext cx="347472" cy="347472"/>
          </a:xfrm>
          <a:prstGeom prst="rect">
            <a:avLst/>
          </a:prstGeom>
        </p:spPr>
      </p:pic>
      <p:pic>
        <p:nvPicPr>
          <p:cNvPr id="7" name="Image 1" descr="/home/claude/da1/sessions/s19/figures/python/s19_f0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00200"/>
            <a:ext cx="7223760" cy="2411823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640080" y="4057743"/>
            <a:ext cx="7223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 S5.2-F01  ·  replicate: tdbg_5_2_figures.R / .py</a:t>
            </a:r>
            <a:endParaRPr lang="en-US" sz="900" dirty="0"/>
          </a:p>
        </p:txBody>
      </p:sp>
      <p:sp>
        <p:nvSpPr>
          <p:cNvPr id="9" name="Shape 5"/>
          <p:cNvSpPr/>
          <p:nvPr/>
        </p:nvSpPr>
        <p:spPr>
          <a:xfrm>
            <a:off x="8092440" y="1600200"/>
            <a:ext cx="3429000" cy="4526280"/>
          </a:xfrm>
          <a:prstGeom prst="roundRect">
            <a:avLst>
              <a:gd name="adj" fmla="val 2133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0" name="Text 6"/>
          <p:cNvSpPr txBox="1"/>
          <p:nvPr/>
        </p:nvSpPr>
        <p:spPr>
          <a:xfrm>
            <a:off x="8366760" y="1828800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SEE</a:t>
            </a:r>
            <a:endParaRPr lang="en-US" sz="1150" dirty="0"/>
          </a:p>
        </p:txBody>
      </p:sp>
      <p:sp>
        <p:nvSpPr>
          <p:cNvPr id="11" name="Text 7"/>
          <p:cNvSpPr txBox="1"/>
          <p:nvPr/>
        </p:nvSpPr>
        <p:spPr>
          <a:xfrm>
            <a:off x="8321040" y="2240280"/>
            <a:ext cx="2971800" cy="370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three are </a:t>
            </a:r>
            <a:r>
              <a:rPr lang="en-US" sz="13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skewed</a:t>
            </a: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most customers order rarely and spend little.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few customers order 50+ times.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That's why we score by </a:t>
            </a:r>
            <a:r>
              <a:rPr lang="en-US" sz="13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quintile</a:t>
            </a: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(rank), not by raw value.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Recency has a bump near zero: a core of active customers.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SEGMENTS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Brings In the Revenue?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41908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5.2  ·  WHERE THE MONEY IS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11155680" y="641908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800" dirty="0"/>
          </a:p>
        </p:txBody>
      </p:sp>
      <p:pic>
        <p:nvPicPr>
          <p:cNvPr id="6" name="Image 0" descr="/home/claude/da1/assets/logos/da1_hex_25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31168" y="6336792"/>
            <a:ext cx="347472" cy="347472"/>
          </a:xfrm>
          <a:prstGeom prst="rect">
            <a:avLst/>
          </a:prstGeom>
        </p:spPr>
      </p:pic>
      <p:pic>
        <p:nvPicPr>
          <p:cNvPr id="7" name="Image 1" descr="/home/claude/da1/sessions/s19/figures/python/s19_f0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00200"/>
            <a:ext cx="7223760" cy="3662696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640080" y="5308616"/>
            <a:ext cx="7223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 S5.2-F02  ·  replicate: tdbg_5_2_figures.R / .py</a:t>
            </a:r>
            <a:endParaRPr lang="en-US" sz="900" dirty="0"/>
          </a:p>
        </p:txBody>
      </p:sp>
      <p:sp>
        <p:nvSpPr>
          <p:cNvPr id="9" name="Shape 5"/>
          <p:cNvSpPr/>
          <p:nvPr/>
        </p:nvSpPr>
        <p:spPr>
          <a:xfrm>
            <a:off x="8092440" y="1600200"/>
            <a:ext cx="3429000" cy="4526280"/>
          </a:xfrm>
          <a:prstGeom prst="roundRect">
            <a:avLst>
              <a:gd name="adj" fmla="val 2133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0" name="Text 6"/>
          <p:cNvSpPr txBox="1"/>
          <p:nvPr/>
        </p:nvSpPr>
        <p:spPr>
          <a:xfrm>
            <a:off x="8366760" y="1828800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SEE</a:t>
            </a:r>
            <a:endParaRPr lang="en-US" sz="1150" dirty="0"/>
          </a:p>
        </p:txBody>
      </p:sp>
      <p:sp>
        <p:nvSpPr>
          <p:cNvPr id="11" name="Text 7"/>
          <p:cNvSpPr txBox="1"/>
          <p:nvPr/>
        </p:nvSpPr>
        <p:spPr>
          <a:xfrm>
            <a:off x="8321040" y="2240280"/>
            <a:ext cx="2971800" cy="370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Champions</a:t>
            </a: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27% of customers, </a:t>
            </a:r>
            <a:r>
              <a:rPr lang="en-US" sz="13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57%</a:t>
            </a: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of revenue. Protect them.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risk</a:t>
            </a: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12% of customers, 12% of revenue. They used to buy often and have gone quiet. Win them back now.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</a:t>
            </a: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28% of customers, only 6% of revenue. Low-cost reactivation at most.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segment gets a different action and budget.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CONCENTRATION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80/20 Rule, Measured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41908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5.2  ·  WHERE THE MONEY IS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11155680" y="641908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800" dirty="0"/>
          </a:p>
        </p:txBody>
      </p:sp>
      <p:pic>
        <p:nvPicPr>
          <p:cNvPr id="6" name="Image 0" descr="/home/claude/da1/assets/logos/da1_hex_25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31168" y="6336792"/>
            <a:ext cx="347472" cy="347472"/>
          </a:xfrm>
          <a:prstGeom prst="rect">
            <a:avLst/>
          </a:prstGeom>
        </p:spPr>
      </p:pic>
      <p:pic>
        <p:nvPicPr>
          <p:cNvPr id="7" name="Image 1" descr="/home/claude/da1/sessions/s19/figures/python/s19_f03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3565" y="1600200"/>
            <a:ext cx="6296789" cy="429768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640080" y="5943600"/>
            <a:ext cx="7223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 S5.2-F03  ·  replicate: tdbg_5_2_figures.R / .py</a:t>
            </a:r>
            <a:endParaRPr lang="en-US" sz="900" dirty="0"/>
          </a:p>
        </p:txBody>
      </p:sp>
      <p:sp>
        <p:nvSpPr>
          <p:cNvPr id="9" name="Shape 5"/>
          <p:cNvSpPr/>
          <p:nvPr/>
        </p:nvSpPr>
        <p:spPr>
          <a:xfrm>
            <a:off x="8092440" y="1600200"/>
            <a:ext cx="3429000" cy="4526280"/>
          </a:xfrm>
          <a:prstGeom prst="roundRect">
            <a:avLst>
              <a:gd name="adj" fmla="val 2133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0" name="Text 6"/>
          <p:cNvSpPr txBox="1"/>
          <p:nvPr/>
        </p:nvSpPr>
        <p:spPr>
          <a:xfrm>
            <a:off x="8366760" y="1828800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SEE</a:t>
            </a:r>
            <a:endParaRPr lang="en-US" sz="1150" dirty="0"/>
          </a:p>
        </p:txBody>
      </p:sp>
      <p:sp>
        <p:nvSpPr>
          <p:cNvPr id="11" name="Text 7"/>
          <p:cNvSpPr txBox="1"/>
          <p:nvPr/>
        </p:nvSpPr>
        <p:spPr>
          <a:xfrm>
            <a:off x="8321040" y="2240280"/>
            <a:ext cx="2971800" cy="370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top </a:t>
            </a:r>
            <a:r>
              <a:rPr lang="en-US" sz="13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</a:t>
            </a: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of customers produce </a:t>
            </a:r>
            <a:r>
              <a:rPr lang="en-US" sz="13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59%</a:t>
            </a: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of revenue.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Losing one top customer costs as much as losing dozens of small ones.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Key-account management, loyalty perks and service levels should follow this curve.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LIFETIME VALUE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a Customer Worth?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41908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5.2  ·  WHERE THE MONEY IS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11155680" y="641908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800" dirty="0"/>
          </a:p>
        </p:txBody>
      </p:sp>
      <p:pic>
        <p:nvPicPr>
          <p:cNvPr id="6" name="Image 0" descr="/home/claude/da1/assets/logos/da1_hex_25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31168" y="6336792"/>
            <a:ext cx="347472" cy="347472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640080" y="1691640"/>
            <a:ext cx="5577840" cy="4434840"/>
          </a:xfrm>
          <a:prstGeom prst="roundRect">
            <a:avLst>
              <a:gd name="adj" fmla="val 1649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9" name="Shape 5"/>
          <p:cNvSpPr/>
          <p:nvPr/>
        </p:nvSpPr>
        <p:spPr>
          <a:xfrm>
            <a:off x="914400" y="1947672"/>
            <a:ext cx="502920" cy="502920"/>
          </a:xfrm>
          <a:prstGeom prst="ellipse">
            <a:avLst/>
          </a:prstGeom>
          <a:solidFill>
            <a:srgbClr val="0B5E82"/>
          </a:solidFill>
          <a:ln w="12700">
            <a:solidFill>
              <a:srgbClr val="0B5E82"/>
            </a:solidFill>
            <a:prstDash val="solid"/>
          </a:ln>
        </p:spPr>
        <p:txBody>
          <a:bodyPr/>
          <a:p/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130" y="2073402"/>
            <a:ext cx="251460" cy="25146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554480" y="19659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PLAIN ENGLISH</a:t>
            </a:r>
            <a:endParaRPr lang="en-US" sz="1200" dirty="0"/>
          </a:p>
        </p:txBody>
      </p:sp>
      <p:sp>
        <p:nvSpPr>
          <p:cNvPr id="12" name="Text 7"/>
          <p:cNvSpPr txBox="1"/>
          <p:nvPr/>
        </p:nvSpPr>
        <p:spPr>
          <a:xfrm>
            <a:off x="960120" y="2606040"/>
            <a:ext cx="49377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CLV</a:t>
            </a:r>
            <a:r>
              <a:rPr lang="en-US" sz="15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 the total profit you expect from a customer over the whole relationship, in today's money. It needs three numbers: the </a:t>
            </a:r>
            <a:r>
              <a:rPr lang="en-US" sz="15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margin</a:t>
            </a:r>
            <a:r>
              <a:rPr lang="en-US" sz="15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 customer brings, the </a:t>
            </a:r>
            <a:r>
              <a:rPr lang="en-US" sz="15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retention rate</a:t>
            </a:r>
            <a:r>
              <a:rPr lang="en-US" sz="15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(the chance they stay another year), and a </a:t>
            </a:r>
            <a:r>
              <a:rPr lang="en-US" sz="15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 rate</a:t>
            </a:r>
            <a:r>
              <a:rPr lang="en-US" sz="15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(money later is worth less than money now).</a:t>
            </a:r>
            <a:endParaRPr lang="en-US" sz="1500" dirty="0"/>
          </a:p>
        </p:txBody>
      </p:sp>
      <p:sp>
        <p:nvSpPr>
          <p:cNvPr id="13" name="Text 8"/>
          <p:cNvSpPr txBox="1"/>
          <p:nvPr/>
        </p:nvSpPr>
        <p:spPr>
          <a:xfrm>
            <a:off x="960120" y="4754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99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100" dirty="0"/>
          </a:p>
        </p:txBody>
      </p:sp>
      <p:sp>
        <p:nvSpPr>
          <p:cNvPr id="14" name="Text 9"/>
          <p:cNvSpPr txBox="1"/>
          <p:nvPr/>
        </p:nvSpPr>
        <p:spPr>
          <a:xfrm>
            <a:off x="960120" y="5074920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customer spends ₦98,330 a year; 25% margin = </a:t>
            </a:r>
            <a:r>
              <a:rPr lang="en-US" sz="1300" b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₦24,582</a:t>
            </a:r>
            <a:r>
              <a:rPr lang="en-US" sz="13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Retention r = 62%, discount d = 20%. CLV = 24,582 × 1.20 ÷ 0.58 ≈ </a:t>
            </a:r>
            <a:r>
              <a:rPr lang="en-US" sz="1300" b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₦50,800</a:t>
            </a:r>
            <a:r>
              <a:rPr lang="en-US" sz="13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300" dirty="0"/>
          </a:p>
        </p:txBody>
      </p:sp>
      <p:sp>
        <p:nvSpPr>
          <p:cNvPr id="15" name="Shape 10"/>
          <p:cNvSpPr/>
          <p:nvPr/>
        </p:nvSpPr>
        <p:spPr>
          <a:xfrm>
            <a:off x="6446520" y="1691640"/>
            <a:ext cx="5074920" cy="1828800"/>
          </a:xfrm>
          <a:prstGeom prst="roundRect">
            <a:avLst>
              <a:gd name="adj" fmla="val 4000"/>
            </a:avLst>
          </a:prstGeom>
          <a:solidFill>
            <a:srgbClr val="141B4D"/>
          </a:solidFill>
          <a:ln w="12700">
            <a:solidFill>
              <a:srgbClr val="141B4D"/>
            </a:solidFill>
            <a:prstDash val="solid"/>
          </a:ln>
        </p:spPr>
        <p:txBody>
          <a:bodyPr/>
          <a:p/>
        </p:txBody>
      </p:sp>
      <p:sp>
        <p:nvSpPr>
          <p:cNvPr id="16" name="Text 11"/>
          <p:cNvSpPr txBox="1"/>
          <p:nvPr/>
        </p:nvSpPr>
        <p:spPr>
          <a:xfrm>
            <a:off x="6720840" y="185623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99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FORMULA</a:t>
            </a:r>
            <a:endParaRPr lang="en-US" sz="1100" dirty="0"/>
          </a:p>
        </p:txBody>
      </p:sp>
      <p:sp>
        <p:nvSpPr>
          <p:cNvPr id="17" name="Text 12"/>
          <p:cNvSpPr txBox="1"/>
          <p:nvPr/>
        </p:nvSpPr>
        <p:spPr>
          <a:xfrm>
            <a:off x="6720840" y="2148840"/>
            <a:ext cx="4526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CLV = annual margin × (1 + d) ÷ (1 + d − r)</a:t>
            </a:r>
            <a:endParaRPr lang="en-US" sz="2000" dirty="0"/>
          </a:p>
        </p:txBody>
      </p:sp>
      <p:sp>
        <p:nvSpPr>
          <p:cNvPr id="18" name="Shape 13"/>
          <p:cNvSpPr/>
          <p:nvPr/>
        </p:nvSpPr>
        <p:spPr>
          <a:xfrm>
            <a:off x="6446520" y="3749040"/>
            <a:ext cx="5074920" cy="2377440"/>
          </a:xfrm>
          <a:prstGeom prst="roundRect">
            <a:avLst>
              <a:gd name="adj" fmla="val 3077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9" name="Shape 14"/>
          <p:cNvSpPr/>
          <p:nvPr/>
        </p:nvSpPr>
        <p:spPr>
          <a:xfrm>
            <a:off x="6720840" y="3977640"/>
            <a:ext cx="457200" cy="457200"/>
          </a:xfrm>
          <a:prstGeom prst="ellipse">
            <a:avLst/>
          </a:prstGeom>
          <a:solidFill>
            <a:srgbClr val="D99A2B"/>
          </a:solidFill>
          <a:ln w="12700">
            <a:solidFill>
              <a:srgbClr val="D99A2B"/>
            </a:solidFill>
            <a:prstDash val="solid"/>
          </a:ln>
        </p:spPr>
        <p:txBody>
          <a:bodyPr/>
          <a:p/>
        </p:txBody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5140" y="4091940"/>
            <a:ext cx="228600" cy="22860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7315200" y="3995928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 MANAGER CARES</a:t>
            </a:r>
            <a:endParaRPr lang="en-US" sz="1200" dirty="0"/>
          </a:p>
        </p:txBody>
      </p:sp>
      <p:sp>
        <p:nvSpPr>
          <p:cNvPr id="22" name="Text 16"/>
          <p:cNvSpPr txBox="1"/>
          <p:nvPr/>
        </p:nvSpPr>
        <p:spPr>
          <a:xfrm>
            <a:off x="6720840" y="4572000"/>
            <a:ext cx="45262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CLV tells you the </a:t>
            </a:r>
            <a:r>
              <a:rPr lang="en-US" sz="135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you should spend</a:t>
            </a:r>
            <a:r>
              <a:rPr lang="en-US" sz="13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to acquire or keep a customer. If acquiring one costs ₦60,000, you are destroying value.</a:t>
            </a:r>
            <a:endParaRPr lang="en-US" sz="13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RETENTION IS THE LEVER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Small Retention Gains, Big Value Gains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41908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5.2  ·  WHERE THE MONEY IS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11155680" y="641908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800" dirty="0"/>
          </a:p>
        </p:txBody>
      </p:sp>
      <p:pic>
        <p:nvPicPr>
          <p:cNvPr id="6" name="Image 0" descr="/home/claude/da1/assets/logos/da1_hex_25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31168" y="6336792"/>
            <a:ext cx="347472" cy="347472"/>
          </a:xfrm>
          <a:prstGeom prst="rect">
            <a:avLst/>
          </a:prstGeom>
        </p:spPr>
      </p:pic>
      <p:pic>
        <p:nvPicPr>
          <p:cNvPr id="7" name="Image 1" descr="/home/claude/da1/sessions/s19/figures/python/s19_f04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9940" y="1600200"/>
            <a:ext cx="6924040" cy="429768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640080" y="5943600"/>
            <a:ext cx="7223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 S5.2-F04  ·  replicate: tdbg_5_2_figures.R / .py</a:t>
            </a:r>
            <a:endParaRPr lang="en-US" sz="900" dirty="0"/>
          </a:p>
        </p:txBody>
      </p:sp>
      <p:sp>
        <p:nvSpPr>
          <p:cNvPr id="9" name="Shape 5"/>
          <p:cNvSpPr/>
          <p:nvPr/>
        </p:nvSpPr>
        <p:spPr>
          <a:xfrm>
            <a:off x="8092440" y="1600200"/>
            <a:ext cx="3429000" cy="4526280"/>
          </a:xfrm>
          <a:prstGeom prst="roundRect">
            <a:avLst>
              <a:gd name="adj" fmla="val 2133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0" name="Text 6"/>
          <p:cNvSpPr txBox="1"/>
          <p:nvPr/>
        </p:nvSpPr>
        <p:spPr>
          <a:xfrm>
            <a:off x="8366760" y="1828800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SEE</a:t>
            </a:r>
            <a:endParaRPr lang="en-US" sz="1150" dirty="0"/>
          </a:p>
        </p:txBody>
      </p:sp>
      <p:sp>
        <p:nvSpPr>
          <p:cNvPr id="11" name="Text 7"/>
          <p:cNvSpPr txBox="1"/>
          <p:nvPr/>
        </p:nvSpPr>
        <p:spPr>
          <a:xfrm>
            <a:off x="8321040" y="2240280"/>
            <a:ext cx="2971800" cy="370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Raising retention from </a:t>
            </a:r>
            <a:r>
              <a:rPr lang="en-US" sz="13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62% to 72%</a:t>
            </a: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lifts CLV from ₦50.8k to </a:t>
            </a:r>
            <a:r>
              <a:rPr lang="en-US" sz="13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₦61.4k</a:t>
            </a: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(+21%).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curve gets steeper: each extra point is worth more than the last.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why retention projects often beat acquisition campaigns.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ECONOMICS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Does the Retention Campaign Pay?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316736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a churn model (Session 5.1) to target 1,000 high-risk customers.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641908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5.2  ·  WHERE THE MONEY IS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11155680" y="641908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800" dirty="0"/>
          </a:p>
        </p:txBody>
      </p:sp>
      <p:pic>
        <p:nvPicPr>
          <p:cNvPr id="7" name="Image 0" descr="/home/claude/da1/assets/logos/da1_hex_25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31168" y="6336792"/>
            <a:ext cx="347472" cy="347472"/>
          </a:xfrm>
          <a:prstGeom prst="rect">
            <a:avLst/>
          </a:prstGeom>
        </p:spPr>
      </p:pic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874520"/>
          <a:ext cx="512064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256032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Input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Customers targeted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1,000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Would churn without action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40% → 400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Campaign saves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25% of those → 100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 of a saved customer (CLV)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₦50,800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 per customer contacted (voucher + SMS)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₦2,000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41B4D"/>
                          </a:solidFill>
                        </a:rPr>
                        <a:t>Net value</a:t>
                      </a:r>
                      <a:endParaRPr lang="en-US" sz="125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41B4D"/>
                          </a:solidFill>
                        </a:rPr>
                        <a:t>≈ ₦3.1m</a:t>
                      </a:r>
                      <a:endParaRPr lang="en-US" sz="125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5"/>
                    </a:solidFill>
                  </a:tcPr>
                </a:tc>
              </a:tr>
            </a:tbl>
          </a:graphicData>
        </a:graphic>
      </p:graphicFrame>
      <p:sp>
        <p:nvSpPr>
          <p:cNvPr id="10" name="Text 5"/>
          <p:cNvSpPr txBox="1"/>
          <p:nvPr/>
        </p:nvSpPr>
        <p:spPr>
          <a:xfrm>
            <a:off x="6126480" y="187452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BY STEP</a:t>
            </a:r>
            <a:endParaRPr lang="en-US" sz="1150" dirty="0"/>
          </a:p>
        </p:txBody>
      </p:sp>
      <p:sp>
        <p:nvSpPr>
          <p:cNvPr id="11" name="Shape 6"/>
          <p:cNvSpPr/>
          <p:nvPr/>
        </p:nvSpPr>
        <p:spPr>
          <a:xfrm>
            <a:off x="6126480" y="2313432"/>
            <a:ext cx="347472" cy="347472"/>
          </a:xfrm>
          <a:prstGeom prst="ellipse">
            <a:avLst/>
          </a:prstGeom>
          <a:solidFill>
            <a:srgbClr val="0B5E82"/>
          </a:solidFill>
          <a:ln w="12700">
            <a:solidFill>
              <a:srgbClr val="0B5E82"/>
            </a:solidFill>
            <a:prstDash val="solid"/>
          </a:ln>
        </p:spPr>
        <p:txBody>
          <a:bodyPr/>
          <a:p/>
        </p:txBody>
      </p:sp>
      <p:sp>
        <p:nvSpPr>
          <p:cNvPr id="12" name="Text 7"/>
          <p:cNvSpPr txBox="1"/>
          <p:nvPr/>
        </p:nvSpPr>
        <p:spPr>
          <a:xfrm>
            <a:off x="6126480" y="231343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3" name="Text 8"/>
          <p:cNvSpPr txBox="1"/>
          <p:nvPr/>
        </p:nvSpPr>
        <p:spPr>
          <a:xfrm>
            <a:off x="6629400" y="2286000"/>
            <a:ext cx="4892040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created = 100 saved × ₦50,800 = </a:t>
            </a:r>
            <a:r>
              <a:rPr lang="en-US" sz="13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₦5.08m</a:t>
            </a: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6126480" y="3022092"/>
            <a:ext cx="347472" cy="347472"/>
          </a:xfrm>
          <a:prstGeom prst="ellipse">
            <a:avLst/>
          </a:prstGeom>
          <a:solidFill>
            <a:srgbClr val="0B5E82"/>
          </a:solidFill>
          <a:ln w="12700">
            <a:solidFill>
              <a:srgbClr val="0B5E82"/>
            </a:solidFill>
            <a:prstDash val="solid"/>
          </a:ln>
        </p:spPr>
        <p:txBody>
          <a:bodyPr/>
          <a:p/>
        </p:txBody>
      </p:sp>
      <p:sp>
        <p:nvSpPr>
          <p:cNvPr id="15" name="Text 10"/>
          <p:cNvSpPr txBox="1"/>
          <p:nvPr/>
        </p:nvSpPr>
        <p:spPr>
          <a:xfrm>
            <a:off x="6126480" y="30220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6" name="Text 11"/>
          <p:cNvSpPr txBox="1"/>
          <p:nvPr/>
        </p:nvSpPr>
        <p:spPr>
          <a:xfrm>
            <a:off x="6629400" y="2994660"/>
            <a:ext cx="4892040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= 1,000 contacted × ₦2,000 = </a:t>
            </a:r>
            <a:r>
              <a:rPr lang="en-US" sz="13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₦2.0m</a:t>
            </a: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300" dirty="0"/>
          </a:p>
        </p:txBody>
      </p:sp>
      <p:sp>
        <p:nvSpPr>
          <p:cNvPr id="17" name="Shape 12"/>
          <p:cNvSpPr/>
          <p:nvPr/>
        </p:nvSpPr>
        <p:spPr>
          <a:xfrm>
            <a:off x="6126480" y="3730752"/>
            <a:ext cx="347472" cy="347472"/>
          </a:xfrm>
          <a:prstGeom prst="ellipse">
            <a:avLst/>
          </a:prstGeom>
          <a:solidFill>
            <a:srgbClr val="0B5E82"/>
          </a:solidFill>
          <a:ln w="12700">
            <a:solidFill>
              <a:srgbClr val="0B5E82"/>
            </a:solidFill>
            <a:prstDash val="solid"/>
          </a:ln>
        </p:spPr>
        <p:txBody>
          <a:bodyPr/>
          <a:p/>
        </p:txBody>
      </p:sp>
      <p:sp>
        <p:nvSpPr>
          <p:cNvPr id="18" name="Text 13"/>
          <p:cNvSpPr txBox="1"/>
          <p:nvPr/>
        </p:nvSpPr>
        <p:spPr>
          <a:xfrm>
            <a:off x="6126480" y="373075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9" name="Text 14"/>
          <p:cNvSpPr txBox="1"/>
          <p:nvPr/>
        </p:nvSpPr>
        <p:spPr>
          <a:xfrm>
            <a:off x="6629400" y="3703320"/>
            <a:ext cx="4892040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= ₦5.08m − ₦2.0m ≈ </a:t>
            </a:r>
            <a:r>
              <a:rPr lang="en-US" sz="13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₦3.1m</a:t>
            </a: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the campaign pays.</a:t>
            </a:r>
            <a:endParaRPr lang="en-US" sz="1300" dirty="0"/>
          </a:p>
        </p:txBody>
      </p:sp>
      <p:sp>
        <p:nvSpPr>
          <p:cNvPr id="20" name="Shape 15"/>
          <p:cNvSpPr/>
          <p:nvPr/>
        </p:nvSpPr>
        <p:spPr>
          <a:xfrm>
            <a:off x="6126480" y="4439412"/>
            <a:ext cx="347472" cy="347472"/>
          </a:xfrm>
          <a:prstGeom prst="ellipse">
            <a:avLst/>
          </a:prstGeom>
          <a:solidFill>
            <a:srgbClr val="0B5E82"/>
          </a:solidFill>
          <a:ln w="12700">
            <a:solidFill>
              <a:srgbClr val="0B5E82"/>
            </a:solidFill>
            <a:prstDash val="solid"/>
          </a:ln>
        </p:spPr>
        <p:txBody>
          <a:bodyPr/>
          <a:p/>
        </p:txBody>
      </p:sp>
      <p:sp>
        <p:nvSpPr>
          <p:cNvPr id="21" name="Text 16"/>
          <p:cNvSpPr txBox="1"/>
          <p:nvPr/>
        </p:nvSpPr>
        <p:spPr>
          <a:xfrm>
            <a:off x="6126480" y="443941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2" name="Text 17"/>
          <p:cNvSpPr txBox="1"/>
          <p:nvPr/>
        </p:nvSpPr>
        <p:spPr>
          <a:xfrm>
            <a:off x="6629400" y="4411980"/>
            <a:ext cx="4892040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Untargeted (random) customers churn at only 15%: the same campaign would save 37 customers and </a:t>
            </a:r>
            <a:r>
              <a:rPr lang="en-US" sz="13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lose money</a:t>
            </a: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300" dirty="0"/>
          </a:p>
        </p:txBody>
      </p:sp>
      <p:sp>
        <p:nvSpPr>
          <p:cNvPr id="23" name="Shape 18"/>
          <p:cNvSpPr/>
          <p:nvPr/>
        </p:nvSpPr>
        <p:spPr>
          <a:xfrm>
            <a:off x="6126480" y="5257800"/>
            <a:ext cx="5394960" cy="868680"/>
          </a:xfrm>
          <a:prstGeom prst="roundRect">
            <a:avLst>
              <a:gd name="adj" fmla="val 6316"/>
            </a:avLst>
          </a:prstGeom>
          <a:solidFill>
            <a:srgbClr val="141B4D"/>
          </a:solidFill>
          <a:ln w="12700">
            <a:solidFill>
              <a:srgbClr val="141B4D"/>
            </a:solidFill>
            <a:prstDash val="solid"/>
          </a:ln>
        </p:spPr>
        <p:txBody>
          <a:bodyPr/>
          <a:p/>
        </p:txBody>
      </p:sp>
      <p:sp>
        <p:nvSpPr>
          <p:cNvPr id="24" name="Text 19"/>
          <p:cNvSpPr txBox="1"/>
          <p:nvPr/>
        </p:nvSpPr>
        <p:spPr>
          <a:xfrm>
            <a:off x="6355080" y="5257800"/>
            <a:ext cx="4937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churn model's value is in </a:t>
            </a: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targeting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it decides who is worth the voucher.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RISK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Expected Loss on a Loan Book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316736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language every bank and fintech uses (Chapter 40).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641908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5.2  ·  WHERE THE MONEY IS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11155680" y="641908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800" dirty="0"/>
          </a:p>
        </p:txBody>
      </p:sp>
      <p:pic>
        <p:nvPicPr>
          <p:cNvPr id="7" name="Image 0" descr="/home/claude/da1/assets/logos/da1_hex_25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31168" y="6336792"/>
            <a:ext cx="347472" cy="347472"/>
          </a:xfrm>
          <a:prstGeom prst="rect">
            <a:avLst/>
          </a:prstGeom>
        </p:spPr>
      </p:pic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874520"/>
          <a:ext cx="5120640" cy="914400"/>
        </p:xfrm>
        <a:graphic>
          <a:graphicData uri="http://schemas.openxmlformats.org/drawingml/2006/table">
            <a:tbl>
              <a:tblPr/>
              <a:tblGrid>
                <a:gridCol w="1706880"/>
                <a:gridCol w="1706880"/>
                <a:gridCol w="170688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Component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Meaning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Probability of default (from a model, Sessions 3.4–3.5)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LGD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Loss given default: share not recovered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EAD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Exposure at default: amount owed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₦200,000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41B4D"/>
                          </a:solidFill>
                        </a:rPr>
                        <a:t>Expected loss</a:t>
                      </a:r>
                      <a:endParaRPr lang="en-US" sz="125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41B4D"/>
                          </a:solidFill>
                        </a:rPr>
                        <a:t>PD × LGD × EAD</a:t>
                      </a:r>
                      <a:endParaRPr lang="en-US" sz="125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41B4D"/>
                          </a:solidFill>
                        </a:rPr>
                        <a:t>₦11,200</a:t>
                      </a:r>
                      <a:endParaRPr lang="en-US" sz="125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5"/>
                    </a:solidFill>
                  </a:tcPr>
                </a:tc>
              </a:tr>
            </a:tbl>
          </a:graphicData>
        </a:graphic>
      </p:graphicFrame>
      <p:sp>
        <p:nvSpPr>
          <p:cNvPr id="10" name="Text 5"/>
          <p:cNvSpPr txBox="1"/>
          <p:nvPr/>
        </p:nvSpPr>
        <p:spPr>
          <a:xfrm>
            <a:off x="6126480" y="187452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BY STEP</a:t>
            </a:r>
            <a:endParaRPr lang="en-US" sz="1150" dirty="0"/>
          </a:p>
        </p:txBody>
      </p:sp>
      <p:sp>
        <p:nvSpPr>
          <p:cNvPr id="11" name="Shape 6"/>
          <p:cNvSpPr/>
          <p:nvPr/>
        </p:nvSpPr>
        <p:spPr>
          <a:xfrm>
            <a:off x="6126480" y="2313432"/>
            <a:ext cx="347472" cy="347472"/>
          </a:xfrm>
          <a:prstGeom prst="ellipse">
            <a:avLst/>
          </a:prstGeom>
          <a:solidFill>
            <a:srgbClr val="0B5E82"/>
          </a:solidFill>
          <a:ln w="12700">
            <a:solidFill>
              <a:srgbClr val="0B5E82"/>
            </a:solidFill>
            <a:prstDash val="solid"/>
          </a:ln>
        </p:spPr>
        <p:txBody>
          <a:bodyPr/>
          <a:p/>
        </p:txBody>
      </p:sp>
      <p:sp>
        <p:nvSpPr>
          <p:cNvPr id="12" name="Text 7"/>
          <p:cNvSpPr txBox="1"/>
          <p:nvPr/>
        </p:nvSpPr>
        <p:spPr>
          <a:xfrm>
            <a:off x="6126480" y="231343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3" name="Text 8"/>
          <p:cNvSpPr txBox="1"/>
          <p:nvPr/>
        </p:nvSpPr>
        <p:spPr>
          <a:xfrm>
            <a:off x="6629400" y="2286000"/>
            <a:ext cx="4892040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loss</a:t>
            </a: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0.08 × 0.70 × ₦200,000 = </a:t>
            </a:r>
            <a:r>
              <a:rPr lang="en-US" sz="13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₦11,200</a:t>
            </a: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per loan.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6126480" y="3022092"/>
            <a:ext cx="347472" cy="347472"/>
          </a:xfrm>
          <a:prstGeom prst="ellipse">
            <a:avLst/>
          </a:prstGeom>
          <a:solidFill>
            <a:srgbClr val="0B5E82"/>
          </a:solidFill>
          <a:ln w="12700">
            <a:solidFill>
              <a:srgbClr val="0B5E82"/>
            </a:solidFill>
            <a:prstDash val="solid"/>
          </a:ln>
        </p:spPr>
        <p:txBody>
          <a:bodyPr/>
          <a:p/>
        </p:txBody>
      </p:sp>
      <p:sp>
        <p:nvSpPr>
          <p:cNvPr id="15" name="Text 10"/>
          <p:cNvSpPr txBox="1"/>
          <p:nvPr/>
        </p:nvSpPr>
        <p:spPr>
          <a:xfrm>
            <a:off x="6126480" y="30220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6" name="Text 11"/>
          <p:cNvSpPr txBox="1"/>
          <p:nvPr/>
        </p:nvSpPr>
        <p:spPr>
          <a:xfrm>
            <a:off x="6629400" y="2994660"/>
            <a:ext cx="4892040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for it: interest and fees must cover expected loss </a:t>
            </a:r>
            <a:r>
              <a:rPr lang="en-US" sz="13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</a:t>
            </a: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funding and operating costs.</a:t>
            </a:r>
            <a:endParaRPr lang="en-US" sz="1300" dirty="0"/>
          </a:p>
        </p:txBody>
      </p:sp>
      <p:sp>
        <p:nvSpPr>
          <p:cNvPr id="17" name="Shape 12"/>
          <p:cNvSpPr/>
          <p:nvPr/>
        </p:nvSpPr>
        <p:spPr>
          <a:xfrm>
            <a:off x="6126480" y="3730752"/>
            <a:ext cx="347472" cy="347472"/>
          </a:xfrm>
          <a:prstGeom prst="ellipse">
            <a:avLst/>
          </a:prstGeom>
          <a:solidFill>
            <a:srgbClr val="0B5E82"/>
          </a:solidFill>
          <a:ln w="12700">
            <a:solidFill>
              <a:srgbClr val="0B5E82"/>
            </a:solidFill>
            <a:prstDash val="solid"/>
          </a:ln>
        </p:spPr>
        <p:txBody>
          <a:bodyPr/>
          <a:p/>
        </p:txBody>
      </p:sp>
      <p:sp>
        <p:nvSpPr>
          <p:cNvPr id="18" name="Text 13"/>
          <p:cNvSpPr txBox="1"/>
          <p:nvPr/>
        </p:nvSpPr>
        <p:spPr>
          <a:xfrm>
            <a:off x="6126480" y="373075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9" name="Text 14"/>
          <p:cNvSpPr txBox="1"/>
          <p:nvPr/>
        </p:nvSpPr>
        <p:spPr>
          <a:xfrm>
            <a:off x="6629400" y="3703320"/>
            <a:ext cx="4892040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better PD model lets you approve more good borrowers at the right price.</a:t>
            </a:r>
            <a:endParaRPr lang="en-US" sz="1300" dirty="0"/>
          </a:p>
        </p:txBody>
      </p:sp>
      <p:sp>
        <p:nvSpPr>
          <p:cNvPr id="20" name="Shape 15"/>
          <p:cNvSpPr/>
          <p:nvPr/>
        </p:nvSpPr>
        <p:spPr>
          <a:xfrm>
            <a:off x="6126480" y="4439412"/>
            <a:ext cx="347472" cy="347472"/>
          </a:xfrm>
          <a:prstGeom prst="ellipse">
            <a:avLst/>
          </a:prstGeom>
          <a:solidFill>
            <a:srgbClr val="0B5E82"/>
          </a:solidFill>
          <a:ln w="12700">
            <a:solidFill>
              <a:srgbClr val="0B5E82"/>
            </a:solidFill>
            <a:prstDash val="solid"/>
          </a:ln>
        </p:spPr>
        <p:txBody>
          <a:bodyPr/>
          <a:p/>
        </p:txBody>
      </p:sp>
      <p:sp>
        <p:nvSpPr>
          <p:cNvPr id="21" name="Text 16"/>
          <p:cNvSpPr txBox="1"/>
          <p:nvPr/>
        </p:nvSpPr>
        <p:spPr>
          <a:xfrm>
            <a:off x="6126480" y="443941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2" name="Text 17"/>
          <p:cNvSpPr txBox="1"/>
          <p:nvPr/>
        </p:nvSpPr>
        <p:spPr>
          <a:xfrm>
            <a:off x="6629400" y="4411980"/>
            <a:ext cx="4892040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Regulators (CBN, IFRS 9) require banks to provision for expected losses.</a:t>
            </a:r>
            <a:endParaRPr lang="en-US" sz="1300" dirty="0"/>
          </a:p>
        </p:txBody>
      </p:sp>
      <p:sp>
        <p:nvSpPr>
          <p:cNvPr id="23" name="Shape 18"/>
          <p:cNvSpPr/>
          <p:nvPr/>
        </p:nvSpPr>
        <p:spPr>
          <a:xfrm>
            <a:off x="6126480" y="5257800"/>
            <a:ext cx="5394960" cy="868680"/>
          </a:xfrm>
          <a:prstGeom prst="roundRect">
            <a:avLst>
              <a:gd name="adj" fmla="val 6316"/>
            </a:avLst>
          </a:prstGeom>
          <a:solidFill>
            <a:srgbClr val="141B4D"/>
          </a:solidFill>
          <a:ln w="12700">
            <a:solidFill>
              <a:srgbClr val="141B4D"/>
            </a:solidFill>
            <a:prstDash val="solid"/>
          </a:ln>
        </p:spPr>
        <p:txBody>
          <a:bodyPr/>
          <a:p/>
        </p:txBody>
      </p:sp>
      <p:sp>
        <p:nvSpPr>
          <p:cNvPr id="24" name="Text 19"/>
          <p:cNvSpPr txBox="1"/>
          <p:nvPr/>
        </p:nvSpPr>
        <p:spPr>
          <a:xfrm>
            <a:off x="6355080" y="5257800"/>
            <a:ext cx="4937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 comes from the classification models you built in Module 2; LGD and EAD come from collections and product data.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41B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377440"/>
            <a:ext cx="5852160" cy="5852160"/>
          </a:xfrm>
          <a:prstGeom prst="ellipse">
            <a:avLst/>
          </a:prstGeom>
          <a:solidFill>
            <a:srgbClr val="2C2C4E"/>
          </a:solidFill>
          <a:ln w="12700">
            <a:solidFill>
              <a:srgbClr val="2C2C4E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-2011680" y="4206240"/>
            <a:ext cx="4754880" cy="4754880"/>
          </a:xfrm>
          <a:prstGeom prst="ellipse">
            <a:avLst/>
          </a:prstGeom>
          <a:solidFill>
            <a:srgbClr val="17305C"/>
          </a:solidFill>
          <a:ln w="12700">
            <a:solidFill>
              <a:srgbClr val="17305C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 txBox="1"/>
          <p:nvPr/>
        </p:nvSpPr>
        <p:spPr>
          <a:xfrm>
            <a:off x="822960" y="18288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D99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14884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200" b="1" dirty="0">
                <a:solidFill>
                  <a:srgbClr val="AAB9C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72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291840"/>
            <a:ext cx="8686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Fraud Detection</a:t>
            </a:r>
            <a:endParaRPr lang="en-US" sz="36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42519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rgbClr val="C7D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the needle without burning the haystack.</a:t>
            </a:r>
            <a:endParaRPr lang="en-US" sz="16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FLAGS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Fraud Is Rare, but Not Random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41908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5.2  ·  WHERE THE MONEY IS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11155680" y="641908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800" dirty="0"/>
          </a:p>
        </p:txBody>
      </p:sp>
      <p:pic>
        <p:nvPicPr>
          <p:cNvPr id="6" name="Image 0" descr="/home/claude/da1/assets/logos/da1_hex_25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31168" y="6336792"/>
            <a:ext cx="347472" cy="347472"/>
          </a:xfrm>
          <a:prstGeom prst="rect">
            <a:avLst/>
          </a:prstGeom>
        </p:spPr>
      </p:pic>
      <p:pic>
        <p:nvPicPr>
          <p:cNvPr id="7" name="Image 1" descr="/home/claude/da1/sessions/s19/figures/python/s19_f05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00200"/>
            <a:ext cx="7223760" cy="3476015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640080" y="5121935"/>
            <a:ext cx="7223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 S5.2-F05  ·  replicate: tdbg_5_2_figures.R / .py</a:t>
            </a:r>
            <a:endParaRPr lang="en-US" sz="900" dirty="0"/>
          </a:p>
        </p:txBody>
      </p:sp>
      <p:sp>
        <p:nvSpPr>
          <p:cNvPr id="9" name="Shape 5"/>
          <p:cNvSpPr/>
          <p:nvPr/>
        </p:nvSpPr>
        <p:spPr>
          <a:xfrm>
            <a:off x="8092440" y="1600200"/>
            <a:ext cx="3429000" cy="4526280"/>
          </a:xfrm>
          <a:prstGeom prst="roundRect">
            <a:avLst>
              <a:gd name="adj" fmla="val 2133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0" name="Text 6"/>
          <p:cNvSpPr txBox="1"/>
          <p:nvPr/>
        </p:nvSpPr>
        <p:spPr>
          <a:xfrm>
            <a:off x="8366760" y="1828800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SEE</a:t>
            </a:r>
            <a:endParaRPr lang="en-US" sz="1150" dirty="0"/>
          </a:p>
        </p:txBody>
      </p:sp>
      <p:sp>
        <p:nvSpPr>
          <p:cNvPr id="11" name="Text 7"/>
          <p:cNvSpPr txBox="1"/>
          <p:nvPr/>
        </p:nvSpPr>
        <p:spPr>
          <a:xfrm>
            <a:off x="8321040" y="2240280"/>
            <a:ext cx="2971800" cy="370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fraud rate: </a:t>
            </a:r>
            <a:r>
              <a:rPr lang="en-US" sz="13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1.2%</a:t>
            </a: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of transfers.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device</a:t>
            </a: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10.4% fraud, about 17 times the rate on a known device.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 from home and bursts of transfers are also strong flags.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like these are where fraud teams start; models combine them.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ACCURACY TRAP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Accuracy Is Useless Here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41908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5.2  ·  WHERE THE MONEY IS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11155680" y="641908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800" dirty="0"/>
          </a:p>
        </p:txBody>
      </p:sp>
      <p:pic>
        <p:nvPicPr>
          <p:cNvPr id="6" name="Image 0" descr="/home/claude/da1/assets/logos/da1_hex_25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31168" y="6336792"/>
            <a:ext cx="347472" cy="347472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640080" y="1691640"/>
            <a:ext cx="5577840" cy="4434840"/>
          </a:xfrm>
          <a:prstGeom prst="roundRect">
            <a:avLst>
              <a:gd name="adj" fmla="val 1649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9" name="Shape 5"/>
          <p:cNvSpPr/>
          <p:nvPr/>
        </p:nvSpPr>
        <p:spPr>
          <a:xfrm>
            <a:off x="914400" y="1947672"/>
            <a:ext cx="502920" cy="502920"/>
          </a:xfrm>
          <a:prstGeom prst="ellipse">
            <a:avLst/>
          </a:prstGeom>
          <a:solidFill>
            <a:srgbClr val="0B5E82"/>
          </a:solidFill>
          <a:ln w="12700">
            <a:solidFill>
              <a:srgbClr val="0B5E82"/>
            </a:solidFill>
            <a:prstDash val="solid"/>
          </a:ln>
        </p:spPr>
        <p:txBody>
          <a:bodyPr/>
          <a:p/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130" y="2073402"/>
            <a:ext cx="251460" cy="25146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554480" y="19659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PLAIN ENGLISH</a:t>
            </a:r>
            <a:endParaRPr lang="en-US" sz="1200" dirty="0"/>
          </a:p>
        </p:txBody>
      </p:sp>
      <p:sp>
        <p:nvSpPr>
          <p:cNvPr id="12" name="Text 7"/>
          <p:cNvSpPr txBox="1"/>
          <p:nvPr/>
        </p:nvSpPr>
        <p:spPr>
          <a:xfrm>
            <a:off x="960120" y="2606040"/>
            <a:ext cx="49377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'model' that says </a:t>
            </a:r>
            <a:r>
              <a:rPr lang="en-US" sz="15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fraud</a:t>
            </a:r>
            <a:r>
              <a:rPr lang="en-US" sz="15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 </a:t>
            </a:r>
            <a:r>
              <a:rPr lang="en-US" sz="15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98.8% accurate</a:t>
            </a:r>
            <a:r>
              <a:rPr lang="en-US" sz="15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and catches nothing. With rare events, measure instead: </a:t>
            </a:r>
            <a:r>
              <a:rPr lang="en-US" sz="15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r>
              <a:rPr lang="en-US" sz="15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(what share of fraud we catch) and </a:t>
            </a:r>
            <a:r>
              <a:rPr lang="en-US" sz="15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r>
              <a:rPr lang="en-US" sz="15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(what share of our alerts are really fraud).</a:t>
            </a:r>
            <a:endParaRPr lang="en-US" sz="1500" dirty="0"/>
          </a:p>
        </p:txBody>
      </p:sp>
      <p:sp>
        <p:nvSpPr>
          <p:cNvPr id="13" name="Text 8"/>
          <p:cNvSpPr txBox="1"/>
          <p:nvPr/>
        </p:nvSpPr>
        <p:spPr>
          <a:xfrm>
            <a:off x="960120" y="4754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99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100" dirty="0"/>
          </a:p>
        </p:txBody>
      </p:sp>
      <p:sp>
        <p:nvSpPr>
          <p:cNvPr id="14" name="Text 9"/>
          <p:cNvSpPr txBox="1"/>
          <p:nvPr/>
        </p:nvSpPr>
        <p:spPr>
          <a:xfrm>
            <a:off x="960120" y="5074920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our chosen threshold: 109 alerts, 29 real frauds. Precision = 29 ÷ 109 = </a:t>
            </a:r>
            <a:r>
              <a:rPr lang="en-US" sz="1300" b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27%</a:t>
            </a:r>
            <a:r>
              <a:rPr lang="en-US" sz="13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; recall = 29 ÷ 71 = </a:t>
            </a:r>
            <a:r>
              <a:rPr lang="en-US" sz="1300" b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41%</a:t>
            </a:r>
            <a:r>
              <a:rPr lang="en-US" sz="13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300" dirty="0"/>
          </a:p>
        </p:txBody>
      </p:sp>
      <p:sp>
        <p:nvSpPr>
          <p:cNvPr id="15" name="Shape 10"/>
          <p:cNvSpPr/>
          <p:nvPr/>
        </p:nvSpPr>
        <p:spPr>
          <a:xfrm>
            <a:off x="6446520" y="1691640"/>
            <a:ext cx="5074920" cy="1828800"/>
          </a:xfrm>
          <a:prstGeom prst="roundRect">
            <a:avLst>
              <a:gd name="adj" fmla="val 4000"/>
            </a:avLst>
          </a:prstGeom>
          <a:solidFill>
            <a:srgbClr val="141B4D"/>
          </a:solidFill>
          <a:ln w="12700">
            <a:solidFill>
              <a:srgbClr val="141B4D"/>
            </a:solidFill>
            <a:prstDash val="solid"/>
          </a:ln>
        </p:spPr>
        <p:txBody>
          <a:bodyPr/>
          <a:p/>
        </p:txBody>
      </p:sp>
      <p:sp>
        <p:nvSpPr>
          <p:cNvPr id="16" name="Text 11"/>
          <p:cNvSpPr txBox="1"/>
          <p:nvPr/>
        </p:nvSpPr>
        <p:spPr>
          <a:xfrm>
            <a:off x="6720840" y="185623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99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FORMULA</a:t>
            </a:r>
            <a:endParaRPr lang="en-US" sz="1100" dirty="0"/>
          </a:p>
        </p:txBody>
      </p:sp>
      <p:sp>
        <p:nvSpPr>
          <p:cNvPr id="17" name="Text 12"/>
          <p:cNvSpPr txBox="1"/>
          <p:nvPr/>
        </p:nvSpPr>
        <p:spPr>
          <a:xfrm>
            <a:off x="6720840" y="2148840"/>
            <a:ext cx="4526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recall = fraud caught ÷ all fraud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precision = fraud caught ÷ all alerts</a:t>
            </a:r>
            <a:endParaRPr lang="en-US" sz="1800" dirty="0"/>
          </a:p>
        </p:txBody>
      </p:sp>
      <p:sp>
        <p:nvSpPr>
          <p:cNvPr id="18" name="Shape 13"/>
          <p:cNvSpPr/>
          <p:nvPr/>
        </p:nvSpPr>
        <p:spPr>
          <a:xfrm>
            <a:off x="6446520" y="3749040"/>
            <a:ext cx="5074920" cy="2377440"/>
          </a:xfrm>
          <a:prstGeom prst="roundRect">
            <a:avLst>
              <a:gd name="adj" fmla="val 3077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9" name="Shape 14"/>
          <p:cNvSpPr/>
          <p:nvPr/>
        </p:nvSpPr>
        <p:spPr>
          <a:xfrm>
            <a:off x="6720840" y="3977640"/>
            <a:ext cx="457200" cy="457200"/>
          </a:xfrm>
          <a:prstGeom prst="ellipse">
            <a:avLst/>
          </a:prstGeom>
          <a:solidFill>
            <a:srgbClr val="D99A2B"/>
          </a:solidFill>
          <a:ln w="12700">
            <a:solidFill>
              <a:srgbClr val="D99A2B"/>
            </a:solidFill>
            <a:prstDash val="solid"/>
          </a:ln>
        </p:spPr>
        <p:txBody>
          <a:bodyPr/>
          <a:p/>
        </p:txBody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5140" y="4091940"/>
            <a:ext cx="228600" cy="22860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7315200" y="3995928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 MANAGER CARES</a:t>
            </a:r>
            <a:endParaRPr lang="en-US" sz="1200" dirty="0"/>
          </a:p>
        </p:txBody>
      </p:sp>
      <p:sp>
        <p:nvSpPr>
          <p:cNvPr id="22" name="Text 16"/>
          <p:cNvSpPr txBox="1"/>
          <p:nvPr/>
        </p:nvSpPr>
        <p:spPr>
          <a:xfrm>
            <a:off x="6720840" y="4572000"/>
            <a:ext cx="45262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alert costs analyst time and annoys an honest customer; every miss costs the transfer. You must trade them off in naira.</a:t>
            </a:r>
            <a:endParaRPr lang="en-US" sz="13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TRADE-OFF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Precision vs Recall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41908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5.2  ·  WHERE THE MONEY IS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11155680" y="641908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800" dirty="0"/>
          </a:p>
        </p:txBody>
      </p:sp>
      <p:pic>
        <p:nvPicPr>
          <p:cNvPr id="6" name="Image 0" descr="/home/claude/da1/assets/logos/da1_hex_25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31168" y="6336792"/>
            <a:ext cx="347472" cy="347472"/>
          </a:xfrm>
          <a:prstGeom prst="rect">
            <a:avLst/>
          </a:prstGeom>
        </p:spPr>
      </p:pic>
      <p:pic>
        <p:nvPicPr>
          <p:cNvPr id="7" name="Image 1" descr="/home/claude/da1/sessions/s19/figures/python/s19_f06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5741" y="1600200"/>
            <a:ext cx="6612438" cy="429768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640080" y="5943600"/>
            <a:ext cx="7223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 S5.2-F06  ·  replicate: tdbg_5_2_figures.R / .py</a:t>
            </a:r>
            <a:endParaRPr lang="en-US" sz="900" dirty="0"/>
          </a:p>
        </p:txBody>
      </p:sp>
      <p:sp>
        <p:nvSpPr>
          <p:cNvPr id="9" name="Shape 5"/>
          <p:cNvSpPr/>
          <p:nvPr/>
        </p:nvSpPr>
        <p:spPr>
          <a:xfrm>
            <a:off x="8092440" y="1600200"/>
            <a:ext cx="3429000" cy="4526280"/>
          </a:xfrm>
          <a:prstGeom prst="roundRect">
            <a:avLst>
              <a:gd name="adj" fmla="val 2133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0" name="Text 6"/>
          <p:cNvSpPr txBox="1"/>
          <p:nvPr/>
        </p:nvSpPr>
        <p:spPr>
          <a:xfrm>
            <a:off x="8366760" y="1828800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SEE</a:t>
            </a:r>
            <a:endParaRPr lang="en-US" sz="1150" dirty="0"/>
          </a:p>
        </p:txBody>
      </p:sp>
      <p:sp>
        <p:nvSpPr>
          <p:cNvPr id="11" name="Text 7"/>
          <p:cNvSpPr txBox="1"/>
          <p:nvPr/>
        </p:nvSpPr>
        <p:spPr>
          <a:xfrm>
            <a:off x="8321040" y="2240280"/>
            <a:ext cx="2971800" cy="370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 the riskiest 10% of fraud and most alerts are real.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 60% and only about 1 alert in 10 is real.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 slightly beats boosting here (AUC 0.90 vs 0.88).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the point on this curve using </a:t>
            </a:r>
            <a:r>
              <a:rPr lang="en-US" sz="13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costs</a:t>
            </a: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not gut feel.</a:t>
            </a:r>
            <a:endParaRPr lang="en-US" sz="13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DECISION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 the Threshold by Cost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41908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5.2  ·  WHERE THE MONEY IS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11155680" y="641908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800" dirty="0"/>
          </a:p>
        </p:txBody>
      </p:sp>
      <p:pic>
        <p:nvPicPr>
          <p:cNvPr id="6" name="Image 0" descr="/home/claude/da1/assets/logos/da1_hex_25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31168" y="6336792"/>
            <a:ext cx="347472" cy="347472"/>
          </a:xfrm>
          <a:prstGeom prst="rect">
            <a:avLst/>
          </a:prstGeom>
        </p:spPr>
      </p:pic>
      <p:pic>
        <p:nvPicPr>
          <p:cNvPr id="8" name="Image 1" descr="/home/claude/da1/sessions/s19/figures/python/s19_f07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8151" y="1600200"/>
            <a:ext cx="6887619" cy="4297680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640080" y="5943600"/>
            <a:ext cx="7223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 S5.2-F07  ·  replicate: tdbg_5_2_figures.R / .py</a:t>
            </a:r>
            <a:endParaRPr lang="en-US" sz="900" dirty="0"/>
          </a:p>
        </p:txBody>
      </p:sp>
      <p:sp>
        <p:nvSpPr>
          <p:cNvPr id="10" name="Shape 5"/>
          <p:cNvSpPr/>
          <p:nvPr/>
        </p:nvSpPr>
        <p:spPr>
          <a:xfrm>
            <a:off x="8092440" y="1600200"/>
            <a:ext cx="3429000" cy="4526280"/>
          </a:xfrm>
          <a:prstGeom prst="roundRect">
            <a:avLst>
              <a:gd name="adj" fmla="val 2133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1" name="Text 6"/>
          <p:cNvSpPr txBox="1"/>
          <p:nvPr/>
        </p:nvSpPr>
        <p:spPr>
          <a:xfrm>
            <a:off x="8366760" y="1828800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SEE</a:t>
            </a:r>
            <a:endParaRPr lang="en-US" sz="1150" dirty="0"/>
          </a:p>
        </p:txBody>
      </p:sp>
      <p:sp>
        <p:nvSpPr>
          <p:cNvPr id="12" name="Text 7"/>
          <p:cNvSpPr txBox="1"/>
          <p:nvPr/>
        </p:nvSpPr>
        <p:spPr>
          <a:xfrm>
            <a:off x="8321040" y="2240280"/>
            <a:ext cx="2971800" cy="370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= ₦1,500 per alert reviewed + every naira of fraud missed.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too low: thousands of alerts. Too high: fraud walks through.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Best: flag if P(fraud) ≥ </a:t>
            </a:r>
            <a:r>
              <a:rPr lang="en-US" sz="13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0.10</a:t>
            </a: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r>
              <a:rPr lang="en-US" sz="13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109 alerts</a:t>
            </a: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per 6,000 transfers.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cost </a:t>
            </a:r>
            <a:r>
              <a:rPr lang="en-US" sz="13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₦982k vs ₦1.46m</a:t>
            </a: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with no screening: about a third saved.</a:t>
            </a:r>
            <a:endParaRPr lang="en-US" sz="13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IN PRACTICE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Beyond the Model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41908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5.2  ·  WHERE THE MONEY IS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11155680" y="641908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800" dirty="0"/>
          </a:p>
        </p:txBody>
      </p:sp>
      <p:pic>
        <p:nvPicPr>
          <p:cNvPr id="6" name="Image 0" descr="/home/claude/da1/assets/logos/da1_hex_25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31168" y="6336792"/>
            <a:ext cx="347472" cy="347472"/>
          </a:xfrm>
          <a:prstGeom prst="rect">
            <a:avLst/>
          </a:prstGeom>
        </p:spPr>
      </p:pic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91640"/>
          <a:ext cx="10881360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758952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Practice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Why it matters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41B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Rules + model together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Hard rules block known patterns instantly; the model scores everything else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41B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Real-time scoring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Decide in milliseconds, before the money leaves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41B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Step-up checks, not just blocks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Ask for an OTP or call-back on medium risk; block only high risk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41B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Feedback loop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Analyst decisions become new labels; retrain monthly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41B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Watch for drift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Fraudsters adapt; monitor precision and recall every week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41B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Fairness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Check that flags don't fall unfairly on one region or group (Session 5.3)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MANAGERS GO WRONG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 &amp; Financial Analytics Mistakes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41908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5.2  ·  WHERE THE MONEY IS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11155680" y="641908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800" dirty="0"/>
          </a:p>
        </p:txBody>
      </p:sp>
      <p:pic>
        <p:nvPicPr>
          <p:cNvPr id="6" name="Image 0" descr="/home/claude/da1/assets/logos/da1_hex_25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31168" y="6336792"/>
            <a:ext cx="347472" cy="34747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188720" y="16916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B55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TRAP</a:t>
            </a:r>
            <a:endParaRPr lang="en-US" sz="1150" dirty="0"/>
          </a:p>
        </p:txBody>
      </p:sp>
      <p:sp>
        <p:nvSpPr>
          <p:cNvPr id="8" name="Text 5"/>
          <p:cNvSpPr txBox="1"/>
          <p:nvPr/>
        </p:nvSpPr>
        <p:spPr>
          <a:xfrm>
            <a:off x="6400800" y="16916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2E7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BETTER HABIT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40080" y="2057400"/>
            <a:ext cx="5440680" cy="694944"/>
          </a:xfrm>
          <a:prstGeom prst="roundRect">
            <a:avLst>
              <a:gd name="adj" fmla="val 7895"/>
            </a:avLst>
          </a:prstGeom>
          <a:solidFill>
            <a:srgbClr val="FBF1EC"/>
          </a:solidFill>
          <a:ln w="9525">
            <a:solidFill>
              <a:srgbClr val="F0D9CC"/>
            </a:solidFill>
            <a:prstDash val="solid"/>
          </a:ln>
        </p:spPr>
        <p:txBody>
          <a:bodyPr/>
          <a:p/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249424"/>
            <a:ext cx="310896" cy="310896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280160" y="2057400"/>
            <a:ext cx="46634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Treating all customers the same.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6263640" y="2057400"/>
            <a:ext cx="5257800" cy="694944"/>
          </a:xfrm>
          <a:prstGeom prst="roundRect">
            <a:avLst>
              <a:gd name="adj" fmla="val 7895"/>
            </a:avLst>
          </a:prstGeom>
          <a:solidFill>
            <a:srgbClr val="EEF6F1"/>
          </a:solidFill>
          <a:ln w="9525">
            <a:solidFill>
              <a:srgbClr val="D2E7DA"/>
            </a:solidFill>
            <a:prstDash val="solid"/>
          </a:ln>
        </p:spPr>
        <p:txBody>
          <a:bodyPr/>
          <a:p/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6520" y="2249424"/>
            <a:ext cx="310896" cy="310896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6903720" y="2057400"/>
            <a:ext cx="44805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 with </a:t>
            </a:r>
            <a:r>
              <a:rPr lang="en-US" sz="13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RFM</a:t>
            </a: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; budget by segment value.</a:t>
            </a:r>
            <a:endParaRPr lang="en-US" sz="1300" dirty="0"/>
          </a:p>
        </p:txBody>
      </p:sp>
      <p:sp>
        <p:nvSpPr>
          <p:cNvPr id="15" name="Shape 10"/>
          <p:cNvSpPr/>
          <p:nvPr/>
        </p:nvSpPr>
        <p:spPr>
          <a:xfrm>
            <a:off x="640080" y="2862072"/>
            <a:ext cx="5440680" cy="694944"/>
          </a:xfrm>
          <a:prstGeom prst="roundRect">
            <a:avLst>
              <a:gd name="adj" fmla="val 7895"/>
            </a:avLst>
          </a:prstGeom>
          <a:solidFill>
            <a:srgbClr val="FBF1EC"/>
          </a:solidFill>
          <a:ln w="9525">
            <a:solidFill>
              <a:srgbClr val="F0D9CC"/>
            </a:solidFill>
            <a:prstDash val="solid"/>
          </a:ln>
        </p:spPr>
        <p:txBody>
          <a:bodyPr/>
          <a:p/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3054096"/>
            <a:ext cx="310896" cy="310896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1280160" y="2862072"/>
            <a:ext cx="46634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Spending more to acquire a customer than their CLV.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6263640" y="2862072"/>
            <a:ext cx="5257800" cy="694944"/>
          </a:xfrm>
          <a:prstGeom prst="roundRect">
            <a:avLst>
              <a:gd name="adj" fmla="val 7895"/>
            </a:avLst>
          </a:prstGeom>
          <a:solidFill>
            <a:srgbClr val="EEF6F1"/>
          </a:solidFill>
          <a:ln w="9525">
            <a:solidFill>
              <a:srgbClr val="D2E7DA"/>
            </a:solidFill>
            <a:prstDash val="solid"/>
          </a:ln>
        </p:spPr>
        <p:txBody>
          <a:bodyPr/>
          <a:p/>
        </p:txBody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46520" y="3054096"/>
            <a:ext cx="310896" cy="310896"/>
          </a:xfrm>
          <a:prstGeom prst="rect">
            <a:avLst/>
          </a:prstGeom>
        </p:spPr>
      </p:pic>
      <p:sp>
        <p:nvSpPr>
          <p:cNvPr id="20" name="Text 13"/>
          <p:cNvSpPr txBox="1"/>
          <p:nvPr/>
        </p:nvSpPr>
        <p:spPr>
          <a:xfrm>
            <a:off x="6903720" y="2862072"/>
            <a:ext cx="44805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 acquisition cost at a fraction of </a:t>
            </a:r>
            <a:r>
              <a:rPr lang="en-US" sz="13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CLV</a:t>
            </a: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300" dirty="0"/>
          </a:p>
        </p:txBody>
      </p:sp>
      <p:sp>
        <p:nvSpPr>
          <p:cNvPr id="21" name="Shape 14"/>
          <p:cNvSpPr/>
          <p:nvPr/>
        </p:nvSpPr>
        <p:spPr>
          <a:xfrm>
            <a:off x="640080" y="3666744"/>
            <a:ext cx="5440680" cy="694944"/>
          </a:xfrm>
          <a:prstGeom prst="roundRect">
            <a:avLst>
              <a:gd name="adj" fmla="val 7895"/>
            </a:avLst>
          </a:prstGeom>
          <a:solidFill>
            <a:srgbClr val="FBF1EC"/>
          </a:solidFill>
          <a:ln w="9525">
            <a:solidFill>
              <a:srgbClr val="F0D9CC"/>
            </a:solidFill>
            <a:prstDash val="solid"/>
          </a:ln>
        </p:spPr>
        <p:txBody>
          <a:bodyPr/>
          <a:p/>
        </p:txBody>
      </p:sp>
      <p:pic>
        <p:nvPicPr>
          <p:cNvPr id="2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2960" y="3858768"/>
            <a:ext cx="310896" cy="310896"/>
          </a:xfrm>
          <a:prstGeom prst="rect">
            <a:avLst/>
          </a:prstGeom>
        </p:spPr>
      </p:pic>
      <p:sp>
        <p:nvSpPr>
          <p:cNvPr id="23" name="Text 15"/>
          <p:cNvSpPr txBox="1"/>
          <p:nvPr/>
        </p:nvSpPr>
        <p:spPr>
          <a:xfrm>
            <a:off x="1280160" y="3666744"/>
            <a:ext cx="46634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Sending retention offers to everyone.</a:t>
            </a:r>
            <a:endParaRPr lang="en-US" sz="1300" dirty="0"/>
          </a:p>
        </p:txBody>
      </p:sp>
      <p:sp>
        <p:nvSpPr>
          <p:cNvPr id="24" name="Shape 16"/>
          <p:cNvSpPr/>
          <p:nvPr/>
        </p:nvSpPr>
        <p:spPr>
          <a:xfrm>
            <a:off x="6263640" y="3666744"/>
            <a:ext cx="5257800" cy="694944"/>
          </a:xfrm>
          <a:prstGeom prst="roundRect">
            <a:avLst>
              <a:gd name="adj" fmla="val 7895"/>
            </a:avLst>
          </a:prstGeom>
          <a:solidFill>
            <a:srgbClr val="EEF6F1"/>
          </a:solidFill>
          <a:ln w="9525">
            <a:solidFill>
              <a:srgbClr val="D2E7DA"/>
            </a:solidFill>
            <a:prstDash val="solid"/>
          </a:ln>
        </p:spPr>
        <p:txBody>
          <a:bodyPr/>
          <a:p/>
        </p:txBody>
      </p:sp>
      <p:pic>
        <p:nvPicPr>
          <p:cNvPr id="25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46520" y="3858768"/>
            <a:ext cx="310896" cy="310896"/>
          </a:xfrm>
          <a:prstGeom prst="rect">
            <a:avLst/>
          </a:prstGeom>
        </p:spPr>
      </p:pic>
      <p:sp>
        <p:nvSpPr>
          <p:cNvPr id="26" name="Text 17"/>
          <p:cNvSpPr txBox="1"/>
          <p:nvPr/>
        </p:nvSpPr>
        <p:spPr>
          <a:xfrm>
            <a:off x="6903720" y="3666744"/>
            <a:ext cx="44805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</a:t>
            </a: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high-risk, high-value customers; keep a holdout.</a:t>
            </a:r>
            <a:endParaRPr lang="en-US" sz="1300" dirty="0"/>
          </a:p>
        </p:txBody>
      </p:sp>
      <p:sp>
        <p:nvSpPr>
          <p:cNvPr id="27" name="Shape 18"/>
          <p:cNvSpPr/>
          <p:nvPr/>
        </p:nvSpPr>
        <p:spPr>
          <a:xfrm>
            <a:off x="640080" y="4471416"/>
            <a:ext cx="5440680" cy="694944"/>
          </a:xfrm>
          <a:prstGeom prst="roundRect">
            <a:avLst>
              <a:gd name="adj" fmla="val 7895"/>
            </a:avLst>
          </a:prstGeom>
          <a:solidFill>
            <a:srgbClr val="FBF1EC"/>
          </a:solidFill>
          <a:ln w="9525">
            <a:solidFill>
              <a:srgbClr val="F0D9CC"/>
            </a:solidFill>
            <a:prstDash val="solid"/>
          </a:ln>
        </p:spPr>
        <p:txBody>
          <a:bodyPr/>
          <a:p/>
        </p:txBody>
      </p:sp>
      <p:pic>
        <p:nvPicPr>
          <p:cNvPr id="28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2960" y="4663440"/>
            <a:ext cx="310896" cy="310896"/>
          </a:xfrm>
          <a:prstGeom prst="rect">
            <a:avLst/>
          </a:prstGeom>
        </p:spPr>
      </p:pic>
      <p:sp>
        <p:nvSpPr>
          <p:cNvPr id="29" name="Text 19"/>
          <p:cNvSpPr txBox="1"/>
          <p:nvPr/>
        </p:nvSpPr>
        <p:spPr>
          <a:xfrm>
            <a:off x="1280160" y="4471416"/>
            <a:ext cx="46634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Judging a fraud model on accuracy.</a:t>
            </a:r>
            <a:endParaRPr lang="en-US" sz="1300" dirty="0"/>
          </a:p>
        </p:txBody>
      </p:sp>
      <p:sp>
        <p:nvSpPr>
          <p:cNvPr id="30" name="Shape 20"/>
          <p:cNvSpPr/>
          <p:nvPr/>
        </p:nvSpPr>
        <p:spPr>
          <a:xfrm>
            <a:off x="6263640" y="4471416"/>
            <a:ext cx="5257800" cy="694944"/>
          </a:xfrm>
          <a:prstGeom prst="roundRect">
            <a:avLst>
              <a:gd name="adj" fmla="val 7895"/>
            </a:avLst>
          </a:prstGeom>
          <a:solidFill>
            <a:srgbClr val="EEF6F1"/>
          </a:solidFill>
          <a:ln w="9525">
            <a:solidFill>
              <a:srgbClr val="D2E7DA"/>
            </a:solidFill>
            <a:prstDash val="solid"/>
          </a:ln>
        </p:spPr>
        <p:txBody>
          <a:bodyPr/>
          <a:p/>
        </p:txBody>
      </p:sp>
      <p:pic>
        <p:nvPicPr>
          <p:cNvPr id="31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46520" y="4663440"/>
            <a:ext cx="310896" cy="310896"/>
          </a:xfrm>
          <a:prstGeom prst="rect">
            <a:avLst/>
          </a:prstGeom>
        </p:spPr>
      </p:pic>
      <p:sp>
        <p:nvSpPr>
          <p:cNvPr id="32" name="Text 21"/>
          <p:cNvSpPr txBox="1"/>
          <p:nvPr/>
        </p:nvSpPr>
        <p:spPr>
          <a:xfrm>
            <a:off x="6903720" y="4471416"/>
            <a:ext cx="44805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</a:t>
            </a:r>
            <a:r>
              <a:rPr lang="en-US" sz="13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precision, recall</a:t>
            </a: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cost.</a:t>
            </a:r>
            <a:endParaRPr lang="en-US" sz="1300" dirty="0"/>
          </a:p>
        </p:txBody>
      </p:sp>
      <p:sp>
        <p:nvSpPr>
          <p:cNvPr id="33" name="Shape 22"/>
          <p:cNvSpPr/>
          <p:nvPr/>
        </p:nvSpPr>
        <p:spPr>
          <a:xfrm>
            <a:off x="640080" y="5276088"/>
            <a:ext cx="5440680" cy="694944"/>
          </a:xfrm>
          <a:prstGeom prst="roundRect">
            <a:avLst>
              <a:gd name="adj" fmla="val 7895"/>
            </a:avLst>
          </a:prstGeom>
          <a:solidFill>
            <a:srgbClr val="FBF1EC"/>
          </a:solidFill>
          <a:ln w="9525">
            <a:solidFill>
              <a:srgbClr val="F0D9CC"/>
            </a:solidFill>
            <a:prstDash val="solid"/>
          </a:ln>
        </p:spPr>
        <p:txBody>
          <a:bodyPr/>
          <a:p/>
        </p:txBody>
      </p:sp>
      <p:pic>
        <p:nvPicPr>
          <p:cNvPr id="34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22960" y="5468112"/>
            <a:ext cx="310896" cy="310896"/>
          </a:xfrm>
          <a:prstGeom prst="rect">
            <a:avLst/>
          </a:prstGeom>
        </p:spPr>
      </p:pic>
      <p:sp>
        <p:nvSpPr>
          <p:cNvPr id="35" name="Text 23"/>
          <p:cNvSpPr txBox="1"/>
          <p:nvPr/>
        </p:nvSpPr>
        <p:spPr>
          <a:xfrm>
            <a:off x="1280160" y="5276088"/>
            <a:ext cx="46634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 thresholds by gut feel.</a:t>
            </a:r>
            <a:endParaRPr lang="en-US" sz="1300" dirty="0"/>
          </a:p>
        </p:txBody>
      </p:sp>
      <p:sp>
        <p:nvSpPr>
          <p:cNvPr id="36" name="Shape 24"/>
          <p:cNvSpPr/>
          <p:nvPr/>
        </p:nvSpPr>
        <p:spPr>
          <a:xfrm>
            <a:off x="6263640" y="5276088"/>
            <a:ext cx="5257800" cy="694944"/>
          </a:xfrm>
          <a:prstGeom prst="roundRect">
            <a:avLst>
              <a:gd name="adj" fmla="val 7895"/>
            </a:avLst>
          </a:prstGeom>
          <a:solidFill>
            <a:srgbClr val="EEF6F1"/>
          </a:solidFill>
          <a:ln w="9525">
            <a:solidFill>
              <a:srgbClr val="D2E7DA"/>
            </a:solidFill>
            <a:prstDash val="solid"/>
          </a:ln>
        </p:spPr>
        <p:txBody>
          <a:bodyPr/>
          <a:p/>
        </p:txBody>
      </p:sp>
      <p:pic>
        <p:nvPicPr>
          <p:cNvPr id="37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46520" y="5468112"/>
            <a:ext cx="310896" cy="310896"/>
          </a:xfrm>
          <a:prstGeom prst="rect">
            <a:avLst/>
          </a:prstGeom>
        </p:spPr>
      </p:pic>
      <p:sp>
        <p:nvSpPr>
          <p:cNvPr id="38" name="Text 25"/>
          <p:cNvSpPr txBox="1"/>
          <p:nvPr/>
        </p:nvSpPr>
        <p:spPr>
          <a:xfrm>
            <a:off x="6903720" y="5276088"/>
            <a:ext cx="44805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the threshold that </a:t>
            </a:r>
            <a:r>
              <a:rPr lang="en-US" sz="13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minimises total cost</a:t>
            </a: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3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CHECK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Quick Check: What Would You Say?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41908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5.2  ·  WHERE THE MONEY IS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11155680" y="641908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800" dirty="0"/>
          </a:p>
        </p:txBody>
      </p:sp>
      <p:pic>
        <p:nvPicPr>
          <p:cNvPr id="6" name="Image 0" descr="/home/claude/da1/assets/logos/da1_hex_25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31168" y="6336792"/>
            <a:ext cx="347472" cy="347472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640080" y="1783080"/>
            <a:ext cx="640080" cy="640080"/>
          </a:xfrm>
          <a:prstGeom prst="ellipse">
            <a:avLst/>
          </a:prstGeom>
          <a:solidFill>
            <a:srgbClr val="D99A2B"/>
          </a:solidFill>
          <a:ln w="12700">
            <a:solidFill>
              <a:srgbClr val="D99A2B"/>
            </a:solidFill>
            <a:prstDash val="solid"/>
          </a:ln>
        </p:spPr>
        <p:txBody>
          <a:bodyPr/>
          <a:p/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" y="1943100"/>
            <a:ext cx="320040" cy="320040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1508760" y="1691640"/>
            <a:ext cx="9966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fraud model flags 200 transfers a day; 30 are fraud. There are 50 frauds a day in total. What are precision and recall?</a:t>
            </a:r>
            <a:endParaRPr lang="en-US" sz="1900" dirty="0"/>
          </a:p>
        </p:txBody>
      </p:sp>
      <p:sp>
        <p:nvSpPr>
          <p:cNvPr id="11" name="Shape 6"/>
          <p:cNvSpPr/>
          <p:nvPr/>
        </p:nvSpPr>
        <p:spPr>
          <a:xfrm>
            <a:off x="1508760" y="3017520"/>
            <a:ext cx="9966960" cy="594360"/>
          </a:xfrm>
          <a:prstGeom prst="roundRect">
            <a:avLst>
              <a:gd name="adj" fmla="val 9231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</p:spPr>
        <p:txBody>
          <a:bodyPr/>
          <a:p/>
        </p:txBody>
      </p:sp>
      <p:sp>
        <p:nvSpPr>
          <p:cNvPr id="12" name="Shape 7"/>
          <p:cNvSpPr/>
          <p:nvPr/>
        </p:nvSpPr>
        <p:spPr>
          <a:xfrm>
            <a:off x="1691640" y="3122676"/>
            <a:ext cx="384048" cy="384048"/>
          </a:xfrm>
          <a:prstGeom prst="ellipse">
            <a:avLst/>
          </a:prstGeom>
          <a:solidFill>
            <a:srgbClr val="0B5E82"/>
          </a:solidFill>
          <a:ln w="12700">
            <a:solidFill>
              <a:srgbClr val="0B5E82"/>
            </a:solidFill>
            <a:prstDash val="solid"/>
          </a:ln>
        </p:spPr>
        <p:txBody>
          <a:bodyPr/>
          <a:p/>
        </p:txBody>
      </p:sp>
      <p:sp>
        <p:nvSpPr>
          <p:cNvPr id="13" name="Text 8"/>
          <p:cNvSpPr txBox="1"/>
          <p:nvPr/>
        </p:nvSpPr>
        <p:spPr>
          <a:xfrm>
            <a:off x="1691640" y="31226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300" dirty="0"/>
          </a:p>
        </p:txBody>
      </p:sp>
      <p:sp>
        <p:nvSpPr>
          <p:cNvPr id="14" name="Text 9"/>
          <p:cNvSpPr txBox="1"/>
          <p:nvPr/>
        </p:nvSpPr>
        <p:spPr>
          <a:xfrm>
            <a:off x="2286000" y="3017520"/>
            <a:ext cx="9052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 60%, recall 15%</a:t>
            </a:r>
            <a:endParaRPr lang="en-US" sz="1450" dirty="0"/>
          </a:p>
        </p:txBody>
      </p:sp>
      <p:sp>
        <p:nvSpPr>
          <p:cNvPr id="15" name="Shape 10"/>
          <p:cNvSpPr/>
          <p:nvPr/>
        </p:nvSpPr>
        <p:spPr>
          <a:xfrm>
            <a:off x="1508760" y="3721608"/>
            <a:ext cx="9966960" cy="594360"/>
          </a:xfrm>
          <a:prstGeom prst="roundRect">
            <a:avLst>
              <a:gd name="adj" fmla="val 9231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</p:spPr>
        <p:txBody>
          <a:bodyPr/>
          <a:p/>
        </p:txBody>
      </p:sp>
      <p:sp>
        <p:nvSpPr>
          <p:cNvPr id="16" name="Shape 11"/>
          <p:cNvSpPr/>
          <p:nvPr/>
        </p:nvSpPr>
        <p:spPr>
          <a:xfrm>
            <a:off x="1691640" y="3826764"/>
            <a:ext cx="384048" cy="384048"/>
          </a:xfrm>
          <a:prstGeom prst="ellipse">
            <a:avLst/>
          </a:prstGeom>
          <a:solidFill>
            <a:srgbClr val="0B5E82"/>
          </a:solidFill>
          <a:ln w="12700">
            <a:solidFill>
              <a:srgbClr val="0B5E82"/>
            </a:solidFill>
            <a:prstDash val="solid"/>
          </a:ln>
        </p:spPr>
        <p:txBody>
          <a:bodyPr/>
          <a:p/>
        </p:txBody>
      </p:sp>
      <p:sp>
        <p:nvSpPr>
          <p:cNvPr id="17" name="Text 12"/>
          <p:cNvSpPr txBox="1"/>
          <p:nvPr/>
        </p:nvSpPr>
        <p:spPr>
          <a:xfrm>
            <a:off x="1691640" y="38267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300" dirty="0"/>
          </a:p>
        </p:txBody>
      </p:sp>
      <p:sp>
        <p:nvSpPr>
          <p:cNvPr id="18" name="Text 13"/>
          <p:cNvSpPr txBox="1"/>
          <p:nvPr/>
        </p:nvSpPr>
        <p:spPr>
          <a:xfrm>
            <a:off x="2286000" y="3721608"/>
            <a:ext cx="9052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 15%, recall 60%</a:t>
            </a:r>
            <a:endParaRPr lang="en-US" sz="1450" dirty="0"/>
          </a:p>
        </p:txBody>
      </p:sp>
      <p:sp>
        <p:nvSpPr>
          <p:cNvPr id="19" name="Shape 14"/>
          <p:cNvSpPr/>
          <p:nvPr/>
        </p:nvSpPr>
        <p:spPr>
          <a:xfrm>
            <a:off x="1508760" y="4425696"/>
            <a:ext cx="9966960" cy="594360"/>
          </a:xfrm>
          <a:prstGeom prst="roundRect">
            <a:avLst>
              <a:gd name="adj" fmla="val 9231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</p:spPr>
        <p:txBody>
          <a:bodyPr/>
          <a:p/>
        </p:txBody>
      </p:sp>
      <p:sp>
        <p:nvSpPr>
          <p:cNvPr id="20" name="Shape 15"/>
          <p:cNvSpPr/>
          <p:nvPr/>
        </p:nvSpPr>
        <p:spPr>
          <a:xfrm>
            <a:off x="1691640" y="4530852"/>
            <a:ext cx="384048" cy="384048"/>
          </a:xfrm>
          <a:prstGeom prst="ellipse">
            <a:avLst/>
          </a:prstGeom>
          <a:solidFill>
            <a:srgbClr val="0B5E82"/>
          </a:solidFill>
          <a:ln w="12700">
            <a:solidFill>
              <a:srgbClr val="0B5E82"/>
            </a:solidFill>
            <a:prstDash val="solid"/>
          </a:ln>
        </p:spPr>
        <p:txBody>
          <a:bodyPr/>
          <a:p/>
        </p:txBody>
      </p:sp>
      <p:sp>
        <p:nvSpPr>
          <p:cNvPr id="21" name="Text 16"/>
          <p:cNvSpPr txBox="1"/>
          <p:nvPr/>
        </p:nvSpPr>
        <p:spPr>
          <a:xfrm>
            <a:off x="1691640" y="45308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300" dirty="0"/>
          </a:p>
        </p:txBody>
      </p:sp>
      <p:sp>
        <p:nvSpPr>
          <p:cNvPr id="22" name="Text 17"/>
          <p:cNvSpPr txBox="1"/>
          <p:nvPr/>
        </p:nvSpPr>
        <p:spPr>
          <a:xfrm>
            <a:off x="2286000" y="4425696"/>
            <a:ext cx="9052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 30%, recall 50%</a:t>
            </a:r>
            <a:endParaRPr lang="en-US" sz="1450" dirty="0"/>
          </a:p>
        </p:txBody>
      </p:sp>
      <p:sp>
        <p:nvSpPr>
          <p:cNvPr id="23" name="Shape 18"/>
          <p:cNvSpPr/>
          <p:nvPr/>
        </p:nvSpPr>
        <p:spPr>
          <a:xfrm>
            <a:off x="1508760" y="5129784"/>
            <a:ext cx="9966960" cy="594360"/>
          </a:xfrm>
          <a:prstGeom prst="roundRect">
            <a:avLst>
              <a:gd name="adj" fmla="val 9231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</p:spPr>
        <p:txBody>
          <a:bodyPr/>
          <a:p/>
        </p:txBody>
      </p:sp>
      <p:sp>
        <p:nvSpPr>
          <p:cNvPr id="24" name="Shape 19"/>
          <p:cNvSpPr/>
          <p:nvPr/>
        </p:nvSpPr>
        <p:spPr>
          <a:xfrm>
            <a:off x="1691640" y="5234940"/>
            <a:ext cx="384048" cy="384048"/>
          </a:xfrm>
          <a:prstGeom prst="ellipse">
            <a:avLst/>
          </a:prstGeom>
          <a:solidFill>
            <a:srgbClr val="0B5E82"/>
          </a:solidFill>
          <a:ln w="12700">
            <a:solidFill>
              <a:srgbClr val="0B5E82"/>
            </a:solidFill>
            <a:prstDash val="solid"/>
          </a:ln>
        </p:spPr>
        <p:txBody>
          <a:bodyPr/>
          <a:p/>
        </p:txBody>
      </p:sp>
      <p:sp>
        <p:nvSpPr>
          <p:cNvPr id="25" name="Text 20"/>
          <p:cNvSpPr txBox="1"/>
          <p:nvPr/>
        </p:nvSpPr>
        <p:spPr>
          <a:xfrm>
            <a:off x="1691640" y="52349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300" dirty="0"/>
          </a:p>
        </p:txBody>
      </p:sp>
      <p:sp>
        <p:nvSpPr>
          <p:cNvPr id="26" name="Text 21"/>
          <p:cNvSpPr txBox="1"/>
          <p:nvPr/>
        </p:nvSpPr>
        <p:spPr>
          <a:xfrm>
            <a:off x="2286000" y="5129784"/>
            <a:ext cx="9052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99%</a:t>
            </a:r>
            <a:endParaRPr lang="en-US" sz="1450" dirty="0"/>
          </a:p>
        </p:txBody>
      </p:sp>
      <p:sp>
        <p:nvSpPr>
          <p:cNvPr id="27" name="Text 22"/>
          <p:cNvSpPr txBox="1"/>
          <p:nvPr/>
        </p:nvSpPr>
        <p:spPr>
          <a:xfrm>
            <a:off x="1508760" y="5897880"/>
            <a:ext cx="9966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 with your neighbour for 60 seconds — answer and reasoning in the speaker notes.</a:t>
            </a:r>
            <a:endParaRPr lang="en-US" sz="11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LAB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Lab: Customer Value and Fraud Alerts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41908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5.2  ·  WHERE THE MONEY IS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11155680" y="641908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800" dirty="0"/>
          </a:p>
        </p:txBody>
      </p:sp>
      <p:pic>
        <p:nvPicPr>
          <p:cNvPr id="6" name="Image 0" descr="/home/claude/da1/assets/logos/da1_hex_25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31168" y="6336792"/>
            <a:ext cx="347472" cy="34747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40080" y="1691640"/>
            <a:ext cx="3749040" cy="4434840"/>
          </a:xfrm>
          <a:prstGeom prst="roundRect">
            <a:avLst>
              <a:gd name="adj" fmla="val 1951"/>
            </a:avLst>
          </a:prstGeom>
          <a:solidFill>
            <a:srgbClr val="141B4D"/>
          </a:solidFill>
          <a:ln w="12700">
            <a:solidFill>
              <a:srgbClr val="141B4D"/>
            </a:solidFill>
            <a:prstDash val="solid"/>
          </a:ln>
        </p:spPr>
        <p:txBody>
          <a:bodyPr/>
          <a:p/>
        </p:txBody>
      </p:sp>
      <p:sp>
        <p:nvSpPr>
          <p:cNvPr id="8" name="Text 5"/>
          <p:cNvSpPr txBox="1"/>
          <p:nvPr/>
        </p:nvSpPr>
        <p:spPr>
          <a:xfrm>
            <a:off x="914400" y="19202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99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WILL NEED</a:t>
            </a:r>
            <a:endParaRPr lang="en-US" sz="11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423160"/>
            <a:ext cx="365760" cy="36576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417320" y="23774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200" dirty="0"/>
          </a:p>
        </p:txBody>
      </p:sp>
      <p:sp>
        <p:nvSpPr>
          <p:cNvPr id="11" name="Text 7"/>
          <p:cNvSpPr txBox="1"/>
          <p:nvPr/>
        </p:nvSpPr>
        <p:spPr>
          <a:xfrm>
            <a:off x="1417320" y="2670048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7D3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data/customer_orders.csv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7D3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data/mobile_money_txns.csv</a:t>
            </a:r>
            <a:endParaRPr lang="en-US" sz="105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3474720"/>
            <a:ext cx="365760" cy="36576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417320" y="34290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script</a:t>
            </a:r>
            <a:endParaRPr lang="en-US" sz="1200" dirty="0"/>
          </a:p>
        </p:txBody>
      </p:sp>
      <p:sp>
        <p:nvSpPr>
          <p:cNvPr id="14" name="Text 9"/>
          <p:cNvSpPr txBox="1"/>
          <p:nvPr/>
        </p:nvSpPr>
        <p:spPr>
          <a:xfrm>
            <a:off x="1417320" y="3721608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7D3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sessions/5-2/R/tdbg_5_2_lab.R</a:t>
            </a:r>
            <a:endParaRPr lang="en-US" sz="105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4526280"/>
            <a:ext cx="365760" cy="365760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1417320" y="44805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script</a:t>
            </a:r>
            <a:endParaRPr lang="en-US" sz="1200" dirty="0"/>
          </a:p>
        </p:txBody>
      </p:sp>
      <p:sp>
        <p:nvSpPr>
          <p:cNvPr id="17" name="Text 11"/>
          <p:cNvSpPr txBox="1"/>
          <p:nvPr/>
        </p:nvSpPr>
        <p:spPr>
          <a:xfrm>
            <a:off x="1417320" y="4773168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7D3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sessions/5-2/python/tdbg_5_2_lab.py</a:t>
            </a:r>
            <a:endParaRPr lang="en-US" sz="1050" dirty="0"/>
          </a:p>
        </p:txBody>
      </p:sp>
      <p:sp>
        <p:nvSpPr>
          <p:cNvPr id="18" name="Text 12"/>
          <p:cNvSpPr txBox="1"/>
          <p:nvPr/>
        </p:nvSpPr>
        <p:spPr>
          <a:xfrm>
            <a:off x="914400" y="56235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 25 minutes</a:t>
            </a:r>
            <a:endParaRPr lang="en-US" sz="1300" dirty="0"/>
          </a:p>
        </p:txBody>
      </p:sp>
      <p:sp>
        <p:nvSpPr>
          <p:cNvPr id="19" name="Shape 13"/>
          <p:cNvSpPr/>
          <p:nvPr/>
        </p:nvSpPr>
        <p:spPr>
          <a:xfrm>
            <a:off x="4663440" y="1737360"/>
            <a:ext cx="384048" cy="384048"/>
          </a:xfrm>
          <a:prstGeom prst="ellipse">
            <a:avLst/>
          </a:prstGeom>
          <a:solidFill>
            <a:srgbClr val="0B5E82"/>
          </a:solidFill>
          <a:ln w="12700">
            <a:solidFill>
              <a:srgbClr val="0B5E82"/>
            </a:solidFill>
            <a:prstDash val="solid"/>
          </a:ln>
        </p:spPr>
        <p:txBody>
          <a:bodyPr/>
          <a:p/>
        </p:txBody>
      </p:sp>
      <p:sp>
        <p:nvSpPr>
          <p:cNvPr id="20" name="Text 14"/>
          <p:cNvSpPr txBox="1"/>
          <p:nvPr/>
        </p:nvSpPr>
        <p:spPr>
          <a:xfrm>
            <a:off x="4663440" y="1737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21" name="Text 15"/>
          <p:cNvSpPr txBox="1"/>
          <p:nvPr/>
        </p:nvSpPr>
        <p:spPr>
          <a:xfrm>
            <a:off x="5212080" y="1691640"/>
            <a:ext cx="6309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recency, frequency and monetary value per customer; score 1–5 and name segments.</a:t>
            </a:r>
            <a:endParaRPr lang="en-US" sz="1350" dirty="0"/>
          </a:p>
        </p:txBody>
      </p:sp>
      <p:sp>
        <p:nvSpPr>
          <p:cNvPr id="22" name="Shape 16"/>
          <p:cNvSpPr/>
          <p:nvPr/>
        </p:nvSpPr>
        <p:spPr>
          <a:xfrm>
            <a:off x="4663440" y="2468880"/>
            <a:ext cx="384048" cy="384048"/>
          </a:xfrm>
          <a:prstGeom prst="ellipse">
            <a:avLst/>
          </a:prstGeom>
          <a:solidFill>
            <a:srgbClr val="0B5E82"/>
          </a:solidFill>
          <a:ln w="12700">
            <a:solidFill>
              <a:srgbClr val="0B5E82"/>
            </a:solidFill>
            <a:prstDash val="solid"/>
          </a:ln>
        </p:spPr>
        <p:txBody>
          <a:bodyPr/>
          <a:p/>
        </p:txBody>
      </p:sp>
      <p:sp>
        <p:nvSpPr>
          <p:cNvPr id="23" name="Text 17"/>
          <p:cNvSpPr txBox="1"/>
          <p:nvPr/>
        </p:nvSpPr>
        <p:spPr>
          <a:xfrm>
            <a:off x="4663440" y="24688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24" name="Text 18"/>
          <p:cNvSpPr txBox="1"/>
          <p:nvPr/>
        </p:nvSpPr>
        <p:spPr>
          <a:xfrm>
            <a:off x="5212080" y="2423160"/>
            <a:ext cx="6309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each segment's share of customers and revenue, and the top-20% revenue share.</a:t>
            </a:r>
            <a:endParaRPr lang="en-US" sz="1350" dirty="0"/>
          </a:p>
        </p:txBody>
      </p:sp>
      <p:sp>
        <p:nvSpPr>
          <p:cNvPr id="25" name="Shape 19"/>
          <p:cNvSpPr/>
          <p:nvPr/>
        </p:nvSpPr>
        <p:spPr>
          <a:xfrm>
            <a:off x="4663440" y="3200400"/>
            <a:ext cx="384048" cy="384048"/>
          </a:xfrm>
          <a:prstGeom prst="ellipse">
            <a:avLst/>
          </a:prstGeom>
          <a:solidFill>
            <a:srgbClr val="0B5E82"/>
          </a:solidFill>
          <a:ln w="12700">
            <a:solidFill>
              <a:srgbClr val="0B5E82"/>
            </a:solidFill>
            <a:prstDash val="solid"/>
          </a:ln>
        </p:spPr>
        <p:txBody>
          <a:bodyPr/>
          <a:p/>
        </p:txBody>
      </p:sp>
      <p:sp>
        <p:nvSpPr>
          <p:cNvPr id="26" name="Text 20"/>
          <p:cNvSpPr txBox="1"/>
          <p:nvPr/>
        </p:nvSpPr>
        <p:spPr>
          <a:xfrm>
            <a:off x="4663440" y="32004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7" name="Text 21"/>
          <p:cNvSpPr txBox="1"/>
          <p:nvPr/>
        </p:nvSpPr>
        <p:spPr>
          <a:xfrm>
            <a:off x="5212080" y="3154680"/>
            <a:ext cx="6309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 retention and CLV; see what +10 points of retention is worth.</a:t>
            </a:r>
            <a:endParaRPr lang="en-US" sz="1350" dirty="0"/>
          </a:p>
        </p:txBody>
      </p:sp>
      <p:sp>
        <p:nvSpPr>
          <p:cNvPr id="28" name="Shape 22"/>
          <p:cNvSpPr/>
          <p:nvPr/>
        </p:nvSpPr>
        <p:spPr>
          <a:xfrm>
            <a:off x="4663440" y="3931920"/>
            <a:ext cx="384048" cy="384048"/>
          </a:xfrm>
          <a:prstGeom prst="ellipse">
            <a:avLst/>
          </a:prstGeom>
          <a:solidFill>
            <a:srgbClr val="0B5E82"/>
          </a:solidFill>
          <a:ln w="12700">
            <a:solidFill>
              <a:srgbClr val="0B5E82"/>
            </a:solidFill>
            <a:prstDash val="solid"/>
          </a:ln>
        </p:spPr>
        <p:txBody>
          <a:bodyPr/>
          <a:p/>
        </p:txBody>
      </p:sp>
      <p:sp>
        <p:nvSpPr>
          <p:cNvPr id="29" name="Text 23"/>
          <p:cNvSpPr txBox="1"/>
          <p:nvPr/>
        </p:nvSpPr>
        <p:spPr>
          <a:xfrm>
            <a:off x="4663440" y="3931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30" name="Text 24"/>
          <p:cNvSpPr txBox="1"/>
          <p:nvPr/>
        </p:nvSpPr>
        <p:spPr>
          <a:xfrm>
            <a:off x="5212080" y="3886200"/>
            <a:ext cx="6309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 a fraud model; compare accuracy of 'never fraud' with the model's AUC.</a:t>
            </a:r>
            <a:endParaRPr lang="en-US" sz="1350" dirty="0"/>
          </a:p>
        </p:txBody>
      </p:sp>
      <p:sp>
        <p:nvSpPr>
          <p:cNvPr id="31" name="Shape 25"/>
          <p:cNvSpPr/>
          <p:nvPr/>
        </p:nvSpPr>
        <p:spPr>
          <a:xfrm>
            <a:off x="4663440" y="4663440"/>
            <a:ext cx="384048" cy="384048"/>
          </a:xfrm>
          <a:prstGeom prst="ellipse">
            <a:avLst/>
          </a:prstGeom>
          <a:solidFill>
            <a:srgbClr val="0B5E82"/>
          </a:solidFill>
          <a:ln w="12700">
            <a:solidFill>
              <a:srgbClr val="0B5E82"/>
            </a:solidFill>
            <a:prstDash val="solid"/>
          </a:ln>
        </p:spPr>
        <p:txBody>
          <a:bodyPr/>
          <a:p/>
        </p:txBody>
      </p:sp>
      <p:sp>
        <p:nvSpPr>
          <p:cNvPr id="32" name="Text 26"/>
          <p:cNvSpPr txBox="1"/>
          <p:nvPr/>
        </p:nvSpPr>
        <p:spPr>
          <a:xfrm>
            <a:off x="4663440" y="4663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33" name="Text 27"/>
          <p:cNvSpPr txBox="1"/>
          <p:nvPr/>
        </p:nvSpPr>
        <p:spPr>
          <a:xfrm>
            <a:off x="5212080" y="4617720"/>
            <a:ext cx="6309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the alert threshold that minimises review cost + fraud losses.</a:t>
            </a:r>
            <a:endParaRPr lang="en-US" sz="1350" dirty="0"/>
          </a:p>
        </p:txBody>
      </p:sp>
      <p:sp>
        <p:nvSpPr>
          <p:cNvPr id="34" name="Shape 28"/>
          <p:cNvSpPr/>
          <p:nvPr/>
        </p:nvSpPr>
        <p:spPr>
          <a:xfrm>
            <a:off x="4663440" y="5394960"/>
            <a:ext cx="6858000" cy="731520"/>
          </a:xfrm>
          <a:prstGeom prst="roundRect">
            <a:avLst>
              <a:gd name="adj" fmla="val 7500"/>
            </a:avLst>
          </a:prstGeom>
          <a:solidFill>
            <a:srgbClr val="F3F6F9"/>
          </a:solidFill>
          <a:ln w="12700">
            <a:solidFill>
              <a:srgbClr val="D99A2B"/>
            </a:solidFill>
            <a:prstDash val="solid"/>
          </a:ln>
        </p:spPr>
        <p:txBody>
          <a:bodyPr/>
          <a:p/>
        </p:txBody>
      </p:sp>
      <p:sp>
        <p:nvSpPr>
          <p:cNvPr id="35" name="Text 29"/>
          <p:cNvSpPr txBox="1"/>
          <p:nvPr/>
        </p:nvSpPr>
        <p:spPr>
          <a:xfrm>
            <a:off x="4892040" y="539496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Deliverable:</a:t>
            </a:r>
            <a:r>
              <a:rPr lang="en-US" sz="1300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two recommendations: one customer action (with CLV) and one fraud threshold (with alerts per day and naira saved).</a:t>
            </a:r>
            <a:endParaRPr lang="en-US" sz="13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WORDS TO OWN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Today's Vocabulary in Plain English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41908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5.2  ·  WHERE THE MONEY IS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11155680" y="641908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800" dirty="0"/>
          </a:p>
        </p:txBody>
      </p:sp>
      <p:pic>
        <p:nvPicPr>
          <p:cNvPr id="6" name="Image 0" descr="/home/claude/da1/assets/logos/da1_hex_25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31168" y="6336792"/>
            <a:ext cx="347472" cy="34747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40080" y="1728216"/>
            <a:ext cx="5349240" cy="795528"/>
          </a:xfrm>
          <a:prstGeom prst="roundRect">
            <a:avLst>
              <a:gd name="adj" fmla="val 5747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</p:spPr>
        <p:txBody>
          <a:bodyPr/>
          <a:p/>
        </p:txBody>
      </p:sp>
      <p:sp>
        <p:nvSpPr>
          <p:cNvPr id="8" name="Text 5"/>
          <p:cNvSpPr txBox="1"/>
          <p:nvPr/>
        </p:nvSpPr>
        <p:spPr>
          <a:xfrm>
            <a:off x="822960" y="1728216"/>
            <a:ext cx="160020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RFM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2468880" y="1728216"/>
            <a:ext cx="338328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Recency, frequency, monetary: three customer scores.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40080" y="2615184"/>
            <a:ext cx="5349240" cy="795528"/>
          </a:xfrm>
          <a:prstGeom prst="roundRect">
            <a:avLst>
              <a:gd name="adj" fmla="val 5747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 txBox="1"/>
          <p:nvPr/>
        </p:nvSpPr>
        <p:spPr>
          <a:xfrm>
            <a:off x="822960" y="2615184"/>
            <a:ext cx="160020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Pareto (80/20)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2468880" y="2615184"/>
            <a:ext cx="338328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small share of customers drives most revenue.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640080" y="3502152"/>
            <a:ext cx="5349240" cy="795528"/>
          </a:xfrm>
          <a:prstGeom prst="roundRect">
            <a:avLst>
              <a:gd name="adj" fmla="val 5747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</p:spPr>
        <p:txBody>
          <a:bodyPr/>
          <a:p/>
        </p:txBody>
      </p:sp>
      <p:sp>
        <p:nvSpPr>
          <p:cNvPr id="14" name="Text 11"/>
          <p:cNvSpPr txBox="1"/>
          <p:nvPr/>
        </p:nvSpPr>
        <p:spPr>
          <a:xfrm>
            <a:off x="822960" y="3502152"/>
            <a:ext cx="160020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CLV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2468880" y="3502152"/>
            <a:ext cx="338328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profit over the relationship, in today's money.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640080" y="4389120"/>
            <a:ext cx="5349240" cy="795528"/>
          </a:xfrm>
          <a:prstGeom prst="roundRect">
            <a:avLst>
              <a:gd name="adj" fmla="val 5747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</p:spPr>
        <p:txBody>
          <a:bodyPr/>
          <a:p/>
        </p:txBody>
      </p:sp>
      <p:sp>
        <p:nvSpPr>
          <p:cNvPr id="17" name="Text 14"/>
          <p:cNvSpPr txBox="1"/>
          <p:nvPr/>
        </p:nvSpPr>
        <p:spPr>
          <a:xfrm>
            <a:off x="822960" y="4389120"/>
            <a:ext cx="160020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Retention rate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2468880" y="4389120"/>
            <a:ext cx="338328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of customers who stay another period.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640080" y="5276088"/>
            <a:ext cx="5349240" cy="795528"/>
          </a:xfrm>
          <a:prstGeom prst="roundRect">
            <a:avLst>
              <a:gd name="adj" fmla="val 5747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</p:spPr>
        <p:txBody>
          <a:bodyPr/>
          <a:p/>
        </p:txBody>
      </p:sp>
      <p:sp>
        <p:nvSpPr>
          <p:cNvPr id="20" name="Text 17"/>
          <p:cNvSpPr txBox="1"/>
          <p:nvPr/>
        </p:nvSpPr>
        <p:spPr>
          <a:xfrm>
            <a:off x="822960" y="5276088"/>
            <a:ext cx="160020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Discount rate</a:t>
            </a:r>
            <a:endParaRPr lang="en-US" sz="1300" dirty="0"/>
          </a:p>
        </p:txBody>
      </p:sp>
      <p:sp>
        <p:nvSpPr>
          <p:cNvPr id="21" name="Text 18"/>
          <p:cNvSpPr txBox="1"/>
          <p:nvPr/>
        </p:nvSpPr>
        <p:spPr>
          <a:xfrm>
            <a:off x="2468880" y="5276088"/>
            <a:ext cx="338328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much less future money is worth today.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6172200" y="1728216"/>
            <a:ext cx="5349240" cy="795528"/>
          </a:xfrm>
          <a:prstGeom prst="roundRect">
            <a:avLst>
              <a:gd name="adj" fmla="val 5747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</p:spPr>
        <p:txBody>
          <a:bodyPr/>
          <a:p/>
        </p:txBody>
      </p:sp>
      <p:sp>
        <p:nvSpPr>
          <p:cNvPr id="23" name="Text 20"/>
          <p:cNvSpPr txBox="1"/>
          <p:nvPr/>
        </p:nvSpPr>
        <p:spPr>
          <a:xfrm>
            <a:off x="6355080" y="1728216"/>
            <a:ext cx="160020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PD / LGD / EAD</a:t>
            </a:r>
            <a:endParaRPr lang="en-US" sz="1300" dirty="0"/>
          </a:p>
        </p:txBody>
      </p:sp>
      <p:sp>
        <p:nvSpPr>
          <p:cNvPr id="24" name="Text 21"/>
          <p:cNvSpPr txBox="1"/>
          <p:nvPr/>
        </p:nvSpPr>
        <p:spPr>
          <a:xfrm>
            <a:off x="8001000" y="1728216"/>
            <a:ext cx="338328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probability, loss share, amount owed.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6172200" y="2615184"/>
            <a:ext cx="5349240" cy="795528"/>
          </a:xfrm>
          <a:prstGeom prst="roundRect">
            <a:avLst>
              <a:gd name="adj" fmla="val 5747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</p:spPr>
        <p:txBody>
          <a:bodyPr/>
          <a:p/>
        </p:txBody>
      </p:sp>
      <p:sp>
        <p:nvSpPr>
          <p:cNvPr id="26" name="Text 23"/>
          <p:cNvSpPr txBox="1"/>
          <p:nvPr/>
        </p:nvSpPr>
        <p:spPr>
          <a:xfrm>
            <a:off x="6355080" y="2615184"/>
            <a:ext cx="160020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Expected loss</a:t>
            </a:r>
            <a:endParaRPr lang="en-US" sz="1300" dirty="0"/>
          </a:p>
        </p:txBody>
      </p:sp>
      <p:sp>
        <p:nvSpPr>
          <p:cNvPr id="27" name="Text 24"/>
          <p:cNvSpPr txBox="1"/>
          <p:nvPr/>
        </p:nvSpPr>
        <p:spPr>
          <a:xfrm>
            <a:off x="8001000" y="2615184"/>
            <a:ext cx="338328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 × LGD × EAD.</a:t>
            </a:r>
            <a:endParaRPr lang="en-US" sz="1150" dirty="0"/>
          </a:p>
        </p:txBody>
      </p:sp>
      <p:sp>
        <p:nvSpPr>
          <p:cNvPr id="28" name="Shape 25"/>
          <p:cNvSpPr/>
          <p:nvPr/>
        </p:nvSpPr>
        <p:spPr>
          <a:xfrm>
            <a:off x="6172200" y="3502152"/>
            <a:ext cx="5349240" cy="795528"/>
          </a:xfrm>
          <a:prstGeom prst="roundRect">
            <a:avLst>
              <a:gd name="adj" fmla="val 5747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</p:spPr>
        <p:txBody>
          <a:bodyPr/>
          <a:p/>
        </p:txBody>
      </p:sp>
      <p:sp>
        <p:nvSpPr>
          <p:cNvPr id="29" name="Text 26"/>
          <p:cNvSpPr txBox="1"/>
          <p:nvPr/>
        </p:nvSpPr>
        <p:spPr>
          <a:xfrm>
            <a:off x="6355080" y="3502152"/>
            <a:ext cx="160020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Precision</a:t>
            </a:r>
            <a:endParaRPr lang="en-US" sz="1300" dirty="0"/>
          </a:p>
        </p:txBody>
      </p:sp>
      <p:sp>
        <p:nvSpPr>
          <p:cNvPr id="30" name="Text 27"/>
          <p:cNvSpPr txBox="1"/>
          <p:nvPr/>
        </p:nvSpPr>
        <p:spPr>
          <a:xfrm>
            <a:off x="8001000" y="3502152"/>
            <a:ext cx="338328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of alerts that are truly fraud.</a:t>
            </a:r>
            <a:endParaRPr lang="en-US" sz="1150" dirty="0"/>
          </a:p>
        </p:txBody>
      </p:sp>
      <p:sp>
        <p:nvSpPr>
          <p:cNvPr id="31" name="Shape 28"/>
          <p:cNvSpPr/>
          <p:nvPr/>
        </p:nvSpPr>
        <p:spPr>
          <a:xfrm>
            <a:off x="6172200" y="4389120"/>
            <a:ext cx="5349240" cy="795528"/>
          </a:xfrm>
          <a:prstGeom prst="roundRect">
            <a:avLst>
              <a:gd name="adj" fmla="val 5747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</p:spPr>
        <p:txBody>
          <a:bodyPr/>
          <a:p/>
        </p:txBody>
      </p:sp>
      <p:sp>
        <p:nvSpPr>
          <p:cNvPr id="32" name="Text 29"/>
          <p:cNvSpPr txBox="1"/>
          <p:nvPr/>
        </p:nvSpPr>
        <p:spPr>
          <a:xfrm>
            <a:off x="6355080" y="4389120"/>
            <a:ext cx="160020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Recall</a:t>
            </a:r>
            <a:endParaRPr lang="en-US" sz="1300" dirty="0"/>
          </a:p>
        </p:txBody>
      </p:sp>
      <p:sp>
        <p:nvSpPr>
          <p:cNvPr id="33" name="Text 30"/>
          <p:cNvSpPr txBox="1"/>
          <p:nvPr/>
        </p:nvSpPr>
        <p:spPr>
          <a:xfrm>
            <a:off x="8001000" y="4389120"/>
            <a:ext cx="338328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of all fraud that is caught.</a:t>
            </a:r>
            <a:endParaRPr lang="en-US" sz="1150" dirty="0"/>
          </a:p>
        </p:txBody>
      </p:sp>
      <p:sp>
        <p:nvSpPr>
          <p:cNvPr id="34" name="Shape 31"/>
          <p:cNvSpPr/>
          <p:nvPr/>
        </p:nvSpPr>
        <p:spPr>
          <a:xfrm>
            <a:off x="6172200" y="5276088"/>
            <a:ext cx="5349240" cy="795528"/>
          </a:xfrm>
          <a:prstGeom prst="roundRect">
            <a:avLst>
              <a:gd name="adj" fmla="val 5747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</p:spPr>
        <p:txBody>
          <a:bodyPr/>
          <a:p/>
        </p:txBody>
      </p:sp>
      <p:sp>
        <p:nvSpPr>
          <p:cNvPr id="35" name="Text 32"/>
          <p:cNvSpPr txBox="1"/>
          <p:nvPr/>
        </p:nvSpPr>
        <p:spPr>
          <a:xfrm>
            <a:off x="6355080" y="5276088"/>
            <a:ext cx="160020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Threshold</a:t>
            </a:r>
            <a:endParaRPr lang="en-US" sz="1300" dirty="0"/>
          </a:p>
        </p:txBody>
      </p:sp>
      <p:sp>
        <p:nvSpPr>
          <p:cNvPr id="36" name="Text 33"/>
          <p:cNvSpPr txBox="1"/>
          <p:nvPr/>
        </p:nvSpPr>
        <p:spPr>
          <a:xfrm>
            <a:off x="8001000" y="5276088"/>
            <a:ext cx="338328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above which a case is flagged.</a:t>
            </a:r>
            <a:endParaRPr lang="en-US" sz="11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141B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377440"/>
            <a:ext cx="5852160" cy="5852160"/>
          </a:xfrm>
          <a:prstGeom prst="ellipse">
            <a:avLst/>
          </a:prstGeom>
          <a:solidFill>
            <a:srgbClr val="2C2C4E"/>
          </a:solidFill>
          <a:ln w="12700">
            <a:solidFill>
              <a:srgbClr val="2C2C4E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-2011680" y="4206240"/>
            <a:ext cx="4754880" cy="4754880"/>
          </a:xfrm>
          <a:prstGeom prst="ellipse">
            <a:avLst/>
          </a:prstGeom>
          <a:solidFill>
            <a:srgbClr val="17305C"/>
          </a:solidFill>
          <a:ln w="12700">
            <a:solidFill>
              <a:srgbClr val="17305C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 txBox="1"/>
          <p:nvPr/>
        </p:nvSpPr>
        <p:spPr>
          <a:xfrm>
            <a:off x="822960" y="548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D99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8229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Session 5.2 in 5 Ideas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1691640"/>
            <a:ext cx="73152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99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1600200" y="1691640"/>
            <a:ext cx="731520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RFM</a:t>
            </a: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segments customers without a model; Champions bring 57% of revenue here.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340864"/>
            <a:ext cx="73152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99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1600200" y="2340864"/>
            <a:ext cx="731520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CLV</a:t>
            </a: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sets how much a customer is worth; retention is the biggest lever.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2990088"/>
            <a:ext cx="73152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99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1600200" y="2990088"/>
            <a:ext cx="731520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and credit models create value through </a:t>
            </a: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targeting and pricing</a:t>
            </a: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put them in naira.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3639312"/>
            <a:ext cx="73152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99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1600200" y="3639312"/>
            <a:ext cx="731520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rare events like fraud, use </a:t>
            </a: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 and recall</a:t>
            </a: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never accuracy.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822960" y="4288536"/>
            <a:ext cx="73152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99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1600200" y="4288536"/>
            <a:ext cx="731520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alert thresholds to </a:t>
            </a: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minimise total cost</a:t>
            </a: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here about a third saved.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22960" y="5120640"/>
            <a:ext cx="8092440" cy="1051560"/>
          </a:xfrm>
          <a:prstGeom prst="roundRect">
            <a:avLst>
              <a:gd name="adj" fmla="val 6957"/>
            </a:avLst>
          </a:prstGeom>
          <a:solidFill>
            <a:srgbClr val="17305C"/>
          </a:solidFill>
          <a:ln w="12700">
            <a:solidFill>
              <a:srgbClr val="1C7293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 txBox="1"/>
          <p:nvPr/>
        </p:nvSpPr>
        <p:spPr>
          <a:xfrm>
            <a:off x="1051560" y="5120640"/>
            <a:ext cx="7680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7D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next session:</a:t>
            </a:r>
            <a:r>
              <a:rPr lang="en-US" sz="1300" dirty="0">
                <a:solidFill>
                  <a:srgbClr val="C7D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Read Chapters 53, 54, 56, 58 and 63 (Supply Chain; Inventory; Quality &amp; SPC; Employee Attrition; AI Ethics). Think of one decision in your organisation that an algorithm could make about people. What could go wrong?</a:t>
            </a:r>
            <a:endParaRPr lang="en-US" sz="1300" dirty="0"/>
          </a:p>
        </p:txBody>
      </p:sp>
      <p:pic>
        <p:nvPicPr>
          <p:cNvPr id="18" name="Image 0" descr="/home/claude/da1/assets/logos/da1_hex_m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26880" y="2103120"/>
            <a:ext cx="2286000" cy="2286000"/>
          </a:xfrm>
          <a:prstGeom prst="rect">
            <a:avLst/>
          </a:prstGeom>
        </p:spPr>
      </p:pic>
      <p:sp>
        <p:nvSpPr>
          <p:cNvPr id="19" name="Text 16"/>
          <p:cNvSpPr txBox="1"/>
          <p:nvPr/>
        </p:nvSpPr>
        <p:spPr>
          <a:xfrm>
            <a:off x="9052560" y="4572000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D99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 ›  Session 5.3: Running the Business Responsibly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Company>Lagos Business School, Pan-Atlantic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DA-1 Session 19: Customer &amp; Financial Analytics: CLV, Churn, Credit &amp; Fraud</dc:title>
  <dc:subject>PptxGenJS Presentation</dc:subject>
  <dc:creator>Prof. Bongo Adi — Lagos Business School</dc:creator>
  <cp:lastModifiedBy>Prof. Bongo Adi — Lagos Business School</cp:lastModifiedBy>
  <cp:revision>1</cp:revision>
  <dcterms:created xsi:type="dcterms:W3CDTF">2026-10-01T21:51:20Z</dcterms:created>
  <dcterms:modified xsi:type="dcterms:W3CDTF">2026-10-01T21:51:20Z</dcterms:modified>
</cp:coreProperties>
</file>