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2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2.5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Difference Real?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for Business Decisions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 11 — Hypothesis Testing Fundamentals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2.4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first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chart from the question: compare, trend, relationship, distribution, composition.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Grey + one colour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Declutter and focus the eye on the story; keep bar axes at zero.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headline, one chart, three facts, one ask.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2.5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hunch, to a test, to a decision you can defend.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3590544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3590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70592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070592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difference real or just noise?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Logic of Testing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Hypotheses, p-values, errors, effect size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Store Layout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proportion test, chi-square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p-values get misused in business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2.5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Hypotheses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business question into a null and an alternative hypothesis — before seeing results.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&amp; Run a Test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t-test, proportion test or chi-square test, run it in R or Python, and read the output.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Significance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statistical significance from practical importance — and both from the right unit of analysis.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Difference, or Just Noise?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new layout stores converted 22.1% of visitors; the old ones 21.4%. Roll it out to all 80 stores.”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spending ₦320m on refits, a good manager asks three questions: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chance do this?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differ every day. Would a 0.7-point gap appear even with no real effect?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the effect?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real, is it large enough to pay for the refit?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unit?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was given to stores, not to shoppers. Analyse what was assigned.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New Store Layout Work?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Lagos supermarket chain trialled a new layout (wider aisles, fresh produce at the front) in 12 of 24 stores for four weeks. The other 12 kept the old layout.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layout raise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(share of visitors who buy) or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value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enough to justify refitting all stores?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store_layout_test.csv — 24 stores × 28 days: visitors, buyers, conversion rate, average basket. About 349,000 visits in total.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with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and confidence intervals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honest about what the data can and cannot show.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Logic of Testing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courtroom for data.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COURTROOM ANALOGY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Innocent Until Proven Guilty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court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defendant is presumed innocent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Prosecution brings evidence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'guilty' only if evidence is beyond reasonable doubt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'Not guilty' ≠ proven innocent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mistakes: jail the innocent, free the guilty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1792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hypothesis test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'no effect' is presumed true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653796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are the evidence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only if the data would be very surprising under it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'Fail to reject' ≠ proven no effect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mistakes: false alarm (Type I), missed effect (Type II)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prove H₀. We ask whether the evidence is strong enough to abandon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Hypothesis Test, Step by Step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recipe for every test in this course.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93876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46" y="236601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42032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Hypotheses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difference. H₁: a difference. Written before looking.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470148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318" y="2366010"/>
            <a:ext cx="434340" cy="4343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18304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Text 11"/>
          <p:cNvSpPr txBox="1"/>
          <p:nvPr/>
        </p:nvSpPr>
        <p:spPr>
          <a:xfrm>
            <a:off x="2907792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Threshold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953512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α — usually 5% — the false-alarm rate you accept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646420" y="2148840"/>
            <a:ext cx="868680" cy="8686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90" y="2366010"/>
            <a:ext cx="434340" cy="4343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4576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Text 15"/>
          <p:cNvSpPr txBox="1"/>
          <p:nvPr/>
        </p:nvSpPr>
        <p:spPr>
          <a:xfrm>
            <a:off x="5084064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Test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129784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test that fits the data and the unit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822692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862" y="2366010"/>
            <a:ext cx="434340" cy="4343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070848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6" name="Text 19"/>
          <p:cNvSpPr txBox="1"/>
          <p:nvPr/>
        </p:nvSpPr>
        <p:spPr>
          <a:xfrm>
            <a:off x="7260336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Compute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306056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statistic, p-value and a confidence interval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9998964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6134" y="2366010"/>
            <a:ext cx="434340" cy="4343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436608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Decide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9482328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verdict + business judgement on size and cost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3" name="Text 25"/>
          <p:cNvSpPr txBox="1"/>
          <p:nvPr/>
        </p:nvSpPr>
        <p:spPr>
          <a:xfrm>
            <a:off x="868680" y="5349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has two halves: is it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(p-value, CI) — and does it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(effect size, cost)?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MISUNDERSTOOD NUMBER IN BUSINESS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p-Value Actually 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answers one narrow question: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were truly no effect, how often would we see a difference at least this big just by chance?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small p-value means 'this would be surprising if nothing were going on'.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conversion: p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Even if the layout did nothing, a gap this size would appear about half the time. No evidence of an effect.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P(data this extreme | H₀ true)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is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probability that H₀ is true,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probability the result is a fluke, and says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size. Treat p &lt; 0.05 as 'worth taking seriously', not as 'proven'.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P-VALUE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Surprising Is Our Result?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5/figures/python/s05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78" y="1600200"/>
            <a:ext cx="6344764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S2.5-F01  ·  replicate: tdbg_2_5_figures.R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shows the differences we would expect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layout did nothing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result, t = 0.67, sits comfortably in the middle.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area — results at least this extreme — is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0.51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reject H₀ at 5%, t would need to pass the dashed cut-offs (about ±2.1).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STATISTIC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Divided by Noise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tests compute one number: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the difference compared with how much it would naturally bounce around?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Large values mean the signal stands out from the noise.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Conversion: difference = 0.64 points; standard error ≈ 0.97 points → t ≈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signal is smaller than the noise.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(x̄₁ − x̄₂) ÷ SE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make the signal stand out in two ways: a bigger real effect, or less noise (more stores, longer trials, more similar stores). This is the logic behind sample-size planning in Session 3.1.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MISTAKES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I and Type II Errors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5/figures/python/s05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78" y="1600200"/>
            <a:ext cx="6344764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S2.5-F05  ·  replicate: tdbg_2_5_figures.R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(α)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concluding there is an effect when there isn't — a false alarm. Usually set at 5%.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(β)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missing a real effect.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1 − β: the chance of detecting an effect that is really there.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α to avoid false alarms makes you miss more real effects — unless you collect more data.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MISTAKE COSTS MORE?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Have Business Prices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3108960"/>
                <a:gridCol w="23774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 error (false alarm)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II error (missed effect)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to guard against?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Refit 80 stores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₦320m on a layout that does nothing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 layout that loses 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 — the spend is large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an honest customer's transfer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a fraudster through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II — losses are severe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drug / food safety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something that does not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something that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 — safety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website tweak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a change that does nothing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 a small win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— low cost, test often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5% convention is a default, not a law. Set α by weighing what each error costs.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 of a new loan-approval process gives p = 0.03. Which statement is correct?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3% chance the new process has no effect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97% chance the new process works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process truly had no effect, a result this extreme would occur about 3% of the time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process improves approvals by 3%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and Running the Test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tests cover most business questions.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CHOOSER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Test Fits Your Question?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5603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two groups have different averages?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outcome, 2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Two-sample (Welch)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t.test() / scipy.stats.ttest_ind()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two groups have different rates?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Yes/no outcome, 2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Two-proportion z-test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prop.test() / proportions_ztest()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two categories related?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categorical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chisq.test() / chi2_contingency()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t-test but data very skewed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Numeric, 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Mann–Whitney (rank)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wilcox.test() / mannwhitneyu()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two group averages?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Numeric, 3+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aov() / scipy.stats.f_oneway()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· CONVERSION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by Store: Is the Gap Bigger Than the Spread?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5/figures/python/s05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92" y="1600200"/>
            <a:ext cx="7172536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S2.5-F02  ·  replicate: tdbg_2_5_figures.R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New-layout stores average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old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+0.6 points.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individual stores range from 17% to 26%.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groups is small next to the spread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t-test: t = 0.67,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95% CI for the difference: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 to +2.7 points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Pseudo-Replication: Analysing the Wrong Unit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5/figures/python/s05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02794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67386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S2.5-F03  ·  replicate: tdbg_2_5_figures.R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349,000 visits as independent and the CI shrinks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 to +0.9 points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'highly significant'.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layout was assigned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stores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to visitors.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in the same store share the same staff, location and catchment — they are not independent.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unit that was assigned.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· BASKET VALUE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Effect — but Is It Big Enough?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5/figures/python/s05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2274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86866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S2.5-F04  ·  replicate: tdbg_2_5_figures.R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per receipt: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₦8,675 vs ₦8,455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+₦219 (+2.6%).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across 24 stores: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0.0006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clearly not chance.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value: ₦219 × ~110 buyers/day × 365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₦8.7m extra revenue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store per year.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₦4m refit, it may pay back — if margins are healthy. That is a business judgement.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Welch t-Test in 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t.test(basket ~ layout, data = st)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Welch Two Sample t-test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 basket by layout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4.0397, df = 21.907,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 = 0.0005512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 hypothesis: true difference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means between group New and group 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not equal to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percent confidence interval: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106.7417 332.0678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estimates: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in group New  mean in group 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8674.851           8455.446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means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₦8,675 vs ₦8,455 — the raw effect: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+₦219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₦107 to ₦332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plausible size of the true uplift. Excludes zero → significant at 5%.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0.00055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big would almost never appear by chance if the layout did nothing.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21.9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24 stores, not 349,000 visits — the honest unit.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VS CATEGORIES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Chi-Square: Are Two Categories Related?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5/figures/python/s05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56" y="1600200"/>
            <a:ext cx="6898809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S2.5-F06  ·  replicate: tdbg_2_5_figures.R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does payment method depend on region?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compares the observed counts with the counts we'd expect if there were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10.6 on 12 degrees of freedom,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0.57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that payment mix differs by region — one POS strategy can serve all regions.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DATA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Data Are Skewed: Rank-Based Tests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5/figures/python/s05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145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86043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S2.5-F08  ·  replicate: tdbg_2_5_figures.R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values are right-skewed with big outliers.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Mann–Whitney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compares ranks, so outliers can't dominate.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members' baskets are larger: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0.0002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test cannot say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members may simply be bigger spenders who joined (Session 2.1's question).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 vs. Importance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p-value is not a business case.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CHANGES THE GAME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'Significant' With Enough 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5/figures/python/s05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07" y="1600200"/>
            <a:ext cx="6760306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S2.5-F07  ·  replicate: tdbg_2_5_figures.R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tiny true lift: 20.0% → 20.2%.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1,000 visitors per group: p ≈ 0.9. With 1,000,000: p &lt; 0.001.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digital-scale data, almost any difference is 'significant'.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always ask: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the effect, and what is it worth?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REPORT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the Effect, Not Just the p-Value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turn a test into a decision.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size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in business units: +₦219 per basket, +0.6 points of conversion.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interval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plausible range: ₦107 to ₦332. Shows both precision and direction.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7532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effect is worth against its cost: ~₦8.7m revenue a year vs a ₦4m refit.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p-Values Get Misused in Business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 = 0.06, so the campaign had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evidence is not evidence of absence. Report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may include useful effects.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20 segments and reporting the one with p &lt; 0.05.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20 tests, one 'hit' is expected by chance.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main question; adjust for many tests.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Peeking at results daily and stopping when p dips below 0.05.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sample size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test (Session 3.1).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visitors when stores or branches were assigned.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that was assigned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“Highly significant” presented as “highly important”.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and its value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layout test shows conversion +0.6 points (p = 0.51, CI −1.4 to +2.7) and basket +₦219 (p = 0.0006, CI ₦107 to ₦332). What should you recommend?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all stores — the basket result is highly significant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the layout — conversion did not change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phased rollout justified by the basket uplift if margins support it, and run a longer, larger trial to pin down conversion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analysis treating each visitor as a unit to get significance on conversion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Did the Layout Work?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data/store_layout_test.csv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data/retail_transactions.csv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sessions/2-5/R/tdbg_2_5_lab.R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sessions/2-5/python/tdbg_2_5_lab.py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H₀ and H₁ for conversion and for basket value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running anything.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to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store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run Welch t-tests for conversion and basket.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pooled proportion test and see how the wrong unit changes the answer.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chi-square test (payment × region) and a Mann–Whitney test (loyalty baskets).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annual value of the basket uplift per store and compare it with a ₦4m refit.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3-sentence recommendation to the COO using effect sizes and CIs.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 ·  IS THE DIFFERENCE REAL?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hypothesis (H₀)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 effect' default we try to find evidence against.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(H₁)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conclude if H₀ is rejected.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 level α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false-alarm rate we accept, often 5%.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p-value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a result this extreme if H₀ were true.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statistic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divided by noise, e.g. a t value.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I error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alarm: rejecting a true H₀.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II error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effect: failing to reject a false H₀.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detecting a real effect (1 − β).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size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the difference is, in business units.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Pseudo-replication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non-independent units as independent.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2.5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and H₁ before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look at the data.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is the chance of data this extreme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were going on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nothing more.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that was assigned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pooling creates false certainty.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test from the data: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proportion test, chi-square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a rank test for skew.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size, CI and value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significance is not importance.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 12 (A/B Testing and Business Experimentation). Think of one change in your organisation that could be tested with an experiment; bring the metric and the unit you would randomise.</a:t>
            </a:r>
            <a:endParaRPr lang="en-US" sz="1300" dirty="0"/>
          </a:p>
        </p:txBody>
      </p:sp>
      <p:pic>
        <p:nvPicPr>
          <p:cNvPr id="18" name="Image 0" descr="/home/claude/da1/assets/logos/da1_hex_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3.1: Experiments That Settle Arguments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5: Hypothesis Testing for Business Decisions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2026-10-01T21:51:19Z</dcterms:created>
  <dcterms:modified xsi:type="dcterms:W3CDTF">2026-10-01T21:51:19Z</dcterms:modified>
</cp:coreProperties>
</file>