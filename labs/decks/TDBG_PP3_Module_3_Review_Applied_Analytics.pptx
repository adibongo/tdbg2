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SELF-STUDY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PAPER 3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Review: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Analytics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Review — Advanced &amp; Applied Analytics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Chapters 23, 28–46, 53–63 (Sessions 4.3–5.3)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Paper 3 — Module 3 Practice Paper (75 Minutes)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deck for the revision session before the test, or for self-study.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3  ·  MODULE 3 REVIEW: APPLIED ANALYTICS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688848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68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365504" y="1874520"/>
            <a:ext cx="28651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365504" y="1874520"/>
            <a:ext cx="286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67200" y="1874520"/>
            <a:ext cx="4315968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267200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19744" y="1874520"/>
            <a:ext cx="2865120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619744" y="1874520"/>
            <a:ext cx="286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rules, what's allowed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(25%)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B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outputs and charts (40%)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C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analysis task (35%)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Module 3 Practice Paper Works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Ungraded — a self-check. Covers Sessions 4.3–5.3.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3  ·  MODULE 3 REVIEW: APPLIED ANALYTICS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2548890" cy="3566160"/>
          </a:xfrm>
          <a:prstGeom prst="roundRect">
            <a:avLst>
              <a:gd name="adj" fmla="val 287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603629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077" y="22860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28803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resource for B and C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474720"/>
            <a:ext cx="20916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textbook, your own scripts. Section A is closed-book.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417570" y="1874520"/>
            <a:ext cx="2548890" cy="3566160"/>
          </a:xfrm>
          <a:prstGeom prst="roundRect">
            <a:avLst>
              <a:gd name="adj" fmla="val 287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381119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567" y="228600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00450" y="28803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Laptop with R or Python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46170" y="3474720"/>
            <a:ext cx="20916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asks you to run an analysis on a provided file.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95060" y="1874520"/>
            <a:ext cx="2548890" cy="3566160"/>
          </a:xfrm>
          <a:prstGeom prst="roundRect">
            <a:avLst>
              <a:gd name="adj" fmla="val 287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7158609" y="2130552"/>
            <a:ext cx="621792" cy="6217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57" y="228600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77940" y="28803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23660" y="3474720"/>
            <a:ext cx="20916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permitted during the test. Explain every answer yourself.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8972550" y="1874520"/>
            <a:ext cx="2548890" cy="3566160"/>
          </a:xfrm>
          <a:prstGeom prst="roundRect">
            <a:avLst>
              <a:gd name="adj" fmla="val 287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9936099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547" y="2286000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155430" y="28803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Naira and decisions earn marks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9201150" y="3474720"/>
            <a:ext cx="20916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should end in a business decision, ideally with a naira figure.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on a Page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sessions of applied analytics.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Session Taught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3  ·  MODULE 3 REVIEW: APPLIED ANALYTICS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9768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idea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exam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 · Time series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+ seasonality + noise; backtest vs seasonal naive; MAPE; intervals; simulation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forecast to trust? Read an interval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 · Text &amp; sentiment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Tokenise; document–term matrix; lexicon sentiment; TF-IDF; text classifier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did the lexicon misread a review?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 · Market basket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Support, confidence, lift; collaborative filtering; cold 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lift; pick a bundle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 · Neural nets &amp; GenAI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Neurons, layers, overfitting; fair contest; CNNs; LLMs; value–risk 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vs test AUC gap; where GenAI fits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 · Customer &amp; financial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RFM; CLV; churn ROI; PD × LGD × EAD; precision/recall; cost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CLV or expected loss; set an alert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 · Ops, people &amp; ethics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charts; Cpk; safety stock; attrition drivers; fairness 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 control chart; audit a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SHEET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Formulas You Need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3  ·  MODULE 3 REVIEW: APPLIED ANALYTICS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02336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words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of |actual − forecast| ÷ actual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% forecast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confidence(A → B) ÷ support(B)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more likely B is when A is in the basket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× (1 + d) ÷ (1 + d − 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profit in today's money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 × LGD × 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loss to provision and price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/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÷ (TP + FP)  /  TP ÷ (TP + FN)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 that are real / fraud that's caught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limits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x̿ ± A₂ × R̄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of normal batch averages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Reorder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× lead time + z × σ × √lead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level that triggers an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Four-fifths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selection rate ÷ higher ≥ 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simple test for adverse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MARKS ARE LOST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in Module 3 Answers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3  ·  MODULE 3 REVIEW: APPLIED ANALYTICS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HABIT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94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5740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forecast by how good it looks on past data.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0574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494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0574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held-out period; beat the seasonal-naive benchmark.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2862072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540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286207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basket rules by confidence alone.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862072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05409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03720" y="28620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check the baseline.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3666744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5876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3666744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neural net is better because it's deep learning.”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263640" y="3666744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5876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36667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on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data; weigh explainability.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4471416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66344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80160" y="44714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accuracy for fraud.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263640" y="447141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63440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44714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cost trade-off.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40080" y="5276088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468112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280160" y="527608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“Gender isn't an input, so the model is fair.”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263640" y="527608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468112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03720" y="52760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outcomes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group; watch for proxies.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— Concepts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the speaker notes.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Q1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· Question 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3  ·  MODULE 3 REVIEW: APPLIED ANALYTICS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forecasting model has a MAPE of 9% on the 2025 test year. The seasonal-naive forecast (same month last year) has 7%. What should you conclude?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new model: 9% is low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model adds no value over a simple benchmark; keep the seasonal naive or improve the model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can't compare models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the two MAPEs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Q2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· Question 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3  ·  MODULE 3 REVIEW: APPLIED ANALYTICS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sentiment lexicon gives “Not bad at all, delivery was not late” a score of −2. Why?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is negative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lexicon ignores negation: 'not' flips 'bad' and 'late'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removed the positive words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is in Pidgin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Q3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· Question 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3  ·  MODULE 3 REVIEW: APPLIED ANALYTICS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Bread → Milk has confidence 45%. 50% of all baskets contain milk. The lift is…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0.45: bread buyers buy milk less than average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0.9: bread buyers buy milk slightly LESS than average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1.11: slightly more than average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2.2: strongly more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Q4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· Question 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3  ·  MODULE 3 REVIEW: APPLIED ANALYTICS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 customer table, which situation most clearly signals that a neural network is overfitting?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AUC 0.80, test AUC 0.79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AUC 0.98, test AUC 0.68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AUC 0.70, test AUC 0.72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ReLU activations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Q5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· Question 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3  ·  MODULE 3 REVIEW: APPLIED ANALYTICS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process has Cpk = 0.8 and all recent points are inside the control limits. What's the right description?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control and capable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control, but not capable of meeting the specification reliably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control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but not in control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B — Interpret the Output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everything with tdbg_pp3_practice_paper.R / .py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Q1 (12 MARKS)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Forecast Should the SME Trust?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3  ·  MODULE 3 REVIEW: APPLIED ANALYTICS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OUTPUT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14884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MAPE, 2025 test year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Naive (last month)    31.8%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Seasonal naive        12.0%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Holt-Winters           3.7%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Holt-Winters forecast, next 3 months (₦m),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approx. 80% interval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Jan 2026    99.3   [  95.3,  103.3]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Feb 2026    93.3   [  89.3,   97.3]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 2026   102.9   [  98.9,  106.9]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949440" y="169164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7132320" y="185623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713232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1810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Method [3]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228600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these MAPEs were obtained and why the test year matters.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949440" y="281178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132320" y="297637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7132320" y="2976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306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Choice [3]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7178040" y="340614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would you use, and why is the naive forecast so poor?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949440" y="393192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7132320" y="409651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713232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4050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Interval [3]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7178040" y="452628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 February interval for the owner.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949440" y="505206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7132320" y="521665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 txBox="1"/>
          <p:nvPr/>
        </p:nvSpPr>
        <p:spPr>
          <a:xfrm>
            <a:off x="7132320" y="5216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635240" y="51709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Decision [3]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7178040" y="564642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must commit to ₦95m of stock for February. Advise using the interval.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Q2 (10 MARKS)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Products Should Be Bundled?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3  ·  MODULE 3 REVIEW: APPLIED ANALYTICS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OUTPUT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14884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 baskets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             support  confidence   lift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 -&gt; Sugar        0.081       0.663   3.35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Sugar -&gt; Tea        0.081       0.411   3.35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Diapers -&gt; Beer     0.055       0.396   2.30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Rice -&gt; Detergent   0.012       0.105   0.95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949440" y="169164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7132320" y="185623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713232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1810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Read [3]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228600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support, confidence and lift for Tea → Sugar in plain English.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949440" y="281178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132320" y="297637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7132320" y="2976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306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Direction [2]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7178040" y="340614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Tea → Sugar and Sugar → Tea have different confidence but the same lift?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949440" y="393192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7132320" y="409651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713232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4050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Rice → Detergent [2]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7178040" y="452628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lift of 0.95 mean?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949440" y="505206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7132320" y="521665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 txBox="1"/>
          <p:nvPr/>
        </p:nvSpPr>
        <p:spPr>
          <a:xfrm>
            <a:off x="7132320" y="5216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635240" y="51709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Action [3]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7178040" y="564642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one bundle and how you would test it before rollout.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Q3 (10 MARKS)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Fraud Alert Working?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3  ·  MODULE 3 REVIEW: APPLIED ANALYTICS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OUTPUT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14884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transfers: 6000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       0   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flagged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   5849   42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     80   29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cost: ₦1,500 per alert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fraudulent transfer: ₦20,600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949440" y="169164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7132320" y="185623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713232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1810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Metrics [4]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228600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precision, recall and accuracy.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949440" y="281178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132320" y="297637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7132320" y="2976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306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Accuracy [2]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7178040" y="340614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accuracy misleading here?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949440" y="393192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7132320" y="409651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713232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4050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Cost [2]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7178040" y="452628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reviewing the alerts cost per 6,000 transfers?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949440" y="505206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7132320" y="521665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 txBox="1"/>
          <p:nvPr/>
        </p:nvSpPr>
        <p:spPr>
          <a:xfrm>
            <a:off x="7132320" y="5216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635240" y="51709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Trade-off [2]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7178040" y="564642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CFO wants to halve alerts. What happens to recall, and what should you check?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Q4 (8 MARKS)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This Control Chart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3  ·  MODULE 3 REVIEW: APPLIED ANALYTICS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20/figures/python/s20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44238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08830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S5.3-F02  ·  replicate: tdbg_5_3_figures.R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What do the centre line and the dashed limits represent, and how were they set? [3]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What happened after batch 27? Is it common- or special-cause variation? [3]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Every bottle was still within the 494–506 ml spec. Why act anyway? [2]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C — Applied Task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Analyse, value and recommend.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(35 MARKS)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Customer Value at an Online Retailer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3  ·  MODULE 3 REVIEW: APPLIED ANALYTICS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retailer's CEO has ₦10m to spend on customer marketing next year and asks you where to put it. You receive customer_orders.csv (12,121 orders, 1,200 customers, 2024–2025).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7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RFM segments, estimate CLV, and design one retention or reactivation campaign. Show whether it pays.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2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 order_date, order_value_naira. Assume a 25% gross margin and a 20% discount rate.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7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segment table (customers, revenue share), a CLV estimate with a retention scenario, a campaign with costs, expected saves and net value, and a 5-sentence recommendation to the CEO.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Ready If You Can…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forecast, read MAPE and an interval, and turn it into a stock or cash decision.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and TF-IDF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results, and why a lexicon can misread text.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interpret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confidence and lift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explain collaborative filtering.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fairly and place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uses on a value–risk map.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CLV, expected loss, precision/recall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read a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chart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model for fairness.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the test: draft your capstone problem statement (one page): the business decision, the data you will use, and how you'll measure success. Bring it to Session 5.4.</a:t>
            </a:r>
            <a:endParaRPr lang="en-US" sz="1300" dirty="0"/>
          </a:p>
        </p:txBody>
      </p:sp>
      <p:pic>
        <p:nvPicPr>
          <p:cNvPr id="18" name="Image 0" descr="/home/claude/da1/assets/logos/da1_hex_m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Session 5.4: Capstone: From Question to Recommendation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21: Module 3 Test — Advanced &amp; Applied Analytics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2026-10-01T21:51:21Z</dcterms:created>
  <dcterms:modified xsi:type="dcterms:W3CDTF">2026-10-01T21:51:21Z</dcterms:modified>
</cp:coreProperties>
</file>